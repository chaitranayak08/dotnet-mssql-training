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sldIdLst>
    <p:sldId id="316" r:id="rId2"/>
    <p:sldId id="256" r:id="rId3"/>
    <p:sldId id="257" r:id="rId4"/>
    <p:sldId id="276" r:id="rId5"/>
    <p:sldId id="324" r:id="rId6"/>
    <p:sldId id="317" r:id="rId7"/>
    <p:sldId id="325" r:id="rId8"/>
    <p:sldId id="327" r:id="rId9"/>
    <p:sldId id="269" r:id="rId10"/>
  </p:sldIdLst>
  <p:sldSz cx="18288000" cy="10287000"/>
  <p:notesSz cx="6858000" cy="9144000"/>
  <p:embeddedFontLst>
    <p:embeddedFont>
      <p:font typeface="Agrandir" panose="020B0604020202020204" charset="0"/>
      <p:regular r:id="rId12"/>
    </p:embeddedFont>
    <p:embeddedFont>
      <p:font typeface="Heebo Black" pitchFamily="2" charset="-79"/>
      <p:regular r:id="rId13"/>
      <p:bold r:id="rId14"/>
    </p:embeddedFont>
    <p:embeddedFont>
      <p:font typeface="Horizon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32" d="100"/>
          <a:sy n="32" d="100"/>
        </p:scale>
        <p:origin x="67" y="7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0D25A-C1F7-4ECE-89D8-C6FB4197FD5E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C0CAF-0D9E-4669-8AB4-BF85EABBF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2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C0CAF-0D9E-4669-8AB4-BF85EABBF93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246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2023-DA16-7A47-39FD-10B1997F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2F321-DED8-0E21-5607-87F45327D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5902C-BFB1-F512-860B-8FF95DFA5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B7E3F-BBBE-3C87-C336-490CF303F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C0CAF-0D9E-4669-8AB4-BF85EABBF93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65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7557C-35C4-DF56-2681-380AD581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2AA23-F8D4-9D6E-AF9E-57B04072B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54EB7-46AE-DA3D-F5AF-13A73FEE6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BAAA-0A4C-307B-CFFD-C50A46D6F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C0CAF-0D9E-4669-8AB4-BF85EABBF93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497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6450" y="4060287"/>
            <a:ext cx="13975099" cy="3550355"/>
            <a:chOff x="-1660529" y="-383181"/>
            <a:chExt cx="18633465" cy="4733807"/>
          </a:xfrm>
        </p:grpSpPr>
        <p:sp>
          <p:nvSpPr>
            <p:cNvPr id="3" name="TextBox 3"/>
            <p:cNvSpPr txBox="1"/>
            <p:nvPr/>
          </p:nvSpPr>
          <p:spPr>
            <a:xfrm>
              <a:off x="-1660529" y="-383181"/>
              <a:ext cx="18633465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ea typeface="+mn-lt"/>
                  <a:cs typeface="+mn-lt"/>
                  <a:sym typeface="Heebo Black"/>
                </a:rPr>
                <a:t>Foundational Concepts - II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424603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2FFDF31-5363-B41E-C69B-D365621E0AE1}"/>
              </a:ext>
            </a:extLst>
          </p:cNvPr>
          <p:cNvSpPr txBox="1"/>
          <p:nvPr/>
        </p:nvSpPr>
        <p:spPr>
          <a:xfrm>
            <a:off x="16432940" y="8923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4 / 12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F8CB70-6943-779A-51B7-154BD85CE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90" y="1373990"/>
            <a:ext cx="6617368" cy="20617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62525" y="1104900"/>
            <a:ext cx="7433384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881343"/>
            <a:chOff x="0" y="0"/>
            <a:chExt cx="7398043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IN" sz="2400" u="none" dirty="0">
                  <a:solidFill>
                    <a:srgbClr val="33123B"/>
                  </a:solidFill>
                  <a:latin typeface="+mj-lt"/>
                  <a:ea typeface="Agrandir"/>
                  <a:cs typeface="Agrandir"/>
                </a:rPr>
                <a:t>Uni</a:t>
              </a:r>
              <a:r>
                <a:rPr lang="en-IN" sz="2400" dirty="0">
                  <a:solidFill>
                    <a:srgbClr val="33123B"/>
                  </a:solidFill>
                  <a:latin typeface="+mj-lt"/>
                  <a:ea typeface="Agrandir"/>
                  <a:cs typeface="Agrandir"/>
                </a:rPr>
                <a:t>on /Union All</a:t>
              </a: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2400" dirty="0"/>
                <a:t>Manipulating the data</a:t>
              </a:r>
              <a:endParaRPr lang="en-IN" sz="240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Other important Functions</a:t>
              </a:r>
              <a:endParaRPr lang="en-GB" sz="2400" dirty="0">
                <a:solidFill>
                  <a:srgbClr val="33123B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D6BE-F179-A13A-C05D-6AC510D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B74709-C462-95F8-08CD-0D0FCEF0E19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DD05D65-E3B2-A39A-4FAE-7F33521F69D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62F84B-568A-E77B-A22D-D15ACE8BD1F3}"/>
              </a:ext>
            </a:extLst>
          </p:cNvPr>
          <p:cNvGrpSpPr/>
          <p:nvPr/>
        </p:nvGrpSpPr>
        <p:grpSpPr>
          <a:xfrm>
            <a:off x="1323474" y="1951726"/>
            <a:ext cx="15401394" cy="6928050"/>
            <a:chOff x="-5026597" y="-2442976"/>
            <a:chExt cx="23205434" cy="919064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B135D7-88A5-B84B-C023-37DC14FBFBAA}"/>
                </a:ext>
              </a:extLst>
            </p:cNvPr>
            <p:cNvSpPr txBox="1"/>
            <p:nvPr/>
          </p:nvSpPr>
          <p:spPr>
            <a:xfrm>
              <a:off x="-5026597" y="-2442976"/>
              <a:ext cx="23205434" cy="91906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500" b="1" dirty="0">
                  <a:latin typeface="+mj-lt"/>
                </a:rPr>
                <a:t>What is UNION?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b="1" dirty="0">
                  <a:latin typeface="+mj-lt"/>
                </a:rPr>
                <a:t>UNION</a:t>
              </a:r>
              <a:r>
                <a:rPr lang="en-US" altLang="en-US" sz="3500" dirty="0">
                  <a:latin typeface="+mj-lt"/>
                </a:rPr>
                <a:t> combines the results of two or more SELECT queries into a </a:t>
              </a:r>
              <a:r>
                <a:rPr lang="en-US" altLang="en-US" sz="3500" b="1" dirty="0">
                  <a:latin typeface="+mj-lt"/>
                </a:rPr>
                <a:t>single result set</a:t>
              </a:r>
              <a:r>
                <a:rPr lang="en-US" altLang="en-US" sz="3500" dirty="0">
                  <a:latin typeface="+mj-lt"/>
                </a:rPr>
                <a:t>.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latin typeface="+mj-lt"/>
                </a:rPr>
                <a:t>By default, it </a:t>
              </a:r>
              <a:r>
                <a:rPr lang="en-US" altLang="en-US" sz="3500" b="1" dirty="0">
                  <a:latin typeface="+mj-lt"/>
                </a:rPr>
                <a:t>removes duplicate rows</a:t>
              </a:r>
              <a:r>
                <a:rPr lang="en-US" altLang="en-US" sz="3500" dirty="0">
                  <a:latin typeface="+mj-lt"/>
                </a:rPr>
                <a:t>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500" dirty="0">
                  <a:latin typeface="+mj-lt"/>
                </a:rPr>
                <a:t>The queries being combined must have: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latin typeface="+mj-lt"/>
                </a:rPr>
                <a:t>Same number of columns.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latin typeface="+mj-lt"/>
                </a:rPr>
                <a:t>Same or compatible data types.</a:t>
              </a:r>
            </a:p>
            <a:p>
              <a:pPr marL="914400" lvl="1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latin typeface="+mj-lt"/>
                </a:rPr>
                <a:t>Same column order.</a:t>
              </a: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5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193D8A-D774-A060-7EA8-525AFFC6FCD5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1A7571D-1B77-EC80-4008-4C1C4002EA7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C774A1-DA04-2217-CEB9-8D288A3321F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A4B228-6952-4F52-16AC-B47AB546A649}"/>
              </a:ext>
            </a:extLst>
          </p:cNvPr>
          <p:cNvSpPr txBox="1"/>
          <p:nvPr/>
        </p:nvSpPr>
        <p:spPr>
          <a:xfrm>
            <a:off x="1195551" y="280042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Union /Union All</a:t>
            </a:r>
            <a:endParaRPr lang="en-US" dirty="0">
              <a:solidFill>
                <a:schemeClr val="accent2">
                  <a:lumMod val="7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59735C-CF7F-8165-EB3C-F9331F9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12D70B-FAD3-49F2-247B-35A8A4C62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075" y="4042611"/>
            <a:ext cx="7171794" cy="464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1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5E59-FA63-0559-43B5-AEADBC2A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9347DA-B09F-6040-FF2E-EAB01A8CAD03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F20AC7-59E3-BB6F-102F-F729F99936E2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70FEC4C-BE1D-FB70-821F-F7EDF4333C34}"/>
              </a:ext>
            </a:extLst>
          </p:cNvPr>
          <p:cNvGrpSpPr/>
          <p:nvPr/>
        </p:nvGrpSpPr>
        <p:grpSpPr>
          <a:xfrm>
            <a:off x="1323474" y="1951726"/>
            <a:ext cx="15401394" cy="7995650"/>
            <a:chOff x="-5026597" y="-2442976"/>
            <a:chExt cx="23205434" cy="1060690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8F8DE41-C566-2DF6-F44E-F0182AA84488}"/>
                </a:ext>
              </a:extLst>
            </p:cNvPr>
            <p:cNvSpPr txBox="1"/>
            <p:nvPr/>
          </p:nvSpPr>
          <p:spPr>
            <a:xfrm>
              <a:off x="-5026597" y="-2442976"/>
              <a:ext cx="23205434" cy="106069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500" b="1" dirty="0">
                  <a:latin typeface="+mj-lt"/>
                </a:rPr>
                <a:t>What is UNION ALL?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b="1" dirty="0">
                  <a:latin typeface="+mj-lt"/>
                </a:rPr>
                <a:t>UNION ALL</a:t>
              </a:r>
              <a:r>
                <a:rPr lang="en-US" altLang="en-US" sz="3500" dirty="0">
                  <a:latin typeface="+mj-lt"/>
                </a:rPr>
                <a:t> also combines results of two or more queries.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latin typeface="+mj-lt"/>
                </a:rPr>
                <a:t>Unlike UNION, it </a:t>
              </a:r>
              <a:r>
                <a:rPr lang="en-US" altLang="en-US" sz="3500" b="1" dirty="0">
                  <a:latin typeface="+mj-lt"/>
                </a:rPr>
                <a:t>does not remove duplicates</a:t>
              </a:r>
              <a:r>
                <a:rPr lang="en-US" altLang="en-US" sz="3500" dirty="0">
                  <a:latin typeface="+mj-lt"/>
                </a:rPr>
                <a:t>.</a:t>
              </a:r>
            </a:p>
            <a:p>
              <a:pPr marL="457200" lvl="0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500" dirty="0">
                  <a:latin typeface="+mj-lt"/>
                </a:rPr>
                <a:t>Hence, it is faster because SQL Server does not need to check for duplicates.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500" dirty="0">
                <a:latin typeface="+mj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500" dirty="0">
                <a:latin typeface="+mj-lt"/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500" dirty="0">
                <a:latin typeface="+mj-lt"/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500" dirty="0">
                <a:latin typeface="+mj-lt"/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500" dirty="0">
                <a:latin typeface="+mj-lt"/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500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48B2464-0A64-4595-F5AC-534927F42BCA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E4D5A63-CAAA-F0D7-F9AA-C4D36553206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0ECA88-96D5-C677-5A1D-79B79AAF0EB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C254F56-2A32-5D24-1692-C813CCBBB52A}"/>
              </a:ext>
            </a:extLst>
          </p:cNvPr>
          <p:cNvSpPr txBox="1"/>
          <p:nvPr/>
        </p:nvSpPr>
        <p:spPr>
          <a:xfrm>
            <a:off x="1195551" y="280042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Union /Union All</a:t>
            </a:r>
            <a:endParaRPr lang="en-US" dirty="0">
              <a:solidFill>
                <a:schemeClr val="accent2">
                  <a:lumMod val="7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6498C47-A9ED-3257-AA38-876E6D4D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192539-6E4C-3B2B-A764-524861889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822" y="5696373"/>
            <a:ext cx="7125038" cy="407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5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FA1E-0891-EBE3-D580-5F36F38C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771065-C053-5B79-0323-F1DC46B1E1CF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825F453-A2F4-21DF-8D99-067B6512A6B7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C84E1B-08C5-6802-2CBE-3B36A36C12ED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D93CF03-A551-E2AB-D29D-CC24C50A8897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4A4E478-E66F-7498-7140-C92EE04D84A6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FFF25F6-084A-CE78-E2C4-B003049DD4B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779D5C6-25A0-D42E-6A6F-297EFE0E95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7D60FE3-F711-6EB2-C50E-375330BC15F7}"/>
              </a:ext>
            </a:extLst>
          </p:cNvPr>
          <p:cNvSpPr txBox="1"/>
          <p:nvPr/>
        </p:nvSpPr>
        <p:spPr>
          <a:xfrm>
            <a:off x="1298432" y="93883"/>
            <a:ext cx="14634975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chemeClr val="accent4">
                    <a:lumMod val="50000"/>
                  </a:schemeClr>
                </a:solidFill>
                <a:ea typeface="+mn-lt"/>
                <a:cs typeface="+mn-lt"/>
              </a:rPr>
              <a:t>MANIPULATING THE DATA</a:t>
            </a:r>
            <a:endParaRPr lang="en-US" dirty="0">
              <a:solidFill>
                <a:schemeClr val="accent4">
                  <a:lumMod val="50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92D68A-BBC5-10D8-6E0B-15C8CD11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C71FCB-86D0-A464-39DD-2224F3B3F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39909"/>
              </p:ext>
            </p:extLst>
          </p:nvPr>
        </p:nvGraphicFramePr>
        <p:xfrm>
          <a:off x="697832" y="1240893"/>
          <a:ext cx="16916400" cy="85286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31829">
                  <a:extLst>
                    <a:ext uri="{9D8B030D-6E8A-4147-A177-3AD203B41FA5}">
                      <a16:colId xmlns:a16="http://schemas.microsoft.com/office/drawing/2014/main" val="3055210782"/>
                    </a:ext>
                  </a:extLst>
                </a:gridCol>
                <a:gridCol w="12084571">
                  <a:extLst>
                    <a:ext uri="{9D8B030D-6E8A-4147-A177-3AD203B41FA5}">
                      <a16:colId xmlns:a16="http://schemas.microsoft.com/office/drawing/2014/main" val="974639940"/>
                    </a:ext>
                  </a:extLst>
                </a:gridCol>
              </a:tblGrid>
              <a:tr h="1433827"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Functions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752212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UPPER()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Converts text to uppercase</a:t>
                      </a:r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945648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LOWER()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b="0" dirty="0"/>
                        <a:t>Converts text to lowercase.</a:t>
                      </a:r>
                      <a:endParaRPr lang="en-US" sz="3200" b="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412300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LEN()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Returns the length of a string (number of characters).</a:t>
                      </a:r>
                    </a:p>
                    <a:p>
                      <a:endParaRPr lang="en-US" sz="3200" b="0" dirty="0"/>
                    </a:p>
                    <a:p>
                      <a:endParaRPr lang="en-US" sz="3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4876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9AE5E51-04EA-746E-4053-7E84CA8A7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999" y="3635012"/>
            <a:ext cx="11154169" cy="12319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695FC2-CCFC-662C-860D-9C61BA29E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7999" y="5917446"/>
            <a:ext cx="11154169" cy="12319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3415BD-0331-97E2-18A9-1CEEFBD60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8000" y="8378976"/>
            <a:ext cx="11154168" cy="123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4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04B0-A900-7A62-78C5-80F698A5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B46580-A612-AFC7-70F4-C4553EDEF0B2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0BB18C5-9CC3-8F1B-1E9D-933BA3D726EF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50C6985-9BAB-FA6A-F83D-3F273970A27F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B0E045-817C-7794-E49D-8DEF5D2941C2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CA08C81-E266-17C0-0910-51A65CBE448C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A8923D1-B5D5-F98C-5C6C-3EFB6FD806F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81C9CC-B1D0-49F9-19C6-4879BD44FFE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43F73D-3033-95CE-A7F9-A8929A7752F4}"/>
              </a:ext>
            </a:extLst>
          </p:cNvPr>
          <p:cNvSpPr txBox="1"/>
          <p:nvPr/>
        </p:nvSpPr>
        <p:spPr>
          <a:xfrm>
            <a:off x="1298432" y="93883"/>
            <a:ext cx="14634975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chemeClr val="accent4">
                    <a:lumMod val="50000"/>
                  </a:schemeClr>
                </a:solidFill>
                <a:ea typeface="+mn-lt"/>
                <a:cs typeface="+mn-lt"/>
              </a:rPr>
              <a:t>MANIPULATING THE DATA</a:t>
            </a:r>
            <a:endParaRPr lang="en-US" dirty="0">
              <a:solidFill>
                <a:schemeClr val="accent4">
                  <a:lumMod val="50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DAA38AA-4165-308C-0996-83544AD1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C91F57-41EA-FD50-2E08-A9916892C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335575"/>
              </p:ext>
            </p:extLst>
          </p:nvPr>
        </p:nvGraphicFramePr>
        <p:xfrm>
          <a:off x="697832" y="1240893"/>
          <a:ext cx="16916400" cy="85286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31829">
                  <a:extLst>
                    <a:ext uri="{9D8B030D-6E8A-4147-A177-3AD203B41FA5}">
                      <a16:colId xmlns:a16="http://schemas.microsoft.com/office/drawing/2014/main" val="3055210782"/>
                    </a:ext>
                  </a:extLst>
                </a:gridCol>
                <a:gridCol w="12084571">
                  <a:extLst>
                    <a:ext uri="{9D8B030D-6E8A-4147-A177-3AD203B41FA5}">
                      <a16:colId xmlns:a16="http://schemas.microsoft.com/office/drawing/2014/main" val="974639940"/>
                    </a:ext>
                  </a:extLst>
                </a:gridCol>
              </a:tblGrid>
              <a:tr h="1433827"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Functions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752212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SUBSTRING()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Extracts a part of a string.</a:t>
                      </a:r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945648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REPLACE()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Replaces all occurrences of a substring with another</a:t>
                      </a:r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412300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CONCAT()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Joins (concatenates) multiple strings into one.</a:t>
                      </a:r>
                      <a:endParaRPr lang="en-US" sz="3200" b="0" dirty="0"/>
                    </a:p>
                    <a:p>
                      <a:endParaRPr lang="en-US" sz="3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4876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F1F4057-F789-6BFB-418E-5954FF835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762" y="3856881"/>
            <a:ext cx="10970106" cy="10253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F41C8E-9E3D-C2B2-E92D-AD334E7AB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7462" y="6392935"/>
            <a:ext cx="11097406" cy="8692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65D275-C66D-3A3E-8887-14A25CDFB6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4763" y="8625232"/>
            <a:ext cx="10970106" cy="102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6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225C6-98F6-270D-1DE1-B0471F86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D73DC7-1764-2A7E-1E30-912A61B79557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26BA7F-C264-FBA9-ECF5-BABAC303184C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9F25E6-5B5A-3935-FF0C-6D7110E3F55D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2B57CAF-5061-C943-AC19-3851E56FCD02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D220BDA-BCE6-9961-3C83-096566BB95C8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385B049-4DB6-9C15-0FC3-6899575A272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437E501-E1DC-C62E-3CCF-0D7F018BD1C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92F6C08-5E2F-9AD5-48BF-DC9304F6EFAD}"/>
              </a:ext>
            </a:extLst>
          </p:cNvPr>
          <p:cNvSpPr txBox="1"/>
          <p:nvPr/>
        </p:nvSpPr>
        <p:spPr>
          <a:xfrm>
            <a:off x="697832" y="93883"/>
            <a:ext cx="15235575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chemeClr val="accent4">
                    <a:lumMod val="50000"/>
                  </a:schemeClr>
                </a:solidFill>
                <a:ea typeface="+mn-lt"/>
                <a:cs typeface="+mn-lt"/>
              </a:rPr>
              <a:t>Other Important Functions</a:t>
            </a:r>
            <a:endParaRPr lang="en-US" dirty="0">
              <a:solidFill>
                <a:schemeClr val="accent4">
                  <a:lumMod val="50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33F99AA-B473-29E4-E8B4-0553C80C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A8087A-772F-3258-B3C3-8AFFFE687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74962"/>
              </p:ext>
            </p:extLst>
          </p:nvPr>
        </p:nvGraphicFramePr>
        <p:xfrm>
          <a:off x="697832" y="1240893"/>
          <a:ext cx="16916400" cy="864815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831829">
                  <a:extLst>
                    <a:ext uri="{9D8B030D-6E8A-4147-A177-3AD203B41FA5}">
                      <a16:colId xmlns:a16="http://schemas.microsoft.com/office/drawing/2014/main" val="3055210782"/>
                    </a:ext>
                  </a:extLst>
                </a:gridCol>
                <a:gridCol w="12084571">
                  <a:extLst>
                    <a:ext uri="{9D8B030D-6E8A-4147-A177-3AD203B41FA5}">
                      <a16:colId xmlns:a16="http://schemas.microsoft.com/office/drawing/2014/main" val="974639940"/>
                    </a:ext>
                  </a:extLst>
                </a:gridCol>
              </a:tblGrid>
              <a:tr h="900728"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Functions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752212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Used to convert a value from one data type to another.</a:t>
                      </a:r>
                    </a:p>
                    <a:p>
                      <a:endParaRPr lang="en-US" sz="3200" b="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945648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CONVERT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Also used to convert data types, but more flexible for dates and formatting.</a:t>
                      </a:r>
                    </a:p>
                    <a:p>
                      <a:endParaRPr lang="en-US" sz="3200" b="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412300"/>
                  </a:ext>
                </a:extLst>
              </a:tr>
              <a:tr h="2364955">
                <a:tc>
                  <a:txBody>
                    <a:bodyPr/>
                    <a:lstStyle/>
                    <a:p>
                      <a:r>
                        <a:rPr lang="en-IN" sz="3200" b="1" dirty="0"/>
                        <a:t>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dirty="0"/>
                        <a:t>Works like an IF-ELSE in SQL.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dirty="0"/>
                        <a:t>Returns values based on conditions.</a:t>
                      </a:r>
                    </a:p>
                    <a:p>
                      <a:endParaRPr lang="en-US" sz="3200" b="0" dirty="0"/>
                    </a:p>
                    <a:p>
                      <a:endParaRPr lang="en-US" sz="3200" b="0" dirty="0"/>
                    </a:p>
                    <a:p>
                      <a:endParaRPr lang="en-US" sz="3200" b="0" dirty="0"/>
                    </a:p>
                    <a:p>
                      <a:endParaRPr lang="en-US" sz="3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4876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7F1013F-F28B-F9D8-6644-6F61264A2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756" y="3228783"/>
            <a:ext cx="10703170" cy="1145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C9B874-310E-FA59-E99A-6F061B993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756" y="5696436"/>
            <a:ext cx="10703170" cy="10248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E95159-A7AB-8D50-2DE7-029E1921A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750" y="7978416"/>
            <a:ext cx="10410176" cy="171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GB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AA6279-A4F7-6E37-1B6B-373107FE3476}"/>
              </a:ext>
            </a:extLst>
          </p:cNvPr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9416</TotalTime>
  <Words>257</Words>
  <Application>Microsoft Office PowerPoint</Application>
  <PresentationFormat>Custom</PresentationFormat>
  <Paragraphs>90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Heebo Black</vt:lpstr>
      <vt:lpstr>Arial</vt:lpstr>
      <vt:lpstr>Horizon</vt:lpstr>
      <vt:lpstr>Aptos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lastModifiedBy>Sierra Learning</cp:lastModifiedBy>
  <cp:revision>84</cp:revision>
  <dcterms:created xsi:type="dcterms:W3CDTF">2006-08-16T00:00:00Z</dcterms:created>
  <dcterms:modified xsi:type="dcterms:W3CDTF">2025-09-15T14:51:59Z</dcterms:modified>
  <dc:identifier>DAGpXxrSFgM</dc:identifier>
</cp:coreProperties>
</file>