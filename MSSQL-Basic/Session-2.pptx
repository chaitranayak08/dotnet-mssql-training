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1"/>
  </p:notesMasterIdLst>
  <p:sldIdLst>
    <p:sldId id="316" r:id="rId2"/>
    <p:sldId id="256" r:id="rId3"/>
    <p:sldId id="257" r:id="rId4"/>
    <p:sldId id="276" r:id="rId5"/>
    <p:sldId id="317" r:id="rId6"/>
    <p:sldId id="319" r:id="rId7"/>
    <p:sldId id="318" r:id="rId8"/>
    <p:sldId id="282" r:id="rId9"/>
    <p:sldId id="281" r:id="rId10"/>
    <p:sldId id="275" r:id="rId11"/>
    <p:sldId id="320" r:id="rId12"/>
    <p:sldId id="321" r:id="rId13"/>
    <p:sldId id="258" r:id="rId14"/>
    <p:sldId id="283" r:id="rId15"/>
    <p:sldId id="284" r:id="rId16"/>
    <p:sldId id="323" r:id="rId17"/>
    <p:sldId id="274" r:id="rId18"/>
    <p:sldId id="265" r:id="rId19"/>
    <p:sldId id="288" r:id="rId20"/>
    <p:sldId id="285" r:id="rId21"/>
    <p:sldId id="289" r:id="rId22"/>
    <p:sldId id="286" r:id="rId23"/>
    <p:sldId id="266" r:id="rId24"/>
    <p:sldId id="290" r:id="rId25"/>
    <p:sldId id="291" r:id="rId26"/>
    <p:sldId id="292" r:id="rId27"/>
    <p:sldId id="267" r:id="rId28"/>
    <p:sldId id="268" r:id="rId29"/>
    <p:sldId id="269" r:id="rId30"/>
  </p:sldIdLst>
  <p:sldSz cx="18288000" cy="10287000"/>
  <p:notesSz cx="6858000" cy="9144000"/>
  <p:embeddedFontLst>
    <p:embeddedFont>
      <p:font typeface="Agrandir" panose="020B0604020202020204" charset="0"/>
      <p:regular r:id="rId32"/>
    </p:embeddedFont>
    <p:embeddedFont>
      <p:font typeface="Assistant Regular" panose="020B0604020202020204" charset="-79"/>
      <p:regular r:id="rId33"/>
    </p:embeddedFont>
    <p:embeddedFont>
      <p:font typeface="Assistant Regular Bold" panose="020B0604020202020204" charset="-79"/>
      <p:regular r:id="rId34"/>
    </p:embeddedFont>
    <p:embeddedFont>
      <p:font typeface="Heebo Black" pitchFamily="2" charset="-79"/>
      <p:regular r:id="rId35"/>
      <p:bold r:id="rId36"/>
    </p:embeddedFont>
    <p:embeddedFont>
      <p:font typeface="HK Modular" panose="020B0604020202020204" charset="0"/>
      <p:regular r:id="rId37"/>
    </p:embeddedFont>
    <p:embeddedFont>
      <p:font typeface="Horizon" panose="020B0604020202020204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17F43D-2A94-46AF-90C1-C85748EC6597}" v="381" dt="2025-06-07T10:14:44.837"/>
    <p1510:client id="{6EE5FFB5-FA97-431F-A702-10D5039EA187}" v="1704" dt="2025-06-07T07:39:16.444"/>
    <p1510:client id="{8530CCF8-970C-45E7-B10C-1B8DC558D11B}" v="2" dt="2025-06-07T00:43:59.214"/>
    <p1510:client id="{993A952B-EB64-46F1-A797-5574A5E2CF03}" v="26" dt="2025-06-07T00:57:34.844"/>
    <p1510:client id="{BB55558A-5814-425F-BF8E-19951515002E}" v="4" dt="2025-06-07T00:49:22.607"/>
    <p1510:client id="{C229F99B-91FC-4CCB-AA17-9B031DDDE57D}" v="63" dt="2025-06-07T10:24:52.588"/>
    <p1510:client id="{FA7CE110-92A3-92C7-45DA-1740071A6006}" v="76" dt="2025-06-07T01:54:34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33" d="100"/>
          <a:sy n="33" d="100"/>
        </p:scale>
        <p:origin x="19" y="6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00D25A-C1F7-4ECE-89D8-C6FB4197FD5E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C0CAF-0D9E-4669-8AB4-BF85EABBF9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722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9C0CAF-0D9E-4669-8AB4-BF85EABBF93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246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learnsql.com/blog/sql-window-functions-explained/" TargetMode="External"/><Relationship Id="rId4" Type="http://schemas.openxmlformats.org/officeDocument/2006/relationships/hyperlink" Target="https://www.w3schools.com/sql/sql_join.asp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3D346C-65C5-47AF-91D7-91A16702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3" name="Google Shape;88;p1">
            <a:extLst>
              <a:ext uri="{FF2B5EF4-FFF2-40B4-BE49-F238E27FC236}">
                <a16:creationId xmlns:a16="http://schemas.microsoft.com/office/drawing/2014/main" id="{532B16B3-6609-F3A9-8935-1E7E45582B33}"/>
              </a:ext>
            </a:extLst>
          </p:cNvPr>
          <p:cNvGrpSpPr/>
          <p:nvPr/>
        </p:nvGrpSpPr>
        <p:grpSpPr>
          <a:xfrm>
            <a:off x="6775593" y="-328312"/>
            <a:ext cx="11512407" cy="10615312"/>
            <a:chOff x="6375082" y="-144661"/>
            <a:chExt cx="11512407" cy="10615312"/>
          </a:xfrm>
        </p:grpSpPr>
        <p:sp>
          <p:nvSpPr>
            <p:cNvPr id="4" name="Google Shape;89;p1">
              <a:extLst>
                <a:ext uri="{FF2B5EF4-FFF2-40B4-BE49-F238E27FC236}">
                  <a16:creationId xmlns:a16="http://schemas.microsoft.com/office/drawing/2014/main" id="{14F6515C-3699-E1EB-00DB-EF19B900D29D}"/>
                </a:ext>
              </a:extLst>
            </p:cNvPr>
            <p:cNvSpPr/>
            <p:nvPr/>
          </p:nvSpPr>
          <p:spPr>
            <a:xfrm>
              <a:off x="6375082" y="1638300"/>
              <a:ext cx="3726767" cy="6356958"/>
            </a:xfrm>
            <a:custGeom>
              <a:avLst/>
              <a:gdLst/>
              <a:ahLst/>
              <a:cxnLst/>
              <a:rect l="l" t="t" r="r" b="b"/>
              <a:pathLst>
                <a:path w="3726767" h="6356958" extrusionOk="0">
                  <a:moveTo>
                    <a:pt x="0" y="0"/>
                  </a:moveTo>
                  <a:lnTo>
                    <a:pt x="3726766" y="0"/>
                  </a:lnTo>
                  <a:lnTo>
                    <a:pt x="3726766" y="6356958"/>
                  </a:lnTo>
                  <a:lnTo>
                    <a:pt x="0" y="63569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oogle Shape;90;p1">
              <a:extLst>
                <a:ext uri="{FF2B5EF4-FFF2-40B4-BE49-F238E27FC236}">
                  <a16:creationId xmlns:a16="http://schemas.microsoft.com/office/drawing/2014/main" id="{A62AA662-476C-E6FB-6E75-8B8F22650C09}"/>
                </a:ext>
              </a:extLst>
            </p:cNvPr>
            <p:cNvGrpSpPr/>
            <p:nvPr/>
          </p:nvGrpSpPr>
          <p:grpSpPr>
            <a:xfrm>
              <a:off x="17569989" y="-144661"/>
              <a:ext cx="317500" cy="10615312"/>
              <a:chOff x="0" y="-38100"/>
              <a:chExt cx="83621" cy="2795802"/>
            </a:xfrm>
          </p:grpSpPr>
          <p:sp>
            <p:nvSpPr>
              <p:cNvPr id="9" name="Google Shape;91;p1">
                <a:extLst>
                  <a:ext uri="{FF2B5EF4-FFF2-40B4-BE49-F238E27FC236}">
                    <a16:creationId xmlns:a16="http://schemas.microsoft.com/office/drawing/2014/main" id="{0EF42A53-F2C5-8EB0-548E-336AE864B302}"/>
                  </a:ext>
                </a:extLst>
              </p:cNvPr>
              <p:cNvSpPr/>
              <p:nvPr/>
            </p:nvSpPr>
            <p:spPr>
              <a:xfrm>
                <a:off x="0" y="0"/>
                <a:ext cx="83621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83621" h="2757702" extrusionOk="0">
                    <a:moveTo>
                      <a:pt x="0" y="0"/>
                    </a:moveTo>
                    <a:lnTo>
                      <a:pt x="83621" y="0"/>
                    </a:lnTo>
                    <a:lnTo>
                      <a:pt x="83621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92;p1">
                <a:extLst>
                  <a:ext uri="{FF2B5EF4-FFF2-40B4-BE49-F238E27FC236}">
                    <a16:creationId xmlns:a16="http://schemas.microsoft.com/office/drawing/2014/main" id="{099A907C-897C-F2BC-E14D-F698EB5736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3621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93;p1">
              <a:extLst>
                <a:ext uri="{FF2B5EF4-FFF2-40B4-BE49-F238E27FC236}">
                  <a16:creationId xmlns:a16="http://schemas.microsoft.com/office/drawing/2014/main" id="{034B7140-8881-3F8C-8481-B3F14C27C36F}"/>
                </a:ext>
              </a:extLst>
            </p:cNvPr>
            <p:cNvGrpSpPr/>
            <p:nvPr/>
          </p:nvGrpSpPr>
          <p:grpSpPr>
            <a:xfrm>
              <a:off x="16107228" y="-144661"/>
              <a:ext cx="1247470" cy="10615312"/>
              <a:chOff x="0" y="-38100"/>
              <a:chExt cx="328552" cy="2795802"/>
            </a:xfrm>
          </p:grpSpPr>
          <p:sp>
            <p:nvSpPr>
              <p:cNvPr id="7" name="Google Shape;94;p1">
                <a:extLst>
                  <a:ext uri="{FF2B5EF4-FFF2-40B4-BE49-F238E27FC236}">
                    <a16:creationId xmlns:a16="http://schemas.microsoft.com/office/drawing/2014/main" id="{642BB787-A66D-E596-8102-0BAF757D14D4}"/>
                  </a:ext>
                </a:extLst>
              </p:cNvPr>
              <p:cNvSpPr/>
              <p:nvPr/>
            </p:nvSpPr>
            <p:spPr>
              <a:xfrm>
                <a:off x="0" y="0"/>
                <a:ext cx="328552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328552" h="2757702" extrusionOk="0">
                    <a:moveTo>
                      <a:pt x="0" y="0"/>
                    </a:moveTo>
                    <a:lnTo>
                      <a:pt x="328552" y="0"/>
                    </a:lnTo>
                    <a:lnTo>
                      <a:pt x="328552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95;p1">
                <a:extLst>
                  <a:ext uri="{FF2B5EF4-FFF2-40B4-BE49-F238E27FC236}">
                    <a16:creationId xmlns:a16="http://schemas.microsoft.com/office/drawing/2014/main" id="{1E6B82F4-8166-8FE6-137C-48C384277E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28552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549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56450" y="4060287"/>
            <a:ext cx="13975099" cy="3550355"/>
            <a:chOff x="-1660529" y="-383181"/>
            <a:chExt cx="18633465" cy="4733807"/>
          </a:xfrm>
        </p:grpSpPr>
        <p:sp>
          <p:nvSpPr>
            <p:cNvPr id="3" name="TextBox 3"/>
            <p:cNvSpPr txBox="1"/>
            <p:nvPr/>
          </p:nvSpPr>
          <p:spPr>
            <a:xfrm>
              <a:off x="-1660529" y="-383181"/>
              <a:ext cx="18633465" cy="22287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GB" sz="9600" spc="279" dirty="0">
                  <a:ea typeface="+mn-lt"/>
                  <a:cs typeface="+mn-lt"/>
                  <a:sym typeface="Heebo Black"/>
                </a:rPr>
                <a:t>Foundational Concepts - II</a:t>
              </a:r>
              <a:endParaRPr lang="en-US" dirty="0"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latin typeface="Agrandir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1605490" y="7945838"/>
            <a:ext cx="4246034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 dirty="0">
                <a:latin typeface="Calibri"/>
                <a:ea typeface="Agrandir Bold"/>
                <a:cs typeface="Agrandir Bold"/>
                <a:sym typeface="Agrandir Bold"/>
              </a:rPr>
              <a:t>By : Mr. Shivam Supekar</a:t>
            </a:r>
            <a:endParaRPr lang="en-US" sz="3200" b="1" dirty="0">
              <a:latin typeface="Calibri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82FFDF31-5363-B41E-C69B-D365621E0AE1}"/>
              </a:ext>
            </a:extLst>
          </p:cNvPr>
          <p:cNvSpPr txBox="1"/>
          <p:nvPr/>
        </p:nvSpPr>
        <p:spPr>
          <a:xfrm>
            <a:off x="16432940" y="892321"/>
            <a:ext cx="1935631" cy="481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4000" b="1" dirty="0">
                <a:latin typeface="Calibri"/>
                <a:ea typeface="Agrandir Bold"/>
                <a:cs typeface="Agrandir Bold"/>
              </a:rPr>
              <a:t>2 / 12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F8CB70-6943-779A-51B7-154BD85CED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290" y="1373990"/>
            <a:ext cx="6617368" cy="20617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962525" y="1104900"/>
            <a:ext cx="7433384" cy="1291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4775098" y="2912245"/>
            <a:ext cx="5548532" cy="933992"/>
            <a:chOff x="0" y="0"/>
            <a:chExt cx="7398043" cy="1245322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8" y="335404"/>
              <a:ext cx="442528" cy="523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10123" y="270697"/>
              <a:ext cx="5587920" cy="974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/>
              <a:r>
                <a:rPr lang="en-IN" sz="2400" dirty="0"/>
                <a:t>Basic joins</a:t>
              </a:r>
            </a:p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endParaRPr lang="en-US" sz="2400" u="none" dirty="0">
                <a:solidFill>
                  <a:srgbClr val="33123B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17501" y="2912245"/>
            <a:ext cx="5548532" cy="881343"/>
            <a:chOff x="0" y="0"/>
            <a:chExt cx="7398043" cy="11751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/>
              <a:r>
                <a:rPr lang="en-GB" sz="2400" dirty="0"/>
                <a:t>Advanced Joins</a:t>
              </a:r>
              <a:endParaRPr lang="en-IN" sz="2400" dirty="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75098" y="4284467"/>
            <a:ext cx="5548532" cy="881343"/>
            <a:chOff x="0" y="0"/>
            <a:chExt cx="7398043" cy="1175123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/>
              <a:r>
                <a:rPr lang="en-US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Advanced SQL</a:t>
              </a:r>
              <a:endParaRPr lang="en-GB" sz="2400" dirty="0">
                <a:solidFill>
                  <a:srgbClr val="33123B"/>
                </a:solidFill>
                <a:latin typeface="Apto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75098" y="5656690"/>
            <a:ext cx="5548532" cy="881343"/>
            <a:chOff x="0" y="0"/>
            <a:chExt cx="7398043" cy="1175123"/>
          </a:xfrm>
        </p:grpSpPr>
        <p:grpSp>
          <p:nvGrpSpPr>
            <p:cNvPr id="25" name="Group 2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Use Cases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75098" y="7033333"/>
            <a:ext cx="5548532" cy="881343"/>
            <a:chOff x="0" y="0"/>
            <a:chExt cx="7398043" cy="1175123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Debrief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017501" y="4284467"/>
            <a:ext cx="5548532" cy="881343"/>
            <a:chOff x="0" y="0"/>
            <a:chExt cx="7398043" cy="1175123"/>
          </a:xfrm>
        </p:grpSpPr>
        <p:grpSp>
          <p:nvGrpSpPr>
            <p:cNvPr id="35" name="Group 3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GB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Window Functions</a:t>
              </a:r>
              <a:endParaRPr lang="en-US" dirty="0">
                <a:ea typeface="+mn-lt"/>
                <a:cs typeface="+mn-lt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017501" y="5656690"/>
            <a:ext cx="5548532" cy="881343"/>
            <a:chOff x="0" y="0"/>
            <a:chExt cx="7398043" cy="1175123"/>
          </a:xfrm>
        </p:grpSpPr>
        <p:grpSp>
          <p:nvGrpSpPr>
            <p:cNvPr id="40" name="Group 4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Assignment</a:t>
              </a:r>
              <a:endParaRPr lang="en-US" sz="2400" dirty="0">
                <a:solidFill>
                  <a:srgbClr val="33123B"/>
                </a:solidFill>
                <a:latin typeface="Calibri"/>
                <a:ea typeface="Agrandir"/>
                <a:cs typeface="Agrandir"/>
              </a:endParaRP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AD6BE-F179-A13A-C05D-6AC510D6C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4B74709-C462-95F8-08CD-0D0FCEF0E19E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DD05D65-E3B2-A39A-4FAE-7F33521F69D0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362F84B-568A-E77B-A22D-D15ACE8BD1F3}"/>
              </a:ext>
            </a:extLst>
          </p:cNvPr>
          <p:cNvGrpSpPr/>
          <p:nvPr/>
        </p:nvGrpSpPr>
        <p:grpSpPr>
          <a:xfrm>
            <a:off x="2189748" y="1951726"/>
            <a:ext cx="14535120" cy="4370427"/>
            <a:chOff x="-3721373" y="-2442976"/>
            <a:chExt cx="21900210" cy="57977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3B135D7-88A5-B84B-C023-37DC14FBFBAA}"/>
                </a:ext>
              </a:extLst>
            </p:cNvPr>
            <p:cNvSpPr txBox="1"/>
            <p:nvPr/>
          </p:nvSpPr>
          <p:spPr>
            <a:xfrm>
              <a:off x="-3721373" y="-2442976"/>
              <a:ext cx="21900210" cy="57977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1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285750" indent="-285750" algn="just"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lvl="2" algn="just"/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algn="just"/>
              <a:endParaRPr lang="en-GB" sz="3200" dirty="0">
                <a:ea typeface="+mn-lt"/>
                <a:cs typeface="+mn-lt"/>
              </a:endParaRPr>
            </a:p>
            <a:p>
              <a:pPr lvl="1" algn="just"/>
              <a:r>
                <a:rPr lang="en-GB" sz="3200" b="1" dirty="0">
                  <a:ea typeface="+mn-lt"/>
                  <a:cs typeface="+mn-lt"/>
                </a:rPr>
                <a:t>  </a:t>
              </a: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2193D8A-D774-A060-7EA8-525AFFC6FCD5}"/>
                </a:ext>
              </a:extLst>
            </p:cNvPr>
            <p:cNvSpPr txBox="1"/>
            <p:nvPr/>
          </p:nvSpPr>
          <p:spPr>
            <a:xfrm>
              <a:off x="0" y="-9526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1A7571D-1B77-EC80-4008-4C1C4002EA7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2C774A1-DA04-2217-CEB9-8D288A3321F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2A4B228-6952-4F52-16AC-B47AB546A649}"/>
              </a:ext>
            </a:extLst>
          </p:cNvPr>
          <p:cNvSpPr txBox="1"/>
          <p:nvPr/>
        </p:nvSpPr>
        <p:spPr>
          <a:xfrm>
            <a:off x="1744785" y="376279"/>
            <a:ext cx="1434441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Basic Joins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D59735C-CF7F-8165-EB3C-F9331F92E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4</a:t>
            </a:fld>
            <a:endParaRPr lang="en-GB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0B6D966-6FDC-D3AB-50A2-3393B6569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227022"/>
              </p:ext>
            </p:extLst>
          </p:nvPr>
        </p:nvGraphicFramePr>
        <p:xfrm>
          <a:off x="1681233" y="2063790"/>
          <a:ext cx="14934264" cy="763990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78088">
                  <a:extLst>
                    <a:ext uri="{9D8B030D-6E8A-4147-A177-3AD203B41FA5}">
                      <a16:colId xmlns:a16="http://schemas.microsoft.com/office/drawing/2014/main" val="3055210782"/>
                    </a:ext>
                  </a:extLst>
                </a:gridCol>
                <a:gridCol w="4978088">
                  <a:extLst>
                    <a:ext uri="{9D8B030D-6E8A-4147-A177-3AD203B41FA5}">
                      <a16:colId xmlns:a16="http://schemas.microsoft.com/office/drawing/2014/main" val="974639940"/>
                    </a:ext>
                  </a:extLst>
                </a:gridCol>
                <a:gridCol w="4978088">
                  <a:extLst>
                    <a:ext uri="{9D8B030D-6E8A-4147-A177-3AD203B41FA5}">
                      <a16:colId xmlns:a16="http://schemas.microsoft.com/office/drawing/2014/main" val="3239477080"/>
                    </a:ext>
                  </a:extLst>
                </a:gridCol>
              </a:tblGrid>
              <a:tr h="1488231">
                <a:tc>
                  <a:txBody>
                    <a:bodyPr/>
                    <a:lstStyle/>
                    <a:p>
                      <a:r>
                        <a:rPr lang="en-IN" sz="4000" dirty="0">
                          <a:solidFill>
                            <a:schemeClr val="bg2"/>
                          </a:solidFill>
                        </a:rPr>
                        <a:t>JOIN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>
                          <a:solidFill>
                            <a:schemeClr val="bg2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>
                          <a:solidFill>
                            <a:schemeClr val="bg2"/>
                          </a:solidFill>
                        </a:rPr>
                        <a:t>USE CASE 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752212"/>
                  </a:ext>
                </a:extLst>
              </a:tr>
              <a:tr h="1488231">
                <a:tc>
                  <a:txBody>
                    <a:bodyPr/>
                    <a:lstStyle/>
                    <a:p>
                      <a:r>
                        <a:rPr lang="en-IN" sz="3200" b="1" dirty="0"/>
                        <a:t>INNER JOIN</a:t>
                      </a:r>
                      <a:endParaRPr lang="en-IN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Returns only matching rows from both tables.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List orders with matching customer details.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3945648"/>
                  </a:ext>
                </a:extLst>
              </a:tr>
              <a:tr h="1488231">
                <a:tc>
                  <a:txBody>
                    <a:bodyPr/>
                    <a:lstStyle/>
                    <a:p>
                      <a:r>
                        <a:rPr lang="en-IN" sz="3200" b="1" dirty="0"/>
                        <a:t>LEFT JOIN</a:t>
                      </a:r>
                      <a:endParaRPr lang="en-IN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Returns all rows from the left table, and matched rows from the right table.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Show all customers, even if they haven’t ordered.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4412300"/>
                  </a:ext>
                </a:extLst>
              </a:tr>
              <a:tr h="1488231">
                <a:tc>
                  <a:txBody>
                    <a:bodyPr/>
                    <a:lstStyle/>
                    <a:p>
                      <a:r>
                        <a:rPr lang="en-IN" sz="3200" b="1" dirty="0"/>
                        <a:t>RIGHT JOIN</a:t>
                      </a:r>
                      <a:endParaRPr lang="en-IN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Returns all rows from the right table, and matched rows from the left table.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Show all products, even those never ordered.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48762"/>
                  </a:ext>
                </a:extLst>
              </a:tr>
              <a:tr h="1488231">
                <a:tc>
                  <a:txBody>
                    <a:bodyPr/>
                    <a:lstStyle/>
                    <a:p>
                      <a:r>
                        <a:rPr lang="en-IN" sz="3200" b="1"/>
                        <a:t>FULL OUTER JOIN</a:t>
                      </a:r>
                      <a:endParaRPr lang="en-IN" sz="3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Returns all rows when there is a match in either table.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Combine customers and orders, including unmatched.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7666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6518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6FA1E-0891-EBE3-D580-5F36F38C5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6771065-C053-5B79-0323-F1DC46B1E1CF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825F453-A2F4-21DF-8D99-067B6512A6B7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0C84E1B-08C5-6802-2CBE-3B36A36C12ED}"/>
              </a:ext>
            </a:extLst>
          </p:cNvPr>
          <p:cNvGrpSpPr/>
          <p:nvPr/>
        </p:nvGrpSpPr>
        <p:grpSpPr>
          <a:xfrm>
            <a:off x="2189748" y="1951726"/>
            <a:ext cx="14535120" cy="4370427"/>
            <a:chOff x="-3721373" y="-2442976"/>
            <a:chExt cx="21900210" cy="57977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D93CF03-A551-E2AB-D29D-CC24C50A8897}"/>
                </a:ext>
              </a:extLst>
            </p:cNvPr>
            <p:cNvSpPr txBox="1"/>
            <p:nvPr/>
          </p:nvSpPr>
          <p:spPr>
            <a:xfrm>
              <a:off x="-3721373" y="-2442976"/>
              <a:ext cx="21900210" cy="57977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1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285750" indent="-285750" algn="just"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lvl="2" algn="just"/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algn="just"/>
              <a:endParaRPr lang="en-GB" sz="3200" dirty="0">
                <a:ea typeface="+mn-lt"/>
                <a:cs typeface="+mn-lt"/>
              </a:endParaRPr>
            </a:p>
            <a:p>
              <a:pPr lvl="1" algn="just"/>
              <a:r>
                <a:rPr lang="en-GB" sz="3200" b="1" dirty="0">
                  <a:ea typeface="+mn-lt"/>
                  <a:cs typeface="+mn-lt"/>
                </a:rPr>
                <a:t>  </a:t>
              </a: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4A4E478-E66F-7498-7140-C92EE04D84A6}"/>
                </a:ext>
              </a:extLst>
            </p:cNvPr>
            <p:cNvSpPr txBox="1"/>
            <p:nvPr/>
          </p:nvSpPr>
          <p:spPr>
            <a:xfrm>
              <a:off x="0" y="-9526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FFF25F6-084A-CE78-E2C4-B003049DD4B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779D5C6-25A0-D42E-6A6F-297EFE0E9544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7D60FE3-F711-6EB2-C50E-375330BC15F7}"/>
              </a:ext>
            </a:extLst>
          </p:cNvPr>
          <p:cNvSpPr txBox="1"/>
          <p:nvPr/>
        </p:nvSpPr>
        <p:spPr>
          <a:xfrm>
            <a:off x="1588991" y="93883"/>
            <a:ext cx="1434441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Basic Joins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192D68A-BBC5-10D8-6E0B-15C8CD11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5</a:t>
            </a:fld>
            <a:endParaRPr lang="en-GB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FC71FCB-86D0-A464-39DD-2224F3B3F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708501"/>
              </p:ext>
            </p:extLst>
          </p:nvPr>
        </p:nvGraphicFramePr>
        <p:xfrm>
          <a:off x="1298432" y="1240893"/>
          <a:ext cx="15578068" cy="912160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449562">
                  <a:extLst>
                    <a:ext uri="{9D8B030D-6E8A-4147-A177-3AD203B41FA5}">
                      <a16:colId xmlns:a16="http://schemas.microsoft.com/office/drawing/2014/main" val="3055210782"/>
                    </a:ext>
                  </a:extLst>
                </a:gridCol>
                <a:gridCol w="11128506">
                  <a:extLst>
                    <a:ext uri="{9D8B030D-6E8A-4147-A177-3AD203B41FA5}">
                      <a16:colId xmlns:a16="http://schemas.microsoft.com/office/drawing/2014/main" val="974639940"/>
                    </a:ext>
                  </a:extLst>
                </a:gridCol>
              </a:tblGrid>
              <a:tr h="952963">
                <a:tc>
                  <a:txBody>
                    <a:bodyPr/>
                    <a:lstStyle/>
                    <a:p>
                      <a:r>
                        <a:rPr lang="en-IN" sz="4000" dirty="0">
                          <a:solidFill>
                            <a:schemeClr val="bg2"/>
                          </a:solidFill>
                        </a:rPr>
                        <a:t>JOIN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>
                          <a:solidFill>
                            <a:schemeClr val="bg2"/>
                          </a:solidFill>
                        </a:rPr>
                        <a:t>SYNTAX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752212"/>
                  </a:ext>
                </a:extLst>
              </a:tr>
              <a:tr h="1571818">
                <a:tc>
                  <a:txBody>
                    <a:bodyPr/>
                    <a:lstStyle/>
                    <a:p>
                      <a:r>
                        <a:rPr lang="en-IN" sz="3200" b="1" dirty="0"/>
                        <a:t>INNER JOIN</a:t>
                      </a:r>
                      <a:endParaRPr lang="en-IN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  <a:p>
                      <a:endParaRPr lang="en-US" sz="3200" dirty="0"/>
                    </a:p>
                    <a:p>
                      <a:endParaRPr lang="en-US" sz="3200" dirty="0"/>
                    </a:p>
                    <a:p>
                      <a:endParaRPr 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3945648"/>
                  </a:ext>
                </a:extLst>
              </a:tr>
              <a:tr h="1571818">
                <a:tc>
                  <a:txBody>
                    <a:bodyPr/>
                    <a:lstStyle/>
                    <a:p>
                      <a:r>
                        <a:rPr lang="en-IN" sz="3200" b="1" dirty="0"/>
                        <a:t>LEFT JOIN</a:t>
                      </a:r>
                      <a:endParaRPr lang="en-IN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  <a:p>
                      <a:endParaRPr lang="en-US" sz="3200" dirty="0"/>
                    </a:p>
                    <a:p>
                      <a:endParaRPr lang="en-US" sz="3200" dirty="0"/>
                    </a:p>
                    <a:p>
                      <a:endParaRPr 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4412300"/>
                  </a:ext>
                </a:extLst>
              </a:tr>
              <a:tr h="1571818">
                <a:tc>
                  <a:txBody>
                    <a:bodyPr/>
                    <a:lstStyle/>
                    <a:p>
                      <a:r>
                        <a:rPr lang="en-IN" sz="3200" b="1" dirty="0"/>
                        <a:t>RIGHT JOIN</a:t>
                      </a:r>
                      <a:endParaRPr lang="en-IN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  <a:p>
                      <a:endParaRPr lang="en-US" sz="3200" dirty="0"/>
                    </a:p>
                    <a:p>
                      <a:endParaRPr lang="en-US" sz="3200" dirty="0"/>
                    </a:p>
                    <a:p>
                      <a:endParaRPr 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48762"/>
                  </a:ext>
                </a:extLst>
              </a:tr>
              <a:tr h="1571818">
                <a:tc>
                  <a:txBody>
                    <a:bodyPr/>
                    <a:lstStyle/>
                    <a:p>
                      <a:r>
                        <a:rPr lang="en-IN" sz="3200" b="1"/>
                        <a:t>FULL OUTER JOIN</a:t>
                      </a:r>
                      <a:endParaRPr lang="en-IN" sz="3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  <a:p>
                      <a:endParaRPr lang="en-US" sz="3200" dirty="0"/>
                    </a:p>
                    <a:p>
                      <a:endParaRPr lang="en-US" sz="3200" dirty="0"/>
                    </a:p>
                    <a:p>
                      <a:endParaRPr 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7666366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4B70AF1-A0B0-62BD-095C-C8034D5BB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8918" y="2342529"/>
            <a:ext cx="6616780" cy="18874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E1D73B-FF7F-9620-FB57-36DCE84644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8918" y="4283513"/>
            <a:ext cx="6616780" cy="18874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AB1651A-84B4-A830-EB52-5659F30985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8918" y="6373870"/>
            <a:ext cx="6616780" cy="18882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484C947-2FD9-872B-E49C-ECBADAE88D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8918" y="8335274"/>
            <a:ext cx="6718449" cy="197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047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5F90E-4EB1-09B9-51E6-2E595BC1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F032328-F290-69DA-6A88-79A140AFD995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B86B72A-8C99-D868-2960-17739669AEF9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B3DE9B2-0311-9AC8-DEDF-40ACD40D3879}"/>
              </a:ext>
            </a:extLst>
          </p:cNvPr>
          <p:cNvGrpSpPr/>
          <p:nvPr/>
        </p:nvGrpSpPr>
        <p:grpSpPr>
          <a:xfrm>
            <a:off x="2189748" y="1951726"/>
            <a:ext cx="14535120" cy="4370427"/>
            <a:chOff x="-3721373" y="-2442976"/>
            <a:chExt cx="21900210" cy="57977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CB70422-FE19-91BF-CE26-627F6A9BF6CE}"/>
                </a:ext>
              </a:extLst>
            </p:cNvPr>
            <p:cNvSpPr txBox="1"/>
            <p:nvPr/>
          </p:nvSpPr>
          <p:spPr>
            <a:xfrm>
              <a:off x="-3721373" y="-2442976"/>
              <a:ext cx="21900210" cy="57977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1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285750" indent="-285750" algn="just"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lvl="2" algn="just"/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algn="just"/>
              <a:endParaRPr lang="en-GB" sz="3200" dirty="0">
                <a:ea typeface="+mn-lt"/>
                <a:cs typeface="+mn-lt"/>
              </a:endParaRPr>
            </a:p>
            <a:p>
              <a:pPr lvl="1" algn="just"/>
              <a:r>
                <a:rPr lang="en-GB" sz="3200" b="1" dirty="0">
                  <a:ea typeface="+mn-lt"/>
                  <a:cs typeface="+mn-lt"/>
                </a:rPr>
                <a:t>  </a:t>
              </a: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4DD02F5-A248-6C33-16B0-5F54242ECC62}"/>
                </a:ext>
              </a:extLst>
            </p:cNvPr>
            <p:cNvSpPr txBox="1"/>
            <p:nvPr/>
          </p:nvSpPr>
          <p:spPr>
            <a:xfrm>
              <a:off x="0" y="-9526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5A56FF2-C2F4-B48D-C7EF-583777651B0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AFEBF5A-B78E-3ED3-D74A-71FB4A0509F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BB0C3F3-8EFE-F032-B1FE-A7A2B1ADB895}"/>
              </a:ext>
            </a:extLst>
          </p:cNvPr>
          <p:cNvSpPr txBox="1"/>
          <p:nvPr/>
        </p:nvSpPr>
        <p:spPr>
          <a:xfrm>
            <a:off x="564837" y="115296"/>
            <a:ext cx="1434441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Tasks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65EC7C3-CB31-C19F-F294-6FDC341AD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6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257396-6F21-83DB-2C86-4B477DAB61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37" y="1384874"/>
            <a:ext cx="17217837" cy="838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30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72C47-75A0-0997-25C7-22B85A2A6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7C1040A-B950-0BA9-5261-50E087890761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66DD69E-31C8-F4C7-CCFF-4D02624CA1CB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3E6A511-819A-7752-5A40-7BA005CF24FA}"/>
              </a:ext>
            </a:extLst>
          </p:cNvPr>
          <p:cNvGrpSpPr/>
          <p:nvPr/>
        </p:nvGrpSpPr>
        <p:grpSpPr>
          <a:xfrm>
            <a:off x="2189748" y="1951726"/>
            <a:ext cx="14535120" cy="4370427"/>
            <a:chOff x="-3721373" y="-2442976"/>
            <a:chExt cx="21900210" cy="57977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5561966-B165-3308-DFBF-27083B842791}"/>
                </a:ext>
              </a:extLst>
            </p:cNvPr>
            <p:cNvSpPr txBox="1"/>
            <p:nvPr/>
          </p:nvSpPr>
          <p:spPr>
            <a:xfrm>
              <a:off x="-3721373" y="-2442976"/>
              <a:ext cx="21900210" cy="57977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1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285750" indent="-285750" algn="just"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lvl="2" algn="just"/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algn="just"/>
              <a:endParaRPr lang="en-GB" sz="3200" dirty="0">
                <a:ea typeface="+mn-lt"/>
                <a:cs typeface="+mn-lt"/>
              </a:endParaRPr>
            </a:p>
            <a:p>
              <a:pPr lvl="1" algn="just"/>
              <a:r>
                <a:rPr lang="en-GB" sz="3200" b="1" dirty="0">
                  <a:ea typeface="+mn-lt"/>
                  <a:cs typeface="+mn-lt"/>
                </a:rPr>
                <a:t>  </a:t>
              </a: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D143E78-DC3D-0FAD-8CF5-D590FCEBB0B7}"/>
                </a:ext>
              </a:extLst>
            </p:cNvPr>
            <p:cNvSpPr txBox="1"/>
            <p:nvPr/>
          </p:nvSpPr>
          <p:spPr>
            <a:xfrm>
              <a:off x="0" y="-9526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5765CDD-786C-B7BC-4B71-68E8E4C4A4B3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20DC93E-D22B-46B9-AC2E-5D7917475310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FD30729-C7BD-6A0D-579A-471B283B6E1B}"/>
              </a:ext>
            </a:extLst>
          </p:cNvPr>
          <p:cNvSpPr txBox="1"/>
          <p:nvPr/>
        </p:nvSpPr>
        <p:spPr>
          <a:xfrm>
            <a:off x="564837" y="115296"/>
            <a:ext cx="1434441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Tasks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5C9E4DB-504F-1244-73D1-0241FB96C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7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FDC3DC-5551-9300-070B-C209DEAF9DFA}"/>
              </a:ext>
            </a:extLst>
          </p:cNvPr>
          <p:cNvSpPr txBox="1"/>
          <p:nvPr/>
        </p:nvSpPr>
        <p:spPr>
          <a:xfrm>
            <a:off x="789070" y="1272463"/>
            <a:ext cx="17370179" cy="8773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800" dirty="0"/>
              <a:t>Find all the books all the users and all the order 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800" dirty="0"/>
              <a:t>Find all orders 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800" dirty="0"/>
              <a:t>Find particular user who has order these books 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800" dirty="0"/>
              <a:t>Find books users has order 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800" dirty="0"/>
              <a:t>Find total price of books user has order 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800" dirty="0"/>
              <a:t>Find the most valuable user 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800" dirty="0"/>
              <a:t>Find the range of books from high to low 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800" dirty="0"/>
              <a:t>Find the highest price book 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800" dirty="0"/>
              <a:t>Find the cheapest book 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800" dirty="0"/>
              <a:t>Find newly added books</a:t>
            </a:r>
            <a:endParaRPr lang="en-IN" sz="3800" dirty="0"/>
          </a:p>
        </p:txBody>
      </p:sp>
    </p:spTree>
    <p:extLst>
      <p:ext uri="{BB962C8B-B14F-4D97-AF65-F5344CB8AC3E}">
        <p14:creationId xmlns:p14="http://schemas.microsoft.com/office/powerpoint/2010/main" val="2711676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5265D-CCE5-3486-0F7A-2F8EF48AF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CFE5C5-3602-1D6A-9027-C14EBF00DBE9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E8BBEF3-2712-9B02-57C5-86C041C44798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DD193A6-287B-241E-2CDB-EA2E33005041}"/>
              </a:ext>
            </a:extLst>
          </p:cNvPr>
          <p:cNvGrpSpPr/>
          <p:nvPr/>
        </p:nvGrpSpPr>
        <p:grpSpPr>
          <a:xfrm>
            <a:off x="2493266" y="2586692"/>
            <a:ext cx="14535120" cy="4370427"/>
            <a:chOff x="-3721373" y="-2442976"/>
            <a:chExt cx="21900210" cy="378926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BD1525D-682B-BAF1-9970-8703D11AB305}"/>
                </a:ext>
              </a:extLst>
            </p:cNvPr>
            <p:cNvSpPr txBox="1"/>
            <p:nvPr/>
          </p:nvSpPr>
          <p:spPr>
            <a:xfrm>
              <a:off x="-3721373" y="-2442976"/>
              <a:ext cx="21900210" cy="37892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1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285750" indent="-285750" algn="just"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lvl="2" algn="just"/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algn="just"/>
              <a:endParaRPr lang="en-GB" sz="3200" dirty="0">
                <a:ea typeface="+mn-lt"/>
                <a:cs typeface="+mn-lt"/>
              </a:endParaRPr>
            </a:p>
            <a:p>
              <a:pPr lvl="1" algn="just"/>
              <a:r>
                <a:rPr lang="en-GB" sz="3200" b="1" dirty="0">
                  <a:ea typeface="+mn-lt"/>
                  <a:cs typeface="+mn-lt"/>
                </a:rPr>
                <a:t>  </a:t>
              </a: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FC950B6-57C5-F279-D2AF-A4DE3A34A9F9}"/>
                </a:ext>
              </a:extLst>
            </p:cNvPr>
            <p:cNvSpPr txBox="1"/>
            <p:nvPr/>
          </p:nvSpPr>
          <p:spPr>
            <a:xfrm>
              <a:off x="0" y="-9526"/>
              <a:ext cx="15443232" cy="4030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D035F50-3FA1-336F-760F-1BAF1B17DF01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5F35A44-AC97-AC3C-EE9A-8D605CCFF8A5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A9527EB-015D-D094-E7DD-486E387856F8}"/>
              </a:ext>
            </a:extLst>
          </p:cNvPr>
          <p:cNvSpPr txBox="1"/>
          <p:nvPr/>
        </p:nvSpPr>
        <p:spPr>
          <a:xfrm>
            <a:off x="1971792" y="378571"/>
            <a:ext cx="1434441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Advanced Joins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435C707-C320-49E9-CAB3-FB2CC15F6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8</a:t>
            </a:fld>
            <a:endParaRPr lang="en-GB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0916BF8-9A8A-FEE4-821D-D0E558DEC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183799"/>
              </p:ext>
            </p:extLst>
          </p:nvPr>
        </p:nvGraphicFramePr>
        <p:xfrm>
          <a:off x="1259613" y="1991296"/>
          <a:ext cx="16306492" cy="785679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908450">
                  <a:extLst>
                    <a:ext uri="{9D8B030D-6E8A-4147-A177-3AD203B41FA5}">
                      <a16:colId xmlns:a16="http://schemas.microsoft.com/office/drawing/2014/main" val="4135891249"/>
                    </a:ext>
                  </a:extLst>
                </a:gridCol>
                <a:gridCol w="8398042">
                  <a:extLst>
                    <a:ext uri="{9D8B030D-6E8A-4147-A177-3AD203B41FA5}">
                      <a16:colId xmlns:a16="http://schemas.microsoft.com/office/drawing/2014/main" val="3826366581"/>
                    </a:ext>
                  </a:extLst>
                </a:gridCol>
              </a:tblGrid>
              <a:tr h="1062169">
                <a:tc>
                  <a:txBody>
                    <a:bodyPr/>
                    <a:lstStyle/>
                    <a:p>
                      <a:r>
                        <a:rPr lang="en-IN" sz="4000" dirty="0">
                          <a:solidFill>
                            <a:schemeClr val="bg2"/>
                          </a:solidFill>
                        </a:rPr>
                        <a:t>SELF JOIN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>
                          <a:solidFill>
                            <a:schemeClr val="bg2"/>
                          </a:solidFill>
                        </a:rPr>
                        <a:t>CROSS JOIN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355734"/>
                  </a:ext>
                </a:extLst>
              </a:tr>
              <a:tr h="6794629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/>
                        <a:t>Purpose</a:t>
                      </a:r>
                      <a:r>
                        <a:rPr lang="en-US" sz="3200" dirty="0"/>
                        <a:t>: Compare rows within the same table.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/>
                        <a:t>Use Case</a:t>
                      </a:r>
                      <a:r>
                        <a:rPr lang="en-US" sz="3200" dirty="0"/>
                        <a:t>: Used to list employees alongside their managers from the same employee table.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/>
                        <a:t>Key Idea</a:t>
                      </a:r>
                      <a:r>
                        <a:rPr lang="en-US" sz="3200" dirty="0"/>
                        <a:t>: Table joins to itself using aliases.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/>
                        <a:t>MSSQL Syntax</a:t>
                      </a:r>
                      <a:r>
                        <a:rPr lang="en-US" sz="3200" dirty="0"/>
                        <a:t>:</a:t>
                      </a:r>
                    </a:p>
                    <a:p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/>
                        <a:t>Purpose</a:t>
                      </a:r>
                      <a:r>
                        <a:rPr lang="en-US" sz="3200" dirty="0"/>
                        <a:t>: Combine every row from two tables.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/>
                        <a:t>Use Case</a:t>
                      </a:r>
                      <a:r>
                        <a:rPr lang="en-US" sz="3200" dirty="0"/>
                        <a:t>: Used to create all possible product and warehouse location pairs for inventory planning.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/>
                        <a:t>Key Idea</a:t>
                      </a:r>
                      <a:r>
                        <a:rPr lang="en-US" sz="3200" dirty="0"/>
                        <a:t>: No ON condition → full Cartesian product.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/>
                        <a:t>MSSQL Syntax</a:t>
                      </a:r>
                      <a:r>
                        <a:rPr lang="en-US" sz="3200" dirty="0"/>
                        <a:t>:</a:t>
                      </a:r>
                    </a:p>
                    <a:p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750337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08A045A1-8A90-E63E-3AA5-1D6D1C7A4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047" y="6767571"/>
            <a:ext cx="6457822" cy="27115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9BA115-BE35-AD85-24E1-7BFDBCEE13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159"/>
          <a:stretch>
            <a:fillRect/>
          </a:stretch>
        </p:blipFill>
        <p:spPr>
          <a:xfrm>
            <a:off x="2262351" y="6767570"/>
            <a:ext cx="6457822" cy="271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925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7B85C-EF15-A620-14C3-A5F8371DE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5E2E2B9-97C8-B977-B9D9-1D7B1AD27F9B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BF61BA6-E462-BB82-0DC3-1184D1D7BF95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4245AA5-155E-9C41-E2CE-92BA31EEBD09}"/>
              </a:ext>
            </a:extLst>
          </p:cNvPr>
          <p:cNvGrpSpPr/>
          <p:nvPr/>
        </p:nvGrpSpPr>
        <p:grpSpPr>
          <a:xfrm>
            <a:off x="2189748" y="1951726"/>
            <a:ext cx="14535120" cy="4370427"/>
            <a:chOff x="-3721373" y="-2442976"/>
            <a:chExt cx="21900210" cy="57977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9987D7D-2FA5-9D8B-6F3B-6120BE648A00}"/>
                </a:ext>
              </a:extLst>
            </p:cNvPr>
            <p:cNvSpPr txBox="1"/>
            <p:nvPr/>
          </p:nvSpPr>
          <p:spPr>
            <a:xfrm>
              <a:off x="-3721373" y="-2442976"/>
              <a:ext cx="21900210" cy="57977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1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285750" indent="-285750" algn="just"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lvl="2" algn="just"/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algn="just"/>
              <a:endParaRPr lang="en-GB" sz="3200" dirty="0">
                <a:ea typeface="+mn-lt"/>
                <a:cs typeface="+mn-lt"/>
              </a:endParaRPr>
            </a:p>
            <a:p>
              <a:pPr lvl="1" algn="just"/>
              <a:r>
                <a:rPr lang="en-GB" sz="3200" b="1" dirty="0">
                  <a:ea typeface="+mn-lt"/>
                  <a:cs typeface="+mn-lt"/>
                </a:rPr>
                <a:t>  </a:t>
              </a: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228558D-27FF-2D8B-D1A3-805B6AE0A509}"/>
                </a:ext>
              </a:extLst>
            </p:cNvPr>
            <p:cNvSpPr txBox="1"/>
            <p:nvPr/>
          </p:nvSpPr>
          <p:spPr>
            <a:xfrm>
              <a:off x="0" y="-9526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39A67CA-E21E-0046-BDA5-032573017FF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4D9C874-8BFF-73A1-9470-86996C15D90F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2C794C4-240B-5089-8CF9-B02589E1571D}"/>
              </a:ext>
            </a:extLst>
          </p:cNvPr>
          <p:cNvSpPr txBox="1"/>
          <p:nvPr/>
        </p:nvSpPr>
        <p:spPr>
          <a:xfrm>
            <a:off x="2262351" y="429088"/>
            <a:ext cx="1434441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SQL Joins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6150992-D870-84D7-C411-33A929668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9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1026" name="Picture 2" descr="6 SQL Joins you MUST know! (Animated + ...">
            <a:extLst>
              <a:ext uri="{FF2B5EF4-FFF2-40B4-BE49-F238E27FC236}">
                <a16:creationId xmlns:a16="http://schemas.microsoft.com/office/drawing/2014/main" id="{8B4D3D64-7369-BA6F-0F02-FF701F677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926" y="1692208"/>
            <a:ext cx="14221326" cy="8252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6130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6BBC-AF90-500E-C77D-A6C0E221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87BE63-EA7F-FBE4-55AF-B7AA4EC8BEE3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BC1C182-11D9-7918-235F-A5FC67EDC05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6E41DB0-645C-3418-C82B-CDA12E42FFFE}"/>
              </a:ext>
            </a:extLst>
          </p:cNvPr>
          <p:cNvGrpSpPr/>
          <p:nvPr/>
        </p:nvGrpSpPr>
        <p:grpSpPr>
          <a:xfrm>
            <a:off x="1058779" y="1371600"/>
            <a:ext cx="16200521" cy="7628032"/>
            <a:chOff x="-483648" y="-2758013"/>
            <a:chExt cx="19542604" cy="292685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7E9DEE-4E73-2FED-9AB6-E8FC4B11D8AD}"/>
                </a:ext>
              </a:extLst>
            </p:cNvPr>
            <p:cNvSpPr txBox="1"/>
            <p:nvPr/>
          </p:nvSpPr>
          <p:spPr>
            <a:xfrm>
              <a:off x="-483648" y="-2758013"/>
              <a:ext cx="19542604" cy="1771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dirty="0">
                <a:latin typeface="Calibri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9D258AD-64A0-BDAC-16E0-FB8021C5291D}"/>
                </a:ext>
              </a:extLst>
            </p:cNvPr>
            <p:cNvSpPr txBox="1"/>
            <p:nvPr/>
          </p:nvSpPr>
          <p:spPr>
            <a:xfrm>
              <a:off x="0" y="-9525"/>
              <a:ext cx="15443231" cy="178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099C091-E739-FFDA-7819-185F7F35E29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CD762A-A552-1B4D-D466-6ABF6A40459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BF6FCB-1B82-2758-1A6E-D4A02EC55439}"/>
              </a:ext>
            </a:extLst>
          </p:cNvPr>
          <p:cNvSpPr txBox="1"/>
          <p:nvPr/>
        </p:nvSpPr>
        <p:spPr>
          <a:xfrm>
            <a:off x="1673617" y="305028"/>
            <a:ext cx="13799596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GB" sz="9000" b="1" dirty="0">
                <a:ea typeface="+mn-lt"/>
                <a:cs typeface="+mn-lt"/>
                <a:sym typeface="Heebo Black"/>
              </a:rPr>
              <a:t>Advanced SQL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2C6E55-23D9-406D-BC3D-A2931A20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10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3890AE4F-86FA-9D29-CF0E-9DDE5BE2B47F}"/>
              </a:ext>
            </a:extLst>
          </p:cNvPr>
          <p:cNvSpPr/>
          <p:nvPr/>
        </p:nvSpPr>
        <p:spPr>
          <a:xfrm>
            <a:off x="1793519" y="2417748"/>
            <a:ext cx="3861323" cy="2287272"/>
          </a:xfrm>
          <a:prstGeom prst="round2Diag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EE375481-9899-A15E-00C1-7FF29BF84C30}"/>
              </a:ext>
            </a:extLst>
          </p:cNvPr>
          <p:cNvSpPr/>
          <p:nvPr/>
        </p:nvSpPr>
        <p:spPr>
          <a:xfrm>
            <a:off x="6642754" y="2417748"/>
            <a:ext cx="3861323" cy="2287272"/>
          </a:xfrm>
          <a:prstGeom prst="round2Diag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C4A3E344-8E92-F4AC-FFF1-1218D6E51A19}"/>
              </a:ext>
            </a:extLst>
          </p:cNvPr>
          <p:cNvSpPr/>
          <p:nvPr/>
        </p:nvSpPr>
        <p:spPr>
          <a:xfrm>
            <a:off x="11864225" y="2417748"/>
            <a:ext cx="3861323" cy="2287272"/>
          </a:xfrm>
          <a:prstGeom prst="round2Diag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DDD5F5-3945-4B93-EB76-01C357AB2745}"/>
              </a:ext>
            </a:extLst>
          </p:cNvPr>
          <p:cNvSpPr txBox="1"/>
          <p:nvPr/>
        </p:nvSpPr>
        <p:spPr>
          <a:xfrm>
            <a:off x="2856212" y="3094026"/>
            <a:ext cx="1691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COUNT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D2849F-3852-B850-41A9-3C213D4599DB}"/>
              </a:ext>
            </a:extLst>
          </p:cNvPr>
          <p:cNvSpPr txBox="1"/>
          <p:nvPr/>
        </p:nvSpPr>
        <p:spPr>
          <a:xfrm>
            <a:off x="7820526" y="3094026"/>
            <a:ext cx="1973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GROUP BY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361E40-8B7D-0E40-B913-6E1C48E1883A}"/>
              </a:ext>
            </a:extLst>
          </p:cNvPr>
          <p:cNvSpPr txBox="1"/>
          <p:nvPr/>
        </p:nvSpPr>
        <p:spPr>
          <a:xfrm>
            <a:off x="13235454" y="3094026"/>
            <a:ext cx="1691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HAVING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55A7BF-0CE5-7619-6381-B3483C42A49B}"/>
              </a:ext>
            </a:extLst>
          </p:cNvPr>
          <p:cNvSpPr txBox="1"/>
          <p:nvPr/>
        </p:nvSpPr>
        <p:spPr>
          <a:xfrm>
            <a:off x="1070569" y="5069416"/>
            <a:ext cx="489528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Used to count the number of rows in a table or group.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Can be used with * , a column name, or DISTINCT.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Ignores NULL </a:t>
            </a:r>
            <a:r>
              <a:rPr lang="en-US" sz="2800" dirty="0"/>
              <a:t>values when used with a column name.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Commonly used with GROUP BY to count grouped values.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95DF7D-867A-2ADA-714C-47A47EB0F57D}"/>
              </a:ext>
            </a:extLst>
          </p:cNvPr>
          <p:cNvSpPr txBox="1"/>
          <p:nvPr/>
        </p:nvSpPr>
        <p:spPr>
          <a:xfrm>
            <a:off x="6408541" y="4921173"/>
            <a:ext cx="48952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Groups rows that have the same values in specified columns.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Must be used with aggregate functions like COUNT, SUM, AVG, etc.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Columns in SELECT must be either in GROUP BY or aggregated.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Helps in summarizing data per group (e.g., per department, category).</a:t>
            </a:r>
            <a:endParaRPr lang="en-IN" sz="2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031552-C36D-0D4A-A70F-1A0A725E60F4}"/>
              </a:ext>
            </a:extLst>
          </p:cNvPr>
          <p:cNvSpPr txBox="1"/>
          <p:nvPr/>
        </p:nvSpPr>
        <p:spPr>
          <a:xfrm>
            <a:off x="11758303" y="5069416"/>
            <a:ext cx="489528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Filters groups created by the GROUP BY clause.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Similar to WHERE, </a:t>
            </a:r>
            <a:r>
              <a:rPr lang="en-IN" sz="2800" dirty="0"/>
              <a:t>but used after aggregation.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Can include conditions using aggregate functions.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Comes after GROUP BY in the SQL query.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83255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F5440-F75C-B7EA-950C-E7B62C133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E5D284-F000-7A19-49F6-36AD3A42A018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BDF5D15-D7F9-A536-F011-2F98F396C8D9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F8EBAA7-A58A-F58D-5787-2533DB5EA2B2}"/>
              </a:ext>
            </a:extLst>
          </p:cNvPr>
          <p:cNvGrpSpPr/>
          <p:nvPr/>
        </p:nvGrpSpPr>
        <p:grpSpPr>
          <a:xfrm>
            <a:off x="1058779" y="1371600"/>
            <a:ext cx="16200521" cy="7628032"/>
            <a:chOff x="-483648" y="-2758013"/>
            <a:chExt cx="19542604" cy="292685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57B9505-CA62-748E-5201-1F144B93636C}"/>
                </a:ext>
              </a:extLst>
            </p:cNvPr>
            <p:cNvSpPr txBox="1"/>
            <p:nvPr/>
          </p:nvSpPr>
          <p:spPr>
            <a:xfrm>
              <a:off x="-483648" y="-2758013"/>
              <a:ext cx="19542604" cy="1771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dirty="0">
                <a:latin typeface="Calibri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3DBDE81-80EF-ECB9-1669-71F4EAA1FEC1}"/>
                </a:ext>
              </a:extLst>
            </p:cNvPr>
            <p:cNvSpPr txBox="1"/>
            <p:nvPr/>
          </p:nvSpPr>
          <p:spPr>
            <a:xfrm>
              <a:off x="0" y="-9525"/>
              <a:ext cx="15443231" cy="178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B7E5EBC-D916-A543-218E-F957F2B575A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4A0B164-20E7-6588-6676-A01E5C8E55E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D1E8F4B-C880-FC68-24BD-46F531C6EC81}"/>
              </a:ext>
            </a:extLst>
          </p:cNvPr>
          <p:cNvSpPr txBox="1"/>
          <p:nvPr/>
        </p:nvSpPr>
        <p:spPr>
          <a:xfrm>
            <a:off x="1673617" y="305028"/>
            <a:ext cx="13799596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GB" sz="9000" b="1" dirty="0">
                <a:ea typeface="+mn-lt"/>
                <a:cs typeface="+mn-lt"/>
                <a:sym typeface="Heebo Black"/>
              </a:rPr>
              <a:t>Advanced SQL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D4D1C6E-276B-07A8-E4FA-A7E1235D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11</a:t>
            </a:fld>
            <a:endParaRPr lang="en-GB">
              <a:solidFill>
                <a:schemeClr val="tx1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BB9DD06-6CB5-CDE0-8B52-DB5916FE7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657363"/>
              </p:ext>
            </p:extLst>
          </p:nvPr>
        </p:nvGraphicFramePr>
        <p:xfrm>
          <a:off x="1459716" y="1833266"/>
          <a:ext cx="15368568" cy="7857028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7684284">
                  <a:extLst>
                    <a:ext uri="{9D8B030D-6E8A-4147-A177-3AD203B41FA5}">
                      <a16:colId xmlns:a16="http://schemas.microsoft.com/office/drawing/2014/main" val="3527255203"/>
                    </a:ext>
                  </a:extLst>
                </a:gridCol>
                <a:gridCol w="7684284">
                  <a:extLst>
                    <a:ext uri="{9D8B030D-6E8A-4147-A177-3AD203B41FA5}">
                      <a16:colId xmlns:a16="http://schemas.microsoft.com/office/drawing/2014/main" val="2083584782"/>
                    </a:ext>
                  </a:extLst>
                </a:gridCol>
              </a:tblGrid>
              <a:tr h="1252834">
                <a:tc>
                  <a:txBody>
                    <a:bodyPr/>
                    <a:lstStyle/>
                    <a:p>
                      <a:r>
                        <a:rPr lang="en-IN" sz="4000" dirty="0"/>
                        <a:t>Clause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Syntax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38262"/>
                  </a:ext>
                </a:extLst>
              </a:tr>
              <a:tr h="2037177">
                <a:tc>
                  <a:txBody>
                    <a:bodyPr/>
                    <a:lstStyle/>
                    <a:p>
                      <a:r>
                        <a:rPr lang="en-IN" sz="4000" dirty="0"/>
                        <a:t>COUNT()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649233"/>
                  </a:ext>
                </a:extLst>
              </a:tr>
              <a:tr h="2037177">
                <a:tc>
                  <a:txBody>
                    <a:bodyPr/>
                    <a:lstStyle/>
                    <a:p>
                      <a:r>
                        <a:rPr lang="en-IN" sz="4000" dirty="0"/>
                        <a:t>GROUP BY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5003734"/>
                  </a:ext>
                </a:extLst>
              </a:tr>
              <a:tr h="2037177">
                <a:tc>
                  <a:txBody>
                    <a:bodyPr/>
                    <a:lstStyle/>
                    <a:p>
                      <a:r>
                        <a:rPr lang="en-IN" sz="4000" dirty="0"/>
                        <a:t>HAVING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4000" dirty="0"/>
                    </a:p>
                    <a:p>
                      <a:endParaRPr lang="en-IN" sz="4000" dirty="0"/>
                    </a:p>
                    <a:p>
                      <a:endParaRPr lang="en-IN" sz="4000" dirty="0"/>
                    </a:p>
                    <a:p>
                      <a:endParaRPr lang="en-IN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5689614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F8A00AA0-60D2-590F-CD0C-B7842645D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0038" y="3245879"/>
            <a:ext cx="6541931" cy="17948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CA23AF-2F45-EB20-22C5-8B0E263C77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0039" y="5224528"/>
            <a:ext cx="6541932" cy="179489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C23CCF0-A769-6933-29E7-1B0EC4DC9D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3183" y="7473424"/>
            <a:ext cx="6435639" cy="187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207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FE951-B93A-E80D-0169-4052CE0B2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F14D5EE-A765-1EE2-3746-6249CD479038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B996622-0473-0D4A-2732-0F4DE03DE837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3FCA010-277A-FABF-E0DE-03CA5BC6AEE5}"/>
              </a:ext>
            </a:extLst>
          </p:cNvPr>
          <p:cNvGrpSpPr/>
          <p:nvPr/>
        </p:nvGrpSpPr>
        <p:grpSpPr>
          <a:xfrm>
            <a:off x="1058779" y="1371600"/>
            <a:ext cx="16200521" cy="7628032"/>
            <a:chOff x="-483648" y="-2758013"/>
            <a:chExt cx="19542604" cy="292685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C46713B-12C7-3B28-6937-0F89EAD9E117}"/>
                </a:ext>
              </a:extLst>
            </p:cNvPr>
            <p:cNvSpPr txBox="1"/>
            <p:nvPr/>
          </p:nvSpPr>
          <p:spPr>
            <a:xfrm>
              <a:off x="-483648" y="-2758013"/>
              <a:ext cx="19542604" cy="1771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dirty="0">
                <a:latin typeface="Calibri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487F049-91BA-CF51-9A29-9844EC9B0A2C}"/>
                </a:ext>
              </a:extLst>
            </p:cNvPr>
            <p:cNvSpPr txBox="1"/>
            <p:nvPr/>
          </p:nvSpPr>
          <p:spPr>
            <a:xfrm>
              <a:off x="0" y="-9525"/>
              <a:ext cx="15443231" cy="178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F6E0458-52CB-8AD5-3694-5655F423281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903B298-F378-AEFC-5627-622554D9F90F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43622BC-0C6A-7D65-BD1A-1E7EBCD58CEB}"/>
              </a:ext>
            </a:extLst>
          </p:cNvPr>
          <p:cNvSpPr txBox="1"/>
          <p:nvPr/>
        </p:nvSpPr>
        <p:spPr>
          <a:xfrm>
            <a:off x="1195551" y="117806"/>
            <a:ext cx="13799596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GB" sz="9000" b="1" dirty="0">
                <a:ea typeface="+mn-lt"/>
                <a:cs typeface="+mn-lt"/>
                <a:sym typeface="Heebo Black"/>
              </a:rPr>
              <a:t>Advanced SQL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863B9B8-2004-0605-D37E-23C030B02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12</a:t>
            </a:fld>
            <a:endParaRPr lang="en-GB">
              <a:solidFill>
                <a:schemeClr val="tx1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CE03E28-9E4C-4739-2BC9-04AF5C66E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612101"/>
              </p:ext>
            </p:extLst>
          </p:nvPr>
        </p:nvGraphicFramePr>
        <p:xfrm>
          <a:off x="1028700" y="1435078"/>
          <a:ext cx="15501283" cy="8811874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5177920">
                  <a:extLst>
                    <a:ext uri="{9D8B030D-6E8A-4147-A177-3AD203B41FA5}">
                      <a16:colId xmlns:a16="http://schemas.microsoft.com/office/drawing/2014/main" val="3527255203"/>
                    </a:ext>
                  </a:extLst>
                </a:gridCol>
                <a:gridCol w="10323363">
                  <a:extLst>
                    <a:ext uri="{9D8B030D-6E8A-4147-A177-3AD203B41FA5}">
                      <a16:colId xmlns:a16="http://schemas.microsoft.com/office/drawing/2014/main" val="2083584782"/>
                    </a:ext>
                  </a:extLst>
                </a:gridCol>
              </a:tblGrid>
              <a:tr h="1252834">
                <a:tc>
                  <a:txBody>
                    <a:bodyPr/>
                    <a:lstStyle/>
                    <a:p>
                      <a:r>
                        <a:rPr lang="en-IN" sz="4000" dirty="0"/>
                        <a:t>Clause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Syntax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38262"/>
                  </a:ext>
                </a:extLst>
              </a:tr>
              <a:tr h="1154747">
                <a:tc>
                  <a:txBody>
                    <a:bodyPr/>
                    <a:lstStyle/>
                    <a:p>
                      <a:r>
                        <a:rPr lang="en-IN" sz="4000" dirty="0"/>
                        <a:t>TOP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4000" dirty="0"/>
                        <a:t>TOP is used in SQL Server to limit the number of rows returned.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4000" dirty="0"/>
                        <a:t>It gives you the first N rows of a query result.</a:t>
                      </a:r>
                      <a:endParaRPr lang="en-IN" sz="4000" dirty="0"/>
                    </a:p>
                    <a:p>
                      <a:endParaRPr lang="en-IN" sz="4000" dirty="0"/>
                    </a:p>
                    <a:p>
                      <a:endParaRPr lang="en-IN" sz="4000" dirty="0"/>
                    </a:p>
                    <a:p>
                      <a:endParaRPr lang="en-IN" sz="1200" dirty="0"/>
                    </a:p>
                    <a:p>
                      <a:endParaRPr lang="en-IN" sz="1200" dirty="0"/>
                    </a:p>
                    <a:p>
                      <a:endParaRPr lang="en-IN" sz="1200" dirty="0"/>
                    </a:p>
                    <a:p>
                      <a:endParaRPr lang="en-IN" sz="1200" dirty="0"/>
                    </a:p>
                    <a:p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649233"/>
                  </a:ext>
                </a:extLst>
              </a:tr>
              <a:tr h="2037177">
                <a:tc>
                  <a:txBody>
                    <a:bodyPr/>
                    <a:lstStyle/>
                    <a:p>
                      <a:r>
                        <a:rPr lang="en-IN" sz="4000" dirty="0"/>
                        <a:t>OFFSET _FETCH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4000" dirty="0"/>
                        <a:t>It allows you to skip rows (OFFSET) and then fetch a certain number of rows (FETCH).</a:t>
                      </a:r>
                      <a:endParaRPr lang="en-IN" sz="4000" dirty="0"/>
                    </a:p>
                    <a:p>
                      <a:endParaRPr lang="en-IN" sz="4000" dirty="0"/>
                    </a:p>
                    <a:p>
                      <a:endParaRPr lang="en-IN" sz="4000" dirty="0"/>
                    </a:p>
                    <a:p>
                      <a:endParaRPr lang="en-IN" sz="4000" dirty="0"/>
                    </a:p>
                    <a:p>
                      <a:endParaRPr lang="en-IN" sz="1200" dirty="0"/>
                    </a:p>
                    <a:p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5003734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F95ADE89-DBEC-E95F-C30F-A6ECB97F9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063" y="4628909"/>
            <a:ext cx="6752021" cy="18501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2A4B3FA-AC1A-038C-D4DE-218518DB2D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063" y="7999587"/>
            <a:ext cx="6752021" cy="213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871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551820" y="2021308"/>
            <a:ext cx="15707480" cy="7291226"/>
            <a:chOff x="-1234816" y="-872551"/>
            <a:chExt cx="19081336" cy="1681276"/>
          </a:xfrm>
        </p:grpSpPr>
        <p:sp>
          <p:nvSpPr>
            <p:cNvPr id="5" name="TextBox 5"/>
            <p:cNvSpPr txBox="1"/>
            <p:nvPr/>
          </p:nvSpPr>
          <p:spPr>
            <a:xfrm>
              <a:off x="-1234816" y="-872551"/>
              <a:ext cx="19081336" cy="16812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r>
                <a:rPr lang="en-GB" sz="4000" b="1" dirty="0">
                  <a:ea typeface="Calibri"/>
                  <a:cs typeface="Calibri"/>
                </a:rPr>
                <a:t>What are Window Functions ?</a:t>
              </a: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4000" b="1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4000" b="1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4000" b="1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4000" b="1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4000" b="1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4000" b="1" dirty="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4000" b="1" dirty="0">
                <a:ea typeface="Calibri"/>
                <a:cs typeface="Calibri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5443232" cy="1071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/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2606263" y="394660"/>
            <a:ext cx="930819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Window Functions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638AB3A-734E-28AD-106B-E6DC74EB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13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CF5ECF32-1384-824D-470E-78E4640EA87F}"/>
              </a:ext>
            </a:extLst>
          </p:cNvPr>
          <p:cNvSpPr/>
          <p:nvPr/>
        </p:nvSpPr>
        <p:spPr>
          <a:xfrm>
            <a:off x="2568303" y="3465095"/>
            <a:ext cx="6094434" cy="5403164"/>
          </a:xfrm>
          <a:prstGeom prst="homePlat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CFE867-E021-88D0-9908-261830509233}"/>
              </a:ext>
            </a:extLst>
          </p:cNvPr>
          <p:cNvSpPr txBox="1"/>
          <p:nvPr/>
        </p:nvSpPr>
        <p:spPr>
          <a:xfrm>
            <a:off x="2716656" y="3812186"/>
            <a:ext cx="464503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Perform calculations </a:t>
            </a:r>
            <a:r>
              <a:rPr lang="en-US" sz="3000" b="1" dirty="0"/>
              <a:t>across a "window" of rows</a:t>
            </a:r>
            <a:r>
              <a:rPr lang="en-US" sz="3000" dirty="0"/>
              <a:t> related to the current row.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000" dirty="0"/>
              <a:t>Keep original rows — </a:t>
            </a:r>
            <a:r>
              <a:rPr lang="en-IN" sz="3000" b="1" dirty="0"/>
              <a:t>unlike GROUP BY.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3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000" dirty="0"/>
              <a:t>Use the </a:t>
            </a:r>
            <a:r>
              <a:rPr lang="en-IN" sz="3000" b="1" dirty="0"/>
              <a:t>OVER() clause </a:t>
            </a:r>
            <a:r>
              <a:rPr lang="en-IN" sz="3000" dirty="0"/>
              <a:t>to define the window.</a:t>
            </a: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E1A55B64-0344-E2E1-B8AE-AA04D385BB92}"/>
              </a:ext>
            </a:extLst>
          </p:cNvPr>
          <p:cNvSpPr/>
          <p:nvPr/>
        </p:nvSpPr>
        <p:spPr>
          <a:xfrm>
            <a:off x="10705670" y="3491997"/>
            <a:ext cx="6094434" cy="5376262"/>
          </a:xfrm>
          <a:prstGeom prst="homePlat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3104F1-9ADF-F66F-3CA9-21FD4957E75B}"/>
              </a:ext>
            </a:extLst>
          </p:cNvPr>
          <p:cNvSpPr txBox="1"/>
          <p:nvPr/>
        </p:nvSpPr>
        <p:spPr>
          <a:xfrm>
            <a:off x="10503584" y="2021308"/>
            <a:ext cx="5138311" cy="92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/>
              <a:buChar char="•"/>
            </a:pPr>
            <a:r>
              <a:rPr lang="en-GB" sz="4000" b="1" dirty="0">
                <a:ea typeface="Calibri"/>
                <a:cs typeface="Calibri"/>
              </a:rPr>
              <a:t>Why Use them 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FB6A99-08AF-BE14-959B-AE1D9AA5CFE9}"/>
              </a:ext>
            </a:extLst>
          </p:cNvPr>
          <p:cNvSpPr txBox="1"/>
          <p:nvPr/>
        </p:nvSpPr>
        <p:spPr>
          <a:xfrm>
            <a:off x="10996863" y="4835087"/>
            <a:ext cx="4645032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Ranking, running totals, moving averages, etc</a:t>
            </a:r>
            <a:r>
              <a:rPr lang="en-US" sz="3000" dirty="0"/>
              <a:t>.</a:t>
            </a:r>
          </a:p>
          <a:p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Provide </a:t>
            </a:r>
            <a:r>
              <a:rPr lang="en-US" sz="3200" b="1" dirty="0"/>
              <a:t>row-level analytics</a:t>
            </a:r>
            <a:r>
              <a:rPr lang="en-US" sz="3200" dirty="0"/>
              <a:t> within grouped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ACF7C-5DC5-956F-8C7B-16055DD6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8EF6A1E-D3C4-66A8-DF39-AB6613FF117D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DDA701B-9996-2DD4-500F-7390A0B07ED4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827DCA2-23B1-0D68-1528-B6F84FBE9A49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453F921-1B87-3B21-0BC5-D0CC31FFA56B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90D635E-3E6E-A3D4-8983-FDD1C9FD1F24}"/>
              </a:ext>
            </a:extLst>
          </p:cNvPr>
          <p:cNvSpPr txBox="1"/>
          <p:nvPr/>
        </p:nvSpPr>
        <p:spPr>
          <a:xfrm>
            <a:off x="2606263" y="394660"/>
            <a:ext cx="930819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Window Functions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9536C74-7A9E-D18D-6C7D-BBE86C25C4C7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A5D0D9A-DDD9-E76E-CE82-DCF629BF2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14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5F8648-49AC-E47C-F855-E94DB353F54A}"/>
              </a:ext>
            </a:extLst>
          </p:cNvPr>
          <p:cNvSpPr txBox="1"/>
          <p:nvPr/>
        </p:nvSpPr>
        <p:spPr>
          <a:xfrm>
            <a:off x="1239252" y="1664238"/>
            <a:ext cx="15809495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/>
              <a:t>🔹 Basic Syntax:</a:t>
            </a:r>
          </a:p>
          <a:p>
            <a:endParaRPr lang="en-IN" sz="3000" dirty="0"/>
          </a:p>
          <a:p>
            <a:endParaRPr lang="en-IN" sz="3000" dirty="0"/>
          </a:p>
          <a:p>
            <a:endParaRPr lang="en-IN" sz="3000" dirty="0"/>
          </a:p>
          <a:p>
            <a:endParaRPr lang="en-IN" sz="3000" dirty="0"/>
          </a:p>
          <a:p>
            <a:endParaRPr lang="en-IN" sz="3000" dirty="0"/>
          </a:p>
          <a:p>
            <a:endParaRPr lang="en-IN" sz="3000" dirty="0"/>
          </a:p>
          <a:p>
            <a:endParaRPr lang="en-IN" sz="3000" dirty="0"/>
          </a:p>
          <a:p>
            <a:endParaRPr lang="en-IN" sz="3000" dirty="0"/>
          </a:p>
          <a:p>
            <a:endParaRPr lang="en-IN" sz="3000" dirty="0"/>
          </a:p>
          <a:p>
            <a:endParaRPr lang="en-IN" sz="3000" dirty="0"/>
          </a:p>
          <a:p>
            <a:endParaRPr lang="en-IN" sz="3000" dirty="0"/>
          </a:p>
          <a:p>
            <a:endParaRPr lang="en-IN" sz="3000" dirty="0"/>
          </a:p>
          <a:p>
            <a:endParaRPr lang="en-IN" sz="3000" dirty="0"/>
          </a:p>
          <a:p>
            <a:endParaRPr lang="en-IN" sz="3000" dirty="0"/>
          </a:p>
          <a:p>
            <a:endParaRPr lang="en-IN" sz="3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88C76E4-7F84-C993-DCE0-185A0892F9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770" y="1772412"/>
            <a:ext cx="6668686" cy="168407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6A246C6-E889-9592-3769-5DB930AA57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997" y="4093103"/>
            <a:ext cx="14125074" cy="547481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6685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8BEDA-8D8B-D6CD-CE11-62230A8F9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1E6C163-7063-80D1-3778-01BDAB26D33B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6CF8E61-F1E9-65F9-41D4-C42ADDEB82CD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59353D1-F91B-D653-1C97-ED53CEEB9653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9B54AC8-9751-45E5-8FC9-03B33F6E89A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6CFCCF9-80FB-1BAF-7634-F5EB2C4BD379}"/>
              </a:ext>
            </a:extLst>
          </p:cNvPr>
          <p:cNvSpPr txBox="1"/>
          <p:nvPr/>
        </p:nvSpPr>
        <p:spPr>
          <a:xfrm>
            <a:off x="492369" y="107651"/>
            <a:ext cx="930819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Window Functions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FDD7289-76B8-A2AC-06DD-8C4D61EE2FC5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110E557-30F8-5F88-D425-41A25FF95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15</a:t>
            </a:fld>
            <a:endParaRPr lang="en-GB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CF25CC-4208-5697-79C1-C183FC82D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241400"/>
              </p:ext>
            </p:extLst>
          </p:nvPr>
        </p:nvGraphicFramePr>
        <p:xfrm>
          <a:off x="492369" y="1412980"/>
          <a:ext cx="17024108" cy="854916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8512054">
                  <a:extLst>
                    <a:ext uri="{9D8B030D-6E8A-4147-A177-3AD203B41FA5}">
                      <a16:colId xmlns:a16="http://schemas.microsoft.com/office/drawing/2014/main" val="2808509259"/>
                    </a:ext>
                  </a:extLst>
                </a:gridCol>
                <a:gridCol w="8512054">
                  <a:extLst>
                    <a:ext uri="{9D8B030D-6E8A-4147-A177-3AD203B41FA5}">
                      <a16:colId xmlns:a16="http://schemas.microsoft.com/office/drawing/2014/main" val="1946490753"/>
                    </a:ext>
                  </a:extLst>
                </a:gridCol>
              </a:tblGrid>
              <a:tr h="1069580">
                <a:tc>
                  <a:txBody>
                    <a:bodyPr/>
                    <a:lstStyle/>
                    <a:p>
                      <a:r>
                        <a:rPr lang="en-US" sz="4000" dirty="0"/>
                        <a:t>Functions</a:t>
                      </a:r>
                      <a:endParaRPr lang="en-IN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Value Functions</a:t>
                      </a:r>
                      <a:endParaRPr lang="en-IN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4026424"/>
                  </a:ext>
                </a:extLst>
              </a:tr>
              <a:tr h="7479587">
                <a:tc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/>
                        <a:t>ROW_NUMBER() </a:t>
                      </a:r>
                      <a:r>
                        <a:rPr lang="en-US" sz="3200" dirty="0"/>
                        <a:t>– Unique number per row</a:t>
                      </a: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/>
                        <a:t>RANK() </a:t>
                      </a:r>
                      <a:r>
                        <a:rPr lang="en-US" sz="3200" dirty="0"/>
                        <a:t>– Rank with gaps for ties</a:t>
                      </a: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/>
                        <a:t>DENSE_RANK() </a:t>
                      </a:r>
                      <a:r>
                        <a:rPr lang="en-US" sz="3200" dirty="0"/>
                        <a:t>– Rank without gaps</a:t>
                      </a: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3200" b="1" dirty="0"/>
                        <a:t>PARTITION BY </a:t>
                      </a:r>
                      <a:r>
                        <a:rPr lang="en-US" sz="3200" dirty="0"/>
                        <a:t>– </a:t>
                      </a:r>
                      <a:r>
                        <a:rPr lang="en-US" sz="3200" b="0" dirty="0"/>
                        <a:t>It divides (partitions) the result set into groups, and then the window function (like RANK(), ROW_NUMBER(), SUM(), etc.) is applied within each group separately.</a:t>
                      </a: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b="0" dirty="0"/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IN" sz="1200" dirty="0"/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IN" sz="3000" dirty="0"/>
                        <a:t>Example :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endParaRPr 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3200" dirty="0"/>
                        <a:t>Access values from other rows relative to the current row.</a:t>
                      </a: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/>
                        <a:t>LAG() </a:t>
                      </a:r>
                      <a:r>
                        <a:rPr lang="en-US" sz="3200" dirty="0"/>
                        <a:t>– Value from previous row</a:t>
                      </a: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/>
                        <a:t>LEAD() </a:t>
                      </a:r>
                      <a:r>
                        <a:rPr lang="en-US" sz="3200" dirty="0"/>
                        <a:t>– Value from next row</a:t>
                      </a: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/>
                        <a:t>FIRST_VALUE() </a:t>
                      </a:r>
                      <a:r>
                        <a:rPr lang="en-US" sz="3200" dirty="0"/>
                        <a:t>– First value in the window</a:t>
                      </a: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/>
                        <a:t>LAST_VALUE() </a:t>
                      </a:r>
                      <a:r>
                        <a:rPr lang="en-US" sz="3200" dirty="0"/>
                        <a:t>– Last value in the window</a:t>
                      </a:r>
                    </a:p>
                    <a:p>
                      <a:pPr marL="457200" indent="-4572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3200" b="1" dirty="0"/>
                        <a:t>NTH_VALUE(n) </a:t>
                      </a:r>
                      <a:r>
                        <a:rPr lang="en-US" sz="3200" dirty="0"/>
                        <a:t>– nth value in the window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endParaRPr lang="en-US" sz="3200" dirty="0"/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/>
                        <a:t>Example :</a:t>
                      </a:r>
                    </a:p>
                    <a:p>
                      <a:endParaRPr lang="en-IN" sz="3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184166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96DD6A6-1821-F371-ABAE-724376332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3" y="8732314"/>
            <a:ext cx="7956528" cy="10825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43DA21-F519-C996-A143-B7D6F45796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2773" y="8812792"/>
            <a:ext cx="7956527" cy="95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49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2C48E-EBAF-EF1F-1609-580867D29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88DBCFE-0191-8462-DAD5-5541C856A0FD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4F78D33-B6F2-5C81-7C07-D97F95ED70DF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E28C41D-3AC7-8FD9-84E1-9791002C8BDF}"/>
              </a:ext>
            </a:extLst>
          </p:cNvPr>
          <p:cNvGrpSpPr/>
          <p:nvPr/>
        </p:nvGrpSpPr>
        <p:grpSpPr>
          <a:xfrm>
            <a:off x="2189748" y="1951726"/>
            <a:ext cx="14535120" cy="4370427"/>
            <a:chOff x="-3721373" y="-2442976"/>
            <a:chExt cx="21900210" cy="57977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D45273C-CB96-C09A-4E6F-069101C2BB07}"/>
                </a:ext>
              </a:extLst>
            </p:cNvPr>
            <p:cNvSpPr txBox="1"/>
            <p:nvPr/>
          </p:nvSpPr>
          <p:spPr>
            <a:xfrm>
              <a:off x="-3721373" y="-2442976"/>
              <a:ext cx="21900210" cy="57977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1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285750" indent="-285750" algn="just"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lvl="2" algn="just"/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algn="just"/>
              <a:endParaRPr lang="en-GB" sz="3200" dirty="0">
                <a:ea typeface="+mn-lt"/>
                <a:cs typeface="+mn-lt"/>
              </a:endParaRPr>
            </a:p>
            <a:p>
              <a:pPr lvl="1" algn="just"/>
              <a:r>
                <a:rPr lang="en-GB" sz="3200" b="1" dirty="0">
                  <a:ea typeface="+mn-lt"/>
                  <a:cs typeface="+mn-lt"/>
                </a:rPr>
                <a:t>  </a:t>
              </a: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D668114-E609-5516-12C0-71A9A95AE740}"/>
                </a:ext>
              </a:extLst>
            </p:cNvPr>
            <p:cNvSpPr txBox="1"/>
            <p:nvPr/>
          </p:nvSpPr>
          <p:spPr>
            <a:xfrm>
              <a:off x="0" y="-9526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96ECBFC-A9CA-0250-2F18-3BDB7DB2E14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523050C-A52A-1113-70A8-1499AC7F7B0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E9129E9-DA35-0688-5EE6-93BC83532DA6}"/>
              </a:ext>
            </a:extLst>
          </p:cNvPr>
          <p:cNvSpPr txBox="1"/>
          <p:nvPr/>
        </p:nvSpPr>
        <p:spPr>
          <a:xfrm>
            <a:off x="564837" y="115296"/>
            <a:ext cx="1434441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Tasks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0BA3C37-F9B1-5E7B-E5BA-841DDA00A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16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600204-B538-960F-F6A5-29D0C5187DA5}"/>
              </a:ext>
            </a:extLst>
          </p:cNvPr>
          <p:cNvSpPr txBox="1"/>
          <p:nvPr/>
        </p:nvSpPr>
        <p:spPr>
          <a:xfrm>
            <a:off x="789070" y="1272463"/>
            <a:ext cx="17370179" cy="7691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u="sng" dirty="0">
                <a:solidFill>
                  <a:srgbClr val="FF0000"/>
                </a:solidFill>
                <a:latin typeface="+mj-lt"/>
              </a:rPr>
              <a:t>Assignment 1 </a:t>
            </a:r>
            <a:r>
              <a:rPr lang="en-IN" sz="4000" dirty="0">
                <a:latin typeface="+mj-lt"/>
              </a:rPr>
              <a:t>:  </a:t>
            </a:r>
            <a:r>
              <a:rPr lang="en-US" sz="4000" dirty="0">
                <a:latin typeface="+mj-lt"/>
              </a:rPr>
              <a:t>Top N Books per User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dirty="0">
                <a:latin typeface="+mj-lt"/>
              </a:rPr>
              <a:t>			</a:t>
            </a:r>
            <a:r>
              <a:rPr lang="en-US" altLang="en-US" sz="4000" dirty="0">
                <a:latin typeface="+mj-lt"/>
              </a:rPr>
              <a:t>Find the top 2 most expensive books purchased by each user.</a:t>
            </a:r>
          </a:p>
          <a:p>
            <a:pPr marL="4229100" lvl="8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+mj-lt"/>
              </a:rPr>
              <a:t>Use joins (orders → books → users)</a:t>
            </a:r>
          </a:p>
          <a:p>
            <a:pPr marL="4229100" lvl="8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+mj-lt"/>
              </a:rPr>
              <a:t>Apply ROW_NUMBER(), RANK(), and DENSE_RANK() with PARTITION BY </a:t>
            </a:r>
            <a:r>
              <a:rPr lang="en-US" altLang="en-US" sz="4000" dirty="0" err="1">
                <a:latin typeface="+mj-lt"/>
              </a:rPr>
              <a:t>user_id</a:t>
            </a:r>
            <a:r>
              <a:rPr lang="en-US" altLang="en-US" sz="4000" dirty="0">
                <a:latin typeface="+mj-lt"/>
              </a:rPr>
              <a:t> and ORDER BY price DESC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40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IN" sz="4000" u="sng" dirty="0">
                <a:solidFill>
                  <a:srgbClr val="FF0000"/>
                </a:solidFill>
                <a:latin typeface="+mj-lt"/>
              </a:rPr>
              <a:t>Assignment 2</a:t>
            </a:r>
            <a:r>
              <a:rPr lang="en-IN" sz="4000" dirty="0">
                <a:latin typeface="+mj-lt"/>
              </a:rPr>
              <a:t> :  </a:t>
            </a:r>
            <a:r>
              <a:rPr lang="en-US" sz="4000" dirty="0">
                <a:latin typeface="+mj-lt"/>
              </a:rPr>
              <a:t>Ranking Users by Total Spending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dirty="0">
                <a:latin typeface="+mj-lt"/>
              </a:rPr>
              <a:t>			Find how much each user spent in total and rank them</a:t>
            </a:r>
            <a:endParaRPr lang="en-US" altLang="en-US" sz="4000" dirty="0">
              <a:latin typeface="+mj-lt"/>
            </a:endParaRPr>
          </a:p>
          <a:p>
            <a:pPr marL="3314700" lvl="6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+mj-lt"/>
              </a:rPr>
              <a:t>Use Sum(price) with PARTITION BY </a:t>
            </a:r>
            <a:r>
              <a:rPr lang="en-US" altLang="en-US" sz="4000" dirty="0" err="1">
                <a:latin typeface="+mj-lt"/>
              </a:rPr>
              <a:t>user_id</a:t>
            </a:r>
            <a:endParaRPr lang="en-US" altLang="en-US" sz="4000" dirty="0">
              <a:latin typeface="+mj-lt"/>
            </a:endParaRPr>
          </a:p>
          <a:p>
            <a:pPr marL="3314700" lvl="6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+mj-lt"/>
              </a:rPr>
              <a:t>Apply RANK() and DENSE_RANK() to order users by total spending.</a:t>
            </a:r>
            <a:endParaRPr lang="en-IN" sz="4000" dirty="0">
              <a:latin typeface="+mj-lt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endParaRPr lang="en-IN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65704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51C8C-23CF-EB55-7CFF-AEA3CCBE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4476D6-7519-12AA-579F-3D275C89B82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3EEFCE7-BAE8-80C3-5EC6-EDBBDEE09863}"/>
              </a:ext>
            </a:extLst>
          </p:cNvPr>
          <p:cNvSpPr/>
          <p:nvPr/>
        </p:nvSpPr>
        <p:spPr>
          <a:xfrm>
            <a:off x="-889027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4D3C335-7C24-BFCF-BB00-8E376E7DD826}"/>
              </a:ext>
            </a:extLst>
          </p:cNvPr>
          <p:cNvGrpSpPr/>
          <p:nvPr/>
        </p:nvGrpSpPr>
        <p:grpSpPr>
          <a:xfrm>
            <a:off x="2541584" y="3143953"/>
            <a:ext cx="14535120" cy="2339102"/>
            <a:chOff x="-2918087" y="-1990758"/>
            <a:chExt cx="21900210" cy="310301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866F3C-D8F5-A241-1384-65477A6EB3F9}"/>
                </a:ext>
              </a:extLst>
            </p:cNvPr>
            <p:cNvSpPr txBox="1"/>
            <p:nvPr/>
          </p:nvSpPr>
          <p:spPr>
            <a:xfrm>
              <a:off x="-2918087" y="-1990758"/>
              <a:ext cx="21900210" cy="31030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endParaRPr lang="en-GB" sz="3200" dirty="0">
                <a:ea typeface="+mn-lt"/>
                <a:cs typeface="+mn-lt"/>
              </a:endParaRPr>
            </a:p>
            <a:p>
              <a:pPr lvl="1" algn="just">
                <a:lnSpc>
                  <a:spcPts val="3600"/>
                </a:lnSpc>
              </a:pPr>
              <a:r>
                <a:rPr lang="en-GB" sz="3200" dirty="0">
                  <a:ea typeface="+mn-lt"/>
                  <a:cs typeface="+mn-lt"/>
                </a:rPr>
                <a:t>  </a:t>
              </a:r>
              <a:endParaRPr lang="en-GB" sz="3200" i="1" dirty="0">
                <a:ea typeface="+mn-lt"/>
                <a:cs typeface="+mn-lt"/>
              </a:endParaRPr>
            </a:p>
            <a:p>
              <a:pPr lvl="1" algn="just"/>
              <a:r>
                <a:rPr lang="en-GB" sz="3200" b="1" dirty="0">
                  <a:ea typeface="+mn-lt"/>
                  <a:cs typeface="+mn-lt"/>
                </a:rPr>
                <a:t>  </a:t>
              </a: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Wingdings"/>
                <a:buChar char="Ø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ABA98-EE6B-976A-4B3E-AE8D88A81219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D2D8356-DB38-1A96-9DC5-EB09044A26B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0C9E15-8BB0-D68A-6F0D-F238DAB432A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B29D00A-A1AD-8ACA-5944-6D82A9647AE7}"/>
              </a:ext>
            </a:extLst>
          </p:cNvPr>
          <p:cNvSpPr txBox="1"/>
          <p:nvPr/>
        </p:nvSpPr>
        <p:spPr>
          <a:xfrm>
            <a:off x="1715350" y="452513"/>
            <a:ext cx="1485730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Use Case 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8F9574A-83CB-4373-715E-6E0E72CC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17</a:t>
            </a:fld>
            <a:endParaRPr lang="en-GB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92139F7-CB2D-88A4-BC2F-C27D3E4DE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984068"/>
              </p:ext>
            </p:extLst>
          </p:nvPr>
        </p:nvGraphicFramePr>
        <p:xfrm>
          <a:off x="1758683" y="1949662"/>
          <a:ext cx="15688896" cy="788482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29632">
                  <a:extLst>
                    <a:ext uri="{9D8B030D-6E8A-4147-A177-3AD203B41FA5}">
                      <a16:colId xmlns:a16="http://schemas.microsoft.com/office/drawing/2014/main" val="139047611"/>
                    </a:ext>
                  </a:extLst>
                </a:gridCol>
                <a:gridCol w="5229632">
                  <a:extLst>
                    <a:ext uri="{9D8B030D-6E8A-4147-A177-3AD203B41FA5}">
                      <a16:colId xmlns:a16="http://schemas.microsoft.com/office/drawing/2014/main" val="1536837955"/>
                    </a:ext>
                  </a:extLst>
                </a:gridCol>
                <a:gridCol w="5229632">
                  <a:extLst>
                    <a:ext uri="{9D8B030D-6E8A-4147-A177-3AD203B41FA5}">
                      <a16:colId xmlns:a16="http://schemas.microsoft.com/office/drawing/2014/main" val="2251529715"/>
                    </a:ext>
                  </a:extLst>
                </a:gridCol>
              </a:tblGrid>
              <a:tr h="1165235">
                <a:tc>
                  <a:txBody>
                    <a:bodyPr/>
                    <a:lstStyle/>
                    <a:p>
                      <a:r>
                        <a:rPr lang="en-IN" sz="4200" b="1" dirty="0"/>
                        <a:t>SQL Concept</a:t>
                      </a:r>
                      <a:endParaRPr lang="en-IN" sz="4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200" b="1" dirty="0"/>
                        <a:t>Real Project Example</a:t>
                      </a:r>
                      <a:endParaRPr lang="en-IN" sz="4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200" b="1" dirty="0"/>
                        <a:t>How It’s Used</a:t>
                      </a:r>
                      <a:endParaRPr lang="en-IN" sz="4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452981"/>
                  </a:ext>
                </a:extLst>
              </a:tr>
              <a:tr h="1165235">
                <a:tc>
                  <a:txBody>
                    <a:bodyPr/>
                    <a:lstStyle/>
                    <a:p>
                      <a:r>
                        <a:rPr lang="en-IN" sz="3500" b="1" dirty="0"/>
                        <a:t>Joins (Inner, Outer, Conditions)</a:t>
                      </a:r>
                      <a:endParaRPr lang="en-IN" sz="3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dirty="0"/>
                        <a:t>E-commerce platform (e.g., Amazon)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INNER JOIN customers with orders; LEFT JOIN to find inactive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6952745"/>
                  </a:ext>
                </a:extLst>
              </a:tr>
              <a:tr h="1165235">
                <a:tc>
                  <a:txBody>
                    <a:bodyPr/>
                    <a:lstStyle/>
                    <a:p>
                      <a:r>
                        <a:rPr lang="en-IN" sz="3500" b="1"/>
                        <a:t>Self Join</a:t>
                      </a:r>
                      <a:endParaRPr lang="en-IN" sz="3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Employee Management System (HR portal)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Find each employee’s manager within the same employee's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796806"/>
                  </a:ext>
                </a:extLst>
              </a:tr>
              <a:tr h="1165235">
                <a:tc>
                  <a:txBody>
                    <a:bodyPr/>
                    <a:lstStyle/>
                    <a:p>
                      <a:r>
                        <a:rPr lang="en-IN" sz="3500" b="1"/>
                        <a:t>Cross Join</a:t>
                      </a:r>
                      <a:endParaRPr lang="en-IN" sz="3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000" dirty="0"/>
                        <a:t>Product Configurator (Apparel Store)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Generate all size × color combinations for inventory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8745808"/>
                  </a:ext>
                </a:extLst>
              </a:tr>
              <a:tr h="1165235">
                <a:tc>
                  <a:txBody>
                    <a:bodyPr/>
                    <a:lstStyle/>
                    <a:p>
                      <a:r>
                        <a:rPr lang="en-IN" sz="3500" b="1"/>
                        <a:t>COUNT, GROUP BY, HAVING</a:t>
                      </a:r>
                      <a:endParaRPr lang="en-IN" sz="3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Sales Dashboard (e.g., Salesforce analytics)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Count sales per region; filter top performers using HAVING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6689839"/>
                  </a:ext>
                </a:extLst>
              </a:tr>
              <a:tr h="1165235">
                <a:tc>
                  <a:txBody>
                    <a:bodyPr/>
                    <a:lstStyle/>
                    <a:p>
                      <a:r>
                        <a:rPr lang="en-IN" sz="3500" b="1" dirty="0"/>
                        <a:t>Window Functions</a:t>
                      </a:r>
                      <a:endParaRPr lang="en-IN" sz="3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Banking/Financial Reports (e.g., PayPal)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Running totals, rank customers, compare monthly spend with LAG, RANK, SUM OVER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5259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9602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828296" y="1276685"/>
            <a:ext cx="14599589" cy="8697843"/>
            <a:chOff x="-381523" y="-5751"/>
            <a:chExt cx="14054847" cy="7110042"/>
          </a:xfrm>
        </p:grpSpPr>
        <p:sp>
          <p:nvSpPr>
            <p:cNvPr id="5" name="TextBox 5"/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381523" y="688706"/>
              <a:ext cx="13631736" cy="64155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838200" lvl="1" indent="-514350">
                <a:lnSpc>
                  <a:spcPct val="150000"/>
                </a:lnSpc>
                <a:buFontTx/>
                <a:buAutoNum type="arabicPeriod"/>
              </a:pPr>
              <a:r>
                <a:rPr lang="en-IN" sz="4000" dirty="0"/>
                <a:t>Find pairs of customers in the same region (exclude pairing a customer with themselves).</a:t>
              </a:r>
            </a:p>
            <a:p>
              <a:pPr marL="323850" lvl="1">
                <a:lnSpc>
                  <a:spcPct val="150000"/>
                </a:lnSpc>
              </a:pPr>
              <a:r>
                <a:rPr lang="en-IN" sz="4000" dirty="0"/>
                <a:t>      	</a:t>
              </a:r>
              <a:r>
                <a:rPr lang="en-IN" sz="4000" b="1" dirty="0"/>
                <a:t>OUTPUT FORMAT: </a:t>
              </a:r>
            </a:p>
            <a:p>
              <a:pPr marL="323850" lvl="1">
                <a:lnSpc>
                  <a:spcPts val="3600"/>
                </a:lnSpc>
              </a:pPr>
              <a:endParaRPr lang="en-IN" sz="3000" dirty="0"/>
            </a:p>
            <a:p>
              <a:pPr marL="323850" lvl="1">
                <a:lnSpc>
                  <a:spcPts val="3600"/>
                </a:lnSpc>
              </a:pPr>
              <a:endParaRPr lang="en-IN" sz="3000" dirty="0"/>
            </a:p>
            <a:p>
              <a:pPr marL="323850" lvl="1">
                <a:lnSpc>
                  <a:spcPts val="3600"/>
                </a:lnSpc>
              </a:pPr>
              <a:endParaRPr lang="en-IN" sz="3000" dirty="0"/>
            </a:p>
            <a:p>
              <a:pPr marL="323850" lvl="1">
                <a:lnSpc>
                  <a:spcPts val="3600"/>
                </a:lnSpc>
              </a:pPr>
              <a:endParaRPr lang="en-IN" sz="3000" dirty="0"/>
            </a:p>
            <a:p>
              <a:pPr marL="323850" lvl="1">
                <a:lnSpc>
                  <a:spcPts val="3600"/>
                </a:lnSpc>
              </a:pPr>
              <a:endParaRPr lang="en-IN" sz="3000" dirty="0"/>
            </a:p>
            <a:p>
              <a:pPr marL="838200" lvl="1" indent="-514350">
                <a:lnSpc>
                  <a:spcPts val="3600"/>
                </a:lnSpc>
                <a:buFontTx/>
                <a:buAutoNum type="arabicPeriod" startAt="2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838200" lvl="1" indent="-514350">
                <a:lnSpc>
                  <a:spcPts val="3600"/>
                </a:lnSpc>
                <a:buFontTx/>
                <a:buAutoNum type="arabicPeriod" startAt="2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838200" lvl="1" indent="-514350">
                <a:lnSpc>
                  <a:spcPts val="3600"/>
                </a:lnSpc>
                <a:buFontTx/>
                <a:buAutoNum type="arabicPeriod" startAt="2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4244459" y="4836686"/>
            <a:ext cx="6110870" cy="6110870"/>
            <a:chOff x="0" y="0"/>
            <a:chExt cx="14840029" cy="14840029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12687DA1-41AD-E71E-D9F4-AB14294278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4688" y="5329790"/>
            <a:ext cx="11657858" cy="38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2D8D9-16D1-A9C7-01E6-FEA598598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501772B-F1A7-D497-D6C9-3B6FAF10208F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68AEC37-8581-9F90-F68E-0F7F6F3D7742}"/>
              </a:ext>
            </a:extLst>
          </p:cNvPr>
          <p:cNvGrpSpPr/>
          <p:nvPr/>
        </p:nvGrpSpPr>
        <p:grpSpPr>
          <a:xfrm>
            <a:off x="988106" y="1276685"/>
            <a:ext cx="14439779" cy="6488563"/>
            <a:chOff x="-227676" y="-5751"/>
            <a:chExt cx="13901000" cy="530406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4863034-7A09-D188-D214-1092A91E214A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473EF5A-8C4B-630E-5333-EF899EDABAE6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570FC47-4204-8F1D-4C91-086235F8E386}"/>
                </a:ext>
              </a:extLst>
            </p:cNvPr>
            <p:cNvSpPr txBox="1"/>
            <p:nvPr/>
          </p:nvSpPr>
          <p:spPr>
            <a:xfrm>
              <a:off x="-227676" y="14894"/>
              <a:ext cx="13631736" cy="52834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23850" lvl="1">
                <a:lnSpc>
                  <a:spcPct val="150000"/>
                </a:lnSpc>
              </a:pPr>
              <a:endParaRPr lang="en-IN" sz="4000" dirty="0"/>
            </a:p>
            <a:p>
              <a:pPr marL="838200" lvl="1" indent="-514350">
                <a:lnSpc>
                  <a:spcPct val="150000"/>
                </a:lnSpc>
                <a:buFont typeface="+mj-lt"/>
                <a:buAutoNum type="arabicPeriod" startAt="2"/>
              </a:pPr>
              <a:r>
                <a:rPr lang="en-IN" sz="4000" dirty="0"/>
                <a:t>List meters with readings over 30 kWh in last 30 days along with customer names.</a:t>
              </a:r>
            </a:p>
            <a:p>
              <a:pPr marL="323850" lvl="1">
                <a:lnSpc>
                  <a:spcPct val="150000"/>
                </a:lnSpc>
              </a:pPr>
              <a:r>
                <a:rPr lang="en-IN" sz="4000" dirty="0"/>
                <a:t>        	 </a:t>
              </a:r>
              <a:r>
                <a:rPr lang="en-IN" sz="4000" b="1" dirty="0"/>
                <a:t>OUTPUT FORMAT:</a:t>
              </a:r>
            </a:p>
            <a:p>
              <a:pPr marL="838200" lvl="1" indent="-514350">
                <a:lnSpc>
                  <a:spcPts val="3600"/>
                </a:lnSpc>
                <a:buFontTx/>
                <a:buAutoNum type="arabicPeriod" startAt="2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838200" lvl="1" indent="-514350">
                <a:lnSpc>
                  <a:spcPts val="3600"/>
                </a:lnSpc>
                <a:buFontTx/>
                <a:buAutoNum type="arabicPeriod" startAt="2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838200" lvl="1" indent="-514350">
                <a:lnSpc>
                  <a:spcPts val="3600"/>
                </a:lnSpc>
                <a:buFontTx/>
                <a:buAutoNum type="arabicPeriod" startAt="2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99B4C5D-CA2F-BAD3-D51C-A5742A2B5C85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5F32002E-DB39-3973-63C4-F0FF559AD38E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E27039B8-5EB0-CC2C-0024-0FA29255737D}"/>
              </a:ext>
            </a:extLst>
          </p:cNvPr>
          <p:cNvGrpSpPr>
            <a:grpSpLocks noChangeAspect="1"/>
          </p:cNvGrpSpPr>
          <p:nvPr/>
        </p:nvGrpSpPr>
        <p:grpSpPr>
          <a:xfrm>
            <a:off x="14244459" y="4836686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EFA50085-E450-C2AF-086B-9D1CED155D74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9B9D602-ABCF-881C-F362-62DAE51930B5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4B10F7B-60F3-BED5-5B48-98E192812A33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A1D59E9-E2EB-FC0C-9CFD-C8A58EC037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009" y="5143500"/>
            <a:ext cx="11897432" cy="378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46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AC9E4-6136-23D2-AAF4-1224B4B7B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83DAB25-80C2-90A1-9D5F-8E9BEA9CF651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2120F35-63E9-D392-6E0B-72A32584763F}"/>
              </a:ext>
            </a:extLst>
          </p:cNvPr>
          <p:cNvGrpSpPr/>
          <p:nvPr/>
        </p:nvGrpSpPr>
        <p:grpSpPr>
          <a:xfrm>
            <a:off x="625642" y="1276685"/>
            <a:ext cx="14802243" cy="9159508"/>
            <a:chOff x="-576616" y="-5751"/>
            <a:chExt cx="14249940" cy="748742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F54C643-A690-A708-BBA7-3DA1B8433018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F9DEC00-4AFA-94B2-7150-DB8C0EDE13F4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763902A-1C0C-20E7-9616-FB79A4617B83}"/>
                </a:ext>
              </a:extLst>
            </p:cNvPr>
            <p:cNvSpPr txBox="1"/>
            <p:nvPr/>
          </p:nvSpPr>
          <p:spPr>
            <a:xfrm>
              <a:off x="-576616" y="688706"/>
              <a:ext cx="13826829" cy="67929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71550" lvl="1" indent="-514350">
                <a:lnSpc>
                  <a:spcPct val="150000"/>
                </a:lnSpc>
                <a:buFont typeface="+mj-lt"/>
                <a:buAutoNum type="arabicPeriod" startAt="3"/>
              </a:pPr>
              <a:r>
                <a:rPr lang="en-IN" sz="4000" dirty="0"/>
                <a:t>Find the number of meters installed in each region, but only show regions that have more than 3 meters. </a:t>
              </a:r>
            </a:p>
            <a:p>
              <a:pPr marL="781050" lvl="2">
                <a:lnSpc>
                  <a:spcPct val="150000"/>
                </a:lnSpc>
              </a:pPr>
              <a:r>
                <a:rPr lang="en-IN" sz="4000" dirty="0"/>
                <a:t>      	</a:t>
              </a:r>
              <a:r>
                <a:rPr lang="en-IN" sz="4000" b="1" dirty="0"/>
                <a:t>OUTPUT FORMAT: </a:t>
              </a:r>
            </a:p>
            <a:p>
              <a:pPr marL="781050" lvl="2">
                <a:lnSpc>
                  <a:spcPts val="3600"/>
                </a:lnSpc>
              </a:pPr>
              <a:endParaRPr lang="en-IN" sz="3000" dirty="0"/>
            </a:p>
            <a:p>
              <a:pPr marL="781050" lvl="2">
                <a:lnSpc>
                  <a:spcPts val="3600"/>
                </a:lnSpc>
              </a:pPr>
              <a:endParaRPr lang="en-IN" sz="3000" dirty="0"/>
            </a:p>
            <a:p>
              <a:pPr marL="781050" lvl="2">
                <a:lnSpc>
                  <a:spcPts val="3600"/>
                </a:lnSpc>
              </a:pPr>
              <a:endParaRPr lang="en-IN" sz="3000" dirty="0"/>
            </a:p>
            <a:p>
              <a:pPr marL="781050" lvl="2">
                <a:lnSpc>
                  <a:spcPts val="3600"/>
                </a:lnSpc>
              </a:pPr>
              <a:endParaRPr lang="en-IN" sz="3000" dirty="0"/>
            </a:p>
            <a:p>
              <a:pPr marL="781050" lvl="2">
                <a:lnSpc>
                  <a:spcPts val="3600"/>
                </a:lnSpc>
              </a:pPr>
              <a:endParaRPr lang="en-IN" sz="3000" dirty="0"/>
            </a:p>
            <a:p>
              <a:pPr marL="781050" lvl="2">
                <a:lnSpc>
                  <a:spcPts val="3600"/>
                </a:lnSpc>
              </a:pPr>
              <a:endParaRPr lang="en-IN" sz="3000" dirty="0"/>
            </a:p>
            <a:p>
              <a:pPr marL="1295400" lvl="2" indent="-514350">
                <a:lnSpc>
                  <a:spcPts val="3600"/>
                </a:lnSpc>
                <a:buFontTx/>
                <a:buAutoNum type="arabicPeriod" startAt="2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1295400" lvl="2" indent="-514350">
                <a:lnSpc>
                  <a:spcPts val="3600"/>
                </a:lnSpc>
                <a:buFontTx/>
                <a:buAutoNum type="arabicPeriod" startAt="2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1295400" lvl="2" indent="-514350">
                <a:lnSpc>
                  <a:spcPts val="3600"/>
                </a:lnSpc>
                <a:buFontTx/>
                <a:buAutoNum type="arabicPeriod" startAt="2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781050" lvl="2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781050" lvl="2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1104900" lvl="2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92BDE1E-BA02-3824-9425-EABAD61A42B3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31B69D72-BEBF-49FF-AE6D-2FF01CC10AAD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0DC913D-B402-5D46-CCFA-1B23E1D35FA7}"/>
              </a:ext>
            </a:extLst>
          </p:cNvPr>
          <p:cNvGrpSpPr>
            <a:grpSpLocks noChangeAspect="1"/>
          </p:cNvGrpSpPr>
          <p:nvPr/>
        </p:nvGrpSpPr>
        <p:grpSpPr>
          <a:xfrm>
            <a:off x="14244459" y="4836686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95AAF6C-3EEC-F458-B5FD-4E00E785B271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F284155-4D90-E576-48A7-EC38608BBE07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D52A785E-D580-FC7B-EBD2-1323D2883437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0E534F7-8727-A66A-B2E8-9545605CC4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7302" y="4916380"/>
            <a:ext cx="10992852" cy="461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8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2A9C9-E641-4E71-B128-ECDC8AE41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1843283-1FE2-F164-ACC3-42B1FA037C3F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1BB77B0-B188-5E9D-B158-A5F0A4D321D0}"/>
              </a:ext>
            </a:extLst>
          </p:cNvPr>
          <p:cNvGrpSpPr/>
          <p:nvPr/>
        </p:nvGrpSpPr>
        <p:grpSpPr>
          <a:xfrm>
            <a:off x="658612" y="1189241"/>
            <a:ext cx="14769273" cy="6463307"/>
            <a:chOff x="-544876" y="-77232"/>
            <a:chExt cx="14218200" cy="528342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5DB2A26-F9BA-4786-C2C3-75492833BE08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FEE7C34-1C7F-9926-9C41-4ED2DECE14CC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7157A77-5E19-E0FD-C3CE-B8BEA8B5553A}"/>
                </a:ext>
              </a:extLst>
            </p:cNvPr>
            <p:cNvSpPr txBox="1"/>
            <p:nvPr/>
          </p:nvSpPr>
          <p:spPr>
            <a:xfrm>
              <a:off x="-544876" y="-77232"/>
              <a:ext cx="13826829" cy="52834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781050" lvl="2">
                <a:lnSpc>
                  <a:spcPct val="150000"/>
                </a:lnSpc>
              </a:pPr>
              <a:endParaRPr lang="en-IN" sz="4000" dirty="0"/>
            </a:p>
            <a:p>
              <a:pPr marL="838200" lvl="1" indent="-514350">
                <a:lnSpc>
                  <a:spcPct val="150000"/>
                </a:lnSpc>
                <a:buFont typeface="+mj-lt"/>
                <a:buAutoNum type="arabicPeriod" startAt="4"/>
              </a:pPr>
              <a:r>
                <a:rPr lang="en-IN" sz="4000" dirty="0"/>
                <a:t>Rank each meter per customer by total energy consumed (highest first). </a:t>
              </a:r>
            </a:p>
            <a:p>
              <a:pPr marL="781050" lvl="2">
                <a:lnSpc>
                  <a:spcPct val="150000"/>
                </a:lnSpc>
              </a:pPr>
              <a:r>
                <a:rPr lang="en-IN" sz="4000" dirty="0"/>
                <a:t>		 </a:t>
              </a:r>
              <a:r>
                <a:rPr lang="en-IN" sz="4000" b="1" dirty="0"/>
                <a:t>OUTPUT FORMAT:</a:t>
              </a:r>
            </a:p>
            <a:p>
              <a:pPr marL="1295400" lvl="2" indent="-514350">
                <a:lnSpc>
                  <a:spcPts val="3600"/>
                </a:lnSpc>
                <a:buFontTx/>
                <a:buAutoNum type="arabicPeriod" startAt="2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1295400" lvl="2" indent="-514350">
                <a:lnSpc>
                  <a:spcPts val="3600"/>
                </a:lnSpc>
                <a:buFontTx/>
                <a:buAutoNum type="arabicPeriod" startAt="2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1295400" lvl="2" indent="-514350">
                <a:lnSpc>
                  <a:spcPts val="3600"/>
                </a:lnSpc>
                <a:buFontTx/>
                <a:buAutoNum type="arabicPeriod" startAt="2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781050" lvl="2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781050" lvl="2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1104900" lvl="2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B38FCB2-103B-1A04-96E0-4540E6FBF973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9CED4A85-1741-9004-87C2-6715066DB4F7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7E057EC-5100-8E19-F04E-5DD3A56F52DF}"/>
              </a:ext>
            </a:extLst>
          </p:cNvPr>
          <p:cNvGrpSpPr>
            <a:grpSpLocks noChangeAspect="1"/>
          </p:cNvGrpSpPr>
          <p:nvPr/>
        </p:nvGrpSpPr>
        <p:grpSpPr>
          <a:xfrm>
            <a:off x="14244459" y="4836686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D2413953-CA3F-2CD0-7E81-E5CBD359223A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5F2227C-AA62-9079-8EE4-BDD0CA1FFAEF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731B4B0-E207-0D3D-6CC1-684110310BFE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735EB3AD-CE01-6F4E-25C1-E0F860013E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940" y="4914436"/>
            <a:ext cx="12010131" cy="45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70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56033-6DB7-E6A8-F392-DDC851FF3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AD87A1C-30EF-8CDA-00B8-2A8A958CA69A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21CD15B-B2FE-74EF-7952-1F0EB75DABB5}"/>
              </a:ext>
            </a:extLst>
          </p:cNvPr>
          <p:cNvGrpSpPr/>
          <p:nvPr/>
        </p:nvGrpSpPr>
        <p:grpSpPr>
          <a:xfrm>
            <a:off x="828296" y="1276685"/>
            <a:ext cx="14599589" cy="7948024"/>
            <a:chOff x="-381523" y="-5751"/>
            <a:chExt cx="14054847" cy="649710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84C0CE2-AF9A-AB19-5000-7EE3261144F6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327C5D8-EA35-EAF5-A288-86544ADA9FCA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AC39FD3-C4B2-BBC4-A5DD-4EA57E55A698}"/>
                </a:ext>
              </a:extLst>
            </p:cNvPr>
            <p:cNvSpPr txBox="1"/>
            <p:nvPr/>
          </p:nvSpPr>
          <p:spPr>
            <a:xfrm>
              <a:off x="-381523" y="688706"/>
              <a:ext cx="13631736" cy="58026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>
                <a:buFont typeface="+mj-lt"/>
                <a:buAutoNum type="arabicPeriod" startAt="5"/>
              </a:pPr>
              <a:r>
                <a:rPr lang="en-IN" sz="4000" dirty="0"/>
                <a:t>For each meter, calculate the cumulative sum of energy consumed ordered by ReadingDateTime.</a:t>
              </a:r>
            </a:p>
            <a:p>
              <a:pPr marL="514350" indent="-514350">
                <a:buFont typeface="+mj-lt"/>
                <a:buAutoNum type="arabicPeriod" startAt="5"/>
              </a:pPr>
              <a:endParaRPr lang="en-IN" sz="4000" dirty="0"/>
            </a:p>
            <a:p>
              <a:r>
                <a:rPr lang="en-IN" sz="4000" dirty="0"/>
                <a:t>   		OUTPUT FORMAT: </a:t>
              </a:r>
            </a:p>
            <a:p>
              <a:pPr marL="838200" lvl="1" indent="-514350">
                <a:lnSpc>
                  <a:spcPts val="3600"/>
                </a:lnSpc>
                <a:buFont typeface="+mj-lt"/>
                <a:buAutoNum type="arabicPeriod" startAt="5"/>
              </a:pPr>
              <a:endParaRPr lang="en-IN" sz="4000" dirty="0"/>
            </a:p>
            <a:p>
              <a:pPr marL="838200" lvl="1" indent="-514350">
                <a:lnSpc>
                  <a:spcPts val="3600"/>
                </a:lnSpc>
                <a:buFont typeface="+mj-lt"/>
                <a:buAutoNum type="arabicPeriod" startAt="5"/>
              </a:pPr>
              <a:endParaRPr lang="en-IN" sz="4000" dirty="0"/>
            </a:p>
            <a:p>
              <a:pPr marL="838200" lvl="1" indent="-514350">
                <a:lnSpc>
                  <a:spcPts val="3600"/>
                </a:lnSpc>
                <a:buFont typeface="+mj-lt"/>
                <a:buAutoNum type="arabicPeriod" startAt="5"/>
              </a:pPr>
              <a:endParaRPr lang="en-IN" sz="4000" dirty="0"/>
            </a:p>
            <a:p>
              <a:pPr marL="838200" lvl="1" indent="-514350">
                <a:lnSpc>
                  <a:spcPts val="3600"/>
                </a:lnSpc>
                <a:buFont typeface="+mj-lt"/>
                <a:buAutoNum type="arabicPeriod" startAt="5"/>
              </a:pPr>
              <a:endParaRPr lang="en-IN" sz="4000" dirty="0"/>
            </a:p>
            <a:p>
              <a:pPr marL="838200" lvl="1" indent="-514350">
                <a:lnSpc>
                  <a:spcPts val="3600"/>
                </a:lnSpc>
                <a:buFont typeface="+mj-lt"/>
                <a:buAutoNum type="arabicPeriod" startAt="5"/>
              </a:pPr>
              <a:endParaRPr lang="en-US" sz="4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838200" lvl="1" indent="-514350">
                <a:lnSpc>
                  <a:spcPts val="3600"/>
                </a:lnSpc>
                <a:buFont typeface="+mj-lt"/>
                <a:buAutoNum type="arabicPeriod" startAt="5"/>
              </a:pPr>
              <a:endParaRPr lang="en-US" sz="4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838200" lvl="1" indent="-514350">
                <a:lnSpc>
                  <a:spcPts val="3600"/>
                </a:lnSpc>
                <a:buFont typeface="+mj-lt"/>
                <a:buAutoNum type="arabicPeriod" startAt="5"/>
              </a:pPr>
              <a:endParaRPr lang="en-US" sz="4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838200" lvl="1" indent="-514350">
                <a:lnSpc>
                  <a:spcPts val="3600"/>
                </a:lnSpc>
                <a:buFont typeface="+mj-lt"/>
                <a:buAutoNum type="arabicPeriod" startAt="5"/>
              </a:pPr>
              <a:endParaRPr lang="en-US" sz="4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838200" lvl="1" indent="-514350">
                <a:lnSpc>
                  <a:spcPts val="3600"/>
                </a:lnSpc>
                <a:buFont typeface="+mj-lt"/>
                <a:buAutoNum type="arabicPeriod" startAt="5"/>
              </a:pPr>
              <a:endParaRPr lang="en-US" sz="4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838200" lvl="1" indent="-514350">
                <a:lnSpc>
                  <a:spcPts val="3600"/>
                </a:lnSpc>
                <a:buFont typeface="+mj-lt"/>
                <a:buAutoNum type="arabicPeriod" startAt="5"/>
              </a:pPr>
              <a:endParaRPr lang="en-US" sz="4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9773A0D-00EA-6B01-6FBA-CA67CC7901C4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E5A4736F-E87E-45AB-369B-931DFD0C66B4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F2D74FC-8A70-7166-ADCD-71FBE0C51F32}"/>
              </a:ext>
            </a:extLst>
          </p:cNvPr>
          <p:cNvGrpSpPr>
            <a:grpSpLocks noChangeAspect="1"/>
          </p:cNvGrpSpPr>
          <p:nvPr/>
        </p:nvGrpSpPr>
        <p:grpSpPr>
          <a:xfrm>
            <a:off x="14244459" y="4836686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1FB10B0-E215-FED4-7DA9-FD3F4CC403C9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12A58436-6BA5-08B3-5D08-F0873B6EE5B3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B15AC361-15D4-2742-E3BB-0A981894870D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968F896A-1A6C-240C-9C03-B3E5BE5DB1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1437" y="5013974"/>
            <a:ext cx="11633796" cy="430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83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462747" y="533743"/>
            <a:ext cx="6368927" cy="228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85020" y="520357"/>
            <a:ext cx="2025393" cy="986011"/>
            <a:chOff x="0" y="114300"/>
            <a:chExt cx="2700524" cy="131468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300"/>
              <a:ext cx="2700524" cy="411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76639"/>
              <a:ext cx="2700524" cy="75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18607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7716" y="13070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1304" y="912703"/>
            <a:ext cx="134751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58" y="9127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2323" y="-17471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1819" y="421328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8279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0538BD-B281-3C0B-F413-48312AD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04695" y="938813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23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3F7103-06E2-33D2-1873-F8AD910B9EBE}"/>
              </a:ext>
            </a:extLst>
          </p:cNvPr>
          <p:cNvSpPr txBox="1"/>
          <p:nvPr/>
        </p:nvSpPr>
        <p:spPr>
          <a:xfrm>
            <a:off x="4822782" y="1675049"/>
            <a:ext cx="13008892" cy="8141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u="sng" dirty="0"/>
              <a:t>Stretch Goal:</a:t>
            </a:r>
            <a:endParaRPr lang="en-IN" sz="3200" b="1" i="1" dirty="0"/>
          </a:p>
          <a:p>
            <a:pPr>
              <a:lnSpc>
                <a:spcPct val="150000"/>
              </a:lnSpc>
            </a:pPr>
            <a:r>
              <a:rPr lang="en-IN" sz="3200" dirty="0"/>
              <a:t>Regional Customer Pair Analysis</a:t>
            </a:r>
          </a:p>
          <a:p>
            <a:pPr>
              <a:lnSpc>
                <a:spcPct val="150000"/>
              </a:lnSpc>
            </a:pPr>
            <a:r>
              <a:rPr lang="en-IN" sz="3200" dirty="0"/>
              <a:t>Objective:</a:t>
            </a:r>
            <a:r>
              <a:rPr lang="en-IN" sz="3200" u="sng" dirty="0"/>
              <a:t> </a:t>
            </a:r>
            <a:r>
              <a:rPr lang="en-IN" sz="3200" dirty="0"/>
              <a:t>Identify and analyse unique customer pairs within the same region.</a:t>
            </a:r>
          </a:p>
          <a:p>
            <a:pPr>
              <a:lnSpc>
                <a:spcPct val="150000"/>
              </a:lnSpc>
            </a:pPr>
            <a:r>
              <a:rPr lang="en-IN" sz="3200" dirty="0"/>
              <a:t>Write a query to: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Find all unique pairs of customers who:</a:t>
            </a:r>
          </a:p>
          <a:p>
            <a:pPr marL="2286000" lvl="4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dirty="0"/>
              <a:t>Belong to the same region</a:t>
            </a:r>
          </a:p>
          <a:p>
            <a:pPr marL="2286000" lvl="4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dirty="0"/>
              <a:t>Have different customer IDs (exclude self-pairing)</a:t>
            </a:r>
          </a:p>
          <a:p>
            <a:pPr marL="2286000" lvl="4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dirty="0"/>
              <a:t>Were both active in the past 90 days (e.g., LastActiveDate &gt;= DateTime.Today.AddDays(-90))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Do not repeat pairs in reverse (i.e., if (A, B) is listed, skip (B, A))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59539-5093-2F61-3498-E8FE020AE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DA51268-A744-1BD3-411F-105BC9536F19}"/>
              </a:ext>
            </a:extLst>
          </p:cNvPr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80AD922-6990-EE04-BA75-C3C5B3753B43}"/>
              </a:ext>
            </a:extLst>
          </p:cNvPr>
          <p:cNvSpPr txBox="1"/>
          <p:nvPr/>
        </p:nvSpPr>
        <p:spPr>
          <a:xfrm>
            <a:off x="11462747" y="533743"/>
            <a:ext cx="6368927" cy="228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277A2CE-AF4E-940A-AC9D-848C864549CD}"/>
              </a:ext>
            </a:extLst>
          </p:cNvPr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DF3B17E-8818-447E-386A-5B21150C2F0B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671D1A6-7F30-3F9B-3658-CCF19B72BBB2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9180250-3CAC-0A56-4D14-58E850EC15DE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60D61DE-B222-E515-30F8-F2A7DA2166DD}"/>
              </a:ext>
            </a:extLst>
          </p:cNvPr>
          <p:cNvGrpSpPr/>
          <p:nvPr/>
        </p:nvGrpSpPr>
        <p:grpSpPr>
          <a:xfrm>
            <a:off x="5885020" y="520357"/>
            <a:ext cx="2025393" cy="986011"/>
            <a:chOff x="0" y="114300"/>
            <a:chExt cx="2700524" cy="1314681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2A0A87E-D540-24D6-6964-9DCA0E1E62EA}"/>
                </a:ext>
              </a:extLst>
            </p:cNvPr>
            <p:cNvSpPr txBox="1"/>
            <p:nvPr/>
          </p:nvSpPr>
          <p:spPr>
            <a:xfrm>
              <a:off x="0" y="114300"/>
              <a:ext cx="2700524" cy="411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6A0D560-738A-CBC2-647B-B30A376271B5}"/>
                </a:ext>
              </a:extLst>
            </p:cNvPr>
            <p:cNvSpPr txBox="1"/>
            <p:nvPr/>
          </p:nvSpPr>
          <p:spPr>
            <a:xfrm>
              <a:off x="0" y="676639"/>
              <a:ext cx="2700524" cy="75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C7C7F4D6-E9E1-077E-7704-C2C50E087C4C}"/>
              </a:ext>
            </a:extLst>
          </p:cNvPr>
          <p:cNvSpPr txBox="1"/>
          <p:nvPr/>
        </p:nvSpPr>
        <p:spPr>
          <a:xfrm>
            <a:off x="7118607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F62AC6A-5072-8915-2B40-0A2CDCCF1B66}"/>
              </a:ext>
            </a:extLst>
          </p:cNvPr>
          <p:cNvSpPr txBox="1"/>
          <p:nvPr/>
        </p:nvSpPr>
        <p:spPr>
          <a:xfrm>
            <a:off x="6897716" y="13070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E82585C-B702-4EC6-4989-F93D74254ECC}"/>
              </a:ext>
            </a:extLst>
          </p:cNvPr>
          <p:cNvSpPr txBox="1"/>
          <p:nvPr/>
        </p:nvSpPr>
        <p:spPr>
          <a:xfrm>
            <a:off x="8131304" y="912703"/>
            <a:ext cx="134751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637668D-10E6-AF0F-7267-26E2DE83AEE0}"/>
              </a:ext>
            </a:extLst>
          </p:cNvPr>
          <p:cNvSpPr txBox="1"/>
          <p:nvPr/>
        </p:nvSpPr>
        <p:spPr>
          <a:xfrm>
            <a:off x="4337758" y="9127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8CBFB4F-C4CC-0A2C-475F-1042395A96F6}"/>
              </a:ext>
            </a:extLst>
          </p:cNvPr>
          <p:cNvSpPr txBox="1"/>
          <p:nvPr/>
        </p:nvSpPr>
        <p:spPr>
          <a:xfrm>
            <a:off x="4872323" y="-17471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13F3EC6-0DB0-5D5E-BBC7-050B6DA35C1D}"/>
              </a:ext>
            </a:extLst>
          </p:cNvPr>
          <p:cNvSpPr txBox="1"/>
          <p:nvPr/>
        </p:nvSpPr>
        <p:spPr>
          <a:xfrm>
            <a:off x="3731819" y="421328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0597433-D396-131E-7E10-DC1F54D397DD}"/>
              </a:ext>
            </a:extLst>
          </p:cNvPr>
          <p:cNvSpPr txBox="1"/>
          <p:nvPr/>
        </p:nvSpPr>
        <p:spPr>
          <a:xfrm>
            <a:off x="9218279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5684A602-0509-7070-5961-84FD05055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04695" y="938813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24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6DE46A-268A-C9B4-76B3-E49B1A26C80B}"/>
              </a:ext>
            </a:extLst>
          </p:cNvPr>
          <p:cNvSpPr txBox="1"/>
          <p:nvPr/>
        </p:nvSpPr>
        <p:spPr>
          <a:xfrm>
            <a:off x="4822782" y="1675049"/>
            <a:ext cx="13008892" cy="8325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Output Format :</a:t>
            </a:r>
          </a:p>
          <a:p>
            <a:pPr>
              <a:lnSpc>
                <a:spcPct val="150000"/>
              </a:lnSpc>
            </a:pPr>
            <a:endParaRPr lang="en-IN" sz="3200" dirty="0"/>
          </a:p>
          <a:p>
            <a:pPr>
              <a:lnSpc>
                <a:spcPct val="150000"/>
              </a:lnSpc>
            </a:pPr>
            <a:endParaRPr lang="en-IN" sz="3200" dirty="0"/>
          </a:p>
          <a:p>
            <a:pPr>
              <a:lnSpc>
                <a:spcPct val="150000"/>
              </a:lnSpc>
            </a:pPr>
            <a:endParaRPr lang="en-IN" sz="3200" dirty="0"/>
          </a:p>
          <a:p>
            <a:pPr>
              <a:lnSpc>
                <a:spcPct val="150000"/>
              </a:lnSpc>
            </a:pPr>
            <a:endParaRPr lang="en-IN" sz="3200" dirty="0"/>
          </a:p>
          <a:p>
            <a:pPr>
              <a:lnSpc>
                <a:spcPct val="150000"/>
              </a:lnSpc>
            </a:pPr>
            <a:endParaRPr lang="en-IN" sz="3200" dirty="0"/>
          </a:p>
          <a:p>
            <a:pPr>
              <a:lnSpc>
                <a:spcPct val="150000"/>
              </a:lnSpc>
            </a:pPr>
            <a:endParaRPr lang="en-IN" sz="3200" dirty="0"/>
          </a:p>
          <a:p>
            <a:pPr>
              <a:lnSpc>
                <a:spcPct val="150000"/>
              </a:lnSpc>
            </a:pPr>
            <a:endParaRPr lang="en-IN" sz="3200" dirty="0"/>
          </a:p>
          <a:p>
            <a:pPr>
              <a:lnSpc>
                <a:spcPct val="150000"/>
              </a:lnSpc>
            </a:pPr>
            <a:endParaRPr lang="en-IN" sz="3200" dirty="0"/>
          </a:p>
          <a:p>
            <a:pPr>
              <a:lnSpc>
                <a:spcPct val="150000"/>
              </a:lnSpc>
            </a:pPr>
            <a:endParaRPr lang="en-IN" sz="3200" dirty="0"/>
          </a:p>
          <a:p>
            <a:pPr>
              <a:lnSpc>
                <a:spcPct val="150000"/>
              </a:lnSpc>
            </a:pPr>
            <a:endParaRPr lang="en-IN" sz="3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4E9FBAE-B245-58A9-44CA-6A5CD2695E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8712" y="2929243"/>
            <a:ext cx="12309806" cy="691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5961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DF0B1-29A7-F2FA-0C2C-6BADC7E08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00B956-5AE2-DF4E-6557-69C92BAC3C70}"/>
              </a:ext>
            </a:extLst>
          </p:cNvPr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B0CB950-CBE9-7CE6-C30B-6A9E9F0206ED}"/>
              </a:ext>
            </a:extLst>
          </p:cNvPr>
          <p:cNvSpPr txBox="1"/>
          <p:nvPr/>
        </p:nvSpPr>
        <p:spPr>
          <a:xfrm>
            <a:off x="11462747" y="533743"/>
            <a:ext cx="6368927" cy="228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8783880-0841-6503-87ED-4F8671FA11CC}"/>
              </a:ext>
            </a:extLst>
          </p:cNvPr>
          <p:cNvGrpSpPr>
            <a:grpSpLocks noChangeAspect="1"/>
          </p:cNvGrpSpPr>
          <p:nvPr/>
        </p:nvGrpSpPr>
        <p:grpSpPr>
          <a:xfrm>
            <a:off x="-1861973" y="-543773"/>
            <a:ext cx="6363923" cy="6148584"/>
            <a:chOff x="-366471" y="-11891"/>
            <a:chExt cx="15572971" cy="1486381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F9C3BA2-0892-3C9B-A062-31FA6D0B7FCD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4A72AAA-D5D7-27BE-4162-7319BFEA81E0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C9BD93A-7C2D-6B46-A969-28720DAC0EF8}"/>
                </a:ext>
              </a:extLst>
            </p:cNvPr>
            <p:cNvSpPr/>
            <p:nvPr/>
          </p:nvSpPr>
          <p:spPr>
            <a:xfrm>
              <a:off x="-138595" y="551023"/>
              <a:ext cx="14393426" cy="13737978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60FA428-2144-2D31-4FF3-981A418A62F5}"/>
              </a:ext>
            </a:extLst>
          </p:cNvPr>
          <p:cNvGrpSpPr/>
          <p:nvPr/>
        </p:nvGrpSpPr>
        <p:grpSpPr>
          <a:xfrm>
            <a:off x="5885020" y="520357"/>
            <a:ext cx="2025393" cy="986011"/>
            <a:chOff x="0" y="114300"/>
            <a:chExt cx="2700524" cy="1314681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75F2603-95AC-5CD0-27E4-80780E1F91D2}"/>
                </a:ext>
              </a:extLst>
            </p:cNvPr>
            <p:cNvSpPr txBox="1"/>
            <p:nvPr/>
          </p:nvSpPr>
          <p:spPr>
            <a:xfrm>
              <a:off x="0" y="114300"/>
              <a:ext cx="2700524" cy="411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7CB8E83D-0419-F303-FDB8-F6BEE3996003}"/>
                </a:ext>
              </a:extLst>
            </p:cNvPr>
            <p:cNvSpPr txBox="1"/>
            <p:nvPr/>
          </p:nvSpPr>
          <p:spPr>
            <a:xfrm>
              <a:off x="0" y="676639"/>
              <a:ext cx="2700524" cy="75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285BE33F-27DA-B5EB-C734-0E50EC7574CD}"/>
              </a:ext>
            </a:extLst>
          </p:cNvPr>
          <p:cNvSpPr txBox="1"/>
          <p:nvPr/>
        </p:nvSpPr>
        <p:spPr>
          <a:xfrm>
            <a:off x="7118607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C51B238-70A7-6562-1B48-CF1967D4727A}"/>
              </a:ext>
            </a:extLst>
          </p:cNvPr>
          <p:cNvSpPr txBox="1"/>
          <p:nvPr/>
        </p:nvSpPr>
        <p:spPr>
          <a:xfrm>
            <a:off x="6897716" y="13070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A7C9C41-18F9-8B75-F65C-6B68FECDA8A0}"/>
              </a:ext>
            </a:extLst>
          </p:cNvPr>
          <p:cNvSpPr txBox="1"/>
          <p:nvPr/>
        </p:nvSpPr>
        <p:spPr>
          <a:xfrm>
            <a:off x="8131304" y="912703"/>
            <a:ext cx="134751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81E0ABE-7CD2-E7BA-FCC8-1491C8CD5F9A}"/>
              </a:ext>
            </a:extLst>
          </p:cNvPr>
          <p:cNvSpPr txBox="1"/>
          <p:nvPr/>
        </p:nvSpPr>
        <p:spPr>
          <a:xfrm>
            <a:off x="4337758" y="9127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3E3BCC9-E375-2536-41AA-266BF77C1A1E}"/>
              </a:ext>
            </a:extLst>
          </p:cNvPr>
          <p:cNvSpPr txBox="1"/>
          <p:nvPr/>
        </p:nvSpPr>
        <p:spPr>
          <a:xfrm>
            <a:off x="4872323" y="-17471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6A3426B-2E52-935F-7F62-1342C6607D33}"/>
              </a:ext>
            </a:extLst>
          </p:cNvPr>
          <p:cNvSpPr txBox="1"/>
          <p:nvPr/>
        </p:nvSpPr>
        <p:spPr>
          <a:xfrm>
            <a:off x="3731819" y="421328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A1C9C6E-58FB-3DA7-477F-8A57358C260A}"/>
              </a:ext>
            </a:extLst>
          </p:cNvPr>
          <p:cNvSpPr txBox="1"/>
          <p:nvPr/>
        </p:nvSpPr>
        <p:spPr>
          <a:xfrm>
            <a:off x="9218279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4616C166-86D4-E48A-55DA-EFB19EEED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04695" y="938813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25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21760-1883-2339-2F95-4A7DF78B1891}"/>
              </a:ext>
            </a:extLst>
          </p:cNvPr>
          <p:cNvSpPr txBox="1"/>
          <p:nvPr/>
        </p:nvSpPr>
        <p:spPr>
          <a:xfrm>
            <a:off x="4337759" y="1675049"/>
            <a:ext cx="14311188" cy="7859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400" b="1" dirty="0"/>
              <a:t>Peak Consumption per Meter</a:t>
            </a:r>
          </a:p>
          <a:p>
            <a:pPr>
              <a:lnSpc>
                <a:spcPct val="150000"/>
              </a:lnSpc>
            </a:pPr>
            <a:r>
              <a:rPr lang="en-IN" sz="3400" dirty="0"/>
              <a:t>Identify the peak energy reading for each MeterId from the SmartMeterReadings table, using window functions.</a:t>
            </a:r>
          </a:p>
          <a:p>
            <a:pPr>
              <a:lnSpc>
                <a:spcPct val="150000"/>
              </a:lnSpc>
            </a:pPr>
            <a:r>
              <a:rPr lang="en-IN" sz="3400" dirty="0"/>
              <a:t>       For each MeterId, find the reading with the highest EnergyConsumed.</a:t>
            </a:r>
          </a:p>
          <a:p>
            <a:pPr>
              <a:lnSpc>
                <a:spcPct val="150000"/>
              </a:lnSpc>
            </a:pPr>
            <a:r>
              <a:rPr lang="en-IN" sz="3400" dirty="0"/>
              <a:t> 	 Show: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400" dirty="0"/>
              <a:t>MeterId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400" dirty="0"/>
              <a:t>ReadingDateTime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400" dirty="0"/>
              <a:t>EnergyConsumed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400" b="1" dirty="0"/>
              <a:t>MeterRank</a:t>
            </a:r>
            <a:r>
              <a:rPr lang="en-IN" sz="3400" dirty="0"/>
              <a:t> (based on energy consumption per meter using ROW_NUMBER() or RANK())</a:t>
            </a:r>
          </a:p>
        </p:txBody>
      </p:sp>
    </p:spTree>
    <p:extLst>
      <p:ext uri="{BB962C8B-B14F-4D97-AF65-F5344CB8AC3E}">
        <p14:creationId xmlns:p14="http://schemas.microsoft.com/office/powerpoint/2010/main" val="25599168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AD65D-0AB6-2385-9204-2094E417A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31976CE-FA54-54E9-4961-22F609B1C100}"/>
              </a:ext>
            </a:extLst>
          </p:cNvPr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785E3B3-AB23-B36F-2455-C7E3942B312C}"/>
              </a:ext>
            </a:extLst>
          </p:cNvPr>
          <p:cNvSpPr txBox="1"/>
          <p:nvPr/>
        </p:nvSpPr>
        <p:spPr>
          <a:xfrm>
            <a:off x="11462747" y="533743"/>
            <a:ext cx="6368927" cy="228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9A87D2EB-E501-D1BD-3C95-7088202CA282}"/>
              </a:ext>
            </a:extLst>
          </p:cNvPr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F3F0EA4-9C8B-B160-2A2A-90927D28E22E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7945152-3621-99C7-AC0E-13A7AADF8A96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EACDDA5-F505-B85E-E272-505E54226097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1CD38BD-82D9-36A6-1A8D-11F807FBDE37}"/>
              </a:ext>
            </a:extLst>
          </p:cNvPr>
          <p:cNvGrpSpPr/>
          <p:nvPr/>
        </p:nvGrpSpPr>
        <p:grpSpPr>
          <a:xfrm>
            <a:off x="5885020" y="520357"/>
            <a:ext cx="2025393" cy="986011"/>
            <a:chOff x="0" y="114300"/>
            <a:chExt cx="2700524" cy="1314681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644974B-57A3-733F-6725-3BE09F441170}"/>
                </a:ext>
              </a:extLst>
            </p:cNvPr>
            <p:cNvSpPr txBox="1"/>
            <p:nvPr/>
          </p:nvSpPr>
          <p:spPr>
            <a:xfrm>
              <a:off x="0" y="114300"/>
              <a:ext cx="2700524" cy="411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80E2527-702C-1823-D8D8-C42C087E9A34}"/>
                </a:ext>
              </a:extLst>
            </p:cNvPr>
            <p:cNvSpPr txBox="1"/>
            <p:nvPr/>
          </p:nvSpPr>
          <p:spPr>
            <a:xfrm>
              <a:off x="0" y="676639"/>
              <a:ext cx="2700524" cy="75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8AC24D9B-AF63-D962-1234-7326AADFC2AF}"/>
              </a:ext>
            </a:extLst>
          </p:cNvPr>
          <p:cNvSpPr txBox="1"/>
          <p:nvPr/>
        </p:nvSpPr>
        <p:spPr>
          <a:xfrm>
            <a:off x="7118607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0351CED-B7AC-5D49-38D1-7FF729C15D63}"/>
              </a:ext>
            </a:extLst>
          </p:cNvPr>
          <p:cNvSpPr txBox="1"/>
          <p:nvPr/>
        </p:nvSpPr>
        <p:spPr>
          <a:xfrm>
            <a:off x="6897716" y="13070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EAD543F-2EEF-EB28-60C4-1EF54C9E9D6B}"/>
              </a:ext>
            </a:extLst>
          </p:cNvPr>
          <p:cNvSpPr txBox="1"/>
          <p:nvPr/>
        </p:nvSpPr>
        <p:spPr>
          <a:xfrm>
            <a:off x="8131304" y="912703"/>
            <a:ext cx="134751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4E4CAE4-4D55-070A-157E-36FF6265DBF1}"/>
              </a:ext>
            </a:extLst>
          </p:cNvPr>
          <p:cNvSpPr txBox="1"/>
          <p:nvPr/>
        </p:nvSpPr>
        <p:spPr>
          <a:xfrm>
            <a:off x="4337758" y="9127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3CED5A9-24B0-5209-1C5F-79877542D605}"/>
              </a:ext>
            </a:extLst>
          </p:cNvPr>
          <p:cNvSpPr txBox="1"/>
          <p:nvPr/>
        </p:nvSpPr>
        <p:spPr>
          <a:xfrm>
            <a:off x="4872323" y="-17471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9552B5D-9019-A53B-0171-88AB15B54B50}"/>
              </a:ext>
            </a:extLst>
          </p:cNvPr>
          <p:cNvSpPr txBox="1"/>
          <p:nvPr/>
        </p:nvSpPr>
        <p:spPr>
          <a:xfrm>
            <a:off x="3731819" y="421328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A9C499E-800F-1089-BC97-FC0970826E8F}"/>
              </a:ext>
            </a:extLst>
          </p:cNvPr>
          <p:cNvSpPr txBox="1"/>
          <p:nvPr/>
        </p:nvSpPr>
        <p:spPr>
          <a:xfrm>
            <a:off x="9218279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26E0E8F-2FC4-B917-D9F3-996857D9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04695" y="938813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26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F8F556-9E67-AFEE-5A9C-3AE08F16CBE3}"/>
              </a:ext>
            </a:extLst>
          </p:cNvPr>
          <p:cNvSpPr txBox="1"/>
          <p:nvPr/>
        </p:nvSpPr>
        <p:spPr>
          <a:xfrm>
            <a:off x="4822782" y="1675049"/>
            <a:ext cx="13008892" cy="8325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Output Format :</a:t>
            </a:r>
          </a:p>
          <a:p>
            <a:pPr>
              <a:lnSpc>
                <a:spcPct val="150000"/>
              </a:lnSpc>
            </a:pPr>
            <a:endParaRPr lang="en-IN" sz="3200" dirty="0"/>
          </a:p>
          <a:p>
            <a:pPr>
              <a:lnSpc>
                <a:spcPct val="150000"/>
              </a:lnSpc>
            </a:pPr>
            <a:endParaRPr lang="en-IN" sz="3200" dirty="0"/>
          </a:p>
          <a:p>
            <a:pPr>
              <a:lnSpc>
                <a:spcPct val="150000"/>
              </a:lnSpc>
            </a:pPr>
            <a:endParaRPr lang="en-IN" sz="3200" dirty="0"/>
          </a:p>
          <a:p>
            <a:pPr>
              <a:lnSpc>
                <a:spcPct val="150000"/>
              </a:lnSpc>
            </a:pPr>
            <a:endParaRPr lang="en-IN" sz="3200" dirty="0"/>
          </a:p>
          <a:p>
            <a:pPr>
              <a:lnSpc>
                <a:spcPct val="150000"/>
              </a:lnSpc>
            </a:pPr>
            <a:endParaRPr lang="en-IN" sz="3200" dirty="0"/>
          </a:p>
          <a:p>
            <a:pPr>
              <a:lnSpc>
                <a:spcPct val="150000"/>
              </a:lnSpc>
            </a:pPr>
            <a:endParaRPr lang="en-IN" sz="3200" dirty="0"/>
          </a:p>
          <a:p>
            <a:pPr>
              <a:lnSpc>
                <a:spcPct val="150000"/>
              </a:lnSpc>
            </a:pPr>
            <a:endParaRPr lang="en-IN" sz="3200" dirty="0"/>
          </a:p>
          <a:p>
            <a:pPr>
              <a:lnSpc>
                <a:spcPct val="150000"/>
              </a:lnSpc>
            </a:pPr>
            <a:endParaRPr lang="en-IN" sz="3200" dirty="0"/>
          </a:p>
          <a:p>
            <a:pPr>
              <a:lnSpc>
                <a:spcPct val="150000"/>
              </a:lnSpc>
            </a:pPr>
            <a:endParaRPr lang="en-IN" sz="3200" dirty="0"/>
          </a:p>
          <a:p>
            <a:pPr>
              <a:lnSpc>
                <a:spcPct val="150000"/>
              </a:lnSpc>
            </a:pPr>
            <a:endParaRPr lang="en-IN" sz="3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D092AC4-F183-6E99-1665-70DE69D5B2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3726" y="2787420"/>
            <a:ext cx="12922962" cy="696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5520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8650" y="2344203"/>
            <a:ext cx="1135274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Debrief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02335" y="4865952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Basic Joins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19151" y="4865952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</a:rPr>
              <a:t>Advanced Joins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19151" y="5923227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Window Functions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81763" y="6875727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Use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02335" y="5822547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Advanced SQL</a:t>
            </a:r>
          </a:p>
        </p:txBody>
      </p:sp>
      <p:sp>
        <p:nvSpPr>
          <p:cNvPr id="8" name="Freeform 8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06919" y="16468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7914284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7914284" y="92583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9AA338-7558-DCBF-9BD3-6A55D9D0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GB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564950" y="1264050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 dirty="0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8727" y="1548652"/>
            <a:ext cx="12495415" cy="26404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US" sz="3000" dirty="0">
                <a:latin typeface="Assistant Regular"/>
                <a:cs typeface="Assistant Regular"/>
                <a:hlinkClick r:id="rId4"/>
              </a:rPr>
              <a:t>https://www.w3schools.com/sql/sql_join.asp</a:t>
            </a:r>
            <a:endParaRPr lang="en-US" sz="3000" dirty="0">
              <a:latin typeface="Assistant Regular"/>
              <a:cs typeface="Assistant Regular"/>
            </a:endParaRPr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US" sz="3000">
                <a:latin typeface="Assistant Regular"/>
                <a:cs typeface="Assistant Regular"/>
                <a:hlinkClick r:id="rId5"/>
              </a:rPr>
              <a:t>https://learnsql.com/blog/sql-window-functions-explained/</a:t>
            </a:r>
            <a:endParaRPr lang="en-US" sz="3000">
              <a:latin typeface="Assistant Regular"/>
              <a:cs typeface="Assistant Regular"/>
            </a:endParaRPr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endParaRPr lang="en-US" sz="3000" dirty="0">
              <a:latin typeface="Assistant Regular"/>
              <a:cs typeface="Assistant Regular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GB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GB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D4AA6279-A4F7-6E37-1B6B-373107FE3476}"/>
              </a:ext>
            </a:extLst>
          </p:cNvPr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3187</TotalTime>
  <Words>1330</Words>
  <Application>Microsoft Office PowerPoint</Application>
  <PresentationFormat>Custom</PresentationFormat>
  <Paragraphs>407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Calibri</vt:lpstr>
      <vt:lpstr>Assistant Regular Bold</vt:lpstr>
      <vt:lpstr>Courier New</vt:lpstr>
      <vt:lpstr>Agrandir</vt:lpstr>
      <vt:lpstr>HK Modular</vt:lpstr>
      <vt:lpstr>Arial</vt:lpstr>
      <vt:lpstr>Assistant Regular</vt:lpstr>
      <vt:lpstr>Heebo Black</vt:lpstr>
      <vt:lpstr>Wingdings</vt:lpstr>
      <vt:lpstr>Horizon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dc:creator>HP</dc:creator>
  <cp:lastModifiedBy>Sierra Learning</cp:lastModifiedBy>
  <cp:revision>70</cp:revision>
  <dcterms:created xsi:type="dcterms:W3CDTF">2006-08-16T00:00:00Z</dcterms:created>
  <dcterms:modified xsi:type="dcterms:W3CDTF">2025-09-10T06:05:28Z</dcterms:modified>
  <dc:identifier>DAGpXxrSFgM</dc:identifier>
</cp:coreProperties>
</file>