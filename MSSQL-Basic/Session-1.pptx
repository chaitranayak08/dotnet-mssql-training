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3"/>
  </p:notesMasterIdLst>
  <p:sldIdLst>
    <p:sldId id="316" r:id="rId2"/>
    <p:sldId id="256" r:id="rId3"/>
    <p:sldId id="257" r:id="rId4"/>
    <p:sldId id="258" r:id="rId5"/>
    <p:sldId id="275" r:id="rId6"/>
    <p:sldId id="259" r:id="rId7"/>
    <p:sldId id="322" r:id="rId8"/>
    <p:sldId id="276" r:id="rId9"/>
    <p:sldId id="271" r:id="rId10"/>
    <p:sldId id="323" r:id="rId11"/>
    <p:sldId id="324" r:id="rId12"/>
    <p:sldId id="277" r:id="rId13"/>
    <p:sldId id="278" r:id="rId14"/>
    <p:sldId id="283" r:id="rId15"/>
    <p:sldId id="327" r:id="rId16"/>
    <p:sldId id="325" r:id="rId17"/>
    <p:sldId id="284" r:id="rId18"/>
    <p:sldId id="326" r:id="rId19"/>
    <p:sldId id="272" r:id="rId20"/>
    <p:sldId id="329" r:id="rId21"/>
    <p:sldId id="328" r:id="rId22"/>
    <p:sldId id="330" r:id="rId23"/>
    <p:sldId id="274" r:id="rId24"/>
    <p:sldId id="265" r:id="rId25"/>
    <p:sldId id="317" r:id="rId26"/>
    <p:sldId id="280" r:id="rId27"/>
    <p:sldId id="266" r:id="rId28"/>
    <p:sldId id="318" r:id="rId29"/>
    <p:sldId id="267" r:id="rId30"/>
    <p:sldId id="268" r:id="rId31"/>
    <p:sldId id="269" r:id="rId32"/>
  </p:sldIdLst>
  <p:sldSz cx="18288000" cy="10287000"/>
  <p:notesSz cx="6858000" cy="9144000"/>
  <p:embeddedFontLst>
    <p:embeddedFont>
      <p:font typeface="Agrandir" panose="020B0604020202020204" charset="0"/>
      <p:regular r:id="rId34"/>
    </p:embeddedFont>
    <p:embeddedFont>
      <p:font typeface="Assistant Regular" panose="020B0604020202020204" charset="-79"/>
      <p:regular r:id="rId35"/>
    </p:embeddedFont>
    <p:embeddedFont>
      <p:font typeface="Assistant Regular Bold" panose="020B0604020202020204" charset="-79"/>
      <p:regular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Heebo Black" pitchFamily="2" charset="-79"/>
      <p:regular r:id="rId41"/>
      <p:bold r:id="rId42"/>
    </p:embeddedFont>
    <p:embeddedFont>
      <p:font typeface="HK Modular" panose="020B0604020202020204" charset="0"/>
      <p:regular r:id="rId43"/>
    </p:embeddedFont>
    <p:embeddedFont>
      <p:font typeface="Horizon" panose="020B0604020202020204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110" y="76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92A72-8638-4D4B-9726-8597F959108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84891-4D1F-4B42-8C76-101C5631F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108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84891-4D1F-4B42-8C76-101C5631FCF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150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arn.microsoft.com/en-us/sql/sql-server/?view=sql-server-ver16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 dirty="0">
                  <a:ea typeface="+mn-lt"/>
                  <a:cs typeface="+mn-lt"/>
                  <a:sym typeface="Heebo Black"/>
                </a:rPr>
                <a:t>Foundational Concepts - I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2208994" y="8302454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Calibri"/>
                <a:ea typeface="Agrandir Bold"/>
                <a:cs typeface="Agrandir Bold"/>
                <a:sym typeface="Agrandir Bold"/>
              </a:rPr>
              <a:t>By :Mr. Shivam Supekar</a:t>
            </a:r>
            <a:endParaRPr lang="en-US" sz="3200" b="1" dirty="0"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</a:t>
            </a:fld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E1018EE-FD30-B31C-930A-89E29CBD7D15}"/>
              </a:ext>
            </a:extLst>
          </p:cNvPr>
          <p:cNvSpPr txBox="1"/>
          <p:nvPr/>
        </p:nvSpPr>
        <p:spPr>
          <a:xfrm>
            <a:off x="16432940" y="930421"/>
            <a:ext cx="1935631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4000" b="1" dirty="0">
                <a:latin typeface="Calibri"/>
                <a:ea typeface="Agrandir Bold"/>
                <a:cs typeface="Agrandir Bold"/>
              </a:rPr>
              <a:t>1 / 12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8DF34D-3C9B-EC26-467E-B4CA4EBF22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529" y="1900990"/>
            <a:ext cx="6612229" cy="16715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3992"/>
            <a:chOff x="0" y="0"/>
            <a:chExt cx="7398043" cy="12453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Introduction </a:t>
              </a:r>
              <a:endParaRPr lang="en-US" sz="2400" dirty="0"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933992"/>
            <a:chOff x="0" y="0"/>
            <a:chExt cx="7398043" cy="1245322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9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IN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Understanding SSMS</a:t>
              </a:r>
              <a:endParaRPr lang="en-US" dirty="0">
                <a:ea typeface="+mn-lt"/>
                <a:cs typeface="+mn-lt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936494"/>
            <a:chOff x="0" y="0"/>
            <a:chExt cx="7398043" cy="1248658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0" cy="9779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/>
              <a:r>
                <a:rPr lang="en-IN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SQL BASICS</a:t>
              </a:r>
              <a:endParaRPr lang="en-US" dirty="0">
                <a:sym typeface="Agrandir"/>
              </a:endParaRPr>
            </a:p>
            <a:p>
              <a:pPr>
                <a:lnSpc>
                  <a:spcPts val="2939"/>
                </a:lnSpc>
                <a:spcBef>
                  <a:spcPct val="0"/>
                </a:spcBef>
              </a:pPr>
              <a:endParaRPr lang="en-GB" sz="2400" dirty="0">
                <a:solidFill>
                  <a:srgbClr val="33123B"/>
                </a:solidFill>
                <a:latin typeface="Apto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75098" y="5656690"/>
            <a:ext cx="5547790" cy="1145932"/>
            <a:chOff x="0" y="0"/>
            <a:chExt cx="7397053" cy="1527908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09133" y="55967"/>
              <a:ext cx="5587920" cy="14719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CRUD, Query Optimization(Indexes, SQL profiler)</a:t>
              </a:r>
              <a:endParaRPr lang="en-US" dirty="0">
                <a:ea typeface="+mn-lt"/>
                <a:cs typeface="+mn-lt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7033333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Horizon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881343"/>
            <a:chOff x="0" y="0"/>
            <a:chExt cx="7398043" cy="1175123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Data Types, Tables, Keys</a:t>
              </a:r>
              <a:endParaRPr lang="en-US" dirty="0">
                <a:ea typeface="+mn-lt"/>
                <a:cs typeface="+mn-lt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7501" y="5656690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Agrandir"/>
                  <a:cs typeface="Agrandir"/>
                  <a:sym typeface="Agrandir"/>
                </a:rPr>
                <a:t>Aggregate Functions</a:t>
              </a:r>
              <a:endParaRPr lang="en-US" sz="2400" dirty="0">
                <a:solidFill>
                  <a:srgbClr val="33123B"/>
                </a:solidFill>
                <a:latin typeface="Calibri"/>
                <a:ea typeface="Agrandir"/>
                <a:cs typeface="Agrandir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7033333"/>
            <a:ext cx="5548532" cy="881343"/>
            <a:chOff x="0" y="0"/>
            <a:chExt cx="7398043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Horizon"/>
                </a:rPr>
                <a:t>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</a:t>
            </a:fld>
            <a:endParaRPr lang="en-GB" sz="2000">
              <a:ea typeface="Calibri"/>
              <a:cs typeface="Calibri"/>
            </a:endParaRPr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4774356" y="8255160"/>
            <a:ext cx="5548531" cy="881343"/>
            <a:chOff x="0" y="0"/>
            <a:chExt cx="7398043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Calibri"/>
                  <a:ea typeface="Calibri"/>
                  <a:cs typeface="Calibri"/>
                </a:rPr>
                <a:t>9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629664" y="2070403"/>
            <a:ext cx="15189868" cy="7386638"/>
            <a:chOff x="-1173092" y="-1234013"/>
            <a:chExt cx="19137894" cy="9848847"/>
          </a:xfrm>
        </p:grpSpPr>
        <p:sp>
          <p:nvSpPr>
            <p:cNvPr id="5" name="TextBox 5"/>
            <p:cNvSpPr txBox="1"/>
            <p:nvPr/>
          </p:nvSpPr>
          <p:spPr>
            <a:xfrm>
              <a:off x="-1173092" y="-1234013"/>
              <a:ext cx="19137894" cy="98488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r>
                <a:rPr lang="en-IN" sz="3000" b="1" dirty="0">
                  <a:ea typeface="+mn-lt"/>
                  <a:cs typeface="+mn-lt"/>
                  <a:sym typeface="Assistant Regular Bold"/>
                </a:rPr>
                <a:t>What is a DBMS ?</a:t>
              </a:r>
            </a:p>
            <a:p>
              <a:pPr marL="1371600" lvl="2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/>
                <a:t>A Database Management System (DBMS) is software that stores, organizes, and manages data efficiently.</a:t>
              </a:r>
            </a:p>
            <a:p>
              <a:pPr marL="1371600" lvl="2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IN" sz="3200" dirty="0"/>
                <a:t>It supports data retrieval, manipulation, and administration in a multi-user environment.</a:t>
              </a:r>
            </a:p>
            <a:p>
              <a:pPr marL="1371600" lvl="2" indent="-457200" algn="just">
                <a:lnSpc>
                  <a:spcPts val="3600"/>
                </a:lnSpc>
                <a:buFont typeface="Arial"/>
                <a:buChar char="•"/>
              </a:pPr>
              <a:endParaRPr lang="en-IN" sz="3200" dirty="0"/>
            </a:p>
            <a:p>
              <a:pPr marL="457200" indent="-4572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r>
                <a:rPr lang="en-IN" sz="3200" b="1" dirty="0">
                  <a:ea typeface="Calibri"/>
                  <a:cs typeface="Calibri"/>
                </a:rPr>
                <a:t>Why MSSQL?</a:t>
              </a:r>
            </a:p>
            <a:p>
              <a:pPr marL="1371600" lvl="2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/>
                <a:t>Microsoft SQL Server (MSSQL) is a popular relational DBMS used for storing and managing structured data</a:t>
              </a:r>
            </a:p>
            <a:p>
              <a:pPr marL="1371600" lvl="2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/>
                <a:t>It offers powerful tools like SQL Server Management Studio (SSMS) for database development, management, and administration</a:t>
              </a:r>
            </a:p>
            <a:p>
              <a:pPr marL="1371600" lvl="2" indent="-457200" algn="just">
                <a:lnSpc>
                  <a:spcPts val="3600"/>
                </a:lnSpc>
                <a:buFont typeface="Arial"/>
                <a:buChar char="•"/>
              </a:pPr>
              <a:endParaRPr lang="en-US" sz="3200" dirty="0"/>
            </a:p>
            <a:p>
              <a:pPr marL="457200" indent="-4572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r>
                <a:rPr lang="en-US" sz="3200" b="1" dirty="0">
                  <a:ea typeface="Calibri"/>
                  <a:cs typeface="Calibri"/>
                </a:rPr>
                <a:t>Key Features of MSSQL:</a:t>
              </a:r>
            </a:p>
            <a:p>
              <a:pPr marL="1371600" lvl="2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/>
                <a:t>Supports SQL for querying and managing data</a:t>
              </a:r>
            </a:p>
            <a:p>
              <a:pPr marL="1371600" lvl="2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/>
                <a:t>Provides security, backup, and recovery mechanisms</a:t>
              </a:r>
            </a:p>
            <a:p>
              <a:pPr marL="1371600" lvl="2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/>
                <a:t>Enables high performance and scalability</a:t>
              </a: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" y="-9525"/>
              <a:ext cx="15443232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629664" y="488281"/>
            <a:ext cx="1644115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Introduction to DBMS and MSSQL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4</a:t>
            </a:fld>
            <a:endParaRPr lang="en-GB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1010653" y="2237874"/>
            <a:ext cx="16003243" cy="6924973"/>
            <a:chOff x="-2278703" y="-2758013"/>
            <a:chExt cx="21337659" cy="336575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2278703" y="-2758013"/>
              <a:ext cx="21337659" cy="33657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GB" sz="4500" b="1" dirty="0">
                  <a:ea typeface="+mn-lt"/>
                  <a:cs typeface="+mn-lt"/>
                </a:rPr>
                <a:t>What is SSMS?</a:t>
              </a: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  <a:p>
              <a:pPr algn="just">
                <a:lnSpc>
                  <a:spcPts val="3600"/>
                </a:lnSpc>
              </a:pPr>
              <a:endParaRPr lang="en-GB" sz="3000" b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b="1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0" y="-9525"/>
              <a:ext cx="15443230" cy="2259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780674" y="375525"/>
            <a:ext cx="1580949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SQL Server Management Studio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5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4254B2-4226-52CF-17D9-B186AC51148F}"/>
              </a:ext>
            </a:extLst>
          </p:cNvPr>
          <p:cNvSpPr/>
          <p:nvPr/>
        </p:nvSpPr>
        <p:spPr>
          <a:xfrm>
            <a:off x="2262351" y="3344560"/>
            <a:ext cx="14230662" cy="623964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C3D0CB-56DC-7096-2EF7-C7D37801A6F4}"/>
              </a:ext>
            </a:extLst>
          </p:cNvPr>
          <p:cNvSpPr txBox="1"/>
          <p:nvPr/>
        </p:nvSpPr>
        <p:spPr>
          <a:xfrm>
            <a:off x="2515709" y="3847572"/>
            <a:ext cx="135099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SQL Server Management Studio (SSMS) is a graphical interface for managing Microsoft SQL Server.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It helps database developers and administrators interact with databases visually or through T-SQL.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6727539" y="78413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480354" y="334853"/>
            <a:ext cx="13131602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Data Types  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F7B5AE0-E946-4423-4F82-43967F24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C597A9B1-90A9-775B-5F0B-8D62A6479A8C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6</a:t>
            </a:fld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C543F-4B7A-8B9E-4499-D6AD781BB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945" y="1556097"/>
            <a:ext cx="15240000" cy="85725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6FA8CC-6E85-21CF-3942-A5AE2BF6AA81}"/>
              </a:ext>
            </a:extLst>
          </p:cNvPr>
          <p:cNvCxnSpPr>
            <a:cxnSpLocks/>
          </p:cNvCxnSpPr>
          <p:nvPr/>
        </p:nvCxnSpPr>
        <p:spPr>
          <a:xfrm>
            <a:off x="5700631" y="3573998"/>
            <a:ext cx="0" cy="20378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6153-5EE1-9807-3D86-5DCE2D43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A4A538C1-6472-6CD0-40E3-9BF0E726183E}"/>
              </a:ext>
            </a:extLst>
          </p:cNvPr>
          <p:cNvSpPr/>
          <p:nvPr/>
        </p:nvSpPr>
        <p:spPr>
          <a:xfrm>
            <a:off x="16727539" y="78413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C5A41E3-4714-6C22-50C7-F1DC28670BE3}"/>
              </a:ext>
            </a:extLst>
          </p:cNvPr>
          <p:cNvSpPr txBox="1"/>
          <p:nvPr/>
        </p:nvSpPr>
        <p:spPr>
          <a:xfrm>
            <a:off x="1480354" y="334853"/>
            <a:ext cx="13131602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Data Types  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09E1C79-A199-BFCE-10B3-0AD5906D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51316C1A-7E8D-C336-1075-3E73169D24CC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7</a:t>
            </a:fld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43FACE-310E-7B90-3073-188CDBDF08AB}"/>
              </a:ext>
            </a:extLst>
          </p:cNvPr>
          <p:cNvSpPr txBox="1"/>
          <p:nvPr/>
        </p:nvSpPr>
        <p:spPr>
          <a:xfrm>
            <a:off x="1480354" y="1604431"/>
            <a:ext cx="14286868" cy="7383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dirty="0"/>
              <a:t>Examples :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IN" sz="4000" b="1" dirty="0"/>
              <a:t>Int : </a:t>
            </a:r>
            <a:r>
              <a:rPr lang="en-IN" sz="4000" i="1" dirty="0"/>
              <a:t>INT = 25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IN" sz="4000" b="1" dirty="0"/>
              <a:t>Float:   </a:t>
            </a:r>
            <a:r>
              <a:rPr lang="en-IN" sz="4000" i="1" dirty="0"/>
              <a:t>FLOAT = 88.65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IN" sz="4000" b="1" dirty="0"/>
              <a:t>Char :  </a:t>
            </a:r>
            <a:r>
              <a:rPr lang="en-IN" sz="4000" i="1" dirty="0"/>
              <a:t>CHAR(5) = ‘AB’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IN" sz="4000" b="1" dirty="0"/>
              <a:t>Varchar :  </a:t>
            </a:r>
            <a:r>
              <a:rPr lang="en-IN" sz="4000" i="1" dirty="0"/>
              <a:t>VARCHAR(50) = ‘Shivam’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IN" sz="4000" b="1" dirty="0"/>
              <a:t>Date :   </a:t>
            </a:r>
            <a:r>
              <a:rPr lang="en-IN" sz="4000" i="1" dirty="0"/>
              <a:t>DATE = ‘2000-02-08’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IN" sz="4000" b="1" dirty="0"/>
              <a:t>DateTime :  </a:t>
            </a:r>
            <a:r>
              <a:rPr lang="en-IN" sz="4000" i="1" dirty="0"/>
              <a:t>DATETIME = GETDATE()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IN" sz="4000" b="1" dirty="0"/>
              <a:t>Time :</a:t>
            </a:r>
            <a:r>
              <a:rPr lang="en-IN" sz="4000" dirty="0"/>
              <a:t>	  </a:t>
            </a:r>
            <a:r>
              <a:rPr lang="en-IN" sz="4000" i="1" dirty="0"/>
              <a:t>TIME = '14:30:00’</a:t>
            </a:r>
          </a:p>
        </p:txBody>
      </p:sp>
    </p:spTree>
    <p:extLst>
      <p:ext uri="{BB962C8B-B14F-4D97-AF65-F5344CB8AC3E}">
        <p14:creationId xmlns:p14="http://schemas.microsoft.com/office/powerpoint/2010/main" val="1872451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4C999-B372-C793-9639-10FC9C84D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C02818AC-D14D-1BD7-A721-D134AE9B3CD7}"/>
              </a:ext>
            </a:extLst>
          </p:cNvPr>
          <p:cNvSpPr/>
          <p:nvPr/>
        </p:nvSpPr>
        <p:spPr>
          <a:xfrm>
            <a:off x="16727539" y="78413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69D19F-EDF7-CD8B-8061-D44ADA27D964}"/>
              </a:ext>
            </a:extLst>
          </p:cNvPr>
          <p:cNvSpPr txBox="1"/>
          <p:nvPr/>
        </p:nvSpPr>
        <p:spPr>
          <a:xfrm>
            <a:off x="842211" y="340244"/>
            <a:ext cx="13131602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Tables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CC8F046-11BF-B782-9CCC-196EE09C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F659B200-CBDE-DF6A-B9F1-D9619890F791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8</a:t>
            </a:fld>
            <a:endParaRPr lang="en-GB" sz="2000" dirty="0"/>
          </a:p>
        </p:txBody>
      </p:sp>
      <p:pic>
        <p:nvPicPr>
          <p:cNvPr id="4100" name="Picture 4" descr="What Is the SQL Create Table Clause Statement? (Part 7 of 8) - RealPars">
            <a:extLst>
              <a:ext uri="{FF2B5EF4-FFF2-40B4-BE49-F238E27FC236}">
                <a16:creationId xmlns:a16="http://schemas.microsoft.com/office/drawing/2014/main" id="{92EA7D66-A240-69EF-3B40-9554191531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8" r="9503" b="6682"/>
          <a:stretch>
            <a:fillRect/>
          </a:stretch>
        </p:blipFill>
        <p:spPr bwMode="auto">
          <a:xfrm>
            <a:off x="1708484" y="5143500"/>
            <a:ext cx="14510084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08DC9D-8952-F616-5DD6-FBA78690E5E0}"/>
              </a:ext>
            </a:extLst>
          </p:cNvPr>
          <p:cNvSpPr txBox="1"/>
          <p:nvPr/>
        </p:nvSpPr>
        <p:spPr>
          <a:xfrm>
            <a:off x="13499432" y="9555535"/>
            <a:ext cx="2719136" cy="365125"/>
          </a:xfrm>
          <a:prstGeom prst="rect">
            <a:avLst/>
          </a:prstGeom>
          <a:solidFill>
            <a:srgbClr val="E0E0E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449B6-2820-20A0-A35C-D86478BBD9BE}"/>
              </a:ext>
            </a:extLst>
          </p:cNvPr>
          <p:cNvSpPr txBox="1"/>
          <p:nvPr/>
        </p:nvSpPr>
        <p:spPr>
          <a:xfrm>
            <a:off x="842211" y="1738995"/>
            <a:ext cx="16796084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🗂️ What Is a Table?</a:t>
            </a:r>
          </a:p>
          <a:p>
            <a:r>
              <a:rPr lang="en-US" sz="3500" dirty="0"/>
              <a:t>A table is a structured set of data organized into rows and columns.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500" dirty="0"/>
              <a:t>Each row represents a single record.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500" dirty="0"/>
              <a:t>Each column represents a field with a specific data type (e.g., name, age, email).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500" dirty="0"/>
              <a:t>All data in SQL is stored in tables — they are the foundation of any relational database.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866740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626A-12BA-747A-C8DB-3AF04B6E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3BC89B-198E-95E7-CAB8-49D9950B4399}"/>
              </a:ext>
            </a:extLst>
          </p:cNvPr>
          <p:cNvSpPr/>
          <p:nvPr/>
        </p:nvSpPr>
        <p:spPr>
          <a:xfrm>
            <a:off x="-832918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856D57A-79A1-557B-10E9-6C76D7352A37}"/>
              </a:ext>
            </a:extLst>
          </p:cNvPr>
          <p:cNvSpPr/>
          <p:nvPr/>
        </p:nvSpPr>
        <p:spPr>
          <a:xfrm>
            <a:off x="-833271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BC1F9EA-ABAE-A6CC-DD7F-74AFBC992DF6}"/>
              </a:ext>
            </a:extLst>
          </p:cNvPr>
          <p:cNvGrpSpPr/>
          <p:nvPr/>
        </p:nvGrpSpPr>
        <p:grpSpPr>
          <a:xfrm>
            <a:off x="2262351" y="2554911"/>
            <a:ext cx="14491159" cy="2547398"/>
            <a:chOff x="-3338811" y="-2772172"/>
            <a:chExt cx="21833974" cy="337933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11B476D-250C-9356-4E61-619F8DF47597}"/>
                </a:ext>
              </a:extLst>
            </p:cNvPr>
            <p:cNvSpPr txBox="1"/>
            <p:nvPr/>
          </p:nvSpPr>
          <p:spPr>
            <a:xfrm>
              <a:off x="-3338811" y="-2772172"/>
              <a:ext cx="21833974" cy="18373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A389BB0-32A8-3A60-5E5E-8A96912EF262}"/>
                </a:ext>
              </a:extLst>
            </p:cNvPr>
            <p:cNvSpPr txBox="1"/>
            <p:nvPr/>
          </p:nvSpPr>
          <p:spPr>
            <a:xfrm>
              <a:off x="0" y="-9525"/>
              <a:ext cx="15443230" cy="616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B83700D-0BD2-3090-4526-1A3E4EAC98A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6C91306-3429-7E07-EBEF-1F988C9EFA3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B9693A-628F-8041-7BC9-5F1E902449D1}"/>
              </a:ext>
            </a:extLst>
          </p:cNvPr>
          <p:cNvSpPr txBox="1"/>
          <p:nvPr/>
        </p:nvSpPr>
        <p:spPr>
          <a:xfrm>
            <a:off x="2557109" y="301778"/>
            <a:ext cx="1350182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SQL Basics</a:t>
            </a:r>
            <a:endParaRPr lang="en-US" sz="9000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0FBD77A-4FC9-AF33-24F3-5E5B90BD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9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0D165-C0C4-61EA-989B-99B389BAA62B}"/>
              </a:ext>
            </a:extLst>
          </p:cNvPr>
          <p:cNvSpPr/>
          <p:nvPr/>
        </p:nvSpPr>
        <p:spPr>
          <a:xfrm>
            <a:off x="2852220" y="8477910"/>
            <a:ext cx="12878671" cy="1565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026" name="Picture 2" descr="SQL Commands: DDL, DML, DCL, &amp; TCL | K21Academy">
            <a:extLst>
              <a:ext uri="{FF2B5EF4-FFF2-40B4-BE49-F238E27FC236}">
                <a16:creationId xmlns:a16="http://schemas.microsoft.com/office/drawing/2014/main" id="{3C734886-8600-1EF2-BD00-085019BEF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109" y="1717945"/>
            <a:ext cx="13173782" cy="925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379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ED0D01-315C-351E-5EB7-E6BEF600E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AA0A72A-AD98-7799-6316-3FD0339CE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278557"/>
              </p:ext>
            </p:extLst>
          </p:nvPr>
        </p:nvGraphicFramePr>
        <p:xfrm>
          <a:off x="0" y="1532238"/>
          <a:ext cx="18288000" cy="808380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68778">
                  <a:extLst>
                    <a:ext uri="{9D8B030D-6E8A-4147-A177-3AD203B41FA5}">
                      <a16:colId xmlns:a16="http://schemas.microsoft.com/office/drawing/2014/main" val="631637567"/>
                    </a:ext>
                  </a:extLst>
                </a:gridCol>
                <a:gridCol w="13019222">
                  <a:extLst>
                    <a:ext uri="{9D8B030D-6E8A-4147-A177-3AD203B41FA5}">
                      <a16:colId xmlns:a16="http://schemas.microsoft.com/office/drawing/2014/main" val="861430616"/>
                    </a:ext>
                  </a:extLst>
                </a:gridCol>
              </a:tblGrid>
              <a:tr h="1041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0" b="1" dirty="0"/>
                        <a:t>Command</a:t>
                      </a:r>
                      <a:endParaRPr lang="en-IN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0" b="1" dirty="0"/>
                        <a:t>Syntax Example</a:t>
                      </a:r>
                      <a:endParaRPr lang="en-IN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363719"/>
                  </a:ext>
                </a:extLst>
              </a:tr>
              <a:tr h="2192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200" b="1" dirty="0"/>
                        <a:t>SELECT</a:t>
                      </a:r>
                      <a:endParaRPr lang="en-IN" sz="4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4200" dirty="0"/>
                        <a:t>SELECT column1, column2 FROM table_name WHERE condition;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375583"/>
                  </a:ext>
                </a:extLst>
              </a:tr>
              <a:tr h="2192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200" b="1" dirty="0"/>
                        <a:t>INSERT</a:t>
                      </a:r>
                      <a:endParaRPr lang="en-IN" sz="4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4200" dirty="0"/>
                        <a:t>INSERT INTO table_name (col1, col2) VALUES (val1, val2);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140930"/>
                  </a:ext>
                </a:extLst>
              </a:tr>
              <a:tr h="1521100">
                <a:tc>
                  <a:txBody>
                    <a:bodyPr/>
                    <a:lstStyle/>
                    <a:p>
                      <a:r>
                        <a:rPr lang="en-IN" sz="4200" b="1" dirty="0"/>
                        <a:t>UPDATE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4200" dirty="0"/>
                        <a:t>UPDATE table_name SET col1 = val1 WHERE condition;</a:t>
                      </a:r>
                      <a:endParaRPr lang="en-IN" sz="4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612763"/>
                  </a:ext>
                </a:extLst>
              </a:tr>
              <a:tr h="1137060">
                <a:tc>
                  <a:txBody>
                    <a:bodyPr/>
                    <a:lstStyle/>
                    <a:p>
                      <a:r>
                        <a:rPr lang="en-IN" sz="4200" b="1" dirty="0"/>
                        <a:t>DELETE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4200" dirty="0"/>
                        <a:t>DELETE FROM table_name WHERE condition;</a:t>
                      </a:r>
                      <a:endParaRPr lang="en-IN" sz="4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78645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46F1112-A541-D7C4-736C-F4F1F47468E8}"/>
              </a:ext>
            </a:extLst>
          </p:cNvPr>
          <p:cNvSpPr txBox="1"/>
          <p:nvPr/>
        </p:nvSpPr>
        <p:spPr>
          <a:xfrm>
            <a:off x="74140" y="208799"/>
            <a:ext cx="17225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rgbClr val="7030A0"/>
                </a:solidFill>
              </a:rPr>
              <a:t>DML(Data Manipulation Language)</a:t>
            </a:r>
          </a:p>
        </p:txBody>
      </p:sp>
    </p:spTree>
    <p:extLst>
      <p:ext uri="{BB962C8B-B14F-4D97-AF65-F5344CB8AC3E}">
        <p14:creationId xmlns:p14="http://schemas.microsoft.com/office/powerpoint/2010/main" val="157739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096E-BADA-37A6-1B73-5301180A1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E300CA-ADCC-A88B-51BF-445ED4A3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96C4AAD-173C-8759-8967-775AB2D2A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973465"/>
              </p:ext>
            </p:extLst>
          </p:nvPr>
        </p:nvGraphicFramePr>
        <p:xfrm>
          <a:off x="0" y="1532238"/>
          <a:ext cx="18288000" cy="818494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68778">
                  <a:extLst>
                    <a:ext uri="{9D8B030D-6E8A-4147-A177-3AD203B41FA5}">
                      <a16:colId xmlns:a16="http://schemas.microsoft.com/office/drawing/2014/main" val="631637567"/>
                    </a:ext>
                  </a:extLst>
                </a:gridCol>
                <a:gridCol w="13019222">
                  <a:extLst>
                    <a:ext uri="{9D8B030D-6E8A-4147-A177-3AD203B41FA5}">
                      <a16:colId xmlns:a16="http://schemas.microsoft.com/office/drawing/2014/main" val="861430616"/>
                    </a:ext>
                  </a:extLst>
                </a:gridCol>
              </a:tblGrid>
              <a:tr h="1041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0" b="1" dirty="0"/>
                        <a:t>Command</a:t>
                      </a:r>
                      <a:endParaRPr lang="en-IN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0" b="1" dirty="0"/>
                        <a:t>Syntax Example</a:t>
                      </a:r>
                      <a:endParaRPr lang="en-IN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363719"/>
                  </a:ext>
                </a:extLst>
              </a:tr>
              <a:tr h="2192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200" b="1" dirty="0"/>
                        <a:t>CREATE</a:t>
                      </a:r>
                      <a:endParaRPr lang="en-IN" sz="4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4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TABLE table_name (col1 datatype, col2 datatype);</a:t>
                      </a:r>
                      <a:endParaRPr lang="en-US" sz="4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375583"/>
                  </a:ext>
                </a:extLst>
              </a:tr>
              <a:tr h="2192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200" b="1" dirty="0"/>
                        <a:t>ALTER</a:t>
                      </a:r>
                      <a:endParaRPr lang="en-IN" sz="4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4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 TABLE table_name ADD </a:t>
                      </a:r>
                      <a:r>
                        <a:rPr lang="en-US" sz="4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4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datatype;</a:t>
                      </a:r>
                      <a:endParaRPr lang="en-US" sz="4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140930"/>
                  </a:ext>
                </a:extLst>
              </a:tr>
              <a:tr h="1622238">
                <a:tc>
                  <a:txBody>
                    <a:bodyPr/>
                    <a:lstStyle/>
                    <a:p>
                      <a:r>
                        <a:rPr lang="en-IN" sz="4200" b="1" dirty="0"/>
                        <a:t>DROP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4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 TABLE table_name;</a:t>
                      </a:r>
                      <a:endParaRPr lang="en-IN" sz="4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612763"/>
                  </a:ext>
                </a:extLst>
              </a:tr>
              <a:tr h="1137060">
                <a:tc>
                  <a:txBody>
                    <a:bodyPr/>
                    <a:lstStyle/>
                    <a:p>
                      <a:r>
                        <a:rPr lang="en-IN" sz="4200" b="1" dirty="0"/>
                        <a:t>TRUNCATE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4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TRUNCATE TABLE table_name;</a:t>
                      </a:r>
                      <a:endParaRPr lang="en-IN" sz="4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78645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8C3844-352B-E76C-DF48-82FBBE2CC36B}"/>
              </a:ext>
            </a:extLst>
          </p:cNvPr>
          <p:cNvSpPr txBox="1"/>
          <p:nvPr/>
        </p:nvSpPr>
        <p:spPr>
          <a:xfrm>
            <a:off x="74140" y="208799"/>
            <a:ext cx="17225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rgbClr val="7030A0"/>
                </a:solidFill>
              </a:rPr>
              <a:t>DDL(Data Definition Language)</a:t>
            </a:r>
          </a:p>
        </p:txBody>
      </p:sp>
    </p:spTree>
    <p:extLst>
      <p:ext uri="{BB962C8B-B14F-4D97-AF65-F5344CB8AC3E}">
        <p14:creationId xmlns:p14="http://schemas.microsoft.com/office/powerpoint/2010/main" val="3959505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20FEF-176C-60B0-3DBD-2F66CD7E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ACC10752-301B-ABA9-D591-A8C045BF9D93}"/>
              </a:ext>
            </a:extLst>
          </p:cNvPr>
          <p:cNvSpPr/>
          <p:nvPr/>
        </p:nvSpPr>
        <p:spPr>
          <a:xfrm>
            <a:off x="16727539" y="78413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3C842EF-6A17-6018-54D2-C9D0B1217E37}"/>
              </a:ext>
            </a:extLst>
          </p:cNvPr>
          <p:cNvSpPr txBox="1"/>
          <p:nvPr/>
        </p:nvSpPr>
        <p:spPr>
          <a:xfrm>
            <a:off x="1480354" y="334853"/>
            <a:ext cx="13131602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Keys  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37FDA1A-63C7-405B-412F-528B90DE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A5C5096A-87CB-15CA-4252-469F090A079B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12</a:t>
            </a:fld>
            <a:endParaRPr lang="en-GB" sz="2000" dirty="0"/>
          </a:p>
        </p:txBody>
      </p:sp>
      <p:pic>
        <p:nvPicPr>
          <p:cNvPr id="5122" name="Picture 2" descr="SQL Keys | Learn 7 Most Useful Types of Keys in SQL">
            <a:extLst>
              <a:ext uri="{FF2B5EF4-FFF2-40B4-BE49-F238E27FC236}">
                <a16:creationId xmlns:a16="http://schemas.microsoft.com/office/drawing/2014/main" id="{6A0E4B59-9A0D-A807-3A33-58DB4F1A6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737" y="1604431"/>
            <a:ext cx="14678526" cy="813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E58B16-F4C0-CFFC-F97B-F4600E678427}"/>
              </a:ext>
            </a:extLst>
          </p:cNvPr>
          <p:cNvSpPr txBox="1"/>
          <p:nvPr/>
        </p:nvSpPr>
        <p:spPr>
          <a:xfrm>
            <a:off x="12873789" y="9216189"/>
            <a:ext cx="3416969" cy="55339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652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B26CB-248D-4338-3599-4C9047E1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7DC23530-046E-9F63-3A20-051919038FF6}"/>
              </a:ext>
            </a:extLst>
          </p:cNvPr>
          <p:cNvSpPr/>
          <p:nvPr/>
        </p:nvSpPr>
        <p:spPr>
          <a:xfrm>
            <a:off x="16727539" y="78413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7C2EAFE-9C80-83E6-9E83-66D913A0A3B3}"/>
              </a:ext>
            </a:extLst>
          </p:cNvPr>
          <p:cNvSpPr txBox="1"/>
          <p:nvPr/>
        </p:nvSpPr>
        <p:spPr>
          <a:xfrm>
            <a:off x="142548" y="0"/>
            <a:ext cx="18145451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Types of Keys  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7702AF1-99DE-046E-BC31-BA079F28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D834285F-ED88-3CEC-2EB6-6F8DC885F10E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13</a:t>
            </a:fld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32C08A-8F0D-3F54-660E-6E6894D9A864}"/>
              </a:ext>
            </a:extLst>
          </p:cNvPr>
          <p:cNvSpPr txBox="1"/>
          <p:nvPr/>
        </p:nvSpPr>
        <p:spPr>
          <a:xfrm>
            <a:off x="12873789" y="9216189"/>
            <a:ext cx="3416969" cy="55339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57ADA8-101C-9265-5924-0640EEDCF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991603"/>
              </p:ext>
            </p:extLst>
          </p:nvPr>
        </p:nvGraphicFramePr>
        <p:xfrm>
          <a:off x="142549" y="1241368"/>
          <a:ext cx="18016700" cy="891821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39114">
                  <a:extLst>
                    <a:ext uri="{9D8B030D-6E8A-4147-A177-3AD203B41FA5}">
                      <a16:colId xmlns:a16="http://schemas.microsoft.com/office/drawing/2014/main" val="232501817"/>
                    </a:ext>
                  </a:extLst>
                </a:gridCol>
                <a:gridCol w="14477586">
                  <a:extLst>
                    <a:ext uri="{9D8B030D-6E8A-4147-A177-3AD203B41FA5}">
                      <a16:colId xmlns:a16="http://schemas.microsoft.com/office/drawing/2014/main" val="4249672425"/>
                    </a:ext>
                  </a:extLst>
                </a:gridCol>
              </a:tblGrid>
              <a:tr h="890408">
                <a:tc>
                  <a:txBody>
                    <a:bodyPr/>
                    <a:lstStyle/>
                    <a:p>
                      <a:pPr algn="ctr"/>
                      <a:r>
                        <a:rPr lang="en-IN" sz="5000" dirty="0">
                          <a:solidFill>
                            <a:schemeClr val="bg1"/>
                          </a:solidFill>
                        </a:rPr>
                        <a:t>Keys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5000" dirty="0">
                          <a:solidFill>
                            <a:schemeClr val="bg1"/>
                          </a:solidFill>
                        </a:rPr>
                        <a:t>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046325"/>
                  </a:ext>
                </a:extLst>
              </a:tr>
              <a:tr h="1435988">
                <a:tc>
                  <a:txBody>
                    <a:bodyPr/>
                    <a:lstStyle/>
                    <a:p>
                      <a:r>
                        <a:rPr lang="en-IN" sz="3200" dirty="0"/>
                        <a:t>🔑 </a:t>
                      </a:r>
                      <a:r>
                        <a:rPr lang="en-IN" sz="3200" b="1" dirty="0"/>
                        <a:t> Primary Key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A column (or combination of columns) that uniquely identifies each row in a table.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Cannot contain NULL values.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Only one primary key per table.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921772"/>
                  </a:ext>
                </a:extLst>
              </a:tr>
              <a:tr h="1457461">
                <a:tc>
                  <a:txBody>
                    <a:bodyPr/>
                    <a:lstStyle/>
                    <a:p>
                      <a:r>
                        <a:rPr lang="en-IN" sz="3200" dirty="0"/>
                        <a:t>🔑</a:t>
                      </a:r>
                      <a:r>
                        <a:rPr lang="en-IN" sz="3200" b="1" dirty="0"/>
                        <a:t> Foreign Key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A column that references the primary key of another table.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Enforces referential integrity between tables.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Can contain duplicates and NULL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106820"/>
                  </a:ext>
                </a:extLst>
              </a:tr>
              <a:tr h="1128825">
                <a:tc>
                  <a:txBody>
                    <a:bodyPr/>
                    <a:lstStyle/>
                    <a:p>
                      <a:r>
                        <a:rPr lang="en-IN" sz="3200" dirty="0"/>
                        <a:t>🔑</a:t>
                      </a:r>
                      <a:r>
                        <a:rPr lang="en-IN" sz="3200" b="1" dirty="0"/>
                        <a:t> Composite Key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A combination of two or more columns used together to uniquely identify a row.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All columns in the composite key together act as the 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75113"/>
                  </a:ext>
                </a:extLst>
              </a:tr>
              <a:tr h="1002005">
                <a:tc>
                  <a:txBody>
                    <a:bodyPr/>
                    <a:lstStyle/>
                    <a:p>
                      <a:r>
                        <a:rPr lang="en-IN" sz="3200" dirty="0"/>
                        <a:t>🔑 </a:t>
                      </a:r>
                      <a:r>
                        <a:rPr lang="en-IN" sz="3200" b="1" dirty="0"/>
                        <a:t>Unique Key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Ensures all values in the column are unique across the table.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Unlike primary key, it can accept one NULL (in SQL Server</a:t>
                      </a:r>
                      <a:r>
                        <a:rPr lang="en-IN" sz="2800" b="0" dirty="0"/>
                        <a:t>)</a:t>
                      </a:r>
                      <a:endParaRPr lang="en-US" sz="2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267477"/>
                  </a:ext>
                </a:extLst>
              </a:tr>
              <a:tr h="10566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🔑</a:t>
                      </a:r>
                      <a:r>
                        <a:rPr lang="en-IN" sz="3200" b="1" dirty="0"/>
                        <a:t> Candidate Key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A column (or set of columns) that can uniquely identify a row.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Every table can have multiple candidate keys, but only one becomes the primary key.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16095"/>
                  </a:ext>
                </a:extLst>
              </a:tr>
              <a:tr h="1002005">
                <a:tc>
                  <a:txBody>
                    <a:bodyPr/>
                    <a:lstStyle/>
                    <a:p>
                      <a:r>
                        <a:rPr lang="en-IN" sz="3200" b="1" dirty="0"/>
                        <a:t>🔑 Alternate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A candidate key that was not chosen as the primary key.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Still uniquely identifies rows, but not used as the main identifier.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997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b="1" dirty="0"/>
                        <a:t>🔑 Super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A set of one or more attributes that uniquely identifies a record in a table.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/>
                        <a:t>Includes all candidate keys plus any extra attributes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690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268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5B62-6363-1FC8-B68E-0319E1AE4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1FB6B3B0-5799-20F7-F516-76F577133A29}"/>
              </a:ext>
            </a:extLst>
          </p:cNvPr>
          <p:cNvSpPr/>
          <p:nvPr/>
        </p:nvSpPr>
        <p:spPr>
          <a:xfrm>
            <a:off x="16727539" y="78413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9E961FA-2635-2C5C-4C19-2F96AA012289}"/>
              </a:ext>
            </a:extLst>
          </p:cNvPr>
          <p:cNvSpPr txBox="1"/>
          <p:nvPr/>
        </p:nvSpPr>
        <p:spPr>
          <a:xfrm>
            <a:off x="599748" y="466295"/>
            <a:ext cx="18145451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Commonly Used Keys  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9787C92-7BA6-3C61-3FD7-9DEC5102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7DC1868F-DF77-F105-7746-FB25A2B8800F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14</a:t>
            </a:fld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77F31-B14B-C2A8-508F-76FEB1DC830E}"/>
              </a:ext>
            </a:extLst>
          </p:cNvPr>
          <p:cNvSpPr txBox="1"/>
          <p:nvPr/>
        </p:nvSpPr>
        <p:spPr>
          <a:xfrm>
            <a:off x="12873789" y="9216189"/>
            <a:ext cx="3416969" cy="55339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B18090-BBDC-4E69-5F1F-D1C9969F8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580627"/>
              </p:ext>
            </p:extLst>
          </p:nvPr>
        </p:nvGraphicFramePr>
        <p:xfrm>
          <a:off x="860257" y="2954332"/>
          <a:ext cx="16567485" cy="48869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16760">
                  <a:extLst>
                    <a:ext uri="{9D8B030D-6E8A-4147-A177-3AD203B41FA5}">
                      <a16:colId xmlns:a16="http://schemas.microsoft.com/office/drawing/2014/main" val="1511095874"/>
                    </a:ext>
                  </a:extLst>
                </a:gridCol>
                <a:gridCol w="12350725">
                  <a:extLst>
                    <a:ext uri="{9D8B030D-6E8A-4147-A177-3AD203B41FA5}">
                      <a16:colId xmlns:a16="http://schemas.microsoft.com/office/drawing/2014/main" val="2379806286"/>
                    </a:ext>
                  </a:extLst>
                </a:gridCol>
              </a:tblGrid>
              <a:tr h="11150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4000" dirty="0">
                          <a:effectLst/>
                        </a:rPr>
                        <a:t>Key Type</a:t>
                      </a:r>
                      <a:endParaRPr lang="en-IN" sz="4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4000">
                          <a:effectLst/>
                        </a:rPr>
                        <a:t>Description</a:t>
                      </a:r>
                      <a:endParaRPr lang="en-IN" sz="4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07193480"/>
                  </a:ext>
                </a:extLst>
              </a:tr>
              <a:tr h="11150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4000">
                          <a:effectLst/>
                        </a:rPr>
                        <a:t>Primary Key</a:t>
                      </a:r>
                      <a:endParaRPr lang="en-IN" sz="4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4000" dirty="0">
                          <a:effectLst/>
                        </a:rPr>
                        <a:t>Uniquely identifies each record in a table</a:t>
                      </a:r>
                      <a:endParaRPr lang="en-IN" sz="4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6935642"/>
                  </a:ext>
                </a:extLst>
              </a:tr>
              <a:tr h="11150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4000">
                          <a:effectLst/>
                        </a:rPr>
                        <a:t>Foreign Key</a:t>
                      </a:r>
                      <a:endParaRPr lang="en-IN" sz="4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4000" dirty="0">
                          <a:effectLst/>
                        </a:rPr>
                        <a:t>Establishes a link between two tables</a:t>
                      </a:r>
                      <a:endParaRPr lang="en-IN" sz="4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45014076"/>
                  </a:ext>
                </a:extLst>
              </a:tr>
              <a:tr h="15418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4000" dirty="0">
                          <a:effectLst/>
                        </a:rPr>
                        <a:t>Unique Key</a:t>
                      </a:r>
                      <a:endParaRPr lang="en-IN" sz="4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4000" dirty="0"/>
                        <a:t>Ensures all column values are distinct, allowing one NULL.</a:t>
                      </a:r>
                      <a:endParaRPr lang="en-IN" sz="4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93435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920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6558A-C60A-10C1-E98D-3406C001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178368A2-0273-C1EE-64B6-823B207726B9}"/>
              </a:ext>
            </a:extLst>
          </p:cNvPr>
          <p:cNvSpPr/>
          <p:nvPr/>
        </p:nvSpPr>
        <p:spPr>
          <a:xfrm>
            <a:off x="16727539" y="78413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A114962-4A65-2E6B-11ED-2354C4B80F3D}"/>
              </a:ext>
            </a:extLst>
          </p:cNvPr>
          <p:cNvSpPr txBox="1"/>
          <p:nvPr/>
        </p:nvSpPr>
        <p:spPr>
          <a:xfrm>
            <a:off x="599748" y="466295"/>
            <a:ext cx="18145451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Commonly Used Keys  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0FE2E48-2D76-DD4D-5019-1C2CFEE6E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5D9BB353-3081-E958-32B1-F269C6331652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15</a:t>
            </a:fld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C4BD3B-0CD0-444F-C0FE-ADB6CEE1442D}"/>
              </a:ext>
            </a:extLst>
          </p:cNvPr>
          <p:cNvSpPr txBox="1"/>
          <p:nvPr/>
        </p:nvSpPr>
        <p:spPr>
          <a:xfrm>
            <a:off x="12873789" y="9216189"/>
            <a:ext cx="3416969" cy="55339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A28D27-CF34-D7D0-DE42-E6343FA14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602479"/>
              </p:ext>
            </p:extLst>
          </p:nvPr>
        </p:nvGraphicFramePr>
        <p:xfrm>
          <a:off x="599748" y="2742552"/>
          <a:ext cx="17276772" cy="647363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086981">
                  <a:extLst>
                    <a:ext uri="{9D8B030D-6E8A-4147-A177-3AD203B41FA5}">
                      <a16:colId xmlns:a16="http://schemas.microsoft.com/office/drawing/2014/main" val="3186966220"/>
                    </a:ext>
                  </a:extLst>
                </a:gridCol>
                <a:gridCol w="7191461">
                  <a:extLst>
                    <a:ext uri="{9D8B030D-6E8A-4147-A177-3AD203B41FA5}">
                      <a16:colId xmlns:a16="http://schemas.microsoft.com/office/drawing/2014/main" val="624335010"/>
                    </a:ext>
                  </a:extLst>
                </a:gridCol>
                <a:gridCol w="4998330">
                  <a:extLst>
                    <a:ext uri="{9D8B030D-6E8A-4147-A177-3AD203B41FA5}">
                      <a16:colId xmlns:a16="http://schemas.microsoft.com/office/drawing/2014/main" val="1973735487"/>
                    </a:ext>
                  </a:extLst>
                </a:gridCol>
              </a:tblGrid>
              <a:tr h="1124635">
                <a:tc>
                  <a:txBody>
                    <a:bodyPr/>
                    <a:lstStyle/>
                    <a:p>
                      <a:r>
                        <a:rPr lang="en-IN" sz="3000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/>
                        <a:t>Foreign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/>
                        <a:t>Unique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306167"/>
                  </a:ext>
                </a:extLst>
              </a:tr>
              <a:tr h="5349002">
                <a:tc>
                  <a:txBody>
                    <a:bodyPr/>
                    <a:lstStyle/>
                    <a:p>
                      <a:endParaRPr lang="en-IN" sz="3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3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3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07925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FFC7D7A-2291-CF5C-FC9E-801B259C1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79" y="4338899"/>
            <a:ext cx="4985934" cy="43250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956530-AADC-594B-F6D9-CFF06428E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372" y="4454469"/>
            <a:ext cx="7035462" cy="42094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C9B2C6-91FE-3815-570E-FB53F36183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1993" y="4522955"/>
            <a:ext cx="4954527" cy="413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62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70920-8924-E208-CAB5-513E389C6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2863280B-36EE-DC23-C72F-2D3A93C9CB42}"/>
              </a:ext>
            </a:extLst>
          </p:cNvPr>
          <p:cNvSpPr/>
          <p:nvPr/>
        </p:nvSpPr>
        <p:spPr>
          <a:xfrm>
            <a:off x="16727539" y="78413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FB75E54-0A37-15A7-BB2A-F634B30B272F}"/>
              </a:ext>
            </a:extLst>
          </p:cNvPr>
          <p:cNvSpPr txBox="1"/>
          <p:nvPr/>
        </p:nvSpPr>
        <p:spPr>
          <a:xfrm>
            <a:off x="599748" y="466295"/>
            <a:ext cx="18145451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Commonly Used Keys  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FCADB60-F1C3-44C8-6B4A-498130D1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19F63B32-8932-B07B-91F3-A7D02E299D75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16</a:t>
            </a:fld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FCBE4C-B4AC-DCA4-423E-65D0E49A060C}"/>
              </a:ext>
            </a:extLst>
          </p:cNvPr>
          <p:cNvSpPr txBox="1"/>
          <p:nvPr/>
        </p:nvSpPr>
        <p:spPr>
          <a:xfrm>
            <a:off x="12873789" y="9216189"/>
            <a:ext cx="3416969" cy="55339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C569A-8079-BD17-AA0C-4FF501B9AE84}"/>
              </a:ext>
            </a:extLst>
          </p:cNvPr>
          <p:cNvSpPr txBox="1"/>
          <p:nvPr/>
        </p:nvSpPr>
        <p:spPr>
          <a:xfrm>
            <a:off x="599748" y="1983139"/>
            <a:ext cx="15437318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7030A0"/>
                </a:solidFill>
                <a:latin typeface="+mj-lt"/>
              </a:rPr>
              <a:t>Primary Key</a:t>
            </a:r>
          </a:p>
          <a:p>
            <a:pPr marL="1371600" lvl="2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+mj-lt"/>
              </a:rPr>
              <a:t>Use Case</a:t>
            </a:r>
            <a:r>
              <a:rPr lang="en-US" altLang="en-US" sz="3000" dirty="0">
                <a:latin typeface="+mj-lt"/>
              </a:rPr>
              <a:t>: To uniquely identify each record in a table.</a:t>
            </a:r>
          </a:p>
          <a:p>
            <a:pPr marL="1371600" lvl="2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+mj-lt"/>
              </a:rPr>
              <a:t>Example</a:t>
            </a:r>
            <a:r>
              <a:rPr lang="en-US" altLang="en-US" sz="3000" dirty="0">
                <a:latin typeface="+mj-lt"/>
              </a:rPr>
              <a:t>:</a:t>
            </a:r>
            <a:br>
              <a:rPr lang="en-US" altLang="en-US" sz="3000" dirty="0">
                <a:latin typeface="+mj-lt"/>
              </a:rPr>
            </a:br>
            <a:r>
              <a:rPr lang="en-US" altLang="en-US" sz="3000" dirty="0">
                <a:latin typeface="+mj-lt"/>
              </a:rPr>
              <a:t>In an </a:t>
            </a:r>
            <a:r>
              <a:rPr lang="en-US" altLang="en-US" sz="3000" b="1" dirty="0">
                <a:latin typeface="+mj-lt"/>
              </a:rPr>
              <a:t>Employees</a:t>
            </a:r>
            <a:r>
              <a:rPr lang="en-US" altLang="en-US" sz="3000" dirty="0">
                <a:latin typeface="+mj-lt"/>
              </a:rPr>
              <a:t> table, EmployeeID is the </a:t>
            </a:r>
            <a:r>
              <a:rPr lang="en-US" altLang="en-US" sz="3000" b="1" dirty="0">
                <a:latin typeface="+mj-lt"/>
              </a:rPr>
              <a:t>Primary Key</a:t>
            </a:r>
            <a:r>
              <a:rPr lang="en-US" altLang="en-US" sz="3000" dirty="0">
                <a:latin typeface="+mj-lt"/>
              </a:rPr>
              <a:t> because each employee must have a unique ID.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7030A0"/>
                </a:solidFill>
                <a:latin typeface="+mj-lt"/>
              </a:rPr>
              <a:t>Foreign Key</a:t>
            </a:r>
          </a:p>
          <a:p>
            <a:pPr marL="1371600" lvl="2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+mj-lt"/>
              </a:rPr>
              <a:t>Use Case</a:t>
            </a:r>
            <a:r>
              <a:rPr lang="en-US" altLang="en-US" sz="3000" dirty="0">
                <a:latin typeface="+mj-lt"/>
              </a:rPr>
              <a:t>: To establish relationships between tables and maintain referential integrity.</a:t>
            </a:r>
          </a:p>
          <a:p>
            <a:pPr marL="1371600" lvl="2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+mj-lt"/>
              </a:rPr>
              <a:t>Example</a:t>
            </a:r>
            <a:r>
              <a:rPr lang="en-US" altLang="en-US" sz="3000" dirty="0">
                <a:latin typeface="+mj-lt"/>
              </a:rPr>
              <a:t>:</a:t>
            </a:r>
            <a:br>
              <a:rPr lang="en-US" altLang="en-US" sz="3000" dirty="0">
                <a:latin typeface="+mj-lt"/>
              </a:rPr>
            </a:br>
            <a:r>
              <a:rPr lang="en-US" altLang="en-US" sz="3000" dirty="0">
                <a:latin typeface="+mj-lt"/>
              </a:rPr>
              <a:t>In a </a:t>
            </a:r>
            <a:r>
              <a:rPr lang="en-US" altLang="en-US" sz="3000" b="1" dirty="0">
                <a:latin typeface="+mj-lt"/>
              </a:rPr>
              <a:t>Orders</a:t>
            </a:r>
            <a:r>
              <a:rPr lang="en-US" altLang="en-US" sz="3000" dirty="0">
                <a:latin typeface="+mj-lt"/>
              </a:rPr>
              <a:t> table, EmployeeID is a </a:t>
            </a:r>
            <a:r>
              <a:rPr lang="en-US" altLang="en-US" sz="3000" b="1" dirty="0">
                <a:latin typeface="+mj-lt"/>
              </a:rPr>
              <a:t>Foreign Key</a:t>
            </a:r>
            <a:r>
              <a:rPr lang="en-US" altLang="en-US" sz="3000" dirty="0">
                <a:latin typeface="+mj-lt"/>
              </a:rPr>
              <a:t> referencing the </a:t>
            </a:r>
            <a:r>
              <a:rPr lang="en-US" altLang="en-US" sz="3000" b="1" dirty="0">
                <a:latin typeface="+mj-lt"/>
              </a:rPr>
              <a:t>Employees</a:t>
            </a:r>
            <a:r>
              <a:rPr lang="en-US" altLang="en-US" sz="3000" dirty="0">
                <a:latin typeface="+mj-lt"/>
              </a:rPr>
              <a:t> table, ensuring an order is always linked to a valid employee.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7030A0"/>
                </a:solidFill>
                <a:latin typeface="+mj-lt"/>
              </a:rPr>
              <a:t>Unique Key</a:t>
            </a:r>
          </a:p>
          <a:p>
            <a:pPr marL="1371600" lvl="2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+mj-lt"/>
              </a:rPr>
              <a:t>Use Case</a:t>
            </a:r>
            <a:r>
              <a:rPr lang="en-US" altLang="en-US" sz="3000" dirty="0">
                <a:latin typeface="+mj-lt"/>
              </a:rPr>
              <a:t>: To prevent duplicate values in non-primary columns.</a:t>
            </a:r>
          </a:p>
          <a:p>
            <a:pPr marL="1371600" lvl="2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+mj-lt"/>
              </a:rPr>
              <a:t>Example</a:t>
            </a:r>
            <a:r>
              <a:rPr lang="en-US" altLang="en-US" sz="3000" dirty="0">
                <a:latin typeface="+mj-lt"/>
              </a:rPr>
              <a:t>:</a:t>
            </a:r>
            <a:br>
              <a:rPr lang="en-US" altLang="en-US" sz="3000" dirty="0">
                <a:latin typeface="+mj-lt"/>
              </a:rPr>
            </a:br>
            <a:r>
              <a:rPr lang="en-US" altLang="en-US" sz="3000" dirty="0">
                <a:latin typeface="+mj-lt"/>
              </a:rPr>
              <a:t>In the </a:t>
            </a:r>
            <a:r>
              <a:rPr lang="en-US" altLang="en-US" sz="3000" b="1" dirty="0">
                <a:latin typeface="+mj-lt"/>
              </a:rPr>
              <a:t>Employees</a:t>
            </a:r>
            <a:r>
              <a:rPr lang="en-US" altLang="en-US" sz="3000" dirty="0">
                <a:latin typeface="+mj-lt"/>
              </a:rPr>
              <a:t> table, Email should be unique for every employee.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087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F3919-683D-C25C-EA63-0BD409F23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7DD475E1-00D5-1E7C-1113-FA5B455AE705}"/>
              </a:ext>
            </a:extLst>
          </p:cNvPr>
          <p:cNvSpPr/>
          <p:nvPr/>
        </p:nvSpPr>
        <p:spPr>
          <a:xfrm>
            <a:off x="16727539" y="78413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111C933-E9EF-7A03-95C0-7FF79A96EF68}"/>
              </a:ext>
            </a:extLst>
          </p:cNvPr>
          <p:cNvSpPr txBox="1"/>
          <p:nvPr/>
        </p:nvSpPr>
        <p:spPr>
          <a:xfrm>
            <a:off x="784596" y="466295"/>
            <a:ext cx="1717265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Relationship Between various Keys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DE422C3-C745-4A6B-E488-EE38DC7A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4FBF5C2D-B27E-51B5-6DCF-4DF16248CEF6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17</a:t>
            </a:fld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DBDEF9-415C-EF75-E4AA-72A7E5936DD2}"/>
              </a:ext>
            </a:extLst>
          </p:cNvPr>
          <p:cNvSpPr txBox="1"/>
          <p:nvPr/>
        </p:nvSpPr>
        <p:spPr>
          <a:xfrm>
            <a:off x="12873789" y="9216189"/>
            <a:ext cx="3416969" cy="55339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31585B-822F-346C-2574-74BEB0D13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242" y="2526841"/>
            <a:ext cx="12897645" cy="66893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804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A0DCE5-5373-DF5C-16BB-D1FD5597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3" name="image41.png">
            <a:extLst>
              <a:ext uri="{FF2B5EF4-FFF2-40B4-BE49-F238E27FC236}">
                <a16:creationId xmlns:a16="http://schemas.microsoft.com/office/drawing/2014/main" id="{604F0219-5D8D-1160-CF09-A9A68C4F26F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46029" y="2020186"/>
            <a:ext cx="15076967" cy="7995684"/>
          </a:xfrm>
          <a:prstGeom prst="rect">
            <a:avLst/>
          </a:prstGeom>
          <a:ln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07B09F-E071-A94E-4132-D4A086262409}"/>
              </a:ext>
            </a:extLst>
          </p:cNvPr>
          <p:cNvSpPr txBox="1"/>
          <p:nvPr/>
        </p:nvSpPr>
        <p:spPr>
          <a:xfrm>
            <a:off x="1063257" y="271130"/>
            <a:ext cx="118659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rgbClr val="7030A0"/>
                </a:solidFill>
              </a:rPr>
              <a:t>Conditional Operators</a:t>
            </a:r>
          </a:p>
        </p:txBody>
      </p:sp>
    </p:spTree>
    <p:extLst>
      <p:ext uri="{BB962C8B-B14F-4D97-AF65-F5344CB8AC3E}">
        <p14:creationId xmlns:p14="http://schemas.microsoft.com/office/powerpoint/2010/main" val="1422699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3D88A-B2EE-C5DE-9EF4-D18B8D1A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95706632-2437-D67C-94B2-ECF3BDC2E60C}"/>
              </a:ext>
            </a:extLst>
          </p:cNvPr>
          <p:cNvSpPr/>
          <p:nvPr/>
        </p:nvSpPr>
        <p:spPr>
          <a:xfrm>
            <a:off x="16727539" y="782274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829F24-53C2-7E91-0A22-DF71521DA44E}"/>
              </a:ext>
            </a:extLst>
          </p:cNvPr>
          <p:cNvSpPr txBox="1"/>
          <p:nvPr/>
        </p:nvSpPr>
        <p:spPr>
          <a:xfrm>
            <a:off x="1311911" y="937515"/>
            <a:ext cx="13131602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Aggregate Functions 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911EFF7-E49B-E0F8-1DC6-911E1406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05E29320-7793-4496-040B-CE09BE69068C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/>
          </a:p>
        </p:txBody>
      </p:sp>
      <p:pic>
        <p:nvPicPr>
          <p:cNvPr id="1026" name="Picture 2" descr="SQLAlchemy - Aggregate Functions - GeeksforGeeks">
            <a:extLst>
              <a:ext uri="{FF2B5EF4-FFF2-40B4-BE49-F238E27FC236}">
                <a16:creationId xmlns:a16="http://schemas.microsoft.com/office/drawing/2014/main" id="{A9CA03A5-71B0-E67F-2176-E9A72D511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358" y="2965625"/>
            <a:ext cx="14798842" cy="63838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273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ABAF9-BEAC-3E00-DDE9-2B9567A1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2D4EAEE2-294C-A641-F119-4E32F68C4369}"/>
              </a:ext>
            </a:extLst>
          </p:cNvPr>
          <p:cNvSpPr/>
          <p:nvPr/>
        </p:nvSpPr>
        <p:spPr>
          <a:xfrm>
            <a:off x="16727539" y="782274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AA86E32-B8FA-8086-3127-EE01BB7D4D77}"/>
              </a:ext>
            </a:extLst>
          </p:cNvPr>
          <p:cNvSpPr txBox="1"/>
          <p:nvPr/>
        </p:nvSpPr>
        <p:spPr>
          <a:xfrm>
            <a:off x="1195551" y="152290"/>
            <a:ext cx="13131602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Aggregate Functions 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0735E51-F38A-23D1-F96E-0F9CED7E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D6BDE818-03C9-EC81-F9F5-0697D09CB88C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20</a:t>
            </a:fld>
            <a:endParaRPr lang="en-GB" sz="20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55B0A7-40F9-8741-B32A-A249C5605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621236"/>
              </p:ext>
            </p:extLst>
          </p:nvPr>
        </p:nvGraphicFramePr>
        <p:xfrm>
          <a:off x="736599" y="1802245"/>
          <a:ext cx="16330450" cy="85466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8165225">
                  <a:extLst>
                    <a:ext uri="{9D8B030D-6E8A-4147-A177-3AD203B41FA5}">
                      <a16:colId xmlns:a16="http://schemas.microsoft.com/office/drawing/2014/main" val="2819135542"/>
                    </a:ext>
                  </a:extLst>
                </a:gridCol>
                <a:gridCol w="8165225">
                  <a:extLst>
                    <a:ext uri="{9D8B030D-6E8A-4147-A177-3AD203B41FA5}">
                      <a16:colId xmlns:a16="http://schemas.microsoft.com/office/drawing/2014/main" val="4142471725"/>
                    </a:ext>
                  </a:extLst>
                </a:gridCol>
              </a:tblGrid>
              <a:tr h="957155">
                <a:tc>
                  <a:txBody>
                    <a:bodyPr/>
                    <a:lstStyle/>
                    <a:p>
                      <a:r>
                        <a:rPr lang="en-IN" sz="4000" dirty="0"/>
                        <a:t>Aggregate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Syntax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91040"/>
                  </a:ext>
                </a:extLst>
              </a:tr>
              <a:tr h="1373717">
                <a:tc>
                  <a:txBody>
                    <a:bodyPr/>
                    <a:lstStyle/>
                    <a:p>
                      <a:r>
                        <a:rPr lang="en-IN" sz="3500" dirty="0"/>
                        <a:t>COUNT()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915408"/>
                  </a:ext>
                </a:extLst>
              </a:tr>
              <a:tr h="1373717">
                <a:tc>
                  <a:txBody>
                    <a:bodyPr/>
                    <a:lstStyle/>
                    <a:p>
                      <a:r>
                        <a:rPr lang="en-IN" sz="3500" dirty="0"/>
                        <a:t>SUM()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02278"/>
                  </a:ext>
                </a:extLst>
              </a:tr>
              <a:tr h="1373717">
                <a:tc>
                  <a:txBody>
                    <a:bodyPr/>
                    <a:lstStyle/>
                    <a:p>
                      <a:r>
                        <a:rPr lang="en-IN" sz="4000" dirty="0"/>
                        <a:t>AVG()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503782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16F1F8B-7BED-6CDB-0A81-576D93401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648" y="2964943"/>
            <a:ext cx="6883399" cy="22621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C2117B-DE7F-2B54-69F5-D639DD00F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748" y="5500874"/>
            <a:ext cx="6691197" cy="22621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5B2975-E294-9BAC-3E1F-6C520A430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647" y="7953234"/>
            <a:ext cx="6691197" cy="215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0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939A-C1A2-A719-C319-A4A3B603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6DBAAF8D-261A-C84C-4AED-37C7EDEC2DE6}"/>
              </a:ext>
            </a:extLst>
          </p:cNvPr>
          <p:cNvSpPr/>
          <p:nvPr/>
        </p:nvSpPr>
        <p:spPr>
          <a:xfrm>
            <a:off x="16727539" y="782274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C2632A0-AF81-CE1D-A7E6-6E0F42C9C804}"/>
              </a:ext>
            </a:extLst>
          </p:cNvPr>
          <p:cNvSpPr txBox="1"/>
          <p:nvPr/>
        </p:nvSpPr>
        <p:spPr>
          <a:xfrm>
            <a:off x="1195551" y="152290"/>
            <a:ext cx="13131602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Aggregate Functions 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C8985C6-C312-EBE0-0AD2-44F99EED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93A2B1A2-EB39-5CB7-0639-A47F67BFB7F4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21</a:t>
            </a:fld>
            <a:endParaRPr lang="en-GB" sz="20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6719AA9-0130-153C-F934-61876133B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851380"/>
              </p:ext>
            </p:extLst>
          </p:nvPr>
        </p:nvGraphicFramePr>
        <p:xfrm>
          <a:off x="711199" y="1709845"/>
          <a:ext cx="16330450" cy="786595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8165225">
                  <a:extLst>
                    <a:ext uri="{9D8B030D-6E8A-4147-A177-3AD203B41FA5}">
                      <a16:colId xmlns:a16="http://schemas.microsoft.com/office/drawing/2014/main" val="2819135542"/>
                    </a:ext>
                  </a:extLst>
                </a:gridCol>
                <a:gridCol w="8165225">
                  <a:extLst>
                    <a:ext uri="{9D8B030D-6E8A-4147-A177-3AD203B41FA5}">
                      <a16:colId xmlns:a16="http://schemas.microsoft.com/office/drawing/2014/main" val="4142471725"/>
                    </a:ext>
                  </a:extLst>
                </a:gridCol>
              </a:tblGrid>
              <a:tr h="1251312">
                <a:tc>
                  <a:txBody>
                    <a:bodyPr/>
                    <a:lstStyle/>
                    <a:p>
                      <a:r>
                        <a:rPr lang="en-IN" sz="4000" dirty="0"/>
                        <a:t>Aggregate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Syntax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91040"/>
                  </a:ext>
                </a:extLst>
              </a:tr>
              <a:tr h="3307321">
                <a:tc>
                  <a:txBody>
                    <a:bodyPr/>
                    <a:lstStyle/>
                    <a:p>
                      <a:r>
                        <a:rPr lang="en-IN" sz="4000" dirty="0"/>
                        <a:t>Min()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915408"/>
                  </a:ext>
                </a:extLst>
              </a:tr>
              <a:tr h="3307321">
                <a:tc>
                  <a:txBody>
                    <a:bodyPr/>
                    <a:lstStyle/>
                    <a:p>
                      <a:r>
                        <a:rPr lang="en-IN" sz="4000" dirty="0"/>
                        <a:t>MAX()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02278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5BD4DBD3-02A0-BE31-846D-38B65E070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035300"/>
            <a:ext cx="6807199" cy="3181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C683AD-A730-8809-7744-8B29F0CA4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6520092"/>
            <a:ext cx="6807199" cy="289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8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62E5-CFA8-22D6-1EA3-547F33724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8E4DF0AA-0FA5-8271-89AC-F8C07FEED9DD}"/>
              </a:ext>
            </a:extLst>
          </p:cNvPr>
          <p:cNvSpPr/>
          <p:nvPr/>
        </p:nvSpPr>
        <p:spPr>
          <a:xfrm>
            <a:off x="16727539" y="782274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9952112-4FF6-243D-0ACD-975700CB34C5}"/>
              </a:ext>
            </a:extLst>
          </p:cNvPr>
          <p:cNvSpPr txBox="1"/>
          <p:nvPr/>
        </p:nvSpPr>
        <p:spPr>
          <a:xfrm>
            <a:off x="1195551" y="152290"/>
            <a:ext cx="13131602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8D0A75"/>
                </a:solidFill>
                <a:ea typeface="+mn-lt"/>
                <a:cs typeface="+mn-lt"/>
                <a:sym typeface="Heebo Black"/>
              </a:rPr>
              <a:t>COUNT()</a:t>
            </a:r>
            <a:endParaRPr lang="en-US" sz="9000" dirty="0">
              <a:ea typeface="+mn-lt"/>
              <a:cs typeface="+mn-lt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31C3505-9447-A1A8-B74E-3F048958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GB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BFCEC0B9-1193-9467-DD60-B35D802D57C3}"/>
              </a:ext>
            </a:extLst>
          </p:cNvPr>
          <p:cNvSpPr txBox="1">
            <a:spLocks/>
          </p:cNvSpPr>
          <p:nvPr/>
        </p:nvSpPr>
        <p:spPr>
          <a:xfrm>
            <a:off x="128751" y="9769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dirty="0" smtClean="0"/>
              <a:pPr/>
              <a:t>22</a:t>
            </a:fld>
            <a:endParaRPr lang="en-GB" sz="20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D22348-67AD-83DE-AD5A-CAAFC2DC9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82970"/>
              </p:ext>
            </p:extLst>
          </p:nvPr>
        </p:nvGraphicFramePr>
        <p:xfrm>
          <a:off x="546099" y="1421867"/>
          <a:ext cx="17195802" cy="888037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64501">
                  <a:extLst>
                    <a:ext uri="{9D8B030D-6E8A-4147-A177-3AD203B41FA5}">
                      <a16:colId xmlns:a16="http://schemas.microsoft.com/office/drawing/2014/main" val="2819135542"/>
                    </a:ext>
                  </a:extLst>
                </a:gridCol>
                <a:gridCol w="9131301">
                  <a:extLst>
                    <a:ext uri="{9D8B030D-6E8A-4147-A177-3AD203B41FA5}">
                      <a16:colId xmlns:a16="http://schemas.microsoft.com/office/drawing/2014/main" val="4142471725"/>
                    </a:ext>
                  </a:extLst>
                </a:gridCol>
              </a:tblGrid>
              <a:tr h="740936">
                <a:tc>
                  <a:txBody>
                    <a:bodyPr/>
                    <a:lstStyle/>
                    <a:p>
                      <a:r>
                        <a:rPr lang="en-IN" sz="4000"/>
                        <a:t>Description</a:t>
                      </a:r>
                      <a:endParaRPr lang="en-IN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Syntax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91040"/>
                  </a:ext>
                </a:extLst>
              </a:tr>
              <a:tr h="2029524">
                <a:tc>
                  <a:txBody>
                    <a:bodyPr/>
                    <a:lstStyle/>
                    <a:p>
                      <a:r>
                        <a:rPr lang="en-IN" sz="4000" b="1" dirty="0"/>
                        <a:t>Count All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915408"/>
                  </a:ext>
                </a:extLst>
              </a:tr>
              <a:tr h="2029524">
                <a:tc>
                  <a:txBody>
                    <a:bodyPr/>
                    <a:lstStyle/>
                    <a:p>
                      <a:r>
                        <a:rPr lang="en-US" sz="4000" b="1" dirty="0"/>
                        <a:t>Count Specific Column (excluding NULLs)</a:t>
                      </a:r>
                      <a:endParaRPr lang="en-IN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02278"/>
                  </a:ext>
                </a:extLst>
              </a:tr>
              <a:tr h="2160149">
                <a:tc>
                  <a:txBody>
                    <a:bodyPr/>
                    <a:lstStyle/>
                    <a:p>
                      <a:r>
                        <a:rPr lang="en-IN" sz="4000" b="1" dirty="0"/>
                        <a:t>Count with WHERE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96743"/>
                  </a:ext>
                </a:extLst>
              </a:tr>
              <a:tr h="1385231">
                <a:tc>
                  <a:txBody>
                    <a:bodyPr/>
                    <a:lstStyle/>
                    <a:p>
                      <a:r>
                        <a:rPr lang="en-IN" sz="4000" b="1" dirty="0"/>
                        <a:t>Count DISTINCT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9993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91F65B2-5CB5-35AE-C481-AE494C482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185" y="2178793"/>
            <a:ext cx="7950199" cy="1710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F10E2C-E75A-B2C6-6281-1D3107015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058" y="4016712"/>
            <a:ext cx="7950200" cy="1998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B3C92C-3DB8-43B3-CD54-BBD7663DE5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2185" y="6142683"/>
            <a:ext cx="7886073" cy="22872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386786-1B45-4A28-B0F2-F8306FA25D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2184" y="8429956"/>
            <a:ext cx="7886073" cy="175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30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1958355"/>
            <a:chOff x="-2918087" y="-1990758"/>
            <a:chExt cx="21900210" cy="259792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8786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/>
                <a:buChar char="Ø"/>
              </a:pPr>
              <a:endParaRPr lang="en-US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1870208" y="242857"/>
            <a:ext cx="148573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23</a:t>
            </a:fld>
            <a:endParaRPr lang="en-GB" sz="200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3B0A55-45B6-D6C0-EBF2-C27C0790A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568441"/>
              </p:ext>
            </p:extLst>
          </p:nvPr>
        </p:nvGraphicFramePr>
        <p:xfrm>
          <a:off x="1725561" y="1637070"/>
          <a:ext cx="15146594" cy="7934532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3153193898"/>
                    </a:ext>
                  </a:extLst>
                </a:gridCol>
                <a:gridCol w="10574594">
                  <a:extLst>
                    <a:ext uri="{9D8B030D-6E8A-4147-A177-3AD203B41FA5}">
                      <a16:colId xmlns:a16="http://schemas.microsoft.com/office/drawing/2014/main" val="1865928614"/>
                    </a:ext>
                  </a:extLst>
                </a:gridCol>
              </a:tblGrid>
              <a:tr h="1033643">
                <a:tc>
                  <a:txBody>
                    <a:bodyPr/>
                    <a:lstStyle/>
                    <a:p>
                      <a:r>
                        <a:rPr lang="en-US" sz="3200" b="1" dirty="0"/>
                        <a:t>Topic</a:t>
                      </a:r>
                      <a:endParaRPr lang="en-IN" sz="3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Real-World Use case</a:t>
                      </a:r>
                      <a:endParaRPr lang="en-IN" sz="3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73264"/>
                  </a:ext>
                </a:extLst>
              </a:tr>
              <a:tr h="1469939">
                <a:tc>
                  <a:txBody>
                    <a:bodyPr/>
                    <a:lstStyle/>
                    <a:p>
                      <a:r>
                        <a:rPr lang="en-IN" sz="3200" b="1" dirty="0"/>
                        <a:t>DBMS / MSSQL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Banks use MSSQL to store customer accounts, transactions, and loan data securely</a:t>
                      </a:r>
                      <a:endParaRPr lang="en-IN" sz="3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837499"/>
                  </a:ext>
                </a:extLst>
              </a:tr>
              <a:tr h="1469939">
                <a:tc>
                  <a:txBody>
                    <a:bodyPr/>
                    <a:lstStyle/>
                    <a:p>
                      <a:r>
                        <a:rPr lang="en-IN" sz="3200" b="1" dirty="0"/>
                        <a:t>SSMS &amp; SQL Basics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E-commerce platforms use SSMS to query customer orders and filter product inventory.</a:t>
                      </a:r>
                      <a:endParaRPr lang="en-IN" sz="3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75942"/>
                  </a:ext>
                </a:extLst>
              </a:tr>
              <a:tr h="1469939">
                <a:tc>
                  <a:txBody>
                    <a:bodyPr/>
                    <a:lstStyle/>
                    <a:p>
                      <a:r>
                        <a:rPr lang="en-IN" sz="3200" b="1" dirty="0"/>
                        <a:t>Tables &amp; Data Operations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Universities use structured tables for students, courses, and enrollments with keys.</a:t>
                      </a:r>
                      <a:endParaRPr lang="en-IN" sz="3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3623306"/>
                  </a:ext>
                </a:extLst>
              </a:tr>
              <a:tr h="1245536">
                <a:tc>
                  <a:txBody>
                    <a:bodyPr/>
                    <a:lstStyle/>
                    <a:p>
                      <a:r>
                        <a:rPr lang="en-IN" sz="3200" b="1" dirty="0"/>
                        <a:t>Optimization &amp; Indexes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Fintech apps use indexes to speed up search on millions of transactions.</a:t>
                      </a:r>
                      <a:endParaRPr lang="en-IN" sz="3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30959"/>
                  </a:ext>
                </a:extLst>
              </a:tr>
              <a:tr h="1245536">
                <a:tc>
                  <a:txBody>
                    <a:bodyPr/>
                    <a:lstStyle/>
                    <a:p>
                      <a:r>
                        <a:rPr lang="en-IN" sz="3200" b="1" dirty="0"/>
                        <a:t>Aggregate Functions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HR systems calculate average salaries, total working hours, and department stats</a:t>
                      </a:r>
                      <a:endParaRPr lang="en-IN" sz="3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008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8699" y="1770119"/>
            <a:ext cx="13337005" cy="8233023"/>
            <a:chOff x="0" y="-1074836"/>
            <a:chExt cx="16737488" cy="10977363"/>
          </a:xfrm>
        </p:grpSpPr>
        <p:sp>
          <p:nvSpPr>
            <p:cNvPr id="5" name="TextBox 5"/>
            <p:cNvSpPr txBox="1"/>
            <p:nvPr/>
          </p:nvSpPr>
          <p:spPr>
            <a:xfrm>
              <a:off x="1129944" y="-1074836"/>
              <a:ext cx="15607544" cy="109773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IN" sz="3000" b="1" dirty="0"/>
                <a:t>Task 0: Create Smart Meter Database Tables</a:t>
              </a:r>
              <a:endParaRPr lang="en-IN" sz="3000" dirty="0"/>
            </a:p>
            <a:p>
              <a:r>
                <a:rPr lang="en-IN" sz="3000" b="1" dirty="0"/>
                <a:t>Objective:</a:t>
              </a:r>
              <a:br>
                <a:rPr lang="en-IN" sz="2500" dirty="0"/>
              </a:br>
              <a:r>
                <a:rPr lang="en-IN" sz="2500" dirty="0"/>
                <a:t>Create the database tables needed to store smart meter readings, and customer details.</a:t>
              </a:r>
            </a:p>
            <a:p>
              <a:r>
                <a:rPr lang="en-IN" sz="3000" b="1" dirty="0"/>
                <a:t>Instructions:</a:t>
              </a:r>
              <a:br>
                <a:rPr lang="en-IN" sz="2500" dirty="0"/>
              </a:br>
              <a:r>
                <a:rPr lang="en-IN" sz="2500" dirty="0"/>
                <a:t>Write SQL CREATE TABLE statements to define the following two tables:</a:t>
              </a:r>
            </a:p>
            <a:p>
              <a:endParaRPr lang="en-IN" sz="3000" dirty="0"/>
            </a:p>
            <a:p>
              <a:r>
                <a:rPr lang="en-IN" sz="3000" b="1" dirty="0"/>
                <a:t>1. Customers</a:t>
              </a:r>
              <a:endParaRPr lang="en-IN" sz="3000" dirty="0"/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2500" dirty="0"/>
                <a:t>CustomerId 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2500" dirty="0"/>
                <a:t>Name (customer name)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2500" dirty="0"/>
                <a:t>Address 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2500" dirty="0"/>
                <a:t>Region (e.g., North, South, East, West)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endParaRPr lang="en-IN" sz="3000" dirty="0"/>
            </a:p>
            <a:p>
              <a:r>
                <a:rPr lang="en-IN" sz="3000" b="1" dirty="0"/>
                <a:t>2. SmartMeterReadings</a:t>
              </a:r>
            </a:p>
            <a:p>
              <a:endParaRPr lang="en-IN" sz="2500" dirty="0"/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2500" dirty="0"/>
                <a:t>MeterId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2500" dirty="0"/>
                <a:t>CustomerId 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2500" dirty="0"/>
                <a:t>Location (e.g., rooftop, basement)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2500" dirty="0"/>
                <a:t>InstalledDate 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2500" dirty="0"/>
                <a:t>ReadingDateTime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2500" dirty="0"/>
                <a:t>EnergyConsumed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88706"/>
              <a:ext cx="13250213" cy="18466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24</a:t>
            </a:fld>
            <a:endParaRPr lang="en-GB"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FC19-7E99-9F99-99A4-D06E42D2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435DA45D-F84D-F922-7732-47F647B25D1A}"/>
              </a:ext>
            </a:extLst>
          </p:cNvPr>
          <p:cNvGrpSpPr/>
          <p:nvPr/>
        </p:nvGrpSpPr>
        <p:grpSpPr>
          <a:xfrm>
            <a:off x="1207588" y="508403"/>
            <a:ext cx="12296593" cy="11097152"/>
            <a:chOff x="0" y="688706"/>
            <a:chExt cx="13250213" cy="1479620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BCCB603-AF5A-BBEF-0C68-9FEB671694FA}"/>
                </a:ext>
              </a:extLst>
            </p:cNvPr>
            <p:cNvSpPr txBox="1"/>
            <p:nvPr/>
          </p:nvSpPr>
          <p:spPr>
            <a:xfrm>
              <a:off x="0" y="783449"/>
              <a:ext cx="12224445" cy="14701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endParaRPr lang="en-IN" sz="2500" b="1" dirty="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b="1" dirty="0"/>
                <a:t>Task1 :</a:t>
              </a:r>
            </a:p>
            <a:p>
              <a:pPr lvl="2">
                <a:lnSpc>
                  <a:spcPct val="150000"/>
                </a:lnSpc>
              </a:pPr>
              <a:r>
                <a:rPr lang="en-IN" sz="3200" dirty="0"/>
                <a:t>Write a query to </a:t>
              </a:r>
            </a:p>
            <a:p>
              <a:pPr marL="1657350" lvl="3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Fetch all smart meter readings where:</a:t>
              </a:r>
            </a:p>
            <a:p>
              <a:pPr marL="1657350" lvl="3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EnergyConsumed is between 10 and 50 kWh</a:t>
              </a:r>
            </a:p>
            <a:p>
              <a:pPr marL="1657350" lvl="3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ReadingDateTime is between '2024-01-01' and '2024-12-31'</a:t>
              </a:r>
            </a:p>
            <a:p>
              <a:pPr marL="1657350" lvl="3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Exclude meters installed after '2024-06-30'</a:t>
              </a:r>
            </a:p>
            <a:p>
              <a:pPr>
                <a:lnSpc>
                  <a:spcPct val="150000"/>
                </a:lnSpc>
              </a:pPr>
              <a:r>
                <a:rPr lang="en-IN" sz="3200" b="1" dirty="0"/>
                <a:t>OUTPUT FORMAT:</a:t>
              </a:r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sz="250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1E73DFD-DFC8-02DE-8381-06798B68A0BB}"/>
                </a:ext>
              </a:extLst>
            </p:cNvPr>
            <p:cNvSpPr txBox="1"/>
            <p:nvPr/>
          </p:nvSpPr>
          <p:spPr>
            <a:xfrm>
              <a:off x="0" y="688706"/>
              <a:ext cx="13250213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r>
                <a:rPr lang="en-US" sz="3000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 </a:t>
              </a: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1A99A97C-97DB-51E8-7122-1F7828E7A969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754351E-3F36-7E0A-FA1B-1F1E66719594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06F594B-2AD0-AC75-77A5-EE43EB92C6A7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59B3814-383D-CB12-503B-3B95B6E011C3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8FC950B-C909-3215-96D9-4FE7C495B9BF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602297B-9A1B-B6F7-04D5-72C4E4E0F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25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1E3A79-9485-A775-1CB2-9B0DED034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513" y="6954603"/>
            <a:ext cx="9619725" cy="301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675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19FF-0330-0E32-151D-0B43F17E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101E246-ECA8-AB78-FDE1-7B25E6670DFD}"/>
              </a:ext>
            </a:extLst>
          </p:cNvPr>
          <p:cNvGrpSpPr/>
          <p:nvPr/>
        </p:nvGrpSpPr>
        <p:grpSpPr>
          <a:xfrm>
            <a:off x="1207588" y="508403"/>
            <a:ext cx="12296593" cy="8488746"/>
            <a:chOff x="0" y="688706"/>
            <a:chExt cx="13250213" cy="1131833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76B24C6-21FA-4100-BFB3-7169E27CFFCA}"/>
                </a:ext>
              </a:extLst>
            </p:cNvPr>
            <p:cNvSpPr txBox="1"/>
            <p:nvPr/>
          </p:nvSpPr>
          <p:spPr>
            <a:xfrm>
              <a:off x="0" y="783449"/>
              <a:ext cx="12224445" cy="11223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IN" sz="3200" b="1" dirty="0"/>
                <a:t>Task2 :</a:t>
              </a:r>
              <a:endParaRPr lang="en-IN" sz="3200" dirty="0"/>
            </a:p>
            <a:p>
              <a:pPr>
                <a:lnSpc>
                  <a:spcPct val="150000"/>
                </a:lnSpc>
              </a:pPr>
              <a:r>
                <a:rPr lang="en-IN" sz="3200" dirty="0"/>
                <a:t>	For each customer, calculate:</a:t>
              </a:r>
            </a:p>
            <a:p>
              <a:pPr marL="1714500" lvl="3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Average energy consumed per reading</a:t>
              </a:r>
            </a:p>
            <a:p>
              <a:pPr marL="1714500" lvl="3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Maximum energy consumed in a single reading.</a:t>
              </a:r>
            </a:p>
            <a:p>
              <a:pPr marL="1714500" lvl="3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Only include readings from the current year.</a:t>
              </a:r>
            </a:p>
            <a:p>
              <a:pPr>
                <a:lnSpc>
                  <a:spcPct val="150000"/>
                </a:lnSpc>
              </a:pPr>
              <a:r>
                <a:rPr lang="en-IN" sz="3200" b="1" dirty="0"/>
                <a:t>OUTPUT FORMAT:</a:t>
              </a:r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sz="250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BCF60B8-E4B9-ABDF-2D5C-E4D5CECB7A89}"/>
                </a:ext>
              </a:extLst>
            </p:cNvPr>
            <p:cNvSpPr txBox="1"/>
            <p:nvPr/>
          </p:nvSpPr>
          <p:spPr>
            <a:xfrm>
              <a:off x="0" y="688706"/>
              <a:ext cx="13250213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r>
                <a:rPr lang="en-US" sz="3000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 </a:t>
              </a: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9A36F36E-2A75-02B2-35CC-AA8C931E50A2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31874D1-7270-25B3-4C95-5F3BED397C45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A568803-E0F3-B3F9-6A43-D5010456A78D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5C9042C-57AB-6085-B8CE-4603D3D62292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B32FEDC-6799-913D-3857-094838536A12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E98F4F0-B11C-4D10-CAE7-19954536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26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1D3162-2160-F5D6-1D0F-A533B1C4A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002" y="6027261"/>
            <a:ext cx="10773822" cy="296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16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27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B4297E-3A43-0C9D-47B9-205FCC9E6122}"/>
              </a:ext>
            </a:extLst>
          </p:cNvPr>
          <p:cNvSpPr txBox="1"/>
          <p:nvPr/>
        </p:nvSpPr>
        <p:spPr>
          <a:xfrm>
            <a:off x="4872323" y="2045368"/>
            <a:ext cx="12959351" cy="92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/>
              <a:t>Smart Meter Energy Summary</a:t>
            </a:r>
          </a:p>
          <a:p>
            <a:pPr>
              <a:lnSpc>
                <a:spcPct val="150000"/>
              </a:lnSpc>
            </a:pPr>
            <a:r>
              <a:rPr lang="en-IN" sz="3200" b="1" dirty="0"/>
              <a:t>Objective</a:t>
            </a:r>
            <a:r>
              <a:rPr lang="en-IN" sz="3200" dirty="0"/>
              <a:t>: Analyse smart meter readings with moderate filtering and grouping.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Write a query to: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For each meter, calculate: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Total energy consumed during peak hours (6 PM to 10 PM)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Number of readings recorded during that time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Only include meters that: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Have more than 10 readings in total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Were installed before 2025-01-01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Consider only readings from the current year</a:t>
            </a:r>
          </a:p>
          <a:p>
            <a:r>
              <a:rPr lang="en-US" sz="3200" dirty="0"/>
              <a:t> </a:t>
            </a:r>
            <a:endParaRPr lang="en-IN" sz="3200" dirty="0"/>
          </a:p>
          <a:p>
            <a:endParaRPr lang="en-IN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57ED3-815A-27A3-53C2-9E88B8C94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624057-7568-465D-9090-01B5BFEB8E30}"/>
              </a:ext>
            </a:extLst>
          </p:cNvPr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760D7A8-D63E-08C9-252C-ADFC156976D4}"/>
              </a:ext>
            </a:extLst>
          </p:cNvPr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C268585-309C-C4BE-17EB-54E284459175}"/>
              </a:ext>
            </a:extLst>
          </p:cNvPr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F86CC61-4ABF-0C18-BE45-C2975C9D8DBD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0E17998-181C-6DC4-E55D-00FF6BA78426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30D9FF4-0511-637E-652C-77D9C0AC8BF5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75C3E22-1793-5F59-E485-D7FF88D420BD}"/>
              </a:ext>
            </a:extLst>
          </p:cNvPr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207CC8B-F1BD-582B-BB05-74520788D28E}"/>
                </a:ext>
              </a:extLst>
            </p:cNvPr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0AC34B0-15B4-2ED8-8AA8-30EC03B57CC2}"/>
                </a:ext>
              </a:extLst>
            </p:cNvPr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07F249B8-D3B6-2DCB-1C8B-94EE7062AC19}"/>
              </a:ext>
            </a:extLst>
          </p:cNvPr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161B2AD-5B4F-74AF-8F82-6BE4D110E5F5}"/>
              </a:ext>
            </a:extLst>
          </p:cNvPr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14F46A0-F320-E0AD-8AE1-CDA9ED3AE70D}"/>
              </a:ext>
            </a:extLst>
          </p:cNvPr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3F86ABB-B9BE-AD6E-1B08-7E02AF4680DA}"/>
              </a:ext>
            </a:extLst>
          </p:cNvPr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72F91E8-57BF-C054-6628-42EFBD89CE97}"/>
              </a:ext>
            </a:extLst>
          </p:cNvPr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96E6184-DFD5-3FDC-CAF0-74870630AE2D}"/>
              </a:ext>
            </a:extLst>
          </p:cNvPr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7C2BD82-D4B2-1B48-D8C4-1C6A3C3F54B1}"/>
              </a:ext>
            </a:extLst>
          </p:cNvPr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48E0FAB-C01F-9FFE-118D-AED4C7ED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28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3F04F-5AB0-A5B4-57AE-BD72DEF88C05}"/>
              </a:ext>
            </a:extLst>
          </p:cNvPr>
          <p:cNvSpPr txBox="1"/>
          <p:nvPr/>
        </p:nvSpPr>
        <p:spPr>
          <a:xfrm>
            <a:off x="4872323" y="2045368"/>
            <a:ext cx="12959351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Output format :</a:t>
            </a:r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1A0386A-0DB7-E6FC-54BA-5965F99CB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768" y="2988585"/>
            <a:ext cx="10373431" cy="638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291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71800" y="4912667"/>
            <a:ext cx="565404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Introduction to DBMS and MSSQL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52408" y="490760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SSMS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52408" y="5928286"/>
            <a:ext cx="399204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Data Types,Tables,Keys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763" y="840680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65563" y="5923226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SQL Basics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29</a:t>
            </a:fld>
            <a:endParaRPr lang="en-GB" sz="200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F1B39F25-6ADA-5092-7580-F472EDC692C0}"/>
              </a:ext>
            </a:extLst>
          </p:cNvPr>
          <p:cNvSpPr txBox="1"/>
          <p:nvPr/>
        </p:nvSpPr>
        <p:spPr>
          <a:xfrm>
            <a:off x="11152408" y="6779779"/>
            <a:ext cx="399204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Aggregate Functions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6F86BD3-D25C-1C70-0991-6BACF51EE76B}"/>
              </a:ext>
            </a:extLst>
          </p:cNvPr>
          <p:cNvSpPr txBox="1"/>
          <p:nvPr/>
        </p:nvSpPr>
        <p:spPr>
          <a:xfrm>
            <a:off x="4065563" y="6929523"/>
            <a:ext cx="438853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CRUD, Query Optimization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8" y="1548652"/>
            <a:ext cx="11229428" cy="2640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4"/>
              </a:rPr>
              <a:t>https://learn.microsoft.com/en-us/sql/sql-server/?view=sql-server-ver16</a:t>
            </a:r>
            <a:endParaRPr lang="en-GB" sz="300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30</a:t>
            </a:fld>
            <a:endParaRPr lang="en-GB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31</a:t>
            </a:fld>
            <a:endParaRPr lang="en-GB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6235</TotalTime>
  <Words>1288</Words>
  <Application>Microsoft Office PowerPoint</Application>
  <PresentationFormat>Custom</PresentationFormat>
  <Paragraphs>354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Cambria</vt:lpstr>
      <vt:lpstr>Arial</vt:lpstr>
      <vt:lpstr>Horizon</vt:lpstr>
      <vt:lpstr>Wingdings</vt:lpstr>
      <vt:lpstr>Agrandir</vt:lpstr>
      <vt:lpstr>HK Modular</vt:lpstr>
      <vt:lpstr>Aptos</vt:lpstr>
      <vt:lpstr>Heebo Black</vt:lpstr>
      <vt:lpstr>Assistant Regular</vt:lpstr>
      <vt:lpstr>Calibri</vt:lpstr>
      <vt:lpstr>Assistant Regular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dc:creator>HP</dc:creator>
  <cp:lastModifiedBy>Sierra Learning</cp:lastModifiedBy>
  <cp:revision>86</cp:revision>
  <dcterms:created xsi:type="dcterms:W3CDTF">2006-08-16T00:00:00Z</dcterms:created>
  <dcterms:modified xsi:type="dcterms:W3CDTF">2025-09-05T05:13:56Z</dcterms:modified>
  <dc:identifier>DAGpXxrSFgM</dc:identifier>
</cp:coreProperties>
</file>