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>
  <p:sldMasterIdLst>
    <p:sldMasterId id="2147483648" r:id="rId1"/>
  </p:sldMasterIdLst>
  <p:sldIdLst>
    <p:sldId id="316" r:id="rId2"/>
    <p:sldId id="256" r:id="rId3"/>
    <p:sldId id="257" r:id="rId4"/>
    <p:sldId id="276" r:id="rId5"/>
    <p:sldId id="317" r:id="rId6"/>
    <p:sldId id="282" r:id="rId7"/>
    <p:sldId id="324" r:id="rId8"/>
    <p:sldId id="325" r:id="rId9"/>
    <p:sldId id="288" r:id="rId10"/>
    <p:sldId id="281" r:id="rId11"/>
    <p:sldId id="275" r:id="rId12"/>
    <p:sldId id="318" r:id="rId13"/>
    <p:sldId id="258" r:id="rId14"/>
    <p:sldId id="319" r:id="rId15"/>
    <p:sldId id="289" r:id="rId16"/>
    <p:sldId id="320" r:id="rId17"/>
    <p:sldId id="274" r:id="rId18"/>
    <p:sldId id="265" r:id="rId19"/>
    <p:sldId id="290" r:id="rId20"/>
    <p:sldId id="285" r:id="rId21"/>
    <p:sldId id="291" r:id="rId22"/>
    <p:sldId id="266" r:id="rId23"/>
    <p:sldId id="321" r:id="rId24"/>
    <p:sldId id="322" r:id="rId25"/>
    <p:sldId id="323" r:id="rId26"/>
    <p:sldId id="267" r:id="rId27"/>
    <p:sldId id="268" r:id="rId28"/>
    <p:sldId id="269" r:id="rId29"/>
  </p:sldIdLst>
  <p:sldSz cx="18288000" cy="10287000"/>
  <p:notesSz cx="6858000" cy="9144000"/>
  <p:embeddedFontLst>
    <p:embeddedFont>
      <p:font typeface="Agrandir" panose="020B0604020202020204" charset="0"/>
      <p:regular r:id="rId30"/>
    </p:embeddedFont>
    <p:embeddedFont>
      <p:font typeface="Assistant Regular" panose="020B0604020202020204" charset="-79"/>
      <p:regular r:id="rId31"/>
    </p:embeddedFont>
    <p:embeddedFont>
      <p:font typeface="Assistant Regular Bold" panose="020B0604020202020204" charset="-79"/>
      <p:regular r:id="rId32"/>
    </p:embeddedFont>
    <p:embeddedFont>
      <p:font typeface="Heebo Black" pitchFamily="2" charset="-79"/>
      <p:regular r:id="rId33"/>
      <p:bold r:id="rId34"/>
    </p:embeddedFont>
    <p:embeddedFont>
      <p:font typeface="HK Modular" panose="020B0604020202020204" charset="0"/>
      <p:regular r:id="rId35"/>
    </p:embeddedFont>
    <p:embeddedFont>
      <p:font typeface="Horizon" panose="020B0604020202020204" charset="0"/>
      <p:regular r:id="rId3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217F43D-2A94-46AF-90C1-C85748EC6597}" v="381" dt="2025-06-07T10:14:44.837"/>
    <p1510:client id="{6EE5FFB5-FA97-431F-A702-10D5039EA187}" v="1704" dt="2025-06-07T07:39:16.444"/>
    <p1510:client id="{8530CCF8-970C-45E7-B10C-1B8DC558D11B}" v="2" dt="2025-06-07T00:43:59.214"/>
    <p1510:client id="{993A952B-EB64-46F1-A797-5574A5E2CF03}" v="26" dt="2025-06-07T00:57:34.844"/>
    <p1510:client id="{BB55558A-5814-425F-BF8E-19951515002E}" v="4" dt="2025-06-07T00:49:22.607"/>
    <p1510:client id="{C229F99B-91FC-4CCB-AA17-9B031DDDE57D}" v="63" dt="2025-06-07T10:24:52.588"/>
    <p1510:client id="{FA7CE110-92A3-92C7-45DA-1740071A6006}" v="76" dt="2025-06-07T01:54:34.27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72" autoAdjust="0"/>
    <p:restoredTop sz="94660"/>
  </p:normalViewPr>
  <p:slideViewPr>
    <p:cSldViewPr snapToGrid="0">
      <p:cViewPr>
        <p:scale>
          <a:sx n="46" d="100"/>
          <a:sy n="46" d="100"/>
        </p:scale>
        <p:origin x="1214" y="25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font" Target="fonts/font5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3.fntdata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7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1.fntdata"/><Relationship Id="rId35" Type="http://schemas.openxmlformats.org/officeDocument/2006/relationships/font" Target="fonts/font6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4.fntdata"/><Relationship Id="rId38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RabbitMQ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RabbitMQ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RabbitMQ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RabbitMQ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RabbitMQ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RabbitMQ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RabbitMQ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RabbitMQ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RabbitMQ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RabbitMQ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RabbitMQ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RabbitMQ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.png"/><Relationship Id="rId4" Type="http://schemas.openxmlformats.org/officeDocument/2006/relationships/image" Target="../media/image17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9.png"/><Relationship Id="rId4" Type="http://schemas.openxmlformats.org/officeDocument/2006/relationships/image" Target="../media/image17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0.png"/><Relationship Id="rId4" Type="http://schemas.openxmlformats.org/officeDocument/2006/relationships/image" Target="../media/image17.jpe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1.png"/><Relationship Id="rId4" Type="http://schemas.openxmlformats.org/officeDocument/2006/relationships/image" Target="../media/image17.jpe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jpe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3.png"/><Relationship Id="rId4" Type="http://schemas.openxmlformats.org/officeDocument/2006/relationships/image" Target="../media/image22.jpe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jpe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4.png"/><Relationship Id="rId4" Type="http://schemas.openxmlformats.org/officeDocument/2006/relationships/image" Target="../media/image22.jpe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7" Type="http://schemas.openxmlformats.org/officeDocument/2006/relationships/hyperlink" Target="https://dev.mysql.com/doc/refman/8.0/en/create-view.html" TargetMode="Externa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dev.mysql.com/doc/refman/8.0/en/triggers.html" TargetMode="External"/><Relationship Id="rId5" Type="http://schemas.openxmlformats.org/officeDocument/2006/relationships/hyperlink" Target="https://dev.mysql.com/doc/refman/8.0/en/sql-start-transaction.html" TargetMode="External"/><Relationship Id="rId4" Type="http://schemas.openxmlformats.org/officeDocument/2006/relationships/hyperlink" Target="https://www.w3schools.com/sql/sql_stored_procedures.asp" TargetMode="Externa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A3D346C-65C5-47AF-91D7-91A1670225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</a:t>
            </a:fld>
            <a:endParaRPr lang="en-US"/>
          </a:p>
        </p:txBody>
      </p:sp>
      <p:grpSp>
        <p:nvGrpSpPr>
          <p:cNvPr id="3" name="Google Shape;88;p1">
            <a:extLst>
              <a:ext uri="{FF2B5EF4-FFF2-40B4-BE49-F238E27FC236}">
                <a16:creationId xmlns:a16="http://schemas.microsoft.com/office/drawing/2014/main" id="{532B16B3-6609-F3A9-8935-1E7E45582B33}"/>
              </a:ext>
            </a:extLst>
          </p:cNvPr>
          <p:cNvGrpSpPr/>
          <p:nvPr/>
        </p:nvGrpSpPr>
        <p:grpSpPr>
          <a:xfrm>
            <a:off x="6775593" y="-328312"/>
            <a:ext cx="11512407" cy="10615312"/>
            <a:chOff x="6375082" y="-144661"/>
            <a:chExt cx="11512407" cy="10615312"/>
          </a:xfrm>
        </p:grpSpPr>
        <p:sp>
          <p:nvSpPr>
            <p:cNvPr id="4" name="Google Shape;89;p1">
              <a:extLst>
                <a:ext uri="{FF2B5EF4-FFF2-40B4-BE49-F238E27FC236}">
                  <a16:creationId xmlns:a16="http://schemas.microsoft.com/office/drawing/2014/main" id="{14F6515C-3699-E1EB-00DB-EF19B900D29D}"/>
                </a:ext>
              </a:extLst>
            </p:cNvPr>
            <p:cNvSpPr/>
            <p:nvPr/>
          </p:nvSpPr>
          <p:spPr>
            <a:xfrm>
              <a:off x="6375082" y="1638300"/>
              <a:ext cx="3726767" cy="6356958"/>
            </a:xfrm>
            <a:custGeom>
              <a:avLst/>
              <a:gdLst/>
              <a:ahLst/>
              <a:cxnLst/>
              <a:rect l="l" t="t" r="r" b="b"/>
              <a:pathLst>
                <a:path w="3726767" h="6356958" extrusionOk="0">
                  <a:moveTo>
                    <a:pt x="0" y="0"/>
                  </a:moveTo>
                  <a:lnTo>
                    <a:pt x="3726766" y="0"/>
                  </a:lnTo>
                  <a:lnTo>
                    <a:pt x="3726766" y="6356958"/>
                  </a:lnTo>
                  <a:lnTo>
                    <a:pt x="0" y="635695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2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5" name="Google Shape;90;p1">
              <a:extLst>
                <a:ext uri="{FF2B5EF4-FFF2-40B4-BE49-F238E27FC236}">
                  <a16:creationId xmlns:a16="http://schemas.microsoft.com/office/drawing/2014/main" id="{A62AA662-476C-E6FB-6E75-8B8F22650C09}"/>
                </a:ext>
              </a:extLst>
            </p:cNvPr>
            <p:cNvGrpSpPr/>
            <p:nvPr/>
          </p:nvGrpSpPr>
          <p:grpSpPr>
            <a:xfrm>
              <a:off x="17569989" y="-144661"/>
              <a:ext cx="317500" cy="10615312"/>
              <a:chOff x="0" y="-38100"/>
              <a:chExt cx="83621" cy="2795802"/>
            </a:xfrm>
          </p:grpSpPr>
          <p:sp>
            <p:nvSpPr>
              <p:cNvPr id="9" name="Google Shape;91;p1">
                <a:extLst>
                  <a:ext uri="{FF2B5EF4-FFF2-40B4-BE49-F238E27FC236}">
                    <a16:creationId xmlns:a16="http://schemas.microsoft.com/office/drawing/2014/main" id="{0EF42A53-F2C5-8EB0-548E-336AE864B302}"/>
                  </a:ext>
                </a:extLst>
              </p:cNvPr>
              <p:cNvSpPr/>
              <p:nvPr/>
            </p:nvSpPr>
            <p:spPr>
              <a:xfrm>
                <a:off x="0" y="0"/>
                <a:ext cx="83621" cy="2757702"/>
              </a:xfrm>
              <a:custGeom>
                <a:avLst/>
                <a:gdLst/>
                <a:ahLst/>
                <a:cxnLst/>
                <a:rect l="l" t="t" r="r" b="b"/>
                <a:pathLst>
                  <a:path w="83621" h="2757702" extrusionOk="0">
                    <a:moveTo>
                      <a:pt x="0" y="0"/>
                    </a:moveTo>
                    <a:lnTo>
                      <a:pt x="83621" y="0"/>
                    </a:lnTo>
                    <a:lnTo>
                      <a:pt x="83621" y="2757702"/>
                    </a:lnTo>
                    <a:lnTo>
                      <a:pt x="0" y="2757702"/>
                    </a:lnTo>
                    <a:close/>
                  </a:path>
                </a:pathLst>
              </a:custGeom>
              <a:solidFill>
                <a:srgbClr val="185C36"/>
              </a:solidFill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" name="Google Shape;92;p1">
                <a:extLst>
                  <a:ext uri="{FF2B5EF4-FFF2-40B4-BE49-F238E27FC236}">
                    <a16:creationId xmlns:a16="http://schemas.microsoft.com/office/drawing/2014/main" id="{099A907C-897C-F2BC-E14D-F698EB5736B9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3621" cy="27958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" name="Google Shape;93;p1">
              <a:extLst>
                <a:ext uri="{FF2B5EF4-FFF2-40B4-BE49-F238E27FC236}">
                  <a16:creationId xmlns:a16="http://schemas.microsoft.com/office/drawing/2014/main" id="{034B7140-8881-3F8C-8481-B3F14C27C36F}"/>
                </a:ext>
              </a:extLst>
            </p:cNvPr>
            <p:cNvGrpSpPr/>
            <p:nvPr/>
          </p:nvGrpSpPr>
          <p:grpSpPr>
            <a:xfrm>
              <a:off x="16107228" y="-144661"/>
              <a:ext cx="1247470" cy="10615312"/>
              <a:chOff x="0" y="-38100"/>
              <a:chExt cx="328552" cy="2795802"/>
            </a:xfrm>
          </p:grpSpPr>
          <p:sp>
            <p:nvSpPr>
              <p:cNvPr id="7" name="Google Shape;94;p1">
                <a:extLst>
                  <a:ext uri="{FF2B5EF4-FFF2-40B4-BE49-F238E27FC236}">
                    <a16:creationId xmlns:a16="http://schemas.microsoft.com/office/drawing/2014/main" id="{642BB787-A66D-E596-8102-0BAF757D14D4}"/>
                  </a:ext>
                </a:extLst>
              </p:cNvPr>
              <p:cNvSpPr/>
              <p:nvPr/>
            </p:nvSpPr>
            <p:spPr>
              <a:xfrm>
                <a:off x="0" y="0"/>
                <a:ext cx="328552" cy="2757702"/>
              </a:xfrm>
              <a:custGeom>
                <a:avLst/>
                <a:gdLst/>
                <a:ahLst/>
                <a:cxnLst/>
                <a:rect l="l" t="t" r="r" b="b"/>
                <a:pathLst>
                  <a:path w="328552" h="2757702" extrusionOk="0">
                    <a:moveTo>
                      <a:pt x="0" y="0"/>
                    </a:moveTo>
                    <a:lnTo>
                      <a:pt x="328552" y="0"/>
                    </a:lnTo>
                    <a:lnTo>
                      <a:pt x="328552" y="2757702"/>
                    </a:lnTo>
                    <a:lnTo>
                      <a:pt x="0" y="2757702"/>
                    </a:lnTo>
                    <a:close/>
                  </a:path>
                </a:pathLst>
              </a:custGeom>
              <a:solidFill>
                <a:srgbClr val="185C36"/>
              </a:solidFill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" name="Google Shape;95;p1">
                <a:extLst>
                  <a:ext uri="{FF2B5EF4-FFF2-40B4-BE49-F238E27FC236}">
                    <a16:creationId xmlns:a16="http://schemas.microsoft.com/office/drawing/2014/main" id="{1E6B82F4-8166-8FE6-137C-48C384277E1D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328552" cy="27958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555496205"/>
      </p:ext>
    </p:extLst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156450" y="3772155"/>
            <a:ext cx="13975099" cy="3838487"/>
            <a:chOff x="-1660529" y="-767358"/>
            <a:chExt cx="18633465" cy="5117984"/>
          </a:xfrm>
        </p:grpSpPr>
        <p:sp>
          <p:nvSpPr>
            <p:cNvPr id="3" name="TextBox 3"/>
            <p:cNvSpPr txBox="1"/>
            <p:nvPr/>
          </p:nvSpPr>
          <p:spPr>
            <a:xfrm>
              <a:off x="-1660529" y="-767358"/>
              <a:ext cx="18633465" cy="4595447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13999"/>
                </a:lnSpc>
              </a:pPr>
              <a:r>
                <a:rPr lang="en-IN" sz="9000" b="1" dirty="0"/>
                <a:t>Understanding fundamentals of Stored Procedures</a:t>
              </a:r>
              <a:endParaRPr lang="en-US" sz="9000" dirty="0">
                <a:ea typeface="+mn-lt"/>
                <a:cs typeface="+mn-lt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1814" y="3828090"/>
              <a:ext cx="15312407" cy="52253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000"/>
                </a:lnSpc>
              </a:pPr>
              <a:endParaRPr lang="en-US" sz="3000">
                <a:latin typeface="Agrandir"/>
                <a:ea typeface="Agrandir"/>
                <a:cs typeface="Agrandir"/>
              </a:endParaRPr>
            </a:p>
          </p:txBody>
        </p:sp>
      </p:grpSp>
      <p:sp>
        <p:nvSpPr>
          <p:cNvPr id="7" name="Freeform 7"/>
          <p:cNvSpPr/>
          <p:nvPr/>
        </p:nvSpPr>
        <p:spPr>
          <a:xfrm>
            <a:off x="-778351" y="635289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/>
          <p:cNvSpPr/>
          <p:nvPr/>
        </p:nvSpPr>
        <p:spPr>
          <a:xfrm>
            <a:off x="16736200" y="4275220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1" name="TextBox 11"/>
          <p:cNvSpPr txBox="1"/>
          <p:nvPr/>
        </p:nvSpPr>
        <p:spPr>
          <a:xfrm>
            <a:off x="13154721" y="8409337"/>
            <a:ext cx="4246034" cy="4616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599"/>
              </a:lnSpc>
            </a:pPr>
            <a:r>
              <a:rPr lang="en-US" sz="3200" b="1" dirty="0">
                <a:latin typeface="Calibri"/>
                <a:ea typeface="Agrandir Bold"/>
                <a:cs typeface="Agrandir Bold"/>
                <a:sym typeface="Agrandir Bold"/>
              </a:rPr>
              <a:t>By : Mr. Shivam Supekar</a:t>
            </a:r>
            <a:endParaRPr lang="en-US" sz="3200" b="1" dirty="0">
              <a:latin typeface="Calibri"/>
              <a:ea typeface="Agrandir Bold"/>
              <a:cs typeface="Agrandir Bold"/>
            </a:endParaRP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A788A892-53E9-C1D1-8945-E37AAF27FE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chemeClr val="tx1"/>
                </a:solidFill>
              </a:rPr>
              <a:pPr/>
              <a:t>2</a:t>
            </a:fld>
            <a:endParaRPr lang="en-GB">
              <a:solidFill>
                <a:schemeClr val="tx1"/>
              </a:solidFill>
            </a:endParaRPr>
          </a:p>
        </p:txBody>
      </p:sp>
      <p:sp>
        <p:nvSpPr>
          <p:cNvPr id="6" name="TextBox 11">
            <a:extLst>
              <a:ext uri="{FF2B5EF4-FFF2-40B4-BE49-F238E27FC236}">
                <a16:creationId xmlns:a16="http://schemas.microsoft.com/office/drawing/2014/main" id="{82FFDF31-5363-B41E-C69B-D365621E0AE1}"/>
              </a:ext>
            </a:extLst>
          </p:cNvPr>
          <p:cNvSpPr txBox="1"/>
          <p:nvPr/>
        </p:nvSpPr>
        <p:spPr>
          <a:xfrm>
            <a:off x="16432940" y="892321"/>
            <a:ext cx="1935631" cy="4816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599"/>
              </a:lnSpc>
            </a:pPr>
            <a:r>
              <a:rPr lang="en-US" sz="4000" b="1" dirty="0">
                <a:latin typeface="Calibri"/>
                <a:ea typeface="Agrandir Bold"/>
                <a:cs typeface="Agrandir Bold"/>
              </a:rPr>
              <a:t>2 / 12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DF8CB70-6943-779A-51B7-154BD85CED9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55290" y="1373990"/>
            <a:ext cx="6617368" cy="2061783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4"/>
          <p:cNvSpPr/>
          <p:nvPr/>
        </p:nvSpPr>
        <p:spPr>
          <a:xfrm>
            <a:off x="-766888" y="1028700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5" name="TextBox 5"/>
          <p:cNvSpPr txBox="1"/>
          <p:nvPr/>
        </p:nvSpPr>
        <p:spPr>
          <a:xfrm>
            <a:off x="4962525" y="1104900"/>
            <a:ext cx="7433384" cy="12919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9900"/>
              </a:lnSpc>
            </a:pPr>
            <a:r>
              <a:rPr lang="en-US" sz="9000" b="1" dirty="0">
                <a:solidFill>
                  <a:srgbClr val="8D0A75"/>
                </a:solidFill>
                <a:latin typeface="Heebo Black"/>
                <a:ea typeface="Heebo Black"/>
                <a:cs typeface="Heebo Black"/>
                <a:sym typeface="Heebo Black"/>
              </a:rPr>
              <a:t>Agenda</a:t>
            </a:r>
          </a:p>
        </p:txBody>
      </p:sp>
      <p:sp>
        <p:nvSpPr>
          <p:cNvPr id="7" name="Freeform 7"/>
          <p:cNvSpPr/>
          <p:nvPr/>
        </p:nvSpPr>
        <p:spPr>
          <a:xfrm>
            <a:off x="11549380" y="-1258572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/>
          <p:cNvSpPr/>
          <p:nvPr/>
        </p:nvSpPr>
        <p:spPr>
          <a:xfrm>
            <a:off x="15828568" y="8889125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9" name="Group 9"/>
          <p:cNvGrpSpPr/>
          <p:nvPr/>
        </p:nvGrpSpPr>
        <p:grpSpPr>
          <a:xfrm>
            <a:off x="4775098" y="2912245"/>
            <a:ext cx="5548532" cy="881343"/>
            <a:chOff x="0" y="0"/>
            <a:chExt cx="7398043" cy="1175123"/>
          </a:xfrm>
        </p:grpSpPr>
        <p:grpSp>
          <p:nvGrpSpPr>
            <p:cNvPr id="10" name="Group 10"/>
            <p:cNvGrpSpPr>
              <a:grpSpLocks noChangeAspect="1"/>
            </p:cNvGrpSpPr>
            <p:nvPr/>
          </p:nvGrpSpPr>
          <p:grpSpPr>
            <a:xfrm>
              <a:off x="0" y="0"/>
              <a:ext cx="1175123" cy="1175123"/>
              <a:chOff x="-2540" y="-2540"/>
              <a:chExt cx="6355080" cy="6355080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-2540" y="-2540"/>
                <a:ext cx="6355080" cy="6355080"/>
              </a:xfrm>
              <a:custGeom>
                <a:avLst/>
                <a:gdLst/>
                <a:ahLst/>
                <a:cxnLst/>
                <a:rect l="l" t="t" r="r" b="b"/>
                <a:pathLst>
                  <a:path w="6355080" h="6355080">
                    <a:moveTo>
                      <a:pt x="3177540" y="6355080"/>
                    </a:moveTo>
                    <a:cubicBezTo>
                      <a:pt x="2329180" y="6355080"/>
                      <a:pt x="1530350" y="6024880"/>
                      <a:pt x="930910" y="5424170"/>
                    </a:cubicBezTo>
                    <a:cubicBezTo>
                      <a:pt x="330200" y="4824730"/>
                      <a:pt x="0" y="4025900"/>
                      <a:pt x="0" y="3177540"/>
                    </a:cubicBezTo>
                    <a:cubicBezTo>
                      <a:pt x="0" y="2329180"/>
                      <a:pt x="330200" y="1530350"/>
                      <a:pt x="930910" y="930910"/>
                    </a:cubicBezTo>
                    <a:cubicBezTo>
                      <a:pt x="1530350" y="330200"/>
                      <a:pt x="2329180" y="0"/>
                      <a:pt x="3177540" y="0"/>
                    </a:cubicBezTo>
                    <a:cubicBezTo>
                      <a:pt x="4025900" y="0"/>
                      <a:pt x="4824730" y="330200"/>
                      <a:pt x="5424170" y="930910"/>
                    </a:cubicBezTo>
                    <a:cubicBezTo>
                      <a:pt x="6024880" y="1531620"/>
                      <a:pt x="6355080" y="2329180"/>
                      <a:pt x="6355080" y="3177540"/>
                    </a:cubicBezTo>
                    <a:cubicBezTo>
                      <a:pt x="6355080" y="4025900"/>
                      <a:pt x="6024880" y="4824730"/>
                      <a:pt x="5424170" y="5424170"/>
                    </a:cubicBezTo>
                    <a:cubicBezTo>
                      <a:pt x="4824730" y="6024880"/>
                      <a:pt x="4025900" y="6355080"/>
                      <a:pt x="3177540" y="6355080"/>
                    </a:cubicBezTo>
                    <a:close/>
                    <a:moveTo>
                      <a:pt x="3177540" y="190500"/>
                    </a:moveTo>
                    <a:cubicBezTo>
                      <a:pt x="2379980" y="190500"/>
                      <a:pt x="1629410" y="501650"/>
                      <a:pt x="1065530" y="1065530"/>
                    </a:cubicBezTo>
                    <a:cubicBezTo>
                      <a:pt x="501650" y="1629410"/>
                      <a:pt x="190500" y="2379980"/>
                      <a:pt x="190500" y="3177540"/>
                    </a:cubicBezTo>
                    <a:cubicBezTo>
                      <a:pt x="190500" y="3975100"/>
                      <a:pt x="501650" y="4725670"/>
                      <a:pt x="1065530" y="5289550"/>
                    </a:cubicBezTo>
                    <a:cubicBezTo>
                      <a:pt x="1629410" y="5853430"/>
                      <a:pt x="2379980" y="6164580"/>
                      <a:pt x="3177540" y="6164580"/>
                    </a:cubicBezTo>
                    <a:cubicBezTo>
                      <a:pt x="3975100" y="6164580"/>
                      <a:pt x="4725670" y="5853430"/>
                      <a:pt x="5289550" y="5289550"/>
                    </a:cubicBezTo>
                    <a:cubicBezTo>
                      <a:pt x="5853430" y="4725670"/>
                      <a:pt x="6164580" y="3975100"/>
                      <a:pt x="6164580" y="3177540"/>
                    </a:cubicBezTo>
                    <a:cubicBezTo>
                      <a:pt x="6164580" y="2379980"/>
                      <a:pt x="5853430" y="1629410"/>
                      <a:pt x="5289550" y="1065530"/>
                    </a:cubicBezTo>
                    <a:cubicBezTo>
                      <a:pt x="4725670" y="501650"/>
                      <a:pt x="3975100" y="190500"/>
                      <a:pt x="3177540" y="190500"/>
                    </a:cubicBezTo>
                    <a:close/>
                  </a:path>
                </a:pathLst>
              </a:custGeom>
              <a:solidFill>
                <a:srgbClr val="33123B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  <p:sp>
          <p:nvSpPr>
            <p:cNvPr id="12" name="TextBox 12"/>
            <p:cNvSpPr txBox="1"/>
            <p:nvPr/>
          </p:nvSpPr>
          <p:spPr>
            <a:xfrm>
              <a:off x="366298" y="335404"/>
              <a:ext cx="442528" cy="52336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612"/>
                </a:lnSpc>
                <a:spcBef>
                  <a:spcPct val="0"/>
                </a:spcBef>
              </a:pPr>
              <a:r>
                <a:rPr lang="en-US" sz="2721" b="1" u="none">
                  <a:solidFill>
                    <a:srgbClr val="33123B"/>
                  </a:solidFill>
                  <a:latin typeface="Horizon"/>
                  <a:ea typeface="Horizon"/>
                  <a:cs typeface="Horizon"/>
                  <a:sym typeface="Horizon"/>
                </a:rPr>
                <a:t>1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810123" y="270697"/>
              <a:ext cx="5587920" cy="49244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lvl="0"/>
              <a:r>
                <a:rPr lang="en-US" sz="2400" dirty="0"/>
                <a:t>S</a:t>
              </a:r>
              <a:r>
                <a:rPr lang="en-IN" sz="2400" dirty="0"/>
                <a:t>tored Procedures Introduction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1017501" y="2912245"/>
            <a:ext cx="5548532" cy="941687"/>
            <a:chOff x="0" y="0"/>
            <a:chExt cx="7398043" cy="1255581"/>
          </a:xfrm>
        </p:grpSpPr>
        <p:grpSp>
          <p:nvGrpSpPr>
            <p:cNvPr id="15" name="Group 15"/>
            <p:cNvGrpSpPr>
              <a:grpSpLocks noChangeAspect="1"/>
            </p:cNvGrpSpPr>
            <p:nvPr/>
          </p:nvGrpSpPr>
          <p:grpSpPr>
            <a:xfrm>
              <a:off x="0" y="0"/>
              <a:ext cx="1175123" cy="1175123"/>
              <a:chOff x="-2540" y="-2540"/>
              <a:chExt cx="6355080" cy="6355080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-2540" y="-2540"/>
                <a:ext cx="6355080" cy="6355080"/>
              </a:xfrm>
              <a:custGeom>
                <a:avLst/>
                <a:gdLst/>
                <a:ahLst/>
                <a:cxnLst/>
                <a:rect l="l" t="t" r="r" b="b"/>
                <a:pathLst>
                  <a:path w="6355080" h="6355080">
                    <a:moveTo>
                      <a:pt x="3177540" y="6355080"/>
                    </a:moveTo>
                    <a:cubicBezTo>
                      <a:pt x="2329180" y="6355080"/>
                      <a:pt x="1530350" y="6024880"/>
                      <a:pt x="930910" y="5424170"/>
                    </a:cubicBezTo>
                    <a:cubicBezTo>
                      <a:pt x="330200" y="4824730"/>
                      <a:pt x="0" y="4025900"/>
                      <a:pt x="0" y="3177540"/>
                    </a:cubicBezTo>
                    <a:cubicBezTo>
                      <a:pt x="0" y="2329180"/>
                      <a:pt x="330200" y="1530350"/>
                      <a:pt x="930910" y="930910"/>
                    </a:cubicBezTo>
                    <a:cubicBezTo>
                      <a:pt x="1530350" y="330200"/>
                      <a:pt x="2329180" y="0"/>
                      <a:pt x="3177540" y="0"/>
                    </a:cubicBezTo>
                    <a:cubicBezTo>
                      <a:pt x="4025900" y="0"/>
                      <a:pt x="4824730" y="330200"/>
                      <a:pt x="5424170" y="930910"/>
                    </a:cubicBezTo>
                    <a:cubicBezTo>
                      <a:pt x="6024880" y="1531620"/>
                      <a:pt x="6355080" y="2329180"/>
                      <a:pt x="6355080" y="3177540"/>
                    </a:cubicBezTo>
                    <a:cubicBezTo>
                      <a:pt x="6355080" y="4025900"/>
                      <a:pt x="6024880" y="4824730"/>
                      <a:pt x="5424170" y="5424170"/>
                    </a:cubicBezTo>
                    <a:cubicBezTo>
                      <a:pt x="4824730" y="6024880"/>
                      <a:pt x="4025900" y="6355080"/>
                      <a:pt x="3177540" y="6355080"/>
                    </a:cubicBezTo>
                    <a:close/>
                    <a:moveTo>
                      <a:pt x="3177540" y="190500"/>
                    </a:moveTo>
                    <a:cubicBezTo>
                      <a:pt x="2379980" y="190500"/>
                      <a:pt x="1629410" y="501650"/>
                      <a:pt x="1065530" y="1065530"/>
                    </a:cubicBezTo>
                    <a:cubicBezTo>
                      <a:pt x="501650" y="1629410"/>
                      <a:pt x="190500" y="2379980"/>
                      <a:pt x="190500" y="3177540"/>
                    </a:cubicBezTo>
                    <a:cubicBezTo>
                      <a:pt x="190500" y="3975100"/>
                      <a:pt x="501650" y="4725670"/>
                      <a:pt x="1065530" y="5289550"/>
                    </a:cubicBezTo>
                    <a:cubicBezTo>
                      <a:pt x="1629410" y="5853430"/>
                      <a:pt x="2379980" y="6164580"/>
                      <a:pt x="3177540" y="6164580"/>
                    </a:cubicBezTo>
                    <a:cubicBezTo>
                      <a:pt x="3975100" y="6164580"/>
                      <a:pt x="4725670" y="5853430"/>
                      <a:pt x="5289550" y="5289550"/>
                    </a:cubicBezTo>
                    <a:cubicBezTo>
                      <a:pt x="5853430" y="4725670"/>
                      <a:pt x="6164580" y="3975100"/>
                      <a:pt x="6164580" y="3177540"/>
                    </a:cubicBezTo>
                    <a:cubicBezTo>
                      <a:pt x="6164580" y="2379980"/>
                      <a:pt x="5853430" y="1629410"/>
                      <a:pt x="5289550" y="1065530"/>
                    </a:cubicBezTo>
                    <a:cubicBezTo>
                      <a:pt x="4725670" y="501650"/>
                      <a:pt x="3975100" y="190500"/>
                      <a:pt x="3177540" y="190500"/>
                    </a:cubicBezTo>
                    <a:close/>
                  </a:path>
                </a:pathLst>
              </a:custGeom>
              <a:solidFill>
                <a:srgbClr val="33123B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  <p:sp>
          <p:nvSpPr>
            <p:cNvPr id="17" name="TextBox 17"/>
            <p:cNvSpPr txBox="1"/>
            <p:nvPr/>
          </p:nvSpPr>
          <p:spPr>
            <a:xfrm>
              <a:off x="366297" y="335404"/>
              <a:ext cx="442528" cy="4565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612"/>
                </a:lnSpc>
                <a:spcBef>
                  <a:spcPct val="0"/>
                </a:spcBef>
              </a:pPr>
              <a:r>
                <a:rPr lang="en-US" sz="2400" b="1">
                  <a:solidFill>
                    <a:srgbClr val="33123B"/>
                  </a:solidFill>
                  <a:latin typeface="Horizon"/>
                  <a:ea typeface="Horizon"/>
                  <a:cs typeface="Horizon"/>
                  <a:sym typeface="Horizon"/>
                </a:rPr>
                <a:t>2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810123" y="270697"/>
              <a:ext cx="5587920" cy="98488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lvl="0"/>
              <a:r>
                <a:rPr lang="en-US" sz="2400" dirty="0"/>
                <a:t>Create,Modify,parameters ,results</a:t>
              </a:r>
              <a:endParaRPr lang="en-IN" sz="2400" dirty="0"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4775098" y="4284467"/>
            <a:ext cx="5548532" cy="881343"/>
            <a:chOff x="0" y="0"/>
            <a:chExt cx="7398043" cy="1175123"/>
          </a:xfrm>
        </p:grpSpPr>
        <p:grpSp>
          <p:nvGrpSpPr>
            <p:cNvPr id="20" name="Group 20"/>
            <p:cNvGrpSpPr>
              <a:grpSpLocks noChangeAspect="1"/>
            </p:cNvGrpSpPr>
            <p:nvPr/>
          </p:nvGrpSpPr>
          <p:grpSpPr>
            <a:xfrm>
              <a:off x="0" y="0"/>
              <a:ext cx="1175123" cy="1175123"/>
              <a:chOff x="-2540" y="-2540"/>
              <a:chExt cx="6355080" cy="6355080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-2540" y="-2540"/>
                <a:ext cx="6355080" cy="6355080"/>
              </a:xfrm>
              <a:custGeom>
                <a:avLst/>
                <a:gdLst/>
                <a:ahLst/>
                <a:cxnLst/>
                <a:rect l="l" t="t" r="r" b="b"/>
                <a:pathLst>
                  <a:path w="6355080" h="6355080">
                    <a:moveTo>
                      <a:pt x="3177540" y="6355080"/>
                    </a:moveTo>
                    <a:cubicBezTo>
                      <a:pt x="2329180" y="6355080"/>
                      <a:pt x="1530350" y="6024880"/>
                      <a:pt x="930910" y="5424170"/>
                    </a:cubicBezTo>
                    <a:cubicBezTo>
                      <a:pt x="330200" y="4824730"/>
                      <a:pt x="0" y="4025900"/>
                      <a:pt x="0" y="3177540"/>
                    </a:cubicBezTo>
                    <a:cubicBezTo>
                      <a:pt x="0" y="2329180"/>
                      <a:pt x="330200" y="1530350"/>
                      <a:pt x="930910" y="930910"/>
                    </a:cubicBezTo>
                    <a:cubicBezTo>
                      <a:pt x="1530350" y="330200"/>
                      <a:pt x="2329180" y="0"/>
                      <a:pt x="3177540" y="0"/>
                    </a:cubicBezTo>
                    <a:cubicBezTo>
                      <a:pt x="4025900" y="0"/>
                      <a:pt x="4824730" y="330200"/>
                      <a:pt x="5424170" y="930910"/>
                    </a:cubicBezTo>
                    <a:cubicBezTo>
                      <a:pt x="6024880" y="1531620"/>
                      <a:pt x="6355080" y="2329180"/>
                      <a:pt x="6355080" y="3177540"/>
                    </a:cubicBezTo>
                    <a:cubicBezTo>
                      <a:pt x="6355080" y="4025900"/>
                      <a:pt x="6024880" y="4824730"/>
                      <a:pt x="5424170" y="5424170"/>
                    </a:cubicBezTo>
                    <a:cubicBezTo>
                      <a:pt x="4824730" y="6024880"/>
                      <a:pt x="4025900" y="6355080"/>
                      <a:pt x="3177540" y="6355080"/>
                    </a:cubicBezTo>
                    <a:close/>
                    <a:moveTo>
                      <a:pt x="3177540" y="190500"/>
                    </a:moveTo>
                    <a:cubicBezTo>
                      <a:pt x="2379980" y="190500"/>
                      <a:pt x="1629410" y="501650"/>
                      <a:pt x="1065530" y="1065530"/>
                    </a:cubicBezTo>
                    <a:cubicBezTo>
                      <a:pt x="501650" y="1629410"/>
                      <a:pt x="190500" y="2379980"/>
                      <a:pt x="190500" y="3177540"/>
                    </a:cubicBezTo>
                    <a:cubicBezTo>
                      <a:pt x="190500" y="3975100"/>
                      <a:pt x="501650" y="4725670"/>
                      <a:pt x="1065530" y="5289550"/>
                    </a:cubicBezTo>
                    <a:cubicBezTo>
                      <a:pt x="1629410" y="5853430"/>
                      <a:pt x="2379980" y="6164580"/>
                      <a:pt x="3177540" y="6164580"/>
                    </a:cubicBezTo>
                    <a:cubicBezTo>
                      <a:pt x="3975100" y="6164580"/>
                      <a:pt x="4725670" y="5853430"/>
                      <a:pt x="5289550" y="5289550"/>
                    </a:cubicBezTo>
                    <a:cubicBezTo>
                      <a:pt x="5853430" y="4725670"/>
                      <a:pt x="6164580" y="3975100"/>
                      <a:pt x="6164580" y="3177540"/>
                    </a:cubicBezTo>
                    <a:cubicBezTo>
                      <a:pt x="6164580" y="2379980"/>
                      <a:pt x="5853430" y="1629410"/>
                      <a:pt x="5289550" y="1065530"/>
                    </a:cubicBezTo>
                    <a:cubicBezTo>
                      <a:pt x="4725670" y="501650"/>
                      <a:pt x="3975100" y="190500"/>
                      <a:pt x="3177540" y="190500"/>
                    </a:cubicBezTo>
                    <a:close/>
                  </a:path>
                </a:pathLst>
              </a:custGeom>
              <a:solidFill>
                <a:srgbClr val="33123B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  <p:sp>
          <p:nvSpPr>
            <p:cNvPr id="22" name="TextBox 22"/>
            <p:cNvSpPr txBox="1"/>
            <p:nvPr/>
          </p:nvSpPr>
          <p:spPr>
            <a:xfrm>
              <a:off x="366297" y="335404"/>
              <a:ext cx="442528" cy="4565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612"/>
                </a:lnSpc>
                <a:spcBef>
                  <a:spcPct val="0"/>
                </a:spcBef>
              </a:pPr>
              <a:r>
                <a:rPr lang="en-US" sz="2400" b="1">
                  <a:solidFill>
                    <a:srgbClr val="33123B"/>
                  </a:solidFill>
                  <a:latin typeface="Horizon"/>
                  <a:ea typeface="Horizon"/>
                  <a:cs typeface="Horizon"/>
                  <a:sym typeface="Horizon"/>
                </a:rPr>
                <a:t>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810123" y="270697"/>
              <a:ext cx="5587920" cy="49244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just"/>
              <a:r>
                <a:rPr lang="en-US" sz="2400" dirty="0">
                  <a:solidFill>
                    <a:srgbClr val="33123B"/>
                  </a:solidFill>
                  <a:ea typeface="+mn-lt"/>
                  <a:cs typeface="+mn-lt"/>
                  <a:sym typeface="Agrandir"/>
                </a:rPr>
                <a:t>Handling Exceptions</a:t>
              </a:r>
              <a:endParaRPr lang="en-GB" sz="2400" dirty="0">
                <a:solidFill>
                  <a:srgbClr val="33123B"/>
                </a:solidFill>
                <a:latin typeface="Aptos"/>
              </a:endParaRP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4775098" y="5656690"/>
            <a:ext cx="5548532" cy="881343"/>
            <a:chOff x="0" y="0"/>
            <a:chExt cx="7398043" cy="1175123"/>
          </a:xfrm>
        </p:grpSpPr>
        <p:grpSp>
          <p:nvGrpSpPr>
            <p:cNvPr id="25" name="Group 25"/>
            <p:cNvGrpSpPr>
              <a:grpSpLocks noChangeAspect="1"/>
            </p:cNvGrpSpPr>
            <p:nvPr/>
          </p:nvGrpSpPr>
          <p:grpSpPr>
            <a:xfrm>
              <a:off x="0" y="0"/>
              <a:ext cx="1175123" cy="1175123"/>
              <a:chOff x="-2540" y="-2540"/>
              <a:chExt cx="6355080" cy="6355080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-2540" y="-2540"/>
                <a:ext cx="6355080" cy="6355080"/>
              </a:xfrm>
              <a:custGeom>
                <a:avLst/>
                <a:gdLst/>
                <a:ahLst/>
                <a:cxnLst/>
                <a:rect l="l" t="t" r="r" b="b"/>
                <a:pathLst>
                  <a:path w="6355080" h="6355080">
                    <a:moveTo>
                      <a:pt x="3177540" y="6355080"/>
                    </a:moveTo>
                    <a:cubicBezTo>
                      <a:pt x="2329180" y="6355080"/>
                      <a:pt x="1530350" y="6024880"/>
                      <a:pt x="930910" y="5424170"/>
                    </a:cubicBezTo>
                    <a:cubicBezTo>
                      <a:pt x="330200" y="4824730"/>
                      <a:pt x="0" y="4025900"/>
                      <a:pt x="0" y="3177540"/>
                    </a:cubicBezTo>
                    <a:cubicBezTo>
                      <a:pt x="0" y="2329180"/>
                      <a:pt x="330200" y="1530350"/>
                      <a:pt x="930910" y="930910"/>
                    </a:cubicBezTo>
                    <a:cubicBezTo>
                      <a:pt x="1530350" y="330200"/>
                      <a:pt x="2329180" y="0"/>
                      <a:pt x="3177540" y="0"/>
                    </a:cubicBezTo>
                    <a:cubicBezTo>
                      <a:pt x="4025900" y="0"/>
                      <a:pt x="4824730" y="330200"/>
                      <a:pt x="5424170" y="930910"/>
                    </a:cubicBezTo>
                    <a:cubicBezTo>
                      <a:pt x="6024880" y="1531620"/>
                      <a:pt x="6355080" y="2329180"/>
                      <a:pt x="6355080" y="3177540"/>
                    </a:cubicBezTo>
                    <a:cubicBezTo>
                      <a:pt x="6355080" y="4025900"/>
                      <a:pt x="6024880" y="4824730"/>
                      <a:pt x="5424170" y="5424170"/>
                    </a:cubicBezTo>
                    <a:cubicBezTo>
                      <a:pt x="4824730" y="6024880"/>
                      <a:pt x="4025900" y="6355080"/>
                      <a:pt x="3177540" y="6355080"/>
                    </a:cubicBezTo>
                    <a:close/>
                    <a:moveTo>
                      <a:pt x="3177540" y="190500"/>
                    </a:moveTo>
                    <a:cubicBezTo>
                      <a:pt x="2379980" y="190500"/>
                      <a:pt x="1629410" y="501650"/>
                      <a:pt x="1065530" y="1065530"/>
                    </a:cubicBezTo>
                    <a:cubicBezTo>
                      <a:pt x="501650" y="1629410"/>
                      <a:pt x="190500" y="2379980"/>
                      <a:pt x="190500" y="3177540"/>
                    </a:cubicBezTo>
                    <a:cubicBezTo>
                      <a:pt x="190500" y="3975100"/>
                      <a:pt x="501650" y="4725670"/>
                      <a:pt x="1065530" y="5289550"/>
                    </a:cubicBezTo>
                    <a:cubicBezTo>
                      <a:pt x="1629410" y="5853430"/>
                      <a:pt x="2379980" y="6164580"/>
                      <a:pt x="3177540" y="6164580"/>
                    </a:cubicBezTo>
                    <a:cubicBezTo>
                      <a:pt x="3975100" y="6164580"/>
                      <a:pt x="4725670" y="5853430"/>
                      <a:pt x="5289550" y="5289550"/>
                    </a:cubicBezTo>
                    <a:cubicBezTo>
                      <a:pt x="5853430" y="4725670"/>
                      <a:pt x="6164580" y="3975100"/>
                      <a:pt x="6164580" y="3177540"/>
                    </a:cubicBezTo>
                    <a:cubicBezTo>
                      <a:pt x="6164580" y="2379980"/>
                      <a:pt x="5853430" y="1629410"/>
                      <a:pt x="5289550" y="1065530"/>
                    </a:cubicBezTo>
                    <a:cubicBezTo>
                      <a:pt x="4725670" y="501650"/>
                      <a:pt x="3975100" y="190500"/>
                      <a:pt x="3177540" y="190500"/>
                    </a:cubicBezTo>
                    <a:close/>
                  </a:path>
                </a:pathLst>
              </a:custGeom>
              <a:solidFill>
                <a:srgbClr val="33123B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  <p:sp>
          <p:nvSpPr>
            <p:cNvPr id="27" name="TextBox 27"/>
            <p:cNvSpPr txBox="1"/>
            <p:nvPr/>
          </p:nvSpPr>
          <p:spPr>
            <a:xfrm>
              <a:off x="366297" y="335404"/>
              <a:ext cx="442528" cy="4565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612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33123B"/>
                  </a:solidFill>
                  <a:latin typeface="Horizon"/>
                  <a:ea typeface="Horizon"/>
                  <a:cs typeface="Horizon"/>
                  <a:sym typeface="Horizon"/>
                </a:rPr>
                <a:t>5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810123" y="270697"/>
              <a:ext cx="5587920" cy="48021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2939"/>
                </a:lnSpc>
                <a:spcBef>
                  <a:spcPct val="0"/>
                </a:spcBef>
              </a:pPr>
              <a:r>
                <a:rPr lang="en-US" sz="2400" dirty="0">
                  <a:solidFill>
                    <a:srgbClr val="33123B"/>
                  </a:solidFill>
                  <a:ea typeface="Calibri"/>
                  <a:cs typeface="Calibri"/>
                  <a:sym typeface="Agrandir"/>
                </a:rPr>
                <a:t>Triggers, Views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4775098" y="7033333"/>
            <a:ext cx="5548532" cy="881343"/>
            <a:chOff x="0" y="0"/>
            <a:chExt cx="7398043" cy="1175123"/>
          </a:xfrm>
        </p:grpSpPr>
        <p:grpSp>
          <p:nvGrpSpPr>
            <p:cNvPr id="30" name="Group 30"/>
            <p:cNvGrpSpPr>
              <a:grpSpLocks noChangeAspect="1"/>
            </p:cNvGrpSpPr>
            <p:nvPr/>
          </p:nvGrpSpPr>
          <p:grpSpPr>
            <a:xfrm>
              <a:off x="0" y="0"/>
              <a:ext cx="1175123" cy="1175123"/>
              <a:chOff x="-2540" y="-2540"/>
              <a:chExt cx="6355080" cy="6355080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-2540" y="-2540"/>
                <a:ext cx="6355080" cy="6355080"/>
              </a:xfrm>
              <a:custGeom>
                <a:avLst/>
                <a:gdLst/>
                <a:ahLst/>
                <a:cxnLst/>
                <a:rect l="l" t="t" r="r" b="b"/>
                <a:pathLst>
                  <a:path w="6355080" h="6355080">
                    <a:moveTo>
                      <a:pt x="3177540" y="6355080"/>
                    </a:moveTo>
                    <a:cubicBezTo>
                      <a:pt x="2329180" y="6355080"/>
                      <a:pt x="1530350" y="6024880"/>
                      <a:pt x="930910" y="5424170"/>
                    </a:cubicBezTo>
                    <a:cubicBezTo>
                      <a:pt x="330200" y="4824730"/>
                      <a:pt x="0" y="4025900"/>
                      <a:pt x="0" y="3177540"/>
                    </a:cubicBezTo>
                    <a:cubicBezTo>
                      <a:pt x="0" y="2329180"/>
                      <a:pt x="330200" y="1530350"/>
                      <a:pt x="930910" y="930910"/>
                    </a:cubicBezTo>
                    <a:cubicBezTo>
                      <a:pt x="1530350" y="330200"/>
                      <a:pt x="2329180" y="0"/>
                      <a:pt x="3177540" y="0"/>
                    </a:cubicBezTo>
                    <a:cubicBezTo>
                      <a:pt x="4025900" y="0"/>
                      <a:pt x="4824730" y="330200"/>
                      <a:pt x="5424170" y="930910"/>
                    </a:cubicBezTo>
                    <a:cubicBezTo>
                      <a:pt x="6024880" y="1531620"/>
                      <a:pt x="6355080" y="2329180"/>
                      <a:pt x="6355080" y="3177540"/>
                    </a:cubicBezTo>
                    <a:cubicBezTo>
                      <a:pt x="6355080" y="4025900"/>
                      <a:pt x="6024880" y="4824730"/>
                      <a:pt x="5424170" y="5424170"/>
                    </a:cubicBezTo>
                    <a:cubicBezTo>
                      <a:pt x="4824730" y="6024880"/>
                      <a:pt x="4025900" y="6355080"/>
                      <a:pt x="3177540" y="6355080"/>
                    </a:cubicBezTo>
                    <a:close/>
                    <a:moveTo>
                      <a:pt x="3177540" y="190500"/>
                    </a:moveTo>
                    <a:cubicBezTo>
                      <a:pt x="2379980" y="190500"/>
                      <a:pt x="1629410" y="501650"/>
                      <a:pt x="1065530" y="1065530"/>
                    </a:cubicBezTo>
                    <a:cubicBezTo>
                      <a:pt x="501650" y="1629410"/>
                      <a:pt x="190500" y="2379980"/>
                      <a:pt x="190500" y="3177540"/>
                    </a:cubicBezTo>
                    <a:cubicBezTo>
                      <a:pt x="190500" y="3975100"/>
                      <a:pt x="501650" y="4725670"/>
                      <a:pt x="1065530" y="5289550"/>
                    </a:cubicBezTo>
                    <a:cubicBezTo>
                      <a:pt x="1629410" y="5853430"/>
                      <a:pt x="2379980" y="6164580"/>
                      <a:pt x="3177540" y="6164580"/>
                    </a:cubicBezTo>
                    <a:cubicBezTo>
                      <a:pt x="3975100" y="6164580"/>
                      <a:pt x="4725670" y="5853430"/>
                      <a:pt x="5289550" y="5289550"/>
                    </a:cubicBezTo>
                    <a:cubicBezTo>
                      <a:pt x="5853430" y="4725670"/>
                      <a:pt x="6164580" y="3975100"/>
                      <a:pt x="6164580" y="3177540"/>
                    </a:cubicBezTo>
                    <a:cubicBezTo>
                      <a:pt x="6164580" y="2379980"/>
                      <a:pt x="5853430" y="1629410"/>
                      <a:pt x="5289550" y="1065530"/>
                    </a:cubicBezTo>
                    <a:cubicBezTo>
                      <a:pt x="4725670" y="501650"/>
                      <a:pt x="3975100" y="190500"/>
                      <a:pt x="3177540" y="190500"/>
                    </a:cubicBezTo>
                    <a:close/>
                  </a:path>
                </a:pathLst>
              </a:custGeom>
              <a:solidFill>
                <a:srgbClr val="33123B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  <p:sp>
          <p:nvSpPr>
            <p:cNvPr id="32" name="TextBox 32"/>
            <p:cNvSpPr txBox="1"/>
            <p:nvPr/>
          </p:nvSpPr>
          <p:spPr>
            <a:xfrm>
              <a:off x="366297" y="335404"/>
              <a:ext cx="442528" cy="4565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612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33123B"/>
                  </a:solidFill>
                  <a:latin typeface="Horizon" panose="020B0604020202020204" charset="0"/>
                  <a:ea typeface="Calibri"/>
                  <a:cs typeface="Calibri"/>
                  <a:sym typeface="Horizon"/>
                </a:rPr>
                <a:t>7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810123" y="270697"/>
              <a:ext cx="5587920" cy="48021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lvl="0">
                <a:lnSpc>
                  <a:spcPts val="2939"/>
                </a:lnSpc>
                <a:spcBef>
                  <a:spcPct val="0"/>
                </a:spcBef>
              </a:pPr>
              <a:r>
                <a:rPr lang="en-US" sz="2400" dirty="0">
                  <a:solidFill>
                    <a:srgbClr val="33123B"/>
                  </a:solidFill>
                  <a:ea typeface="Calibri"/>
                  <a:cs typeface="Calibri"/>
                  <a:sym typeface="Agrandir"/>
                </a:rPr>
                <a:t>Assignment 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11017501" y="4284467"/>
            <a:ext cx="5548532" cy="935083"/>
            <a:chOff x="0" y="0"/>
            <a:chExt cx="7398043" cy="1246776"/>
          </a:xfrm>
        </p:grpSpPr>
        <p:grpSp>
          <p:nvGrpSpPr>
            <p:cNvPr id="35" name="Group 35"/>
            <p:cNvGrpSpPr>
              <a:grpSpLocks noChangeAspect="1"/>
            </p:cNvGrpSpPr>
            <p:nvPr/>
          </p:nvGrpSpPr>
          <p:grpSpPr>
            <a:xfrm>
              <a:off x="0" y="0"/>
              <a:ext cx="1175123" cy="1175123"/>
              <a:chOff x="-2540" y="-2540"/>
              <a:chExt cx="6355080" cy="6355080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-2540" y="-2540"/>
                <a:ext cx="6355080" cy="6355080"/>
              </a:xfrm>
              <a:custGeom>
                <a:avLst/>
                <a:gdLst/>
                <a:ahLst/>
                <a:cxnLst/>
                <a:rect l="l" t="t" r="r" b="b"/>
                <a:pathLst>
                  <a:path w="6355080" h="6355080">
                    <a:moveTo>
                      <a:pt x="3177540" y="6355080"/>
                    </a:moveTo>
                    <a:cubicBezTo>
                      <a:pt x="2329180" y="6355080"/>
                      <a:pt x="1530350" y="6024880"/>
                      <a:pt x="930910" y="5424170"/>
                    </a:cubicBezTo>
                    <a:cubicBezTo>
                      <a:pt x="330200" y="4824730"/>
                      <a:pt x="0" y="4025900"/>
                      <a:pt x="0" y="3177540"/>
                    </a:cubicBezTo>
                    <a:cubicBezTo>
                      <a:pt x="0" y="2329180"/>
                      <a:pt x="330200" y="1530350"/>
                      <a:pt x="930910" y="930910"/>
                    </a:cubicBezTo>
                    <a:cubicBezTo>
                      <a:pt x="1530350" y="330200"/>
                      <a:pt x="2329180" y="0"/>
                      <a:pt x="3177540" y="0"/>
                    </a:cubicBezTo>
                    <a:cubicBezTo>
                      <a:pt x="4025900" y="0"/>
                      <a:pt x="4824730" y="330200"/>
                      <a:pt x="5424170" y="930910"/>
                    </a:cubicBezTo>
                    <a:cubicBezTo>
                      <a:pt x="6024880" y="1531620"/>
                      <a:pt x="6355080" y="2329180"/>
                      <a:pt x="6355080" y="3177540"/>
                    </a:cubicBezTo>
                    <a:cubicBezTo>
                      <a:pt x="6355080" y="4025900"/>
                      <a:pt x="6024880" y="4824730"/>
                      <a:pt x="5424170" y="5424170"/>
                    </a:cubicBezTo>
                    <a:cubicBezTo>
                      <a:pt x="4824730" y="6024880"/>
                      <a:pt x="4025900" y="6355080"/>
                      <a:pt x="3177540" y="6355080"/>
                    </a:cubicBezTo>
                    <a:close/>
                    <a:moveTo>
                      <a:pt x="3177540" y="190500"/>
                    </a:moveTo>
                    <a:cubicBezTo>
                      <a:pt x="2379980" y="190500"/>
                      <a:pt x="1629410" y="501650"/>
                      <a:pt x="1065530" y="1065530"/>
                    </a:cubicBezTo>
                    <a:cubicBezTo>
                      <a:pt x="501650" y="1629410"/>
                      <a:pt x="190500" y="2379980"/>
                      <a:pt x="190500" y="3177540"/>
                    </a:cubicBezTo>
                    <a:cubicBezTo>
                      <a:pt x="190500" y="3975100"/>
                      <a:pt x="501650" y="4725670"/>
                      <a:pt x="1065530" y="5289550"/>
                    </a:cubicBezTo>
                    <a:cubicBezTo>
                      <a:pt x="1629410" y="5853430"/>
                      <a:pt x="2379980" y="6164580"/>
                      <a:pt x="3177540" y="6164580"/>
                    </a:cubicBezTo>
                    <a:cubicBezTo>
                      <a:pt x="3975100" y="6164580"/>
                      <a:pt x="4725670" y="5853430"/>
                      <a:pt x="5289550" y="5289550"/>
                    </a:cubicBezTo>
                    <a:cubicBezTo>
                      <a:pt x="5853430" y="4725670"/>
                      <a:pt x="6164580" y="3975100"/>
                      <a:pt x="6164580" y="3177540"/>
                    </a:cubicBezTo>
                    <a:cubicBezTo>
                      <a:pt x="6164580" y="2379980"/>
                      <a:pt x="5853430" y="1629410"/>
                      <a:pt x="5289550" y="1065530"/>
                    </a:cubicBezTo>
                    <a:cubicBezTo>
                      <a:pt x="4725670" y="501650"/>
                      <a:pt x="3975100" y="190500"/>
                      <a:pt x="3177540" y="190500"/>
                    </a:cubicBezTo>
                    <a:close/>
                  </a:path>
                </a:pathLst>
              </a:custGeom>
              <a:solidFill>
                <a:srgbClr val="33123B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  <p:sp>
          <p:nvSpPr>
            <p:cNvPr id="37" name="TextBox 37"/>
            <p:cNvSpPr txBox="1"/>
            <p:nvPr/>
          </p:nvSpPr>
          <p:spPr>
            <a:xfrm>
              <a:off x="366297" y="335404"/>
              <a:ext cx="442528" cy="4565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612"/>
                </a:lnSpc>
                <a:spcBef>
                  <a:spcPct val="0"/>
                </a:spcBef>
              </a:pPr>
              <a:r>
                <a:rPr lang="en-US" sz="2400" b="1">
                  <a:solidFill>
                    <a:srgbClr val="33123B"/>
                  </a:solidFill>
                  <a:latin typeface="Horizon"/>
                  <a:ea typeface="Horizon"/>
                  <a:cs typeface="Horizon"/>
                  <a:sym typeface="Horizon"/>
                </a:rPr>
                <a:t>4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810123" y="270697"/>
              <a:ext cx="5587920" cy="97607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2939"/>
                </a:lnSpc>
                <a:spcBef>
                  <a:spcPct val="0"/>
                </a:spcBef>
              </a:pPr>
              <a:r>
                <a:rPr lang="en-GB" sz="2400" dirty="0">
                  <a:solidFill>
                    <a:srgbClr val="33123B"/>
                  </a:solidFill>
                  <a:ea typeface="+mn-lt"/>
                  <a:cs typeface="+mn-lt"/>
                  <a:sym typeface="Agrandir"/>
                </a:rPr>
                <a:t>Transactions(BEGIN,COMMIT,ROLLBACK)</a:t>
              </a:r>
              <a:endParaRPr lang="en-US" dirty="0">
                <a:ea typeface="+mn-lt"/>
                <a:cs typeface="+mn-lt"/>
              </a:endParaRP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11017501" y="5656690"/>
            <a:ext cx="5548532" cy="935083"/>
            <a:chOff x="0" y="0"/>
            <a:chExt cx="7398043" cy="1246776"/>
          </a:xfrm>
        </p:grpSpPr>
        <p:grpSp>
          <p:nvGrpSpPr>
            <p:cNvPr id="40" name="Group 40"/>
            <p:cNvGrpSpPr>
              <a:grpSpLocks noChangeAspect="1"/>
            </p:cNvGrpSpPr>
            <p:nvPr/>
          </p:nvGrpSpPr>
          <p:grpSpPr>
            <a:xfrm>
              <a:off x="0" y="0"/>
              <a:ext cx="1175123" cy="1175123"/>
              <a:chOff x="-2540" y="-2540"/>
              <a:chExt cx="6355080" cy="6355080"/>
            </a:xfrm>
          </p:grpSpPr>
          <p:sp>
            <p:nvSpPr>
              <p:cNvPr id="41" name="Freeform 41"/>
              <p:cNvSpPr/>
              <p:nvPr/>
            </p:nvSpPr>
            <p:spPr>
              <a:xfrm>
                <a:off x="-2540" y="-2540"/>
                <a:ext cx="6355080" cy="6355080"/>
              </a:xfrm>
              <a:custGeom>
                <a:avLst/>
                <a:gdLst/>
                <a:ahLst/>
                <a:cxnLst/>
                <a:rect l="l" t="t" r="r" b="b"/>
                <a:pathLst>
                  <a:path w="6355080" h="6355080">
                    <a:moveTo>
                      <a:pt x="3177540" y="6355080"/>
                    </a:moveTo>
                    <a:cubicBezTo>
                      <a:pt x="2329180" y="6355080"/>
                      <a:pt x="1530350" y="6024880"/>
                      <a:pt x="930910" y="5424170"/>
                    </a:cubicBezTo>
                    <a:cubicBezTo>
                      <a:pt x="330200" y="4824730"/>
                      <a:pt x="0" y="4025900"/>
                      <a:pt x="0" y="3177540"/>
                    </a:cubicBezTo>
                    <a:cubicBezTo>
                      <a:pt x="0" y="2329180"/>
                      <a:pt x="330200" y="1530350"/>
                      <a:pt x="930910" y="930910"/>
                    </a:cubicBezTo>
                    <a:cubicBezTo>
                      <a:pt x="1530350" y="330200"/>
                      <a:pt x="2329180" y="0"/>
                      <a:pt x="3177540" y="0"/>
                    </a:cubicBezTo>
                    <a:cubicBezTo>
                      <a:pt x="4025900" y="0"/>
                      <a:pt x="4824730" y="330200"/>
                      <a:pt x="5424170" y="930910"/>
                    </a:cubicBezTo>
                    <a:cubicBezTo>
                      <a:pt x="6024880" y="1531620"/>
                      <a:pt x="6355080" y="2329180"/>
                      <a:pt x="6355080" y="3177540"/>
                    </a:cubicBezTo>
                    <a:cubicBezTo>
                      <a:pt x="6355080" y="4025900"/>
                      <a:pt x="6024880" y="4824730"/>
                      <a:pt x="5424170" y="5424170"/>
                    </a:cubicBezTo>
                    <a:cubicBezTo>
                      <a:pt x="4824730" y="6024880"/>
                      <a:pt x="4025900" y="6355080"/>
                      <a:pt x="3177540" y="6355080"/>
                    </a:cubicBezTo>
                    <a:close/>
                    <a:moveTo>
                      <a:pt x="3177540" y="190500"/>
                    </a:moveTo>
                    <a:cubicBezTo>
                      <a:pt x="2379980" y="190500"/>
                      <a:pt x="1629410" y="501650"/>
                      <a:pt x="1065530" y="1065530"/>
                    </a:cubicBezTo>
                    <a:cubicBezTo>
                      <a:pt x="501650" y="1629410"/>
                      <a:pt x="190500" y="2379980"/>
                      <a:pt x="190500" y="3177540"/>
                    </a:cubicBezTo>
                    <a:cubicBezTo>
                      <a:pt x="190500" y="3975100"/>
                      <a:pt x="501650" y="4725670"/>
                      <a:pt x="1065530" y="5289550"/>
                    </a:cubicBezTo>
                    <a:cubicBezTo>
                      <a:pt x="1629410" y="5853430"/>
                      <a:pt x="2379980" y="6164580"/>
                      <a:pt x="3177540" y="6164580"/>
                    </a:cubicBezTo>
                    <a:cubicBezTo>
                      <a:pt x="3975100" y="6164580"/>
                      <a:pt x="4725670" y="5853430"/>
                      <a:pt x="5289550" y="5289550"/>
                    </a:cubicBezTo>
                    <a:cubicBezTo>
                      <a:pt x="5853430" y="4725670"/>
                      <a:pt x="6164580" y="3975100"/>
                      <a:pt x="6164580" y="3177540"/>
                    </a:cubicBezTo>
                    <a:cubicBezTo>
                      <a:pt x="6164580" y="2379980"/>
                      <a:pt x="5853430" y="1629410"/>
                      <a:pt x="5289550" y="1065530"/>
                    </a:cubicBezTo>
                    <a:cubicBezTo>
                      <a:pt x="4725670" y="501650"/>
                      <a:pt x="3975100" y="190500"/>
                      <a:pt x="3177540" y="190500"/>
                    </a:cubicBezTo>
                    <a:close/>
                  </a:path>
                </a:pathLst>
              </a:custGeom>
              <a:solidFill>
                <a:srgbClr val="33123B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  <p:sp>
          <p:nvSpPr>
            <p:cNvPr id="42" name="TextBox 42"/>
            <p:cNvSpPr txBox="1"/>
            <p:nvPr/>
          </p:nvSpPr>
          <p:spPr>
            <a:xfrm>
              <a:off x="366297" y="335404"/>
              <a:ext cx="442528" cy="4565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612"/>
                </a:lnSpc>
                <a:spcBef>
                  <a:spcPct val="0"/>
                </a:spcBef>
              </a:pPr>
              <a:r>
                <a:rPr lang="en-US" sz="2400" b="1">
                  <a:solidFill>
                    <a:srgbClr val="33123B"/>
                  </a:solidFill>
                  <a:latin typeface="Horizon"/>
                  <a:ea typeface="Horizon"/>
                  <a:cs typeface="Horizon"/>
                  <a:sym typeface="Horizon"/>
                </a:rPr>
                <a:t>6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810123" y="270697"/>
              <a:ext cx="5587920" cy="97607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2939"/>
                </a:lnSpc>
                <a:spcBef>
                  <a:spcPct val="0"/>
                </a:spcBef>
              </a:pPr>
              <a:r>
                <a:rPr lang="en-US" sz="2400" dirty="0">
                  <a:solidFill>
                    <a:srgbClr val="33123B"/>
                  </a:solidFill>
                  <a:ea typeface="Calibri"/>
                  <a:cs typeface="Calibri"/>
                  <a:sym typeface="Agrandir"/>
                </a:rPr>
                <a:t>Use Cases</a:t>
              </a:r>
            </a:p>
            <a:p>
              <a:pPr>
                <a:lnSpc>
                  <a:spcPts val="2939"/>
                </a:lnSpc>
                <a:spcBef>
                  <a:spcPct val="0"/>
                </a:spcBef>
              </a:pPr>
              <a:endParaRPr lang="en-US" sz="2400" dirty="0">
                <a:solidFill>
                  <a:srgbClr val="33123B"/>
                </a:solidFill>
                <a:latin typeface="Calibri"/>
                <a:ea typeface="Agrandir"/>
                <a:cs typeface="Agrandir"/>
              </a:endParaRPr>
            </a:p>
          </p:txBody>
        </p:sp>
      </p:grpSp>
      <p:sp>
        <p:nvSpPr>
          <p:cNvPr id="52" name="Slide Number Placeholder 51">
            <a:extLst>
              <a:ext uri="{FF2B5EF4-FFF2-40B4-BE49-F238E27FC236}">
                <a16:creationId xmlns:a16="http://schemas.microsoft.com/office/drawing/2014/main" id="{F014F566-679C-7B70-6B31-31DC6A6FB9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GB"/>
          </a:p>
        </p:txBody>
      </p:sp>
      <p:grpSp>
        <p:nvGrpSpPr>
          <p:cNvPr id="46" name="Group 34">
            <a:extLst>
              <a:ext uri="{FF2B5EF4-FFF2-40B4-BE49-F238E27FC236}">
                <a16:creationId xmlns:a16="http://schemas.microsoft.com/office/drawing/2014/main" id="{BD663FCD-F814-1FAE-83FF-3B548BFDF1AF}"/>
              </a:ext>
            </a:extLst>
          </p:cNvPr>
          <p:cNvGrpSpPr/>
          <p:nvPr/>
        </p:nvGrpSpPr>
        <p:grpSpPr>
          <a:xfrm>
            <a:off x="11017501" y="7033333"/>
            <a:ext cx="5548532" cy="881343"/>
            <a:chOff x="0" y="0"/>
            <a:chExt cx="7398043" cy="1175123"/>
          </a:xfrm>
        </p:grpSpPr>
        <p:grpSp>
          <p:nvGrpSpPr>
            <p:cNvPr id="47" name="Group 35">
              <a:extLst>
                <a:ext uri="{FF2B5EF4-FFF2-40B4-BE49-F238E27FC236}">
                  <a16:creationId xmlns:a16="http://schemas.microsoft.com/office/drawing/2014/main" id="{A0D8D8A4-73FC-41C3-5A67-3EB9506C41A2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0" y="0"/>
              <a:ext cx="1175123" cy="1175123"/>
              <a:chOff x="-2540" y="-2540"/>
              <a:chExt cx="6355080" cy="6355080"/>
            </a:xfrm>
          </p:grpSpPr>
          <p:sp>
            <p:nvSpPr>
              <p:cNvPr id="50" name="Freeform 36">
                <a:extLst>
                  <a:ext uri="{FF2B5EF4-FFF2-40B4-BE49-F238E27FC236}">
                    <a16:creationId xmlns:a16="http://schemas.microsoft.com/office/drawing/2014/main" id="{58809D9A-0117-E194-3819-962D30B2FB39}"/>
                  </a:ext>
                </a:extLst>
              </p:cNvPr>
              <p:cNvSpPr/>
              <p:nvPr/>
            </p:nvSpPr>
            <p:spPr>
              <a:xfrm>
                <a:off x="-2540" y="-2540"/>
                <a:ext cx="6355080" cy="6355080"/>
              </a:xfrm>
              <a:custGeom>
                <a:avLst/>
                <a:gdLst/>
                <a:ahLst/>
                <a:cxnLst/>
                <a:rect l="l" t="t" r="r" b="b"/>
                <a:pathLst>
                  <a:path w="6355080" h="6355080">
                    <a:moveTo>
                      <a:pt x="3177540" y="6355080"/>
                    </a:moveTo>
                    <a:cubicBezTo>
                      <a:pt x="2329180" y="6355080"/>
                      <a:pt x="1530350" y="6024880"/>
                      <a:pt x="930910" y="5424170"/>
                    </a:cubicBezTo>
                    <a:cubicBezTo>
                      <a:pt x="330200" y="4824730"/>
                      <a:pt x="0" y="4025900"/>
                      <a:pt x="0" y="3177540"/>
                    </a:cubicBezTo>
                    <a:cubicBezTo>
                      <a:pt x="0" y="2329180"/>
                      <a:pt x="330200" y="1530350"/>
                      <a:pt x="930910" y="930910"/>
                    </a:cubicBezTo>
                    <a:cubicBezTo>
                      <a:pt x="1530350" y="330200"/>
                      <a:pt x="2329180" y="0"/>
                      <a:pt x="3177540" y="0"/>
                    </a:cubicBezTo>
                    <a:cubicBezTo>
                      <a:pt x="4025900" y="0"/>
                      <a:pt x="4824730" y="330200"/>
                      <a:pt x="5424170" y="930910"/>
                    </a:cubicBezTo>
                    <a:cubicBezTo>
                      <a:pt x="6024880" y="1531620"/>
                      <a:pt x="6355080" y="2329180"/>
                      <a:pt x="6355080" y="3177540"/>
                    </a:cubicBezTo>
                    <a:cubicBezTo>
                      <a:pt x="6355080" y="4025900"/>
                      <a:pt x="6024880" y="4824730"/>
                      <a:pt x="5424170" y="5424170"/>
                    </a:cubicBezTo>
                    <a:cubicBezTo>
                      <a:pt x="4824730" y="6024880"/>
                      <a:pt x="4025900" y="6355080"/>
                      <a:pt x="3177540" y="6355080"/>
                    </a:cubicBezTo>
                    <a:close/>
                    <a:moveTo>
                      <a:pt x="3177540" y="190500"/>
                    </a:moveTo>
                    <a:cubicBezTo>
                      <a:pt x="2379980" y="190500"/>
                      <a:pt x="1629410" y="501650"/>
                      <a:pt x="1065530" y="1065530"/>
                    </a:cubicBezTo>
                    <a:cubicBezTo>
                      <a:pt x="501650" y="1629410"/>
                      <a:pt x="190500" y="2379980"/>
                      <a:pt x="190500" y="3177540"/>
                    </a:cubicBezTo>
                    <a:cubicBezTo>
                      <a:pt x="190500" y="3975100"/>
                      <a:pt x="501650" y="4725670"/>
                      <a:pt x="1065530" y="5289550"/>
                    </a:cubicBezTo>
                    <a:cubicBezTo>
                      <a:pt x="1629410" y="5853430"/>
                      <a:pt x="2379980" y="6164580"/>
                      <a:pt x="3177540" y="6164580"/>
                    </a:cubicBezTo>
                    <a:cubicBezTo>
                      <a:pt x="3975100" y="6164580"/>
                      <a:pt x="4725670" y="5853430"/>
                      <a:pt x="5289550" y="5289550"/>
                    </a:cubicBezTo>
                    <a:cubicBezTo>
                      <a:pt x="5853430" y="4725670"/>
                      <a:pt x="6164580" y="3975100"/>
                      <a:pt x="6164580" y="3177540"/>
                    </a:cubicBezTo>
                    <a:cubicBezTo>
                      <a:pt x="6164580" y="2379980"/>
                      <a:pt x="5853430" y="1629410"/>
                      <a:pt x="5289550" y="1065530"/>
                    </a:cubicBezTo>
                    <a:cubicBezTo>
                      <a:pt x="4725670" y="501650"/>
                      <a:pt x="3975100" y="190500"/>
                      <a:pt x="3177540" y="190500"/>
                    </a:cubicBezTo>
                    <a:close/>
                  </a:path>
                </a:pathLst>
              </a:custGeom>
              <a:solidFill>
                <a:srgbClr val="33123B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  <p:sp>
          <p:nvSpPr>
            <p:cNvPr id="48" name="TextBox 37">
              <a:extLst>
                <a:ext uri="{FF2B5EF4-FFF2-40B4-BE49-F238E27FC236}">
                  <a16:creationId xmlns:a16="http://schemas.microsoft.com/office/drawing/2014/main" id="{D04B4BC1-7414-0CB7-83A0-14FF33D45DC9}"/>
                </a:ext>
              </a:extLst>
            </p:cNvPr>
            <p:cNvSpPr txBox="1"/>
            <p:nvPr/>
          </p:nvSpPr>
          <p:spPr>
            <a:xfrm>
              <a:off x="366297" y="335404"/>
              <a:ext cx="442528" cy="4565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612"/>
                </a:lnSpc>
                <a:spcBef>
                  <a:spcPct val="0"/>
                </a:spcBef>
              </a:pPr>
              <a:r>
                <a:rPr lang="en-US" sz="2400" b="1">
                  <a:solidFill>
                    <a:srgbClr val="33123B"/>
                  </a:solidFill>
                  <a:latin typeface="Horizon"/>
                  <a:ea typeface="Horizon"/>
                  <a:cs typeface="Horizon"/>
                  <a:sym typeface="Horizon"/>
                </a:rPr>
                <a:t>4</a:t>
              </a:r>
            </a:p>
          </p:txBody>
        </p:sp>
        <p:sp>
          <p:nvSpPr>
            <p:cNvPr id="49" name="TextBox 38">
              <a:extLst>
                <a:ext uri="{FF2B5EF4-FFF2-40B4-BE49-F238E27FC236}">
                  <a16:creationId xmlns:a16="http://schemas.microsoft.com/office/drawing/2014/main" id="{F7A5CC8B-562C-58B7-8C2E-D7A1A511EEAC}"/>
                </a:ext>
              </a:extLst>
            </p:cNvPr>
            <p:cNvSpPr txBox="1"/>
            <p:nvPr/>
          </p:nvSpPr>
          <p:spPr>
            <a:xfrm>
              <a:off x="1810123" y="270697"/>
              <a:ext cx="5587920" cy="48021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2939"/>
                </a:lnSpc>
                <a:spcBef>
                  <a:spcPct val="0"/>
                </a:spcBef>
              </a:pPr>
              <a:r>
                <a:rPr lang="en-US" sz="2400" dirty="0">
                  <a:solidFill>
                    <a:srgbClr val="33123B"/>
                  </a:solidFill>
                  <a:ea typeface="Calibri"/>
                  <a:cs typeface="Calibri"/>
                  <a:sym typeface="Agrandir"/>
                </a:rPr>
                <a:t>Debrief</a:t>
              </a:r>
            </a:p>
          </p:txBody>
        </p:sp>
      </p:grpSp>
    </p:spTree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1AD6BE-F179-A13A-C05D-6AC510D6C6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44B74709-C462-95F8-08CD-0D0FCEF0E19E}"/>
              </a:ext>
            </a:extLst>
          </p:cNvPr>
          <p:cNvSpPr/>
          <p:nvPr/>
        </p:nvSpPr>
        <p:spPr>
          <a:xfrm>
            <a:off x="-840884" y="24123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CDD05D65-E3B2-A39A-4FAE-7F33521F69D0}"/>
              </a:ext>
            </a:extLst>
          </p:cNvPr>
          <p:cNvSpPr/>
          <p:nvPr/>
        </p:nvSpPr>
        <p:spPr>
          <a:xfrm>
            <a:off x="-870441" y="2847634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0362F84B-568A-E77B-A22D-D15ACE8BD1F3}"/>
              </a:ext>
            </a:extLst>
          </p:cNvPr>
          <p:cNvGrpSpPr/>
          <p:nvPr/>
        </p:nvGrpSpPr>
        <p:grpSpPr>
          <a:xfrm>
            <a:off x="2189748" y="1951726"/>
            <a:ext cx="14535120" cy="4370427"/>
            <a:chOff x="-3721373" y="-2442976"/>
            <a:chExt cx="21900210" cy="5797740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C3B135D7-88A5-B84B-C023-37DC14FBFBAA}"/>
                </a:ext>
              </a:extLst>
            </p:cNvPr>
            <p:cNvSpPr txBox="1"/>
            <p:nvPr/>
          </p:nvSpPr>
          <p:spPr>
            <a:xfrm>
              <a:off x="-3721373" y="-2442976"/>
              <a:ext cx="21900210" cy="579774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lvl="1" algn="just">
                <a:buFont typeface="Arial"/>
                <a:buChar char="•"/>
              </a:pPr>
              <a:endParaRPr lang="en-GB" sz="3200" b="1" dirty="0">
                <a:ea typeface="+mn-lt"/>
                <a:cs typeface="+mn-lt"/>
              </a:endParaRPr>
            </a:p>
            <a:p>
              <a:pPr marL="285750" indent="-285750" algn="just">
                <a:buFont typeface="Arial"/>
                <a:buChar char="•"/>
              </a:pPr>
              <a:endParaRPr lang="en-GB" sz="3200" dirty="0">
                <a:ea typeface="+mn-lt"/>
                <a:cs typeface="+mn-lt"/>
              </a:endParaRPr>
            </a:p>
            <a:p>
              <a:pPr lvl="2" algn="just"/>
              <a:endParaRPr lang="en-GB" sz="3200" i="1" dirty="0">
                <a:ea typeface="+mn-lt"/>
                <a:cs typeface="+mn-lt"/>
              </a:endParaRPr>
            </a:p>
            <a:p>
              <a:pPr marL="457200" indent="-457200" algn="just">
                <a:buFont typeface="Arial"/>
                <a:buChar char="•"/>
              </a:pPr>
              <a:endParaRPr lang="en-GB" sz="3200" b="1" dirty="0">
                <a:ea typeface="+mn-lt"/>
                <a:cs typeface="+mn-lt"/>
              </a:endParaRPr>
            </a:p>
            <a:p>
              <a:pPr marL="457200" indent="-457200" algn="just">
                <a:buFont typeface="Arial"/>
                <a:buChar char="•"/>
              </a:pPr>
              <a:endParaRPr lang="en-GB" sz="3200" b="1" dirty="0">
                <a:ea typeface="+mn-lt"/>
                <a:cs typeface="+mn-lt"/>
              </a:endParaRPr>
            </a:p>
            <a:p>
              <a:pPr algn="just"/>
              <a:endParaRPr lang="en-GB" sz="3200" dirty="0">
                <a:ea typeface="+mn-lt"/>
                <a:cs typeface="+mn-lt"/>
              </a:endParaRPr>
            </a:p>
            <a:p>
              <a:pPr lvl="1" algn="just"/>
              <a:r>
                <a:rPr lang="en-GB" sz="3200" b="1" dirty="0">
                  <a:ea typeface="+mn-lt"/>
                  <a:cs typeface="+mn-lt"/>
                </a:rPr>
                <a:t>  </a:t>
              </a:r>
            </a:p>
            <a:p>
              <a:pPr marL="457200" lvl="1" algn="just">
                <a:lnSpc>
                  <a:spcPts val="3600"/>
                </a:lnSpc>
              </a:pPr>
              <a:endParaRPr lang="en-GB" sz="3200" i="1" dirty="0">
                <a:ea typeface="+mn-lt"/>
                <a:cs typeface="+mn-lt"/>
              </a:endParaRPr>
            </a:p>
            <a:p>
              <a:pPr marL="457200" indent="-457200" algn="just">
                <a:lnSpc>
                  <a:spcPts val="3600"/>
                </a:lnSpc>
                <a:buFont typeface="Arial"/>
                <a:buChar char="•"/>
              </a:pPr>
              <a:endParaRPr lang="en-GB" sz="3200" dirty="0">
                <a:ea typeface="+mn-lt"/>
                <a:cs typeface="+mn-lt"/>
              </a:endParaRP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22193D8A-D774-A060-7EA8-525AFFC6FCD5}"/>
                </a:ext>
              </a:extLst>
            </p:cNvPr>
            <p:cNvSpPr txBox="1"/>
            <p:nvPr/>
          </p:nvSpPr>
          <p:spPr>
            <a:xfrm>
              <a:off x="0" y="-9526"/>
              <a:ext cx="15443232" cy="61669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endParaRPr dirty="0"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81A7571D-1B77-EC80-4008-4C1C4002EA7B}"/>
              </a:ext>
            </a:extLst>
          </p:cNvPr>
          <p:cNvSpPr/>
          <p:nvPr/>
        </p:nvSpPr>
        <p:spPr>
          <a:xfrm>
            <a:off x="17259300" y="7851297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F2C774A1-DA04-2217-CEB9-8D288A3321F2}"/>
              </a:ext>
            </a:extLst>
          </p:cNvPr>
          <p:cNvSpPr/>
          <p:nvPr/>
        </p:nvSpPr>
        <p:spPr>
          <a:xfrm>
            <a:off x="17259300" y="5335426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72A4B228-6952-4F52-16AC-B47AB546A649}"/>
              </a:ext>
            </a:extLst>
          </p:cNvPr>
          <p:cNvSpPr txBox="1"/>
          <p:nvPr/>
        </p:nvSpPr>
        <p:spPr>
          <a:xfrm>
            <a:off x="1431297" y="373755"/>
            <a:ext cx="14344416" cy="12695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9900"/>
              </a:lnSpc>
            </a:pPr>
            <a:r>
              <a:rPr lang="en-GB" sz="9000" b="1" dirty="0">
                <a:solidFill>
                  <a:schemeClr val="accent6">
                    <a:lumMod val="75000"/>
                  </a:schemeClr>
                </a:solidFill>
                <a:ea typeface="+mn-lt"/>
                <a:cs typeface="+mn-lt"/>
              </a:rPr>
              <a:t>Stored Procedures</a:t>
            </a:r>
            <a:endParaRPr lang="en-US" dirty="0">
              <a:solidFill>
                <a:schemeClr val="accent6">
                  <a:lumMod val="75000"/>
                </a:schemeClr>
              </a:solidFill>
              <a:ea typeface="+mn-lt"/>
              <a:cs typeface="+mn-lt"/>
            </a:endParaRP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4D59735C-CF7F-8165-EB3C-F9331F92E0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8751" y="976958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>
                <a:solidFill>
                  <a:schemeClr val="tx1"/>
                </a:solidFill>
              </a:rPr>
              <a:pPr/>
              <a:t>4</a:t>
            </a:fld>
            <a:endParaRPr lang="en-GB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4E7AB3D-60B9-9D07-733A-3FE071BEFFDF}"/>
              </a:ext>
            </a:extLst>
          </p:cNvPr>
          <p:cNvSpPr txBox="1"/>
          <p:nvPr/>
        </p:nvSpPr>
        <p:spPr>
          <a:xfrm>
            <a:off x="1155032" y="1951726"/>
            <a:ext cx="15913767" cy="76944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3800" b="1" dirty="0"/>
              <a:t>Definition:</a:t>
            </a:r>
            <a:br>
              <a:rPr lang="en-US" sz="3800" dirty="0"/>
            </a:br>
            <a:r>
              <a:rPr lang="en-US" sz="3800" dirty="0"/>
              <a:t>A </a:t>
            </a:r>
            <a:r>
              <a:rPr lang="en-US" sz="3800" b="1" dirty="0"/>
              <a:t>Stored Procedure</a:t>
            </a:r>
            <a:r>
              <a:rPr lang="en-US" sz="3800" dirty="0"/>
              <a:t> is a precompiled set of one or more SQL statements stored in the database and executed as a unit.</a:t>
            </a:r>
          </a:p>
          <a:p>
            <a:endParaRPr lang="en-US" sz="3800" dirty="0"/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3800" b="1" dirty="0"/>
              <a:t>Key Benefits:</a:t>
            </a:r>
          </a:p>
          <a:p>
            <a:endParaRPr lang="en-US" sz="3800" dirty="0"/>
          </a:p>
          <a:p>
            <a:pPr lvl="2"/>
            <a:r>
              <a:rPr lang="en-US" sz="3800" dirty="0"/>
              <a:t>🔁 </a:t>
            </a:r>
            <a:r>
              <a:rPr lang="en-US" sz="3800" b="1" dirty="0"/>
              <a:t>Reusability</a:t>
            </a:r>
            <a:r>
              <a:rPr lang="en-US" sz="3800" dirty="0"/>
              <a:t> – Define once, use many times</a:t>
            </a:r>
          </a:p>
          <a:p>
            <a:pPr lvl="2"/>
            <a:r>
              <a:rPr lang="en-US" sz="3800" dirty="0"/>
              <a:t>⚡ </a:t>
            </a:r>
            <a:r>
              <a:rPr lang="en-US" sz="3800" b="1" dirty="0"/>
              <a:t>Performance</a:t>
            </a:r>
            <a:r>
              <a:rPr lang="en-US" sz="3800" dirty="0"/>
              <a:t> – Faster execution due to precompilation</a:t>
            </a:r>
          </a:p>
          <a:p>
            <a:pPr lvl="2"/>
            <a:r>
              <a:rPr lang="en-US" sz="3800" dirty="0"/>
              <a:t>🔐 </a:t>
            </a:r>
            <a:r>
              <a:rPr lang="en-US" sz="3800" b="1" dirty="0"/>
              <a:t>Security</a:t>
            </a:r>
            <a:r>
              <a:rPr lang="en-US" sz="3800" dirty="0"/>
              <a:t> – Users can run procedures without direct table access</a:t>
            </a:r>
          </a:p>
          <a:p>
            <a:pPr lvl="2"/>
            <a:r>
              <a:rPr lang="en-US" sz="3800" dirty="0"/>
              <a:t>🛠️ </a:t>
            </a:r>
            <a:r>
              <a:rPr lang="en-US" sz="3800" b="1" dirty="0"/>
              <a:t>Maintainability</a:t>
            </a:r>
            <a:r>
              <a:rPr lang="en-US" sz="3800" dirty="0"/>
              <a:t> – Easier to manage logic in one place</a:t>
            </a:r>
          </a:p>
          <a:p>
            <a:endParaRPr lang="en-IN" sz="3800" dirty="0"/>
          </a:p>
          <a:p>
            <a:endParaRPr lang="en-IN" sz="3800" dirty="0"/>
          </a:p>
          <a:p>
            <a:endParaRPr lang="en-IN" sz="3800" dirty="0"/>
          </a:p>
        </p:txBody>
      </p:sp>
    </p:spTree>
    <p:extLst>
      <p:ext uri="{BB962C8B-B14F-4D97-AF65-F5344CB8AC3E}">
        <p14:creationId xmlns:p14="http://schemas.microsoft.com/office/powerpoint/2010/main" val="2466518213"/>
      </p:ext>
    </p:extLst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CC17E9-148E-5720-AC16-C3C7E96927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2F8E2F43-D9D8-FBBA-F521-55E0A24EE836}"/>
              </a:ext>
            </a:extLst>
          </p:cNvPr>
          <p:cNvSpPr/>
          <p:nvPr/>
        </p:nvSpPr>
        <p:spPr>
          <a:xfrm>
            <a:off x="-840884" y="24123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979072DF-A32B-B30A-34C2-23E88E9E17AD}"/>
              </a:ext>
            </a:extLst>
          </p:cNvPr>
          <p:cNvSpPr/>
          <p:nvPr/>
        </p:nvSpPr>
        <p:spPr>
          <a:xfrm>
            <a:off x="-870441" y="2847634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446DC9F6-9283-E146-E3D1-CB7CB37F5498}"/>
              </a:ext>
            </a:extLst>
          </p:cNvPr>
          <p:cNvGrpSpPr/>
          <p:nvPr/>
        </p:nvGrpSpPr>
        <p:grpSpPr>
          <a:xfrm>
            <a:off x="2189748" y="1951726"/>
            <a:ext cx="14535120" cy="4370427"/>
            <a:chOff x="-3721373" y="-2442976"/>
            <a:chExt cx="21900210" cy="5797740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EE60DA85-9761-1BEE-007F-65559B7BFFA0}"/>
                </a:ext>
              </a:extLst>
            </p:cNvPr>
            <p:cNvSpPr txBox="1"/>
            <p:nvPr/>
          </p:nvSpPr>
          <p:spPr>
            <a:xfrm>
              <a:off x="-3721373" y="-2442976"/>
              <a:ext cx="21900210" cy="579774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lvl="1" algn="just">
                <a:buFont typeface="Arial"/>
                <a:buChar char="•"/>
              </a:pPr>
              <a:endParaRPr lang="en-GB" sz="3200" b="1" dirty="0">
                <a:ea typeface="+mn-lt"/>
                <a:cs typeface="+mn-lt"/>
              </a:endParaRPr>
            </a:p>
            <a:p>
              <a:pPr marL="285750" indent="-285750" algn="just">
                <a:buFont typeface="Arial"/>
                <a:buChar char="•"/>
              </a:pPr>
              <a:endParaRPr lang="en-GB" sz="3200" dirty="0">
                <a:ea typeface="+mn-lt"/>
                <a:cs typeface="+mn-lt"/>
              </a:endParaRPr>
            </a:p>
            <a:p>
              <a:pPr lvl="2" algn="just"/>
              <a:endParaRPr lang="en-GB" sz="3200" i="1" dirty="0">
                <a:ea typeface="+mn-lt"/>
                <a:cs typeface="+mn-lt"/>
              </a:endParaRPr>
            </a:p>
            <a:p>
              <a:pPr marL="457200" indent="-457200" algn="just">
                <a:buFont typeface="Arial"/>
                <a:buChar char="•"/>
              </a:pPr>
              <a:endParaRPr lang="en-GB" sz="3200" b="1" dirty="0">
                <a:ea typeface="+mn-lt"/>
                <a:cs typeface="+mn-lt"/>
              </a:endParaRPr>
            </a:p>
            <a:p>
              <a:pPr marL="457200" indent="-457200" algn="just">
                <a:buFont typeface="Arial"/>
                <a:buChar char="•"/>
              </a:pPr>
              <a:endParaRPr lang="en-GB" sz="3200" b="1" dirty="0">
                <a:ea typeface="+mn-lt"/>
                <a:cs typeface="+mn-lt"/>
              </a:endParaRPr>
            </a:p>
            <a:p>
              <a:pPr algn="just"/>
              <a:endParaRPr lang="en-GB" sz="3200" dirty="0">
                <a:ea typeface="+mn-lt"/>
                <a:cs typeface="+mn-lt"/>
              </a:endParaRPr>
            </a:p>
            <a:p>
              <a:pPr lvl="1" algn="just"/>
              <a:r>
                <a:rPr lang="en-GB" sz="3200" b="1" dirty="0">
                  <a:ea typeface="+mn-lt"/>
                  <a:cs typeface="+mn-lt"/>
                </a:rPr>
                <a:t>  </a:t>
              </a:r>
            </a:p>
            <a:p>
              <a:pPr marL="457200" lvl="1" algn="just">
                <a:lnSpc>
                  <a:spcPts val="3600"/>
                </a:lnSpc>
              </a:pPr>
              <a:endParaRPr lang="en-GB" sz="3200" i="1" dirty="0">
                <a:ea typeface="+mn-lt"/>
                <a:cs typeface="+mn-lt"/>
              </a:endParaRPr>
            </a:p>
            <a:p>
              <a:pPr marL="457200" indent="-457200" algn="just">
                <a:lnSpc>
                  <a:spcPts val="3600"/>
                </a:lnSpc>
                <a:buFont typeface="Arial"/>
                <a:buChar char="•"/>
              </a:pPr>
              <a:endParaRPr lang="en-GB" sz="3200" dirty="0">
                <a:ea typeface="+mn-lt"/>
                <a:cs typeface="+mn-lt"/>
              </a:endParaRP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82D5EE54-4B3E-3FD9-9E06-5FBEF7A7DA26}"/>
                </a:ext>
              </a:extLst>
            </p:cNvPr>
            <p:cNvSpPr txBox="1"/>
            <p:nvPr/>
          </p:nvSpPr>
          <p:spPr>
            <a:xfrm>
              <a:off x="0" y="-9526"/>
              <a:ext cx="15443232" cy="61669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endParaRPr dirty="0"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DB0D2674-DBB3-E650-0D3E-447AC6338BA7}"/>
              </a:ext>
            </a:extLst>
          </p:cNvPr>
          <p:cNvSpPr/>
          <p:nvPr/>
        </p:nvSpPr>
        <p:spPr>
          <a:xfrm>
            <a:off x="17259300" y="7851297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BD2A1A24-84D5-78E2-B4D4-386047BC9301}"/>
              </a:ext>
            </a:extLst>
          </p:cNvPr>
          <p:cNvSpPr/>
          <p:nvPr/>
        </p:nvSpPr>
        <p:spPr>
          <a:xfrm>
            <a:off x="17259300" y="5335426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67733624-DC20-B81F-CB3F-22BC2FFC8D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8751" y="976958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>
                <a:solidFill>
                  <a:schemeClr val="tx1"/>
                </a:solidFill>
              </a:rPr>
              <a:pPr/>
              <a:t>5</a:t>
            </a:fld>
            <a:endParaRPr lang="en-GB">
              <a:solidFill>
                <a:schemeClr val="tx1"/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98E70FD-5D45-E0BD-080B-A43C7833C4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4716" y="625642"/>
            <a:ext cx="16507326" cy="8951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677881"/>
      </p:ext>
    </p:extLst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45265D-CCE5-3486-0F7A-2F8EF48AFF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E1CFE5C5-3602-1D6A-9027-C14EBF00DBE9}"/>
              </a:ext>
            </a:extLst>
          </p:cNvPr>
          <p:cNvSpPr/>
          <p:nvPr/>
        </p:nvSpPr>
        <p:spPr>
          <a:xfrm>
            <a:off x="-840884" y="24123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8E8BBEF3-2712-9B02-57C5-86C041C44798}"/>
              </a:ext>
            </a:extLst>
          </p:cNvPr>
          <p:cNvSpPr/>
          <p:nvPr/>
        </p:nvSpPr>
        <p:spPr>
          <a:xfrm>
            <a:off x="-870441" y="2847634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BDD193A6-287B-241E-2CDB-EA2E33005041}"/>
              </a:ext>
            </a:extLst>
          </p:cNvPr>
          <p:cNvGrpSpPr/>
          <p:nvPr/>
        </p:nvGrpSpPr>
        <p:grpSpPr>
          <a:xfrm>
            <a:off x="710765" y="1759993"/>
            <a:ext cx="15854947" cy="8778109"/>
            <a:chOff x="-6186101" y="-2644090"/>
            <a:chExt cx="23888806" cy="7610822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4BD1525D-682B-BAF1-9970-8703D11AB305}"/>
                </a:ext>
              </a:extLst>
            </p:cNvPr>
            <p:cNvSpPr txBox="1"/>
            <p:nvPr/>
          </p:nvSpPr>
          <p:spPr>
            <a:xfrm>
              <a:off x="-6186101" y="-2644090"/>
              <a:ext cx="23888806" cy="7610822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914400" lvl="1" indent="-457200" algn="just">
                <a:buFont typeface="Wingdings" panose="05000000000000000000" pitchFamily="2" charset="2"/>
                <a:buChar char="v"/>
              </a:pPr>
              <a:r>
                <a:rPr lang="en-GB" sz="3600" b="1" dirty="0">
                  <a:ea typeface="+mn-lt"/>
                  <a:cs typeface="+mn-lt"/>
                </a:rPr>
                <a:t>Creating Stored Procedure :</a:t>
              </a:r>
            </a:p>
            <a:p>
              <a:pPr lvl="2" algn="just"/>
              <a:endParaRPr lang="en-GB" sz="3600" i="1" dirty="0">
                <a:ea typeface="+mn-lt"/>
                <a:cs typeface="+mn-lt"/>
              </a:endParaRPr>
            </a:p>
            <a:p>
              <a:pPr lvl="2" algn="just"/>
              <a:endParaRPr lang="en-GB" sz="3600" i="1" dirty="0">
                <a:ea typeface="+mn-lt"/>
                <a:cs typeface="+mn-lt"/>
              </a:endParaRPr>
            </a:p>
            <a:p>
              <a:pPr lvl="2" algn="just"/>
              <a:endParaRPr lang="en-GB" sz="3600" i="1" dirty="0">
                <a:ea typeface="+mn-lt"/>
                <a:cs typeface="+mn-lt"/>
              </a:endParaRPr>
            </a:p>
            <a:p>
              <a:pPr lvl="2" algn="just"/>
              <a:endParaRPr lang="en-GB" sz="3600" i="1" dirty="0">
                <a:ea typeface="+mn-lt"/>
                <a:cs typeface="+mn-lt"/>
              </a:endParaRPr>
            </a:p>
            <a:p>
              <a:pPr lvl="2" algn="just"/>
              <a:endParaRPr lang="en-GB" sz="3600" i="1" dirty="0">
                <a:ea typeface="+mn-lt"/>
                <a:cs typeface="+mn-lt"/>
              </a:endParaRPr>
            </a:p>
            <a:p>
              <a:pPr marL="914400" lvl="1" indent="-457200" algn="just">
                <a:buFont typeface="Wingdings" panose="05000000000000000000" pitchFamily="2" charset="2"/>
                <a:buChar char="v"/>
              </a:pPr>
              <a:r>
                <a:rPr lang="en-GB" sz="3600" b="1" dirty="0">
                  <a:ea typeface="+mn-lt"/>
                  <a:cs typeface="+mn-lt"/>
                </a:rPr>
                <a:t>Modifying a Stored Procedure :</a:t>
              </a:r>
            </a:p>
            <a:p>
              <a:pPr marL="914400" lvl="1" indent="-457200" algn="just">
                <a:buFont typeface="Wingdings" panose="05000000000000000000" pitchFamily="2" charset="2"/>
                <a:buChar char="v"/>
              </a:pPr>
              <a:endParaRPr lang="en-GB" sz="3600" b="1" dirty="0">
                <a:ea typeface="+mn-lt"/>
                <a:cs typeface="+mn-lt"/>
              </a:endParaRPr>
            </a:p>
            <a:p>
              <a:pPr marL="1371600" lvl="2" indent="-457200" algn="just">
                <a:buFont typeface="Arial" panose="020B0604020202020204" pitchFamily="34" charset="0"/>
                <a:buChar char="•"/>
              </a:pPr>
              <a:r>
                <a:rPr lang="en-US" sz="3600" dirty="0"/>
                <a:t>Most RDBMS (like MySQL) don’t support direct modification.</a:t>
              </a:r>
            </a:p>
            <a:p>
              <a:pPr marL="1371600" lvl="2" indent="-457200" algn="just">
                <a:buFont typeface="Arial" panose="020B0604020202020204" pitchFamily="34" charset="0"/>
                <a:buChar char="•"/>
              </a:pPr>
              <a:r>
                <a:rPr lang="en-US" sz="3600" dirty="0">
                  <a:ea typeface="+mn-lt"/>
                  <a:cs typeface="+mn-lt"/>
                </a:rPr>
                <a:t>Use DROP and CREATE :</a:t>
              </a:r>
            </a:p>
            <a:p>
              <a:pPr marL="1371600" lvl="2" indent="-457200" algn="just">
                <a:buFont typeface="Arial" panose="020B0604020202020204" pitchFamily="34" charset="0"/>
                <a:buChar char="•"/>
              </a:pPr>
              <a:endParaRPr lang="en-US" sz="3600" dirty="0">
                <a:ea typeface="+mn-lt"/>
                <a:cs typeface="+mn-lt"/>
              </a:endParaRPr>
            </a:p>
            <a:p>
              <a:pPr lvl="2" algn="just"/>
              <a:endParaRPr lang="en-US" sz="3600" dirty="0">
                <a:ea typeface="+mn-lt"/>
                <a:cs typeface="+mn-lt"/>
              </a:endParaRPr>
            </a:p>
            <a:p>
              <a:pPr marL="1371600" lvl="2" indent="-457200" algn="just">
                <a:buFont typeface="Arial" panose="020B0604020202020204" pitchFamily="34" charset="0"/>
                <a:buChar char="•"/>
              </a:pPr>
              <a:endParaRPr lang="en-US" sz="3600" dirty="0">
                <a:ea typeface="+mn-lt"/>
                <a:cs typeface="+mn-lt"/>
              </a:endParaRPr>
            </a:p>
            <a:p>
              <a:pPr marL="1371600" lvl="2" indent="-457200" algn="just">
                <a:buFont typeface="Arial" panose="020B0604020202020204" pitchFamily="34" charset="0"/>
                <a:buChar char="•"/>
              </a:pPr>
              <a:endParaRPr lang="en-US" sz="3600" dirty="0">
                <a:ea typeface="+mn-lt"/>
                <a:cs typeface="+mn-lt"/>
              </a:endParaRPr>
            </a:p>
            <a:p>
              <a:pPr marL="1371600" lvl="2" indent="-457200" algn="just">
                <a:buFont typeface="Arial" panose="020B0604020202020204" pitchFamily="34" charset="0"/>
                <a:buChar char="•"/>
              </a:pPr>
              <a:r>
                <a:rPr lang="en-US" sz="3600" dirty="0">
                  <a:ea typeface="+mn-lt"/>
                  <a:cs typeface="+mn-lt"/>
                </a:rPr>
                <a:t>SQL Server allows ALTER PROCEDURE</a:t>
              </a:r>
              <a:endParaRPr lang="en-GB" sz="3600" b="1" dirty="0">
                <a:ea typeface="+mn-lt"/>
                <a:cs typeface="+mn-lt"/>
              </a:endParaRPr>
            </a:p>
            <a:p>
              <a:pPr marL="457200" lvl="1" algn="just">
                <a:lnSpc>
                  <a:spcPts val="3600"/>
                </a:lnSpc>
              </a:pPr>
              <a:endParaRPr lang="en-GB" sz="3600" i="1" dirty="0">
                <a:ea typeface="+mn-lt"/>
                <a:cs typeface="+mn-lt"/>
              </a:endParaRP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2FC950B6-57C5-F279-D2AF-A4DE3A34A9F9}"/>
                </a:ext>
              </a:extLst>
            </p:cNvPr>
            <p:cNvSpPr txBox="1"/>
            <p:nvPr/>
          </p:nvSpPr>
          <p:spPr>
            <a:xfrm>
              <a:off x="0" y="-9526"/>
              <a:ext cx="15443231" cy="40305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endParaRPr dirty="0"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AD035F50-3FA1-336F-760F-1BAF1B17DF01}"/>
              </a:ext>
            </a:extLst>
          </p:cNvPr>
          <p:cNvSpPr/>
          <p:nvPr/>
        </p:nvSpPr>
        <p:spPr>
          <a:xfrm>
            <a:off x="17259300" y="7851297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45F35A44-AC97-AC3C-EE9A-8D605CCFF8A5}"/>
              </a:ext>
            </a:extLst>
          </p:cNvPr>
          <p:cNvSpPr/>
          <p:nvPr/>
        </p:nvSpPr>
        <p:spPr>
          <a:xfrm>
            <a:off x="17259300" y="5335426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CA9527EB-015D-D094-E7DD-486E387856F8}"/>
              </a:ext>
            </a:extLst>
          </p:cNvPr>
          <p:cNvSpPr txBox="1"/>
          <p:nvPr/>
        </p:nvSpPr>
        <p:spPr>
          <a:xfrm>
            <a:off x="0" y="260139"/>
            <a:ext cx="18288000" cy="120609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900"/>
              </a:lnSpc>
            </a:pPr>
            <a:r>
              <a:rPr lang="en-GB" sz="7800" b="1" dirty="0">
                <a:solidFill>
                  <a:srgbClr val="0070C0"/>
                </a:solidFill>
                <a:ea typeface="+mn-lt"/>
                <a:cs typeface="+mn-lt"/>
              </a:rPr>
              <a:t>Creating And Modifying a Stored Procedure</a:t>
            </a:r>
            <a:endParaRPr lang="en-US" sz="7800" dirty="0">
              <a:solidFill>
                <a:srgbClr val="0070C0"/>
              </a:solidFill>
              <a:ea typeface="+mn-lt"/>
              <a:cs typeface="+mn-lt"/>
            </a:endParaRP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D435C707-C320-49E9-CAB3-FB2CC15F6C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8751" y="976958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>
                <a:solidFill>
                  <a:schemeClr val="tx1"/>
                </a:solidFill>
              </a:rPr>
              <a:pPr/>
              <a:t>6</a:t>
            </a:fld>
            <a:endParaRPr lang="en-GB">
              <a:solidFill>
                <a:schemeClr val="tx1"/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A053906-2B06-9F5B-F86F-B2CE98BDE6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92539" y="2764189"/>
            <a:ext cx="6447692" cy="2034436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5614FD86-5E2E-F93A-14A7-B2D25EC2817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18181" y="7297932"/>
            <a:ext cx="6447692" cy="1811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9925739"/>
      </p:ext>
    </p:extLst>
  </p:cSld>
  <p:clrMapOvr>
    <a:masterClrMapping/>
  </p:clrMapOvr>
  <p:transition spd="slow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57EBAA-8C62-5F9F-614E-57EC0BC2B7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36205796-3BB2-8C3C-8B41-A12E165DC2FF}"/>
              </a:ext>
            </a:extLst>
          </p:cNvPr>
          <p:cNvSpPr/>
          <p:nvPr/>
        </p:nvSpPr>
        <p:spPr>
          <a:xfrm>
            <a:off x="-840884" y="24123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705F31F2-2D28-E206-18D0-08CA1135D1AA}"/>
              </a:ext>
            </a:extLst>
          </p:cNvPr>
          <p:cNvSpPr/>
          <p:nvPr/>
        </p:nvSpPr>
        <p:spPr>
          <a:xfrm>
            <a:off x="-870441" y="2847634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BC563F4A-BFEC-128B-4FED-306EF8045A32}"/>
              </a:ext>
            </a:extLst>
          </p:cNvPr>
          <p:cNvGrpSpPr/>
          <p:nvPr/>
        </p:nvGrpSpPr>
        <p:grpSpPr>
          <a:xfrm>
            <a:off x="1588991" y="2197459"/>
            <a:ext cx="15854947" cy="7171195"/>
            <a:chOff x="-4818336" y="-1908324"/>
            <a:chExt cx="23888806" cy="6217593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E3015859-FC2F-AB2B-4E27-34911AC310A1}"/>
                </a:ext>
              </a:extLst>
            </p:cNvPr>
            <p:cNvSpPr txBox="1"/>
            <p:nvPr/>
          </p:nvSpPr>
          <p:spPr>
            <a:xfrm>
              <a:off x="-4818336" y="-1908324"/>
              <a:ext cx="23888806" cy="6217593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914400" lvl="1" indent="-457200" algn="just">
                <a:buFont typeface="Wingdings" panose="05000000000000000000" pitchFamily="2" charset="2"/>
                <a:buChar char="v"/>
              </a:pPr>
              <a:r>
                <a:rPr lang="en-GB" sz="3200" b="1" dirty="0">
                  <a:ea typeface="+mn-lt"/>
                  <a:cs typeface="+mn-lt"/>
                </a:rPr>
                <a:t>Note :</a:t>
              </a:r>
            </a:p>
            <a:p>
              <a:pPr lvl="3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3200" dirty="0">
                  <a:latin typeface="+mj-lt"/>
                </a:rPr>
                <a:t>In SQL Server (SSMS), there is </a:t>
              </a:r>
              <a:r>
                <a:rPr lang="en-US" altLang="en-US" sz="3200" b="1" dirty="0">
                  <a:latin typeface="+mj-lt"/>
                </a:rPr>
                <a:t>no direct INOUT </a:t>
              </a:r>
              <a:r>
                <a:rPr lang="en-US" altLang="en-US" sz="3200" dirty="0">
                  <a:latin typeface="+mj-lt"/>
                </a:rPr>
                <a:t>parameter type like in some other databases (e.g., MySQL, Oracle).</a:t>
              </a:r>
            </a:p>
            <a:p>
              <a:pPr lvl="3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3200" dirty="0">
                  <a:latin typeface="+mj-lt"/>
                </a:rPr>
                <a:t>Instead:</a:t>
              </a:r>
            </a:p>
            <a:p>
              <a:pPr lvl="3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FontTx/>
                <a:buChar char="•"/>
              </a:pPr>
              <a:r>
                <a:rPr lang="en-US" altLang="en-US" sz="3200" dirty="0">
                  <a:latin typeface="+mj-lt"/>
                </a:rPr>
                <a:t>By default, parameters are INPUT.</a:t>
              </a:r>
            </a:p>
            <a:p>
              <a:pPr lvl="3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FontTx/>
                <a:buChar char="•"/>
              </a:pPr>
              <a:r>
                <a:rPr lang="en-US" altLang="en-US" sz="3200" dirty="0">
                  <a:latin typeface="+mj-lt"/>
                </a:rPr>
                <a:t>If you add the keyword OUTPUT, the parameter can return a value back.</a:t>
              </a:r>
            </a:p>
            <a:p>
              <a:pPr lvl="3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FontTx/>
                <a:buChar char="•"/>
              </a:pPr>
              <a:r>
                <a:rPr lang="en-US" altLang="en-US" sz="3200" dirty="0">
                  <a:latin typeface="+mj-lt"/>
                </a:rPr>
                <a:t>A parameter can actually act as both input and output (so it works like INOUT) if you:</a:t>
              </a:r>
            </a:p>
            <a:p>
              <a:pPr lvl="4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FontTx/>
                <a:buAutoNum type="arabicPeriod"/>
              </a:pPr>
              <a:r>
                <a:rPr lang="en-US" altLang="en-US" sz="3200" dirty="0">
                  <a:latin typeface="+mj-lt"/>
                </a:rPr>
                <a:t>Pass a value into the procedure, and</a:t>
              </a:r>
            </a:p>
            <a:p>
              <a:pPr lvl="4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FontTx/>
                <a:buAutoNum type="arabicPeriod" startAt="2"/>
              </a:pPr>
              <a:r>
                <a:rPr lang="en-US" altLang="en-US" sz="3200" dirty="0">
                  <a:latin typeface="+mj-lt"/>
                </a:rPr>
                <a:t>The procedure modifies it and returns it back.</a:t>
              </a:r>
            </a:p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 dirty="0">
                <a:latin typeface="Arial" panose="020B0604020202020204" pitchFamily="34" charset="0"/>
              </a:endParaRPr>
            </a:p>
            <a:p>
              <a:pPr marL="914400" lvl="1" indent="-457200" algn="just">
                <a:buFont typeface="Wingdings" panose="05000000000000000000" pitchFamily="2" charset="2"/>
                <a:buChar char="v"/>
              </a:pPr>
              <a:endParaRPr lang="en-GB" sz="3200" b="1" dirty="0">
                <a:ea typeface="+mn-lt"/>
                <a:cs typeface="+mn-lt"/>
              </a:endParaRP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CD189F16-DADA-94DC-B46D-355631D0474E}"/>
                </a:ext>
              </a:extLst>
            </p:cNvPr>
            <p:cNvSpPr txBox="1"/>
            <p:nvPr/>
          </p:nvSpPr>
          <p:spPr>
            <a:xfrm>
              <a:off x="0" y="-9526"/>
              <a:ext cx="15443231" cy="40305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endParaRPr dirty="0"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95EA671F-76AD-0D08-FE3D-237971619A35}"/>
              </a:ext>
            </a:extLst>
          </p:cNvPr>
          <p:cNvSpPr/>
          <p:nvPr/>
        </p:nvSpPr>
        <p:spPr>
          <a:xfrm>
            <a:off x="17259300" y="7851297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89233639-A8B5-ED20-C948-CAB51A3C9E17}"/>
              </a:ext>
            </a:extLst>
          </p:cNvPr>
          <p:cNvSpPr/>
          <p:nvPr/>
        </p:nvSpPr>
        <p:spPr>
          <a:xfrm>
            <a:off x="17259300" y="5335426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24CFFB73-628F-7176-2BCD-199B8A032AA2}"/>
              </a:ext>
            </a:extLst>
          </p:cNvPr>
          <p:cNvSpPr txBox="1"/>
          <p:nvPr/>
        </p:nvSpPr>
        <p:spPr>
          <a:xfrm>
            <a:off x="1618548" y="260139"/>
            <a:ext cx="16107997" cy="12695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900"/>
              </a:lnSpc>
            </a:pPr>
            <a:r>
              <a:rPr lang="en-GB" sz="8800" b="1" dirty="0">
                <a:ea typeface="+mn-lt"/>
                <a:cs typeface="+mn-lt"/>
              </a:rPr>
              <a:t>Procedure Parameters</a:t>
            </a:r>
            <a:endParaRPr lang="en-US" sz="8800" dirty="0">
              <a:ea typeface="+mn-lt"/>
              <a:cs typeface="+mn-lt"/>
            </a:endParaRP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F9211AD4-C855-A294-6C8A-A8E42580D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8751" y="976958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>
                <a:solidFill>
                  <a:schemeClr val="tx1"/>
                </a:solidFill>
              </a:rPr>
              <a:pPr/>
              <a:t>7</a:t>
            </a:fld>
            <a:endParaRPr lang="en-GB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51622497"/>
      </p:ext>
    </p:extLst>
  </p:cSld>
  <p:clrMapOvr>
    <a:masterClrMapping/>
  </p:clrMapOvr>
  <p:transition spd="slow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A98976-C090-AF54-91BE-7239986DAA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6A3BA246-5D42-3A75-8203-EAEFDFE0EBAD}"/>
              </a:ext>
            </a:extLst>
          </p:cNvPr>
          <p:cNvSpPr/>
          <p:nvPr/>
        </p:nvSpPr>
        <p:spPr>
          <a:xfrm>
            <a:off x="-840884" y="24123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6E9FB752-459D-0CB3-1F38-CDD8B08D349E}"/>
              </a:ext>
            </a:extLst>
          </p:cNvPr>
          <p:cNvSpPr/>
          <p:nvPr/>
        </p:nvSpPr>
        <p:spPr>
          <a:xfrm>
            <a:off x="-870441" y="2847634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217290CC-FC7D-F17D-1FA1-498A03ED011A}"/>
              </a:ext>
            </a:extLst>
          </p:cNvPr>
          <p:cNvGrpSpPr/>
          <p:nvPr/>
        </p:nvGrpSpPr>
        <p:grpSpPr>
          <a:xfrm>
            <a:off x="730993" y="1608295"/>
            <a:ext cx="15854947" cy="7879079"/>
            <a:chOff x="-4818336" y="-1908324"/>
            <a:chExt cx="23888806" cy="6831342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97EA2585-4202-0B1F-B55F-30E67A096E5D}"/>
                </a:ext>
              </a:extLst>
            </p:cNvPr>
            <p:cNvSpPr txBox="1"/>
            <p:nvPr/>
          </p:nvSpPr>
          <p:spPr>
            <a:xfrm>
              <a:off x="-4818336" y="-1908324"/>
              <a:ext cx="23888806" cy="6831342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914400" lvl="1" indent="-457200" algn="just">
                <a:buFont typeface="Wingdings" panose="05000000000000000000" pitchFamily="2" charset="2"/>
                <a:buChar char="v"/>
              </a:pPr>
              <a:r>
                <a:rPr lang="en-US" sz="3200" b="1" dirty="0"/>
                <a:t>Example of INOUT Behavior in SQL Server</a:t>
              </a:r>
            </a:p>
            <a:p>
              <a:pPr marL="914400" lvl="1" indent="-457200" algn="just">
                <a:buFont typeface="Wingdings" panose="05000000000000000000" pitchFamily="2" charset="2"/>
                <a:buChar char="v"/>
              </a:pPr>
              <a:endParaRPr lang="en-US" sz="3200" b="1" dirty="0">
                <a:ea typeface="+mn-lt"/>
                <a:cs typeface="+mn-lt"/>
              </a:endParaRPr>
            </a:p>
            <a:p>
              <a:pPr marL="914400" lvl="1" indent="-457200" algn="just">
                <a:buFont typeface="Wingdings" panose="05000000000000000000" pitchFamily="2" charset="2"/>
                <a:buChar char="v"/>
              </a:pPr>
              <a:endParaRPr lang="en-US" sz="3200" b="1" dirty="0">
                <a:ea typeface="+mn-lt"/>
                <a:cs typeface="+mn-lt"/>
              </a:endParaRPr>
            </a:p>
            <a:p>
              <a:pPr marL="914400" lvl="1" indent="-457200" algn="just">
                <a:buFont typeface="Wingdings" panose="05000000000000000000" pitchFamily="2" charset="2"/>
                <a:buChar char="v"/>
              </a:pPr>
              <a:endParaRPr lang="en-US" sz="3200" b="1" dirty="0">
                <a:ea typeface="+mn-lt"/>
                <a:cs typeface="+mn-lt"/>
              </a:endParaRPr>
            </a:p>
            <a:p>
              <a:pPr marL="914400" lvl="1" indent="-457200" algn="just">
                <a:buFont typeface="Wingdings" panose="05000000000000000000" pitchFamily="2" charset="2"/>
                <a:buChar char="v"/>
              </a:pPr>
              <a:endParaRPr lang="en-US" sz="3200" b="1" dirty="0">
                <a:ea typeface="+mn-lt"/>
                <a:cs typeface="+mn-lt"/>
              </a:endParaRPr>
            </a:p>
            <a:p>
              <a:pPr marL="914400" lvl="1" indent="-457200" algn="just">
                <a:buFont typeface="Wingdings" panose="05000000000000000000" pitchFamily="2" charset="2"/>
                <a:buChar char="v"/>
              </a:pPr>
              <a:endParaRPr lang="en-US" sz="3200" b="1" dirty="0">
                <a:ea typeface="+mn-lt"/>
                <a:cs typeface="+mn-lt"/>
              </a:endParaRPr>
            </a:p>
            <a:p>
              <a:pPr marL="914400" lvl="1" indent="-457200" algn="just">
                <a:buFont typeface="Wingdings" panose="05000000000000000000" pitchFamily="2" charset="2"/>
                <a:buChar char="v"/>
              </a:pPr>
              <a:endParaRPr lang="en-US" sz="3200" b="1" dirty="0">
                <a:ea typeface="+mn-lt"/>
                <a:cs typeface="+mn-lt"/>
              </a:endParaRPr>
            </a:p>
            <a:p>
              <a:pPr marL="914400" lvl="1" indent="-457200" algn="just">
                <a:buFont typeface="Wingdings" panose="05000000000000000000" pitchFamily="2" charset="2"/>
                <a:buChar char="v"/>
              </a:pPr>
              <a:endParaRPr lang="en-US" sz="3200" b="1" dirty="0">
                <a:ea typeface="+mn-lt"/>
                <a:cs typeface="+mn-lt"/>
              </a:endParaRPr>
            </a:p>
            <a:p>
              <a:pPr marL="914400" lvl="1" indent="-457200" algn="just">
                <a:buFont typeface="Wingdings" panose="05000000000000000000" pitchFamily="2" charset="2"/>
                <a:buChar char="v"/>
              </a:pPr>
              <a:endParaRPr lang="en-US" sz="3200" b="1" dirty="0">
                <a:ea typeface="+mn-lt"/>
                <a:cs typeface="+mn-lt"/>
              </a:endParaRPr>
            </a:p>
            <a:p>
              <a:pPr marL="914400" lvl="1" indent="-457200" algn="just">
                <a:buFont typeface="Wingdings" panose="05000000000000000000" pitchFamily="2" charset="2"/>
                <a:buChar char="v"/>
              </a:pPr>
              <a:endParaRPr lang="en-US" sz="3200" b="1" dirty="0">
                <a:ea typeface="+mn-lt"/>
                <a:cs typeface="+mn-lt"/>
              </a:endParaRPr>
            </a:p>
            <a:p>
              <a:pPr marL="914400" lvl="1" indent="-457200" algn="just">
                <a:buFont typeface="Wingdings" panose="05000000000000000000" pitchFamily="2" charset="2"/>
                <a:buChar char="v"/>
              </a:pPr>
              <a:endParaRPr lang="en-US" sz="3200" b="1" dirty="0">
                <a:ea typeface="+mn-lt"/>
                <a:cs typeface="+mn-lt"/>
              </a:endParaRPr>
            </a:p>
            <a:p>
              <a:pPr marL="914400" lvl="1" indent="-457200" algn="just">
                <a:buFont typeface="Wingdings" panose="05000000000000000000" pitchFamily="2" charset="2"/>
                <a:buChar char="v"/>
              </a:pPr>
              <a:endParaRPr lang="en-US" sz="3200" b="1" dirty="0">
                <a:ea typeface="+mn-lt"/>
                <a:cs typeface="+mn-lt"/>
              </a:endParaRPr>
            </a:p>
            <a:p>
              <a:pPr marL="914400" lvl="1" indent="-457200" algn="just">
                <a:buFont typeface="Wingdings" panose="05000000000000000000" pitchFamily="2" charset="2"/>
                <a:buChar char="v"/>
              </a:pPr>
              <a:endParaRPr lang="en-US" sz="3200" b="1" dirty="0">
                <a:ea typeface="+mn-lt"/>
                <a:cs typeface="+mn-lt"/>
              </a:endParaRPr>
            </a:p>
            <a:p>
              <a:pPr marL="914400" lvl="1" indent="-457200" algn="just">
                <a:buFont typeface="Wingdings" panose="05000000000000000000" pitchFamily="2" charset="2"/>
                <a:buChar char="v"/>
              </a:pPr>
              <a:r>
                <a:rPr lang="en-US" sz="3200" b="1" dirty="0">
                  <a:ea typeface="+mn-lt"/>
                  <a:cs typeface="+mn-lt"/>
                </a:rPr>
                <a:t>Execution</a:t>
              </a:r>
            </a:p>
            <a:p>
              <a:pPr marL="914400" lvl="1" indent="-457200" algn="just">
                <a:buFont typeface="Wingdings" panose="05000000000000000000" pitchFamily="2" charset="2"/>
                <a:buChar char="v"/>
              </a:pPr>
              <a:endParaRPr lang="en-US" sz="3200" b="1" dirty="0">
                <a:ea typeface="+mn-lt"/>
                <a:cs typeface="+mn-lt"/>
              </a:endParaRPr>
            </a:p>
            <a:p>
              <a:pPr marL="914400" lvl="1" indent="-457200" algn="just">
                <a:buFont typeface="Wingdings" panose="05000000000000000000" pitchFamily="2" charset="2"/>
                <a:buChar char="v"/>
              </a:pPr>
              <a:endParaRPr lang="en-GB" sz="3200" b="1" dirty="0">
                <a:ea typeface="+mn-lt"/>
                <a:cs typeface="+mn-lt"/>
              </a:endParaRP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EB8F2841-9F1C-07F1-3058-AAA13023C013}"/>
                </a:ext>
              </a:extLst>
            </p:cNvPr>
            <p:cNvSpPr txBox="1"/>
            <p:nvPr/>
          </p:nvSpPr>
          <p:spPr>
            <a:xfrm>
              <a:off x="0" y="-9526"/>
              <a:ext cx="15443231" cy="40305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endParaRPr dirty="0"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C1802A61-62BD-3302-5A18-F9146F4BE91E}"/>
              </a:ext>
            </a:extLst>
          </p:cNvPr>
          <p:cNvSpPr/>
          <p:nvPr/>
        </p:nvSpPr>
        <p:spPr>
          <a:xfrm>
            <a:off x="17259300" y="7851297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2749FC3E-4EF6-76E2-B004-74616466FC1D}"/>
              </a:ext>
            </a:extLst>
          </p:cNvPr>
          <p:cNvSpPr/>
          <p:nvPr/>
        </p:nvSpPr>
        <p:spPr>
          <a:xfrm>
            <a:off x="17259300" y="5335426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327CEF2E-BDAD-5459-763E-122B186170B7}"/>
              </a:ext>
            </a:extLst>
          </p:cNvPr>
          <p:cNvSpPr txBox="1"/>
          <p:nvPr/>
        </p:nvSpPr>
        <p:spPr>
          <a:xfrm>
            <a:off x="1618548" y="260139"/>
            <a:ext cx="16107997" cy="12695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900"/>
              </a:lnSpc>
            </a:pPr>
            <a:r>
              <a:rPr lang="en-GB" sz="8800" b="1" dirty="0">
                <a:ea typeface="+mn-lt"/>
                <a:cs typeface="+mn-lt"/>
              </a:rPr>
              <a:t>Procedure Parameters</a:t>
            </a:r>
            <a:endParaRPr lang="en-US" sz="8800" dirty="0">
              <a:ea typeface="+mn-lt"/>
              <a:cs typeface="+mn-lt"/>
            </a:endParaRP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B03134CD-B199-93F1-1A0C-16854B7B62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8751" y="976958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>
                <a:solidFill>
                  <a:schemeClr val="tx1"/>
                </a:solidFill>
              </a:rPr>
              <a:pPr/>
              <a:t>8</a:t>
            </a:fld>
            <a:endParaRPr lang="en-GB">
              <a:solidFill>
                <a:schemeClr val="tx1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CB6932E-68CD-0B4E-A312-BADCC91584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9494" y="2248085"/>
            <a:ext cx="8688473" cy="537461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C05597C-9491-281E-47F2-52E45FE88B5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9493" y="8393992"/>
            <a:ext cx="8688473" cy="16328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7047573"/>
      </p:ext>
    </p:extLst>
  </p:cSld>
  <p:clrMapOvr>
    <a:masterClrMapping/>
  </p:clrMapOvr>
  <p:transition spd="slow"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575116-1C34-5856-66D4-6445464C08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D06891E0-41A1-16BB-6B18-3C96851EE6BD}"/>
              </a:ext>
            </a:extLst>
          </p:cNvPr>
          <p:cNvSpPr/>
          <p:nvPr/>
        </p:nvSpPr>
        <p:spPr>
          <a:xfrm>
            <a:off x="-840884" y="24123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22926664-80C5-18F0-EA31-6784C04487F4}"/>
              </a:ext>
            </a:extLst>
          </p:cNvPr>
          <p:cNvSpPr/>
          <p:nvPr/>
        </p:nvSpPr>
        <p:spPr>
          <a:xfrm>
            <a:off x="-870441" y="2847634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FF41B64B-D75B-E59E-76DE-E9CB6E13EA91}"/>
              </a:ext>
            </a:extLst>
          </p:cNvPr>
          <p:cNvGrpSpPr/>
          <p:nvPr/>
        </p:nvGrpSpPr>
        <p:grpSpPr>
          <a:xfrm>
            <a:off x="962526" y="1951726"/>
            <a:ext cx="15762342" cy="7432804"/>
            <a:chOff x="-5570441" y="-2442976"/>
            <a:chExt cx="23749278" cy="9860242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63B50580-53D5-E586-F386-21D64B98336D}"/>
                </a:ext>
              </a:extLst>
            </p:cNvPr>
            <p:cNvSpPr txBox="1"/>
            <p:nvPr/>
          </p:nvSpPr>
          <p:spPr>
            <a:xfrm>
              <a:off x="-5570441" y="-2442976"/>
              <a:ext cx="23749278" cy="9860242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lvl="1" algn="just"/>
              <a:endParaRPr lang="en-GB" sz="3200" b="1" dirty="0">
                <a:ea typeface="+mn-lt"/>
                <a:cs typeface="+mn-lt"/>
              </a:endParaRPr>
            </a:p>
            <a:p>
              <a:r>
                <a:rPr lang="en-US" sz="3200" b="1" dirty="0"/>
                <a:t>⚠️ </a:t>
              </a:r>
              <a:r>
                <a:rPr lang="en-US" sz="3500" b="1" dirty="0"/>
                <a:t>What is Exception Handling?</a:t>
              </a:r>
            </a:p>
            <a:p>
              <a:pPr lvl="2"/>
              <a:r>
                <a:rPr lang="en-US" sz="3200" dirty="0"/>
                <a:t>Exception handling allows a stored procedure to respond to </a:t>
              </a:r>
              <a:r>
                <a:rPr lang="en-US" sz="3200" b="1" dirty="0"/>
                <a:t>runtime errors</a:t>
              </a:r>
              <a:r>
                <a:rPr lang="en-US" sz="3200" dirty="0"/>
                <a:t> (e.g., division by zero, duplicate keys) </a:t>
              </a:r>
              <a:r>
                <a:rPr lang="en-US" sz="3200" b="1" dirty="0"/>
                <a:t>without crashing</a:t>
              </a:r>
            </a:p>
            <a:p>
              <a:pPr lvl="2"/>
              <a:endParaRPr lang="en-US" sz="3200" b="1" dirty="0"/>
            </a:p>
            <a:p>
              <a:pPr marL="914400" lvl="1" indent="-457200">
                <a:buFont typeface="Arial" panose="020B0604020202020204" pitchFamily="34" charset="0"/>
                <a:buChar char="•"/>
              </a:pPr>
              <a:r>
                <a:rPr lang="en-IN" sz="3500" b="1" dirty="0"/>
                <a:t>Commonly used Handler:</a:t>
              </a:r>
            </a:p>
            <a:p>
              <a:pPr marL="1028700" lvl="1" indent="-571500">
                <a:buFont typeface="+mj-lt"/>
                <a:buAutoNum type="romanLcPeriod"/>
              </a:pPr>
              <a:endParaRPr lang="en-IN" sz="3200" b="1" dirty="0"/>
            </a:p>
            <a:p>
              <a:pPr marL="1485900" lvl="2" indent="-571500">
                <a:buFont typeface="+mj-lt"/>
                <a:buAutoNum type="romanLcPeriod"/>
              </a:pPr>
              <a:r>
                <a:rPr lang="en-IN" sz="3200" b="1" dirty="0"/>
                <a:t>TRY…CATCH Block </a:t>
              </a:r>
              <a:r>
                <a:rPr lang="en-IN" sz="3200" dirty="0"/>
                <a:t>- Handles runtime errors inside T-SQL.</a:t>
              </a:r>
            </a:p>
            <a:p>
              <a:pPr lvl="2"/>
              <a:endParaRPr lang="en-US" sz="3200" dirty="0"/>
            </a:p>
            <a:p>
              <a:pPr marL="914400" lvl="1" indent="-457200">
                <a:buFont typeface="Arial" panose="020B0604020202020204" pitchFamily="34" charset="0"/>
                <a:buChar char="•"/>
              </a:pPr>
              <a:r>
                <a:rPr lang="en-US" sz="3500" b="1" dirty="0"/>
                <a:t>Syntax in </a:t>
              </a:r>
              <a:r>
                <a:rPr lang="en-US" sz="3500" b="1" dirty="0" err="1"/>
                <a:t>MsSQL</a:t>
              </a:r>
              <a:r>
                <a:rPr lang="en-US" sz="3500" b="1" dirty="0"/>
                <a:t>: Using </a:t>
              </a:r>
              <a:r>
                <a:rPr lang="en-IN" sz="3500" b="1" dirty="0"/>
                <a:t>Try Catch</a:t>
              </a:r>
              <a:endParaRPr lang="en-GB" sz="3500" i="1" dirty="0">
                <a:ea typeface="+mn-lt"/>
                <a:cs typeface="+mn-lt"/>
              </a:endParaRPr>
            </a:p>
            <a:p>
              <a:pPr algn="just"/>
              <a:endParaRPr lang="en-GB" sz="3200" dirty="0">
                <a:ea typeface="+mn-lt"/>
                <a:cs typeface="+mn-lt"/>
              </a:endParaRPr>
            </a:p>
            <a:p>
              <a:pPr lvl="1" algn="just"/>
              <a:r>
                <a:rPr lang="en-GB" sz="3200" b="1" dirty="0">
                  <a:ea typeface="+mn-lt"/>
                  <a:cs typeface="+mn-lt"/>
                </a:rPr>
                <a:t>  </a:t>
              </a:r>
            </a:p>
            <a:p>
              <a:pPr marL="457200" lvl="1" algn="just">
                <a:lnSpc>
                  <a:spcPts val="3600"/>
                </a:lnSpc>
              </a:pPr>
              <a:endParaRPr lang="en-GB" sz="3200" i="1" dirty="0">
                <a:ea typeface="+mn-lt"/>
                <a:cs typeface="+mn-lt"/>
              </a:endParaRPr>
            </a:p>
            <a:p>
              <a:pPr marL="457200" lvl="1" algn="just">
                <a:lnSpc>
                  <a:spcPts val="3600"/>
                </a:lnSpc>
              </a:pPr>
              <a:endParaRPr lang="en-GB" sz="3200" i="1" dirty="0">
                <a:ea typeface="+mn-lt"/>
                <a:cs typeface="+mn-lt"/>
              </a:endParaRPr>
            </a:p>
            <a:p>
              <a:pPr marL="457200" indent="-457200" algn="just">
                <a:lnSpc>
                  <a:spcPts val="3600"/>
                </a:lnSpc>
                <a:buFont typeface="Arial"/>
                <a:buChar char="•"/>
              </a:pPr>
              <a:endParaRPr lang="en-GB" sz="3200" dirty="0">
                <a:ea typeface="+mn-lt"/>
                <a:cs typeface="+mn-lt"/>
              </a:endParaRP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96701CAE-71CC-6356-8F50-5666531A1E4E}"/>
                </a:ext>
              </a:extLst>
            </p:cNvPr>
            <p:cNvSpPr txBox="1"/>
            <p:nvPr/>
          </p:nvSpPr>
          <p:spPr>
            <a:xfrm>
              <a:off x="0" y="-9525"/>
              <a:ext cx="15443232" cy="61669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endParaRPr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B32AF543-4089-CC32-D0B7-49EE536ED75C}"/>
              </a:ext>
            </a:extLst>
          </p:cNvPr>
          <p:cNvSpPr/>
          <p:nvPr/>
        </p:nvSpPr>
        <p:spPr>
          <a:xfrm>
            <a:off x="17259300" y="7851297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B1858577-A79A-3503-11B5-58B32CF00A63}"/>
              </a:ext>
            </a:extLst>
          </p:cNvPr>
          <p:cNvSpPr/>
          <p:nvPr/>
        </p:nvSpPr>
        <p:spPr>
          <a:xfrm>
            <a:off x="17259300" y="5335426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D2D3D56B-71EC-963F-30B5-9B77D7635B6D}"/>
              </a:ext>
            </a:extLst>
          </p:cNvPr>
          <p:cNvSpPr txBox="1"/>
          <p:nvPr/>
        </p:nvSpPr>
        <p:spPr>
          <a:xfrm>
            <a:off x="1195551" y="363024"/>
            <a:ext cx="14344416" cy="12695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9900"/>
              </a:lnSpc>
            </a:pPr>
            <a:r>
              <a:rPr lang="en-GB" sz="9000" b="1" dirty="0">
                <a:solidFill>
                  <a:srgbClr val="7030A0"/>
                </a:solidFill>
                <a:ea typeface="+mn-lt"/>
                <a:cs typeface="+mn-lt"/>
              </a:rPr>
              <a:t>Handling Exceptions</a:t>
            </a:r>
            <a:endParaRPr lang="en-US" dirty="0">
              <a:solidFill>
                <a:srgbClr val="7030A0"/>
              </a:solidFill>
              <a:ea typeface="+mn-lt"/>
              <a:cs typeface="+mn-lt"/>
            </a:endParaRP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E46D7734-1832-76C1-CAE6-E0FFB947F8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8751" y="976958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>
                <a:solidFill>
                  <a:schemeClr val="tx1"/>
                </a:solidFill>
              </a:rPr>
              <a:pPr/>
              <a:t>9</a:t>
            </a:fld>
            <a:endParaRPr lang="en-GB">
              <a:solidFill>
                <a:schemeClr val="tx1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33EC084-17E5-99D6-2239-67D9655B64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08885" y="7170821"/>
            <a:ext cx="7737982" cy="2753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9421570"/>
      </p:ext>
    </p:extLst>
  </p:cSld>
  <p:clrMapOvr>
    <a:masterClrMapping/>
  </p:clrMapOvr>
  <p:transition spd="slow">
    <p:wip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D7B85C-EF15-A620-14C3-A5F8371DE2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E5E2E2B9-97C8-B977-B9D9-1D7B1AD27F9B}"/>
              </a:ext>
            </a:extLst>
          </p:cNvPr>
          <p:cNvSpPr/>
          <p:nvPr/>
        </p:nvSpPr>
        <p:spPr>
          <a:xfrm>
            <a:off x="-840884" y="24123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0BF61BA6-E462-BB82-0DC3-1184D1D7BF95}"/>
              </a:ext>
            </a:extLst>
          </p:cNvPr>
          <p:cNvSpPr/>
          <p:nvPr/>
        </p:nvSpPr>
        <p:spPr>
          <a:xfrm>
            <a:off x="-870441" y="2847634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04245AA5-155E-9C41-E2CE-92BA31EEBD09}"/>
              </a:ext>
            </a:extLst>
          </p:cNvPr>
          <p:cNvGrpSpPr/>
          <p:nvPr/>
        </p:nvGrpSpPr>
        <p:grpSpPr>
          <a:xfrm>
            <a:off x="1464868" y="1555438"/>
            <a:ext cx="15794432" cy="8771632"/>
            <a:chOff x="-4181048" y="-2442976"/>
            <a:chExt cx="21900210" cy="11636312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E9987D7D-2FA5-9D8B-6F3B-6120BE648A00}"/>
                </a:ext>
              </a:extLst>
            </p:cNvPr>
            <p:cNvSpPr txBox="1"/>
            <p:nvPr/>
          </p:nvSpPr>
          <p:spPr>
            <a:xfrm>
              <a:off x="-4181048" y="-2442976"/>
              <a:ext cx="21900210" cy="11636312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lvl="1" algn="just"/>
              <a:endParaRPr lang="en-GB" sz="3200" b="1" dirty="0">
                <a:ea typeface="+mn-lt"/>
                <a:cs typeface="+mn-lt"/>
              </a:endParaRPr>
            </a:p>
            <a:p>
              <a:r>
                <a:rPr lang="en-IN" sz="3200" dirty="0"/>
                <a:t>🟦</a:t>
              </a:r>
              <a:r>
                <a:rPr lang="en-US" sz="3200" b="1" dirty="0"/>
                <a:t> </a:t>
              </a:r>
              <a:r>
                <a:rPr lang="en-US" sz="3500" b="1" dirty="0"/>
                <a:t>What is a Transaction?</a:t>
              </a:r>
            </a:p>
            <a:p>
              <a:pPr lvl="2"/>
              <a:r>
                <a:rPr lang="en-US" sz="3200" dirty="0"/>
                <a:t>A </a:t>
              </a:r>
              <a:r>
                <a:rPr lang="en-US" sz="3200" b="1" dirty="0"/>
                <a:t>transaction</a:t>
              </a:r>
              <a:r>
                <a:rPr lang="en-US" sz="3200" dirty="0"/>
                <a:t> is a sequence of one or more SQL operations treated as a single unit of work.</a:t>
              </a:r>
              <a:br>
                <a:rPr lang="en-US" sz="3200" dirty="0"/>
              </a:br>
              <a:r>
                <a:rPr lang="en-US" sz="3200" dirty="0"/>
                <a:t>It ensures </a:t>
              </a:r>
              <a:r>
                <a:rPr lang="en-US" sz="3200" b="1" dirty="0"/>
                <a:t>data consistency</a:t>
              </a:r>
              <a:r>
                <a:rPr lang="en-US" sz="3200" dirty="0"/>
                <a:t>, especially in multi-step operations.</a:t>
              </a:r>
              <a:endParaRPr lang="en-US" sz="3200" b="1" dirty="0"/>
            </a:p>
            <a:p>
              <a:pPr lvl="2"/>
              <a:endParaRPr lang="en-US" sz="3500" b="1" dirty="0"/>
            </a:p>
            <a:p>
              <a:pPr lvl="2"/>
              <a:r>
                <a:rPr lang="en-US" sz="3800" b="1" dirty="0"/>
                <a:t>Key Commands</a:t>
              </a:r>
            </a:p>
            <a:p>
              <a:pPr algn="just"/>
              <a:endParaRPr lang="en-GB" sz="3200" dirty="0">
                <a:ea typeface="+mn-lt"/>
                <a:cs typeface="+mn-lt"/>
              </a:endParaRPr>
            </a:p>
            <a:p>
              <a:pPr lvl="1" algn="just"/>
              <a:r>
                <a:rPr lang="en-GB" sz="3200" b="1" dirty="0">
                  <a:ea typeface="+mn-lt"/>
                  <a:cs typeface="+mn-lt"/>
                </a:rPr>
                <a:t>  </a:t>
              </a:r>
            </a:p>
            <a:p>
              <a:pPr marL="457200" lvl="1" algn="just">
                <a:lnSpc>
                  <a:spcPts val="3600"/>
                </a:lnSpc>
              </a:pPr>
              <a:endParaRPr lang="en-GB" sz="3200" i="1" dirty="0">
                <a:ea typeface="+mn-lt"/>
                <a:cs typeface="+mn-lt"/>
              </a:endParaRPr>
            </a:p>
            <a:p>
              <a:pPr marL="457200" lvl="1" algn="just">
                <a:lnSpc>
                  <a:spcPts val="3600"/>
                </a:lnSpc>
              </a:pPr>
              <a:endParaRPr lang="en-GB" sz="3200" i="1" dirty="0">
                <a:ea typeface="+mn-lt"/>
                <a:cs typeface="+mn-lt"/>
              </a:endParaRPr>
            </a:p>
            <a:p>
              <a:pPr marL="457200" lvl="1" algn="just">
                <a:lnSpc>
                  <a:spcPts val="3600"/>
                </a:lnSpc>
              </a:pPr>
              <a:endParaRPr lang="en-GB" sz="3200" i="1" dirty="0">
                <a:ea typeface="+mn-lt"/>
                <a:cs typeface="+mn-lt"/>
              </a:endParaRPr>
            </a:p>
            <a:p>
              <a:pPr marL="457200" lvl="1" algn="just">
                <a:lnSpc>
                  <a:spcPts val="3600"/>
                </a:lnSpc>
              </a:pPr>
              <a:endParaRPr lang="en-GB" sz="3200" i="1" dirty="0">
                <a:ea typeface="+mn-lt"/>
                <a:cs typeface="+mn-lt"/>
              </a:endParaRPr>
            </a:p>
            <a:p>
              <a:pPr marL="457200" lvl="1" algn="just">
                <a:lnSpc>
                  <a:spcPts val="3600"/>
                </a:lnSpc>
              </a:pPr>
              <a:endParaRPr lang="en-GB" sz="3200" i="1" dirty="0">
                <a:ea typeface="+mn-lt"/>
                <a:cs typeface="+mn-lt"/>
              </a:endParaRPr>
            </a:p>
            <a:p>
              <a:pPr marL="457200" lvl="1" algn="just">
                <a:lnSpc>
                  <a:spcPts val="3600"/>
                </a:lnSpc>
              </a:pPr>
              <a:endParaRPr lang="en-GB" sz="3200" i="1" dirty="0">
                <a:ea typeface="+mn-lt"/>
                <a:cs typeface="+mn-lt"/>
              </a:endParaRPr>
            </a:p>
            <a:p>
              <a:pPr marL="457200" lvl="1" algn="just">
                <a:lnSpc>
                  <a:spcPts val="3600"/>
                </a:lnSpc>
              </a:pPr>
              <a:endParaRPr lang="en-GB" sz="3200" i="1" dirty="0">
                <a:ea typeface="+mn-lt"/>
                <a:cs typeface="+mn-lt"/>
              </a:endParaRPr>
            </a:p>
            <a:p>
              <a:pPr marL="457200" lvl="1" algn="just">
                <a:lnSpc>
                  <a:spcPts val="3600"/>
                </a:lnSpc>
              </a:pPr>
              <a:endParaRPr lang="en-GB" sz="3200" i="1" dirty="0">
                <a:ea typeface="+mn-lt"/>
                <a:cs typeface="+mn-lt"/>
              </a:endParaRPr>
            </a:p>
            <a:p>
              <a:pPr marL="457200" lvl="1" algn="just">
                <a:lnSpc>
                  <a:spcPts val="3600"/>
                </a:lnSpc>
              </a:pPr>
              <a:endParaRPr lang="en-GB" sz="3200" i="1" dirty="0">
                <a:ea typeface="+mn-lt"/>
                <a:cs typeface="+mn-lt"/>
              </a:endParaRP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3228558D-27FF-2D8B-D1A3-805B6AE0A509}"/>
                </a:ext>
              </a:extLst>
            </p:cNvPr>
            <p:cNvSpPr txBox="1"/>
            <p:nvPr/>
          </p:nvSpPr>
          <p:spPr>
            <a:xfrm>
              <a:off x="0" y="-9525"/>
              <a:ext cx="15443232" cy="61669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endParaRPr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C39A67CA-E21E-0046-BDA5-032573017FFF}"/>
              </a:ext>
            </a:extLst>
          </p:cNvPr>
          <p:cNvSpPr/>
          <p:nvPr/>
        </p:nvSpPr>
        <p:spPr>
          <a:xfrm>
            <a:off x="17259300" y="7851297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54D9C874-8BFF-73A1-9470-86996C15D90F}"/>
              </a:ext>
            </a:extLst>
          </p:cNvPr>
          <p:cNvSpPr/>
          <p:nvPr/>
        </p:nvSpPr>
        <p:spPr>
          <a:xfrm>
            <a:off x="17259300" y="5335426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92C794C4-240B-5089-8CF9-B02589E1571D}"/>
              </a:ext>
            </a:extLst>
          </p:cNvPr>
          <p:cNvSpPr txBox="1"/>
          <p:nvPr/>
        </p:nvSpPr>
        <p:spPr>
          <a:xfrm>
            <a:off x="1986318" y="170443"/>
            <a:ext cx="14705778" cy="13849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/>
            <a:r>
              <a:rPr lang="en-GB" sz="9000" b="1" dirty="0">
                <a:ea typeface="+mn-lt"/>
                <a:cs typeface="+mn-lt"/>
                <a:sym typeface="Heebo Black"/>
              </a:rPr>
              <a:t>Transactions in SQL</a:t>
            </a:r>
            <a:endParaRPr lang="en-US" sz="9600" dirty="0">
              <a:ea typeface="+mn-lt"/>
              <a:cs typeface="+mn-lt"/>
            </a:endParaRP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66150992-D870-84D7-C411-33A929668D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8751" y="976958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>
                <a:solidFill>
                  <a:schemeClr val="tx1"/>
                </a:solidFill>
              </a:rPr>
              <a:pPr/>
              <a:t>10</a:t>
            </a:fld>
            <a:endParaRPr lang="en-GB">
              <a:solidFill>
                <a:schemeClr val="tx1"/>
              </a:solidFill>
            </a:endParaRPr>
          </a:p>
        </p:txBody>
      </p:sp>
      <p:sp>
        <p:nvSpPr>
          <p:cNvPr id="13" name="Flowchart: Alternate Process 12">
            <a:extLst>
              <a:ext uri="{FF2B5EF4-FFF2-40B4-BE49-F238E27FC236}">
                <a16:creationId xmlns:a16="http://schemas.microsoft.com/office/drawing/2014/main" id="{473B3691-B6D5-2C9E-0882-86F8F9B83444}"/>
              </a:ext>
            </a:extLst>
          </p:cNvPr>
          <p:cNvSpPr/>
          <p:nvPr/>
        </p:nvSpPr>
        <p:spPr>
          <a:xfrm>
            <a:off x="2262351" y="5227239"/>
            <a:ext cx="6034396" cy="4716379"/>
          </a:xfrm>
          <a:prstGeom prst="flowChartAlternateProcess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B23DFBC-56F5-6084-E8AF-637C6820E7AA}"/>
              </a:ext>
            </a:extLst>
          </p:cNvPr>
          <p:cNvSpPr txBox="1"/>
          <p:nvPr/>
        </p:nvSpPr>
        <p:spPr>
          <a:xfrm>
            <a:off x="2478716" y="5598232"/>
            <a:ext cx="5601666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1" dirty="0"/>
              <a:t>BEGIN / START TRANSACTION</a:t>
            </a:r>
            <a:r>
              <a:rPr lang="en-US" sz="3200" dirty="0"/>
              <a:t> – Marks the start of a transaction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1" dirty="0"/>
              <a:t>COMMIT</a:t>
            </a:r>
            <a:r>
              <a:rPr lang="en-US" sz="3200" dirty="0"/>
              <a:t> – Saves all changes made in the transaction permanently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1" dirty="0"/>
              <a:t>ROLLBACK</a:t>
            </a:r>
            <a:r>
              <a:rPr lang="en-US" sz="3200" dirty="0"/>
              <a:t> – Undoes all changes if an error occurs</a:t>
            </a:r>
            <a:endParaRPr lang="en-IN" sz="32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6FE3E46-0E36-BCD1-F32D-C6444500F05B}"/>
              </a:ext>
            </a:extLst>
          </p:cNvPr>
          <p:cNvSpPr txBox="1"/>
          <p:nvPr/>
        </p:nvSpPr>
        <p:spPr>
          <a:xfrm>
            <a:off x="11213840" y="4550131"/>
            <a:ext cx="5002513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800" b="1" dirty="0"/>
              <a:t>Why use Transactions?</a:t>
            </a:r>
            <a:endParaRPr lang="en-IN" sz="3800" b="1" dirty="0"/>
          </a:p>
        </p:txBody>
      </p:sp>
      <p:sp>
        <p:nvSpPr>
          <p:cNvPr id="18" name="Flowchart: Alternate Process 17">
            <a:extLst>
              <a:ext uri="{FF2B5EF4-FFF2-40B4-BE49-F238E27FC236}">
                <a16:creationId xmlns:a16="http://schemas.microsoft.com/office/drawing/2014/main" id="{D441CB57-B854-458D-9FEA-00FA5A4B573C}"/>
              </a:ext>
            </a:extLst>
          </p:cNvPr>
          <p:cNvSpPr/>
          <p:nvPr/>
        </p:nvSpPr>
        <p:spPr>
          <a:xfrm>
            <a:off x="10788736" y="5235768"/>
            <a:ext cx="6034396" cy="4716379"/>
          </a:xfrm>
          <a:prstGeom prst="flowChartAlternateProcess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7CB87DC-231A-C62B-C373-C25CDCF6F1F0}"/>
              </a:ext>
            </a:extLst>
          </p:cNvPr>
          <p:cNvSpPr txBox="1"/>
          <p:nvPr/>
        </p:nvSpPr>
        <p:spPr>
          <a:xfrm>
            <a:off x="11082804" y="5679577"/>
            <a:ext cx="5609292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To maintain the </a:t>
            </a:r>
            <a:r>
              <a:rPr lang="en-US" sz="3200" b="1" dirty="0"/>
              <a:t>ACID</a:t>
            </a:r>
            <a:r>
              <a:rPr lang="en-US" sz="3200" dirty="0"/>
              <a:t> properties: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1" dirty="0"/>
              <a:t>Atomicity</a:t>
            </a:r>
            <a:r>
              <a:rPr lang="en-US" sz="3200" dirty="0"/>
              <a:t> – All or nothing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1" dirty="0"/>
              <a:t>Consistency</a:t>
            </a:r>
            <a:r>
              <a:rPr lang="en-US" sz="3200" dirty="0"/>
              <a:t> – Data remains valid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1" dirty="0"/>
              <a:t>Isolation</a:t>
            </a:r>
            <a:r>
              <a:rPr lang="en-US" sz="3200" dirty="0"/>
              <a:t> – Transactions don’t interfere with each other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1" dirty="0"/>
              <a:t>Durability</a:t>
            </a:r>
            <a:r>
              <a:rPr lang="en-US" sz="3200" dirty="0"/>
              <a:t> – Changes persist after success</a:t>
            </a:r>
          </a:p>
          <a:p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576130778"/>
      </p:ext>
    </p:extLst>
  </p:cSld>
  <p:clrMapOvr>
    <a:masterClrMapping/>
  </p:clrMapOvr>
  <p:transition spd="slow">
    <p:wip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446BBC-AF90-500E-C77D-A6C0E22121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5D87BE63-EA7F-FBE4-55AF-B7AA4EC8BEE3}"/>
              </a:ext>
            </a:extLst>
          </p:cNvPr>
          <p:cNvSpPr/>
          <p:nvPr/>
        </p:nvSpPr>
        <p:spPr>
          <a:xfrm>
            <a:off x="-981601" y="32717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7BC1C182-11D9-7918-235F-A5FC67EDC05A}"/>
              </a:ext>
            </a:extLst>
          </p:cNvPr>
          <p:cNvSpPr/>
          <p:nvPr/>
        </p:nvSpPr>
        <p:spPr>
          <a:xfrm>
            <a:off x="-963368" y="285622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E6E41DB0-645C-3418-C82B-CDA12E42FFFE}"/>
              </a:ext>
            </a:extLst>
          </p:cNvPr>
          <p:cNvGrpSpPr/>
          <p:nvPr/>
        </p:nvGrpSpPr>
        <p:grpSpPr>
          <a:xfrm>
            <a:off x="1058779" y="1371600"/>
            <a:ext cx="16873516" cy="7628032"/>
            <a:chOff x="-483648" y="-2758013"/>
            <a:chExt cx="19542604" cy="2926858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487E9DEE-4E73-2FED-9AB6-E8FC4B11D8AD}"/>
                </a:ext>
              </a:extLst>
            </p:cNvPr>
            <p:cNvSpPr txBox="1"/>
            <p:nvPr/>
          </p:nvSpPr>
          <p:spPr>
            <a:xfrm>
              <a:off x="-483648" y="-2758013"/>
              <a:ext cx="19542604" cy="17714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457200" indent="-457200" algn="just">
                <a:lnSpc>
                  <a:spcPts val="3600"/>
                </a:lnSpc>
                <a:buFont typeface="Arial"/>
                <a:buChar char="•"/>
              </a:pPr>
              <a:endParaRPr lang="en-GB" sz="3000" dirty="0">
                <a:latin typeface="Calibri"/>
                <a:ea typeface="+mn-lt"/>
                <a:cs typeface="+mn-lt"/>
              </a:endParaRP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59D258AD-64A0-BDAC-16E0-FB8021C5291D}"/>
                </a:ext>
              </a:extLst>
            </p:cNvPr>
            <p:cNvSpPr txBox="1"/>
            <p:nvPr/>
          </p:nvSpPr>
          <p:spPr>
            <a:xfrm>
              <a:off x="0" y="-9525"/>
              <a:ext cx="15443231" cy="1783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endParaRPr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5099C091-E739-FFDA-7819-185F7F35E29B}"/>
              </a:ext>
            </a:extLst>
          </p:cNvPr>
          <p:cNvSpPr/>
          <p:nvPr/>
        </p:nvSpPr>
        <p:spPr>
          <a:xfrm>
            <a:off x="17259300" y="7851297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DCCD762A-A552-1B4D-D466-6ABF6A404597}"/>
              </a:ext>
            </a:extLst>
          </p:cNvPr>
          <p:cNvSpPr/>
          <p:nvPr/>
        </p:nvSpPr>
        <p:spPr>
          <a:xfrm>
            <a:off x="17259300" y="5335426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24BF6FCB-1B82-2758-1A6E-D4A02EC55439}"/>
              </a:ext>
            </a:extLst>
          </p:cNvPr>
          <p:cNvSpPr txBox="1"/>
          <p:nvPr/>
        </p:nvSpPr>
        <p:spPr>
          <a:xfrm>
            <a:off x="1496064" y="305028"/>
            <a:ext cx="15733157" cy="13849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GB" sz="9000" b="1" dirty="0">
                <a:ea typeface="+mn-lt"/>
                <a:cs typeface="+mn-lt"/>
                <a:sym typeface="Heebo Black"/>
              </a:rPr>
              <a:t>BEGIN,COMMIT,ROLLBACK</a:t>
            </a:r>
            <a:endParaRPr lang="en-US" dirty="0">
              <a:ea typeface="+mn-lt"/>
              <a:cs typeface="+mn-lt"/>
            </a:endParaRP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0B2C6E55-23D9-406D-BC3D-A2931A20BA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8751" y="976958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>
                <a:solidFill>
                  <a:schemeClr val="tx1"/>
                </a:solidFill>
              </a:rPr>
              <a:pPr/>
              <a:t>11</a:t>
            </a:fld>
            <a:endParaRPr lang="en-GB">
              <a:solidFill>
                <a:schemeClr val="tx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3F5B8B0-ECDA-091C-5D1D-82A90B8FF794}"/>
              </a:ext>
            </a:extLst>
          </p:cNvPr>
          <p:cNvSpPr txBox="1"/>
          <p:nvPr/>
        </p:nvSpPr>
        <p:spPr>
          <a:xfrm>
            <a:off x="403058" y="1876926"/>
            <a:ext cx="17529237" cy="79714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3200" dirty="0"/>
          </a:p>
          <a:p>
            <a:endParaRPr lang="en-US" sz="3200" dirty="0"/>
          </a:p>
          <a:p>
            <a:endParaRPr lang="en-US" sz="3200" dirty="0"/>
          </a:p>
          <a:p>
            <a:r>
              <a:rPr lang="en-US" sz="3200" dirty="0"/>
              <a:t>.</a:t>
            </a:r>
            <a:endParaRPr lang="en-IN" sz="3200" b="1" dirty="0"/>
          </a:p>
          <a:p>
            <a:endParaRPr lang="en-IN" sz="3200" b="1" dirty="0"/>
          </a:p>
          <a:p>
            <a:endParaRPr lang="en-IN" sz="3200" b="1" dirty="0"/>
          </a:p>
          <a:p>
            <a:endParaRPr lang="en-IN" sz="3200" b="1" dirty="0"/>
          </a:p>
          <a:p>
            <a:endParaRPr lang="en-IN" sz="3200" b="1" dirty="0"/>
          </a:p>
          <a:p>
            <a:endParaRPr lang="en-IN" sz="3200" b="1" dirty="0"/>
          </a:p>
          <a:p>
            <a:endParaRPr lang="en-IN" sz="3200" b="1" dirty="0"/>
          </a:p>
          <a:p>
            <a:endParaRPr lang="en-IN" sz="3200" b="1" dirty="0"/>
          </a:p>
          <a:p>
            <a:endParaRPr lang="en-IN" sz="3200" b="1" dirty="0"/>
          </a:p>
          <a:p>
            <a:endParaRPr lang="en-IN" sz="3200" b="1" dirty="0"/>
          </a:p>
          <a:p>
            <a:endParaRPr lang="en-IN" sz="3200" b="1" dirty="0"/>
          </a:p>
          <a:p>
            <a:endParaRPr lang="en-IN" sz="3200" b="1" dirty="0"/>
          </a:p>
          <a:p>
            <a:endParaRPr lang="en-US" sz="3200" b="1" dirty="0"/>
          </a:p>
        </p:txBody>
      </p:sp>
      <p:sp>
        <p:nvSpPr>
          <p:cNvPr id="20" name="Hexagon 19">
            <a:extLst>
              <a:ext uri="{FF2B5EF4-FFF2-40B4-BE49-F238E27FC236}">
                <a16:creationId xmlns:a16="http://schemas.microsoft.com/office/drawing/2014/main" id="{29A237A6-FD68-09CF-7FF8-4FA864D16F74}"/>
              </a:ext>
            </a:extLst>
          </p:cNvPr>
          <p:cNvSpPr/>
          <p:nvPr/>
        </p:nvSpPr>
        <p:spPr>
          <a:xfrm>
            <a:off x="724439" y="3131277"/>
            <a:ext cx="5245768" cy="4981986"/>
          </a:xfrm>
          <a:prstGeom prst="hexagon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22" name="Hexagon 21">
            <a:extLst>
              <a:ext uri="{FF2B5EF4-FFF2-40B4-BE49-F238E27FC236}">
                <a16:creationId xmlns:a16="http://schemas.microsoft.com/office/drawing/2014/main" id="{0D4B54EB-6674-E251-4693-BDFB0260DE70}"/>
              </a:ext>
            </a:extLst>
          </p:cNvPr>
          <p:cNvSpPr/>
          <p:nvPr/>
        </p:nvSpPr>
        <p:spPr>
          <a:xfrm>
            <a:off x="6705484" y="3130399"/>
            <a:ext cx="5245767" cy="4957920"/>
          </a:xfrm>
          <a:prstGeom prst="hexagon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23" name="Hexagon 22">
            <a:extLst>
              <a:ext uri="{FF2B5EF4-FFF2-40B4-BE49-F238E27FC236}">
                <a16:creationId xmlns:a16="http://schemas.microsoft.com/office/drawing/2014/main" id="{B2E776E6-5C44-1224-6815-13892AA0D2D3}"/>
              </a:ext>
            </a:extLst>
          </p:cNvPr>
          <p:cNvSpPr/>
          <p:nvPr/>
        </p:nvSpPr>
        <p:spPr>
          <a:xfrm>
            <a:off x="12686528" y="3238464"/>
            <a:ext cx="5245767" cy="4815601"/>
          </a:xfrm>
          <a:prstGeom prst="hexagon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8C9FD3A-C7A4-DA14-9BD1-B97414226B41}"/>
              </a:ext>
            </a:extLst>
          </p:cNvPr>
          <p:cNvSpPr txBox="1"/>
          <p:nvPr/>
        </p:nvSpPr>
        <p:spPr>
          <a:xfrm>
            <a:off x="2024619" y="3456615"/>
            <a:ext cx="264540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000" b="1" dirty="0">
                <a:highlight>
                  <a:srgbClr val="FFFF00"/>
                </a:highlight>
              </a:rPr>
              <a:t>BEGIN / START TRANSACTION</a:t>
            </a:r>
            <a:r>
              <a:rPr lang="en-IN" sz="3000" b="1" dirty="0"/>
              <a:t>: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7BD5CAD-8051-21CB-751E-3D4A5395D526}"/>
              </a:ext>
            </a:extLst>
          </p:cNvPr>
          <p:cNvSpPr txBox="1"/>
          <p:nvPr/>
        </p:nvSpPr>
        <p:spPr>
          <a:xfrm>
            <a:off x="1364186" y="4470797"/>
            <a:ext cx="3966273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3000" dirty="0"/>
              <a:t>Starts a new transaction.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/>
              <a:t>Ensures that all following SQL statements are grouped into a single logical unit.</a:t>
            </a:r>
            <a:endParaRPr lang="en-IN" sz="3000" b="1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IN" sz="30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E06F284-AC59-E8C1-F576-7786F9E9CAA5}"/>
              </a:ext>
            </a:extLst>
          </p:cNvPr>
          <p:cNvSpPr txBox="1"/>
          <p:nvPr/>
        </p:nvSpPr>
        <p:spPr>
          <a:xfrm>
            <a:off x="8054979" y="3407041"/>
            <a:ext cx="264540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000" b="1" dirty="0">
                <a:highlight>
                  <a:srgbClr val="FFFF00"/>
                </a:highlight>
              </a:rPr>
              <a:t>COMMIT TRANSACTION</a:t>
            </a:r>
            <a:r>
              <a:rPr lang="en-IN" sz="3000" b="1" dirty="0"/>
              <a:t>: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030EFEB-6737-1897-5569-BA8AB3350A9B}"/>
              </a:ext>
            </a:extLst>
          </p:cNvPr>
          <p:cNvSpPr txBox="1"/>
          <p:nvPr/>
        </p:nvSpPr>
        <p:spPr>
          <a:xfrm>
            <a:off x="7301172" y="4524644"/>
            <a:ext cx="4280928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/>
              <a:t>Saves all changes made during the transaction permanently to the database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/>
              <a:t>Once committed, changes cannot be undone.</a:t>
            </a:r>
            <a:endParaRPr lang="en-IN" sz="30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51E4305-8677-2F6B-670B-C7A53B0C47A8}"/>
              </a:ext>
            </a:extLst>
          </p:cNvPr>
          <p:cNvSpPr txBox="1"/>
          <p:nvPr/>
        </p:nvSpPr>
        <p:spPr>
          <a:xfrm>
            <a:off x="13878618" y="3508981"/>
            <a:ext cx="264540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000" b="1" dirty="0">
                <a:highlight>
                  <a:srgbClr val="FFFF00"/>
                </a:highlight>
              </a:rPr>
              <a:t>ROLLBACK TRANSACTION</a:t>
            </a:r>
            <a:r>
              <a:rPr lang="en-IN" sz="3000" b="1" dirty="0"/>
              <a:t>: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A0A653C-A379-A0E4-73CB-7C99D9ECDC99}"/>
              </a:ext>
            </a:extLst>
          </p:cNvPr>
          <p:cNvSpPr txBox="1"/>
          <p:nvPr/>
        </p:nvSpPr>
        <p:spPr>
          <a:xfrm>
            <a:off x="13124811" y="4626584"/>
            <a:ext cx="428092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/>
              <a:t>Cancels all changes made during the current transaction.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/>
              <a:t>Used when an error occurs or the operation must be aborted..</a:t>
            </a:r>
            <a:endParaRPr lang="en-IN" sz="3000" dirty="0"/>
          </a:p>
        </p:txBody>
      </p:sp>
    </p:spTree>
    <p:extLst>
      <p:ext uri="{BB962C8B-B14F-4D97-AF65-F5344CB8AC3E}">
        <p14:creationId xmlns:p14="http://schemas.microsoft.com/office/powerpoint/2010/main" val="2783255690"/>
      </p:ext>
    </p:extLst>
  </p:cSld>
  <p:clrMapOvr>
    <a:masterClrMapping/>
  </p:clrMapOvr>
  <p:transition spd="slow">
    <p:wip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99CF8B-0686-03E2-03BD-288F641723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C4722801-75EB-702C-F3F5-7CDEDA88A036}"/>
              </a:ext>
            </a:extLst>
          </p:cNvPr>
          <p:cNvSpPr/>
          <p:nvPr/>
        </p:nvSpPr>
        <p:spPr>
          <a:xfrm>
            <a:off x="-981601" y="32717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E0E534EE-1470-1E17-36BB-19FF46BF331B}"/>
              </a:ext>
            </a:extLst>
          </p:cNvPr>
          <p:cNvSpPr/>
          <p:nvPr/>
        </p:nvSpPr>
        <p:spPr>
          <a:xfrm>
            <a:off x="-963368" y="285622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ED0F0CA3-6590-978E-DAEA-8CA10B71B2C0}"/>
              </a:ext>
            </a:extLst>
          </p:cNvPr>
          <p:cNvGrpSpPr/>
          <p:nvPr/>
        </p:nvGrpSpPr>
        <p:grpSpPr>
          <a:xfrm>
            <a:off x="1058779" y="1371600"/>
            <a:ext cx="16873516" cy="7628032"/>
            <a:chOff x="-483648" y="-2758013"/>
            <a:chExt cx="19542604" cy="2926858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A6F178EC-17A7-219C-E1CD-C1C3986BF4D8}"/>
                </a:ext>
              </a:extLst>
            </p:cNvPr>
            <p:cNvSpPr txBox="1"/>
            <p:nvPr/>
          </p:nvSpPr>
          <p:spPr>
            <a:xfrm>
              <a:off x="-483648" y="-2758013"/>
              <a:ext cx="19542604" cy="17714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457200" indent="-457200" algn="just">
                <a:lnSpc>
                  <a:spcPts val="3600"/>
                </a:lnSpc>
                <a:buFont typeface="Arial"/>
                <a:buChar char="•"/>
              </a:pPr>
              <a:endParaRPr lang="en-GB" sz="3000" dirty="0">
                <a:latin typeface="Calibri"/>
                <a:ea typeface="+mn-lt"/>
                <a:cs typeface="+mn-lt"/>
              </a:endParaRP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A7028080-A916-C11D-BF2D-33BCC32B8403}"/>
                </a:ext>
              </a:extLst>
            </p:cNvPr>
            <p:cNvSpPr txBox="1"/>
            <p:nvPr/>
          </p:nvSpPr>
          <p:spPr>
            <a:xfrm>
              <a:off x="0" y="-9525"/>
              <a:ext cx="15443231" cy="1783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endParaRPr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945CBA80-1DA9-6C91-BF5B-A0106C12C092}"/>
              </a:ext>
            </a:extLst>
          </p:cNvPr>
          <p:cNvSpPr/>
          <p:nvPr/>
        </p:nvSpPr>
        <p:spPr>
          <a:xfrm>
            <a:off x="17259300" y="7851297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383362C3-DCAC-9B7F-8D67-A660022C8893}"/>
              </a:ext>
            </a:extLst>
          </p:cNvPr>
          <p:cNvSpPr/>
          <p:nvPr/>
        </p:nvSpPr>
        <p:spPr>
          <a:xfrm>
            <a:off x="17259300" y="5335426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913CD173-400F-4583-3CA8-841FC835B5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8751" y="976958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>
                <a:solidFill>
                  <a:schemeClr val="tx1"/>
                </a:solidFill>
              </a:rPr>
              <a:pPr/>
              <a:t>12</a:t>
            </a:fld>
            <a:endParaRPr lang="en-GB">
              <a:solidFill>
                <a:schemeClr val="tx1"/>
              </a:solidFill>
            </a:endParaRPr>
          </a:p>
        </p:txBody>
      </p:sp>
      <p:pic>
        <p:nvPicPr>
          <p:cNvPr id="2050" name="Picture 2" descr="Transactions and Errors - John Deardurff (@SQLMCT)">
            <a:extLst>
              <a:ext uri="{FF2B5EF4-FFF2-40B4-BE49-F238E27FC236}">
                <a16:creationId xmlns:a16="http://schemas.microsoft.com/office/drawing/2014/main" id="{4F93819D-C6EE-B7AB-2514-DC9779FC65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751" y="1"/>
            <a:ext cx="18030498" cy="10287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93068044"/>
      </p:ext>
    </p:extLst>
  </p:cSld>
  <p:clrMapOvr>
    <a:masterClrMapping/>
  </p:clrMapOvr>
  <p:transition spd="slow">
    <p:wip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907260" y="32717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>
            <a:off x="-907612" y="285622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/>
          <p:cNvGrpSpPr/>
          <p:nvPr/>
        </p:nvGrpSpPr>
        <p:grpSpPr>
          <a:xfrm>
            <a:off x="1551820" y="1565266"/>
            <a:ext cx="15964657" cy="8664551"/>
            <a:chOff x="-1234816" y="-977709"/>
            <a:chExt cx="19393753" cy="1997950"/>
          </a:xfrm>
        </p:grpSpPr>
        <p:sp>
          <p:nvSpPr>
            <p:cNvPr id="5" name="TextBox 5"/>
            <p:cNvSpPr txBox="1"/>
            <p:nvPr/>
          </p:nvSpPr>
          <p:spPr>
            <a:xfrm>
              <a:off x="-1234816" y="-977709"/>
              <a:ext cx="19393753" cy="199795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457200" indent="-457200" algn="just">
                <a:lnSpc>
                  <a:spcPct val="150000"/>
                </a:lnSpc>
                <a:buFont typeface="Arial"/>
                <a:buChar char="•"/>
              </a:pPr>
              <a:r>
                <a:rPr lang="en-GB" sz="4000" b="1" dirty="0">
                  <a:ea typeface="Calibri"/>
                  <a:cs typeface="Calibri"/>
                </a:rPr>
                <a:t>What is a Trigger ?</a:t>
              </a:r>
            </a:p>
            <a:p>
              <a:pPr algn="just">
                <a:lnSpc>
                  <a:spcPct val="150000"/>
                </a:lnSpc>
              </a:pPr>
              <a:r>
                <a:rPr lang="en-US" sz="3200" dirty="0"/>
                <a:t>	A </a:t>
              </a:r>
              <a:r>
                <a:rPr lang="en-US" sz="3200" b="1" dirty="0"/>
                <a:t>trigger</a:t>
              </a:r>
              <a:r>
                <a:rPr lang="en-US" sz="3200" dirty="0"/>
                <a:t> is a stored program that </a:t>
              </a:r>
              <a:r>
                <a:rPr lang="en-US" sz="3200" b="1" dirty="0"/>
                <a:t>automatically executes</a:t>
              </a:r>
              <a:r>
                <a:rPr lang="en-US" sz="3200" dirty="0"/>
                <a:t> in response to specific events 	on a table(like INSERT,UPDATE or DELETE)</a:t>
              </a:r>
            </a:p>
            <a:p>
              <a:pPr marL="457200" indent="-457200" algn="just">
                <a:lnSpc>
                  <a:spcPct val="150000"/>
                </a:lnSpc>
                <a:buFont typeface="Arial"/>
                <a:buChar char="•"/>
              </a:pPr>
              <a:endParaRPr lang="en-US" sz="4000" b="1" dirty="0">
                <a:ea typeface="Calibri"/>
                <a:cs typeface="Calibri"/>
              </a:endParaRPr>
            </a:p>
            <a:p>
              <a:r>
                <a:rPr lang="en-IN" sz="4000" dirty="0"/>
                <a:t>🔑</a:t>
              </a:r>
              <a:r>
                <a:rPr lang="en-US" sz="4000" b="1" dirty="0"/>
                <a:t>Key Features:</a:t>
              </a:r>
            </a:p>
            <a:p>
              <a:pPr marL="914400" lvl="1" indent="-45720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3200" dirty="0"/>
                <a:t>Automatically runs when a specified database event occurs</a:t>
              </a:r>
            </a:p>
            <a:p>
              <a:pPr marL="914400" lvl="1" indent="-45720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3200" dirty="0"/>
                <a:t>Used for enforcing business rules, auditing, or maintaining logs</a:t>
              </a:r>
            </a:p>
            <a:p>
              <a:pPr marL="914400" lvl="1" indent="-45720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3200" dirty="0"/>
                <a:t>Can be defined to run </a:t>
              </a:r>
              <a:r>
                <a:rPr lang="en-US" sz="3200" b="1" dirty="0"/>
                <a:t>BEFORE</a:t>
              </a:r>
              <a:r>
                <a:rPr lang="en-US" sz="3200" dirty="0"/>
                <a:t> or </a:t>
              </a:r>
              <a:r>
                <a:rPr lang="en-US" sz="3200" b="1" dirty="0"/>
                <a:t>AFTER</a:t>
              </a:r>
              <a:r>
                <a:rPr lang="en-US" sz="3200" dirty="0"/>
                <a:t> the event</a:t>
              </a:r>
            </a:p>
            <a:p>
              <a:pPr marL="914400" lvl="1" indent="-45720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endParaRPr lang="en-GB" sz="4000" b="1" dirty="0">
                <a:ea typeface="Calibri"/>
                <a:cs typeface="Calibri"/>
              </a:endParaRPr>
            </a:p>
            <a:p>
              <a:pPr>
                <a:lnSpc>
                  <a:spcPct val="150000"/>
                </a:lnSpc>
              </a:pPr>
              <a:r>
                <a:rPr lang="en-US" sz="4000" b="1" dirty="0"/>
                <a:t>🔹 Example Use Case:</a:t>
              </a:r>
            </a:p>
            <a:p>
              <a:pPr>
                <a:lnSpc>
                  <a:spcPct val="150000"/>
                </a:lnSpc>
              </a:pPr>
              <a:r>
                <a:rPr lang="en-US" sz="3200" dirty="0"/>
                <a:t>	Log every new order inserted into an audit table automatically.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9525"/>
              <a:ext cx="15443230" cy="10719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endParaRPr dirty="0"/>
            </a:p>
          </p:txBody>
        </p:sp>
      </p:grpSp>
      <p:sp>
        <p:nvSpPr>
          <p:cNvPr id="7" name="Freeform 7"/>
          <p:cNvSpPr/>
          <p:nvPr/>
        </p:nvSpPr>
        <p:spPr>
          <a:xfrm>
            <a:off x="17259300" y="7851297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/>
          <p:cNvSpPr/>
          <p:nvPr/>
        </p:nvSpPr>
        <p:spPr>
          <a:xfrm>
            <a:off x="17259300" y="5335426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TextBox 9"/>
          <p:cNvSpPr txBox="1"/>
          <p:nvPr/>
        </p:nvSpPr>
        <p:spPr>
          <a:xfrm>
            <a:off x="1901403" y="152290"/>
            <a:ext cx="15357897" cy="12695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900"/>
              </a:lnSpc>
            </a:pPr>
            <a:r>
              <a:rPr lang="en-GB" sz="9000" b="1" dirty="0">
                <a:ea typeface="+mn-lt"/>
                <a:cs typeface="+mn-lt"/>
                <a:sym typeface="Heebo Black"/>
              </a:rPr>
              <a:t>Triggers</a:t>
            </a:r>
            <a:endParaRPr lang="en-US" dirty="0">
              <a:ea typeface="+mn-lt"/>
              <a:cs typeface="+mn-lt"/>
            </a:endParaRPr>
          </a:p>
        </p:txBody>
      </p:sp>
      <p:sp>
        <p:nvSpPr>
          <p:cNvPr id="12" name="Freeform 12"/>
          <p:cNvSpPr/>
          <p:nvPr/>
        </p:nvSpPr>
        <p:spPr>
          <a:xfrm>
            <a:off x="17516477" y="8732314"/>
            <a:ext cx="554340" cy="525237"/>
          </a:xfrm>
          <a:custGeom>
            <a:avLst/>
            <a:gdLst/>
            <a:ahLst/>
            <a:cxnLst/>
            <a:rect l="l" t="t" r="r" b="b"/>
            <a:pathLst>
              <a:path w="554340" h="525237">
                <a:moveTo>
                  <a:pt x="0" y="0"/>
                </a:moveTo>
                <a:lnTo>
                  <a:pt x="554340" y="0"/>
                </a:lnTo>
                <a:lnTo>
                  <a:pt x="554340" y="525237"/>
                </a:lnTo>
                <a:lnTo>
                  <a:pt x="0" y="52523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9638AB3A-734E-28AD-106B-E6DC74EB21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8751" y="976958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>
                <a:solidFill>
                  <a:schemeClr val="tx1"/>
                </a:solidFill>
              </a:rPr>
              <a:pPr/>
              <a:t>13</a:t>
            </a:fld>
            <a:endParaRPr lang="en-GB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 spd="slow">
    <p:wip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8EB393-0881-85CE-981F-1F6DA34840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EF4AE31A-393E-326F-C722-6E58869396F8}"/>
              </a:ext>
            </a:extLst>
          </p:cNvPr>
          <p:cNvSpPr/>
          <p:nvPr/>
        </p:nvSpPr>
        <p:spPr>
          <a:xfrm>
            <a:off x="-907260" y="32717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76723E51-7475-3D84-4AA8-D3DD68D181BD}"/>
              </a:ext>
            </a:extLst>
          </p:cNvPr>
          <p:cNvSpPr/>
          <p:nvPr/>
        </p:nvSpPr>
        <p:spPr>
          <a:xfrm>
            <a:off x="-907612" y="285622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40CE2C0A-3F91-A17F-CA27-550CDC422FF8}"/>
              </a:ext>
            </a:extLst>
          </p:cNvPr>
          <p:cNvGrpSpPr/>
          <p:nvPr/>
        </p:nvGrpSpPr>
        <p:grpSpPr>
          <a:xfrm>
            <a:off x="1551820" y="1565266"/>
            <a:ext cx="15964657" cy="4663614"/>
            <a:chOff x="-1234816" y="-977709"/>
            <a:chExt cx="19393753" cy="1075378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CCBCCC06-792E-2893-3DA5-A01D96EEB9B2}"/>
                </a:ext>
              </a:extLst>
            </p:cNvPr>
            <p:cNvSpPr txBox="1"/>
            <p:nvPr/>
          </p:nvSpPr>
          <p:spPr>
            <a:xfrm>
              <a:off x="-1234816" y="-977709"/>
              <a:ext cx="19393753" cy="152733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457200" indent="-457200" algn="just">
                <a:lnSpc>
                  <a:spcPct val="150000"/>
                </a:lnSpc>
                <a:buFont typeface="Arial"/>
                <a:buChar char="•"/>
              </a:pPr>
              <a:endParaRPr lang="en-US" sz="3200" dirty="0"/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AB2D2E54-15D3-92C8-C954-39C1B31992BD}"/>
                </a:ext>
              </a:extLst>
            </p:cNvPr>
            <p:cNvSpPr txBox="1"/>
            <p:nvPr/>
          </p:nvSpPr>
          <p:spPr>
            <a:xfrm>
              <a:off x="0" y="-9525"/>
              <a:ext cx="15443230" cy="10719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endParaRPr dirty="0"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A5374545-5642-F661-C622-8584630F3EDB}"/>
              </a:ext>
            </a:extLst>
          </p:cNvPr>
          <p:cNvSpPr/>
          <p:nvPr/>
        </p:nvSpPr>
        <p:spPr>
          <a:xfrm>
            <a:off x="17259300" y="7851297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27A5600B-D44B-24FA-0597-ACCF011DEF35}"/>
              </a:ext>
            </a:extLst>
          </p:cNvPr>
          <p:cNvSpPr/>
          <p:nvPr/>
        </p:nvSpPr>
        <p:spPr>
          <a:xfrm>
            <a:off x="17259300" y="5335426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373D0593-4B58-C22E-F947-0B55229F41AA}"/>
              </a:ext>
            </a:extLst>
          </p:cNvPr>
          <p:cNvSpPr txBox="1"/>
          <p:nvPr/>
        </p:nvSpPr>
        <p:spPr>
          <a:xfrm>
            <a:off x="1901403" y="152290"/>
            <a:ext cx="15357897" cy="12695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900"/>
              </a:lnSpc>
            </a:pPr>
            <a:r>
              <a:rPr lang="en-GB" sz="9000" b="1" dirty="0">
                <a:ea typeface="+mn-lt"/>
                <a:cs typeface="+mn-lt"/>
                <a:sym typeface="Heebo Black"/>
              </a:rPr>
              <a:t>Triggers</a:t>
            </a:r>
            <a:endParaRPr lang="en-US" dirty="0">
              <a:ea typeface="+mn-lt"/>
              <a:cs typeface="+mn-lt"/>
            </a:endParaRPr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74CD94D5-C1AA-2453-BF9F-B359DDC37D48}"/>
              </a:ext>
            </a:extLst>
          </p:cNvPr>
          <p:cNvSpPr/>
          <p:nvPr/>
        </p:nvSpPr>
        <p:spPr>
          <a:xfrm>
            <a:off x="17516477" y="8732314"/>
            <a:ext cx="554340" cy="525237"/>
          </a:xfrm>
          <a:custGeom>
            <a:avLst/>
            <a:gdLst/>
            <a:ahLst/>
            <a:cxnLst/>
            <a:rect l="l" t="t" r="r" b="b"/>
            <a:pathLst>
              <a:path w="554340" h="525237">
                <a:moveTo>
                  <a:pt x="0" y="0"/>
                </a:moveTo>
                <a:lnTo>
                  <a:pt x="554340" y="0"/>
                </a:lnTo>
                <a:lnTo>
                  <a:pt x="554340" y="525237"/>
                </a:lnTo>
                <a:lnTo>
                  <a:pt x="0" y="52523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882482D8-DDAD-2722-1B66-39A229EBFB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8751" y="976958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>
                <a:solidFill>
                  <a:schemeClr val="tx1"/>
                </a:solidFill>
              </a:rPr>
              <a:pPr/>
              <a:t>14</a:t>
            </a:fld>
            <a:endParaRPr lang="en-GB" dirty="0">
              <a:solidFill>
                <a:schemeClr val="tx1"/>
              </a:solidFill>
            </a:endParaRPr>
          </a:p>
        </p:txBody>
      </p:sp>
      <p:pic>
        <p:nvPicPr>
          <p:cNvPr id="3076" name="Picture 4" descr="Triggers in SQL Server">
            <a:extLst>
              <a:ext uri="{FF2B5EF4-FFF2-40B4-BE49-F238E27FC236}">
                <a16:creationId xmlns:a16="http://schemas.microsoft.com/office/drawing/2014/main" id="{26E15C04-788D-4F3C-AB4B-C79395B9939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5140"/>
          <a:stretch>
            <a:fillRect/>
          </a:stretch>
        </p:blipFill>
        <p:spPr bwMode="auto">
          <a:xfrm>
            <a:off x="1227221" y="1650467"/>
            <a:ext cx="16289256" cy="811911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03042013"/>
      </p:ext>
    </p:extLst>
  </p:cSld>
  <p:clrMapOvr>
    <a:masterClrMapping/>
  </p:clrMapOvr>
  <p:transition spd="slow">
    <p:wip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A49B30-0F01-1A38-CF70-03924025B9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A461E3F4-8C5C-5FF9-73AE-02106DA939AA}"/>
              </a:ext>
            </a:extLst>
          </p:cNvPr>
          <p:cNvSpPr/>
          <p:nvPr/>
        </p:nvSpPr>
        <p:spPr>
          <a:xfrm>
            <a:off x="-907260" y="32717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B4806F5B-B063-94A4-026F-D2A73F4A6C8F}"/>
              </a:ext>
            </a:extLst>
          </p:cNvPr>
          <p:cNvSpPr/>
          <p:nvPr/>
        </p:nvSpPr>
        <p:spPr>
          <a:xfrm>
            <a:off x="-907612" y="285622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71F045E5-0B13-CF30-B846-95F5300F8738}"/>
              </a:ext>
            </a:extLst>
          </p:cNvPr>
          <p:cNvGrpSpPr/>
          <p:nvPr/>
        </p:nvGrpSpPr>
        <p:grpSpPr>
          <a:xfrm>
            <a:off x="1551820" y="1565266"/>
            <a:ext cx="15964657" cy="7925889"/>
            <a:chOff x="-1234816" y="-977709"/>
            <a:chExt cx="19393753" cy="1827623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91A08909-A4E5-E771-C785-41794A4B584D}"/>
                </a:ext>
              </a:extLst>
            </p:cNvPr>
            <p:cNvSpPr txBox="1"/>
            <p:nvPr/>
          </p:nvSpPr>
          <p:spPr>
            <a:xfrm>
              <a:off x="-1234816" y="-977709"/>
              <a:ext cx="19393753" cy="1827623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en-IN" sz="4000" dirty="0"/>
                <a:t>🔹</a:t>
              </a:r>
              <a:r>
                <a:rPr lang="en-GB" sz="4000" b="1" dirty="0">
                  <a:ea typeface="Calibri"/>
                  <a:cs typeface="Calibri"/>
                </a:rPr>
                <a:t>What is a View ?</a:t>
              </a:r>
            </a:p>
            <a:p>
              <a:pPr marL="1428750" lvl="2" indent="-514350">
                <a:lnSpc>
                  <a:spcPct val="150000"/>
                </a:lnSpc>
                <a:buFont typeface="+mj-lt"/>
                <a:buAutoNum type="alphaLcParenR"/>
              </a:pPr>
              <a:r>
                <a:rPr lang="en-US" sz="3200" dirty="0"/>
                <a:t>A </a:t>
              </a:r>
              <a:r>
                <a:rPr lang="en-US" sz="3200" b="1" dirty="0"/>
                <a:t>view</a:t>
              </a:r>
              <a:r>
                <a:rPr lang="en-US" sz="3200" dirty="0"/>
                <a:t> is a </a:t>
              </a:r>
              <a:r>
                <a:rPr lang="en-US" sz="3200" b="1" dirty="0"/>
                <a:t>virtual table</a:t>
              </a:r>
              <a:r>
                <a:rPr lang="en-US" sz="3200" dirty="0"/>
                <a:t> created by a SQL query.</a:t>
              </a:r>
            </a:p>
            <a:p>
              <a:pPr marL="1428750" lvl="2" indent="-514350">
                <a:lnSpc>
                  <a:spcPct val="150000"/>
                </a:lnSpc>
                <a:buFont typeface="+mj-lt"/>
                <a:buAutoNum type="alphaLcParenR"/>
              </a:pPr>
              <a:r>
                <a:rPr lang="en-US" sz="3200" dirty="0"/>
                <a:t>It does not store data itself but shows data from one or more underlying tables.</a:t>
              </a:r>
            </a:p>
            <a:p>
              <a:pPr lvl="2">
                <a:lnSpc>
                  <a:spcPct val="150000"/>
                </a:lnSpc>
              </a:pPr>
              <a:endParaRPr lang="en-US" sz="1200" b="1" dirty="0">
                <a:ea typeface="Calibri"/>
                <a:cs typeface="Calibri"/>
              </a:endParaRPr>
            </a:p>
            <a:p>
              <a:pPr lvl="2">
                <a:lnSpc>
                  <a:spcPct val="150000"/>
                </a:lnSpc>
              </a:pPr>
              <a:endParaRPr lang="en-US" sz="1200" b="1" dirty="0">
                <a:ea typeface="Calibri"/>
                <a:cs typeface="Calibri"/>
              </a:endParaRPr>
            </a:p>
            <a:p>
              <a:r>
                <a:rPr lang="en-IN" sz="4000" dirty="0"/>
                <a:t>🔹</a:t>
              </a:r>
              <a:r>
                <a:rPr lang="en-US" sz="4000" b="1" dirty="0"/>
                <a:t>Why use Views?</a:t>
              </a:r>
            </a:p>
            <a:p>
              <a:pPr marL="914400" lvl="1" indent="-45720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IN" sz="3200" dirty="0"/>
                <a:t>Simplify complex queries</a:t>
              </a:r>
            </a:p>
            <a:p>
              <a:pPr marL="914400" lvl="1" indent="-45720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3200" dirty="0"/>
                <a:t>Enhance security by exposing only selected columns</a:t>
              </a:r>
            </a:p>
            <a:p>
              <a:pPr marL="914400" lvl="1" indent="-45720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3200" dirty="0"/>
                <a:t>Provide a consistent interface to changing database structures</a:t>
              </a:r>
            </a:p>
            <a:p>
              <a:pPr marL="914400" lvl="1" indent="-45720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endParaRPr lang="en-US" sz="1200" b="1" dirty="0">
                <a:ea typeface="Calibri"/>
                <a:cs typeface="Calibri"/>
              </a:endParaRPr>
            </a:p>
            <a:p>
              <a:pPr marL="914400" lvl="1" indent="-45720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endParaRPr lang="en-GB" sz="1200" b="1" dirty="0">
                <a:ea typeface="Calibri"/>
                <a:cs typeface="Calibri"/>
              </a:endParaRPr>
            </a:p>
            <a:p>
              <a:pPr>
                <a:lnSpc>
                  <a:spcPct val="150000"/>
                </a:lnSpc>
              </a:pPr>
              <a:r>
                <a:rPr lang="en-US" sz="4000" b="1" dirty="0"/>
                <a:t>🔹 Example Use Case:</a:t>
              </a:r>
            </a:p>
            <a:p>
              <a:pPr>
                <a:lnSpc>
                  <a:spcPct val="150000"/>
                </a:lnSpc>
              </a:pPr>
              <a:r>
                <a:rPr lang="en-US" sz="3200" dirty="0"/>
                <a:t>	Create a view to show only active employees from the Employees table.</a:t>
              </a: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B86C73FF-1EE2-13EC-BE66-ABCABDD5EAA8}"/>
                </a:ext>
              </a:extLst>
            </p:cNvPr>
            <p:cNvSpPr txBox="1"/>
            <p:nvPr/>
          </p:nvSpPr>
          <p:spPr>
            <a:xfrm>
              <a:off x="0" y="-9525"/>
              <a:ext cx="15443230" cy="10719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endParaRPr dirty="0"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96D7D921-0E69-46B5-7EF6-52493A8F1218}"/>
              </a:ext>
            </a:extLst>
          </p:cNvPr>
          <p:cNvSpPr/>
          <p:nvPr/>
        </p:nvSpPr>
        <p:spPr>
          <a:xfrm>
            <a:off x="17259300" y="7851297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AAEA164D-4FC5-8698-F871-26415B339D8B}"/>
              </a:ext>
            </a:extLst>
          </p:cNvPr>
          <p:cNvSpPr/>
          <p:nvPr/>
        </p:nvSpPr>
        <p:spPr>
          <a:xfrm>
            <a:off x="17259300" y="5335426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D54D7107-E9D2-E325-F523-CF576F850E9E}"/>
              </a:ext>
            </a:extLst>
          </p:cNvPr>
          <p:cNvSpPr txBox="1"/>
          <p:nvPr/>
        </p:nvSpPr>
        <p:spPr>
          <a:xfrm>
            <a:off x="1901403" y="152290"/>
            <a:ext cx="15357897" cy="12695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900"/>
              </a:lnSpc>
            </a:pPr>
            <a:r>
              <a:rPr lang="en-GB" sz="9000" b="1" dirty="0">
                <a:ea typeface="+mn-lt"/>
                <a:cs typeface="+mn-lt"/>
                <a:sym typeface="Heebo Black"/>
              </a:rPr>
              <a:t>Views</a:t>
            </a:r>
            <a:endParaRPr lang="en-US" dirty="0">
              <a:ea typeface="+mn-lt"/>
              <a:cs typeface="+mn-lt"/>
            </a:endParaRPr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7F4765C5-3D2D-04A3-8419-41B8A112036F}"/>
              </a:ext>
            </a:extLst>
          </p:cNvPr>
          <p:cNvSpPr/>
          <p:nvPr/>
        </p:nvSpPr>
        <p:spPr>
          <a:xfrm>
            <a:off x="17516477" y="8732314"/>
            <a:ext cx="554340" cy="525237"/>
          </a:xfrm>
          <a:custGeom>
            <a:avLst/>
            <a:gdLst/>
            <a:ahLst/>
            <a:cxnLst/>
            <a:rect l="l" t="t" r="r" b="b"/>
            <a:pathLst>
              <a:path w="554340" h="525237">
                <a:moveTo>
                  <a:pt x="0" y="0"/>
                </a:moveTo>
                <a:lnTo>
                  <a:pt x="554340" y="0"/>
                </a:lnTo>
                <a:lnTo>
                  <a:pt x="554340" y="525237"/>
                </a:lnTo>
                <a:lnTo>
                  <a:pt x="0" y="52523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5FA0779B-CBAB-87E2-6632-00F458BD9B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8751" y="976958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>
                <a:solidFill>
                  <a:schemeClr val="tx1"/>
                </a:solidFill>
              </a:rPr>
              <a:pPr/>
              <a:t>15</a:t>
            </a:fld>
            <a:endParaRPr lang="en-GB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1210417"/>
      </p:ext>
    </p:extLst>
  </p:cSld>
  <p:clrMapOvr>
    <a:masterClrMapping/>
  </p:clrMapOvr>
  <p:transition spd="slow">
    <p:wip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76BB694-B9B0-F7E1-49FD-9648B24B1B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16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B2E8D74-F9BD-96A2-5F62-C209A5DD52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905" y="159055"/>
            <a:ext cx="15833558" cy="10151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0275517"/>
      </p:ext>
    </p:extLst>
  </p:cSld>
  <p:clrMapOvr>
    <a:masterClrMapping/>
  </p:clrMapOvr>
  <p:transition spd="slow">
    <p:wip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251C8C-23CF-EB55-7CFF-AEA3CCBE1F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364476D6-7519-12AA-579F-3D275C89B824}"/>
              </a:ext>
            </a:extLst>
          </p:cNvPr>
          <p:cNvSpPr/>
          <p:nvPr/>
        </p:nvSpPr>
        <p:spPr>
          <a:xfrm>
            <a:off x="-907260" y="32717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D3EEFCE7-BAE8-80C3-5EC6-EDBBDEE09863}"/>
              </a:ext>
            </a:extLst>
          </p:cNvPr>
          <p:cNvSpPr/>
          <p:nvPr/>
        </p:nvSpPr>
        <p:spPr>
          <a:xfrm>
            <a:off x="-889027" y="285622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F4D3C335-7C24-BFCF-BB00-8E376E7DD826}"/>
              </a:ext>
            </a:extLst>
          </p:cNvPr>
          <p:cNvGrpSpPr/>
          <p:nvPr/>
        </p:nvGrpSpPr>
        <p:grpSpPr>
          <a:xfrm>
            <a:off x="2541584" y="3143953"/>
            <a:ext cx="14535120" cy="2339102"/>
            <a:chOff x="-2918087" y="-1990758"/>
            <a:chExt cx="21900210" cy="3103017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66866F3C-D8F5-A241-1384-65477A6EB3F9}"/>
                </a:ext>
              </a:extLst>
            </p:cNvPr>
            <p:cNvSpPr txBox="1"/>
            <p:nvPr/>
          </p:nvSpPr>
          <p:spPr>
            <a:xfrm>
              <a:off x="-2918087" y="-1990758"/>
              <a:ext cx="21900210" cy="3103017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just">
                <a:lnSpc>
                  <a:spcPts val="3600"/>
                </a:lnSpc>
              </a:pPr>
              <a:endParaRPr lang="en-GB" sz="3200" dirty="0">
                <a:ea typeface="+mn-lt"/>
                <a:cs typeface="+mn-lt"/>
              </a:endParaRPr>
            </a:p>
            <a:p>
              <a:pPr lvl="1" algn="just">
                <a:lnSpc>
                  <a:spcPts val="3600"/>
                </a:lnSpc>
              </a:pPr>
              <a:r>
                <a:rPr lang="en-GB" sz="3200" dirty="0">
                  <a:ea typeface="+mn-lt"/>
                  <a:cs typeface="+mn-lt"/>
                </a:rPr>
                <a:t>  </a:t>
              </a:r>
              <a:endParaRPr lang="en-GB" sz="3200" i="1" dirty="0">
                <a:ea typeface="+mn-lt"/>
                <a:cs typeface="+mn-lt"/>
              </a:endParaRPr>
            </a:p>
            <a:p>
              <a:pPr lvl="1" algn="just"/>
              <a:r>
                <a:rPr lang="en-GB" sz="3200" b="1" dirty="0">
                  <a:ea typeface="+mn-lt"/>
                  <a:cs typeface="+mn-lt"/>
                </a:rPr>
                <a:t>  </a:t>
              </a:r>
            </a:p>
            <a:p>
              <a:pPr marL="457200" lvl="1" algn="just">
                <a:lnSpc>
                  <a:spcPts val="3600"/>
                </a:lnSpc>
              </a:pPr>
              <a:endParaRPr lang="en-GB" sz="3200" i="1" dirty="0">
                <a:ea typeface="+mn-lt"/>
                <a:cs typeface="+mn-lt"/>
              </a:endParaRPr>
            </a:p>
            <a:p>
              <a:pPr marL="457200" indent="-457200" algn="just">
                <a:lnSpc>
                  <a:spcPts val="3600"/>
                </a:lnSpc>
                <a:buFont typeface="Wingdings"/>
                <a:buChar char="Ø"/>
              </a:pPr>
              <a:endParaRPr lang="en-GB" sz="3200" dirty="0">
                <a:ea typeface="+mn-lt"/>
                <a:cs typeface="+mn-lt"/>
              </a:endParaRP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25DABA98-EE6B-976A-4B3E-AE8D88A81219}"/>
                </a:ext>
              </a:extLst>
            </p:cNvPr>
            <p:cNvSpPr txBox="1"/>
            <p:nvPr/>
          </p:nvSpPr>
          <p:spPr>
            <a:xfrm>
              <a:off x="0" y="-9525"/>
              <a:ext cx="15443232" cy="61669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endParaRPr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5D2D8356-DB38-1A96-9DC5-EB09044A26BC}"/>
              </a:ext>
            </a:extLst>
          </p:cNvPr>
          <p:cNvSpPr/>
          <p:nvPr/>
        </p:nvSpPr>
        <p:spPr>
          <a:xfrm>
            <a:off x="17259300" y="7851297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700C9E15-8BB0-D68A-6F0D-F238DAB432AC}"/>
              </a:ext>
            </a:extLst>
          </p:cNvPr>
          <p:cNvSpPr/>
          <p:nvPr/>
        </p:nvSpPr>
        <p:spPr>
          <a:xfrm>
            <a:off x="17259300" y="5335426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2B29D00A-A1AD-8ACA-5944-6D82A9647AE7}"/>
              </a:ext>
            </a:extLst>
          </p:cNvPr>
          <p:cNvSpPr txBox="1"/>
          <p:nvPr/>
        </p:nvSpPr>
        <p:spPr>
          <a:xfrm>
            <a:off x="1715350" y="452513"/>
            <a:ext cx="14857300" cy="12695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9900"/>
              </a:lnSpc>
            </a:pPr>
            <a:r>
              <a:rPr lang="en-GB" sz="9000" b="1" dirty="0">
                <a:ea typeface="+mn-lt"/>
                <a:cs typeface="+mn-lt"/>
              </a:rPr>
              <a:t>Use Case </a:t>
            </a:r>
            <a:endParaRPr lang="en-US" dirty="0">
              <a:ea typeface="+mn-lt"/>
              <a:cs typeface="+mn-lt"/>
            </a:endParaRP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E8F9574A-83CB-4373-715E-6E0E72CCE4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8751" y="976958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>
                <a:solidFill>
                  <a:schemeClr val="tx1"/>
                </a:solidFill>
              </a:rPr>
              <a:pPr/>
              <a:t>17</a:t>
            </a:fld>
            <a:endParaRPr lang="en-GB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FAD4E9C-7DDD-3C23-F9A9-767F3A5F2E73}"/>
              </a:ext>
            </a:extLst>
          </p:cNvPr>
          <p:cNvSpPr txBox="1"/>
          <p:nvPr/>
        </p:nvSpPr>
        <p:spPr>
          <a:xfrm>
            <a:off x="1973179" y="2189747"/>
            <a:ext cx="14857300" cy="74026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3200" b="1" dirty="0"/>
              <a:t>Stored Procedures:</a:t>
            </a:r>
            <a:r>
              <a:rPr lang="en-US" sz="3200" dirty="0"/>
              <a:t> Automate payroll calculations or monthly reports with reusable SQL logic.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3200" b="1" dirty="0"/>
              <a:t>Parameters:</a:t>
            </a:r>
            <a:r>
              <a:rPr lang="en-US" sz="3200" dirty="0"/>
              <a:t> Fetch dynamic data like employee or customer details based on input values.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3200" b="1" dirty="0"/>
              <a:t>Exception Handling:</a:t>
            </a:r>
            <a:r>
              <a:rPr lang="en-US" sz="3200" dirty="0"/>
              <a:t> Gracefully handle errors (e.g., failed inserts) and log issues for review.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3200" b="1" dirty="0"/>
              <a:t>Transactions:</a:t>
            </a:r>
            <a:r>
              <a:rPr lang="en-US" sz="3200" dirty="0"/>
              <a:t> Ensure safe operations like bank transfers using BEGIN, COMMIT, and ROLLBACK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3200" b="1" dirty="0"/>
              <a:t>Triggers:</a:t>
            </a:r>
            <a:r>
              <a:rPr lang="en-US" sz="3200" dirty="0"/>
              <a:t> Automatically log activities (e.g., order placements) for audit or compliance.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3200" b="1" dirty="0"/>
              <a:t>Views:</a:t>
            </a:r>
            <a:r>
              <a:rPr lang="en-US" sz="3200" dirty="0"/>
              <a:t> Securely expose only necessary data(e.g., active employees) to limited users.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4199602133"/>
      </p:ext>
    </p:extLst>
  </p:cSld>
  <p:clrMapOvr>
    <a:masterClrMapping/>
  </p:clrMapOvr>
  <p:transition spd="slow">
    <p:wip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41610" y="-771884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/>
          <p:cNvGrpSpPr/>
          <p:nvPr/>
        </p:nvGrpSpPr>
        <p:grpSpPr>
          <a:xfrm>
            <a:off x="828296" y="1276685"/>
            <a:ext cx="14895632" cy="9159487"/>
            <a:chOff x="-381523" y="-5751"/>
            <a:chExt cx="14339844" cy="7487412"/>
          </a:xfrm>
        </p:grpSpPr>
        <p:sp>
          <p:nvSpPr>
            <p:cNvPr id="5" name="TextBox 5"/>
            <p:cNvSpPr txBox="1"/>
            <p:nvPr/>
          </p:nvSpPr>
          <p:spPr>
            <a:xfrm>
              <a:off x="0" y="1208429"/>
              <a:ext cx="12224445" cy="619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323850" lvl="1">
                <a:lnSpc>
                  <a:spcPts val="3600"/>
                </a:lnSpc>
              </a:pPr>
              <a:endParaRPr lang="en-US" sz="3000">
                <a:solidFill>
                  <a:srgbClr val="33123B"/>
                </a:solidFill>
                <a:latin typeface="Assistant Regular"/>
                <a:ea typeface="Assistant Regular"/>
                <a:cs typeface="Assistant Regular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2211729"/>
              <a:ext cx="13631736" cy="61555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647700" lvl="1" indent="-323850">
                <a:lnSpc>
                  <a:spcPts val="3600"/>
                </a:lnSpc>
                <a:buFont typeface="Arial"/>
                <a:buChar char="•"/>
              </a:pPr>
              <a:endParaRPr lang="en-US" sz="3000">
                <a:solidFill>
                  <a:srgbClr val="33123B"/>
                </a:solidFill>
                <a:latin typeface="Assistant Regular"/>
                <a:ea typeface="Assistant Regular"/>
                <a:cs typeface="Assistant Regular"/>
              </a:endParaRP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-381523" y="311301"/>
              <a:ext cx="14339844" cy="717036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514350" indent="-514350">
                <a:lnSpc>
                  <a:spcPct val="150000"/>
                </a:lnSpc>
                <a:buFont typeface="+mj-lt"/>
                <a:buAutoNum type="arabicPeriod"/>
              </a:pPr>
              <a:r>
                <a:rPr lang="en-IN" sz="4000" dirty="0"/>
                <a:t>Create a stored procedure that accepts a @CustomerId as input and returns all readings (MeterId, ReadingDateTime, EnergyConsumed) for that customer.</a:t>
              </a:r>
            </a:p>
            <a:p>
              <a:pPr marL="323850" lvl="1">
                <a:lnSpc>
                  <a:spcPct val="150000"/>
                </a:lnSpc>
              </a:pPr>
              <a:r>
                <a:rPr lang="en-IN" sz="4000" dirty="0"/>
                <a:t>      		</a:t>
              </a:r>
              <a:r>
                <a:rPr lang="en-IN" sz="4000" b="1" dirty="0"/>
                <a:t>OUTPUT FORMAT: </a:t>
              </a:r>
            </a:p>
            <a:p>
              <a:pPr marL="323850" lvl="1">
                <a:lnSpc>
                  <a:spcPts val="3600"/>
                </a:lnSpc>
              </a:pPr>
              <a:endParaRPr lang="en-IN" sz="3200" dirty="0"/>
            </a:p>
            <a:p>
              <a:pPr marL="323850" lvl="1">
                <a:lnSpc>
                  <a:spcPts val="3600"/>
                </a:lnSpc>
              </a:pPr>
              <a:endParaRPr lang="en-IN" sz="3200" dirty="0"/>
            </a:p>
            <a:p>
              <a:pPr marL="323850" lvl="1">
                <a:lnSpc>
                  <a:spcPts val="3600"/>
                </a:lnSpc>
              </a:pPr>
              <a:endParaRPr lang="en-IN" sz="3200" dirty="0"/>
            </a:p>
            <a:p>
              <a:pPr marL="323850" lvl="1">
                <a:lnSpc>
                  <a:spcPts val="3600"/>
                </a:lnSpc>
              </a:pPr>
              <a:endParaRPr lang="en-IN" sz="3200" dirty="0"/>
            </a:p>
            <a:p>
              <a:pPr marL="838200" lvl="1" indent="-514350">
                <a:lnSpc>
                  <a:spcPts val="3600"/>
                </a:lnSpc>
                <a:buFont typeface="+mj-lt"/>
                <a:buAutoNum type="arabicPeriod"/>
              </a:pPr>
              <a:endParaRPr lang="en-IN" sz="3200" dirty="0"/>
            </a:p>
            <a:p>
              <a:pPr marL="838200" lvl="1" indent="-514350">
                <a:lnSpc>
                  <a:spcPts val="3600"/>
                </a:lnSpc>
                <a:buFontTx/>
                <a:buAutoNum type="arabicPeriod" startAt="2"/>
              </a:pPr>
              <a:endParaRPr lang="en-US" sz="3200" dirty="0">
                <a:solidFill>
                  <a:srgbClr val="33123B"/>
                </a:solidFill>
                <a:ea typeface="Assistant Regular"/>
                <a:cs typeface="Assistant Regular"/>
              </a:endParaRPr>
            </a:p>
            <a:p>
              <a:pPr marL="838200" lvl="1" indent="-514350">
                <a:lnSpc>
                  <a:spcPts val="3600"/>
                </a:lnSpc>
                <a:buFontTx/>
                <a:buAutoNum type="arabicPeriod" startAt="2"/>
              </a:pPr>
              <a:endParaRPr lang="en-US" sz="3200" dirty="0">
                <a:solidFill>
                  <a:srgbClr val="33123B"/>
                </a:solidFill>
                <a:ea typeface="Assistant Regular"/>
                <a:cs typeface="Assistant Regular"/>
              </a:endParaRPr>
            </a:p>
            <a:p>
              <a:pPr marL="838200" lvl="1" indent="-514350">
                <a:lnSpc>
                  <a:spcPts val="3600"/>
                </a:lnSpc>
                <a:buFontTx/>
                <a:buAutoNum type="arabicPeriod" startAt="2"/>
              </a:pPr>
              <a:endParaRPr lang="en-US" sz="3200" dirty="0">
                <a:solidFill>
                  <a:srgbClr val="33123B"/>
                </a:solidFill>
                <a:ea typeface="Assistant Regular"/>
                <a:cs typeface="Assistant Regular"/>
              </a:endParaRPr>
            </a:p>
            <a:p>
              <a:pPr marL="323850" lvl="1">
                <a:lnSpc>
                  <a:spcPts val="3600"/>
                </a:lnSpc>
              </a:pPr>
              <a:endParaRPr lang="en-US" sz="3200" dirty="0">
                <a:solidFill>
                  <a:srgbClr val="33123B"/>
                </a:solidFill>
                <a:ea typeface="Assistant Regular"/>
                <a:cs typeface="Assistant Regular"/>
              </a:endParaRPr>
            </a:p>
            <a:p>
              <a:pPr marL="323850" lvl="1">
                <a:lnSpc>
                  <a:spcPts val="3600"/>
                </a:lnSpc>
              </a:pPr>
              <a:endParaRPr lang="en-US" sz="3200" dirty="0">
                <a:solidFill>
                  <a:srgbClr val="33123B"/>
                </a:solidFill>
                <a:ea typeface="Assistant Regular"/>
                <a:cs typeface="Assistant Regular"/>
              </a:endParaRPr>
            </a:p>
            <a:p>
              <a:pPr marL="647700" lvl="1" indent="-323850">
                <a:lnSpc>
                  <a:spcPts val="3600"/>
                </a:lnSpc>
                <a:buAutoNum type="arabicPeriod"/>
              </a:pPr>
              <a:endParaRPr lang="en-US" sz="3200" dirty="0">
                <a:solidFill>
                  <a:srgbClr val="33123B"/>
                </a:solidFill>
                <a:ea typeface="Assistant Regular"/>
                <a:cs typeface="Assistant Regular"/>
              </a:endParaRP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269631" y="-5751"/>
              <a:ext cx="13403693" cy="7181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4200"/>
                </a:lnSpc>
              </a:pPr>
              <a:endParaRPr lang="en-GB" sz="3500" b="1">
                <a:solidFill>
                  <a:srgbClr val="33123B"/>
                </a:solidFill>
                <a:ea typeface="Calibri"/>
                <a:cs typeface="Calibri"/>
              </a:endParaRPr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7839979" y="312471"/>
            <a:ext cx="9619725" cy="11541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8800"/>
              </a:lnSpc>
            </a:pPr>
            <a:r>
              <a:rPr lang="en-US" sz="8000" b="1">
                <a:solidFill>
                  <a:srgbClr val="8D0A75"/>
                </a:solidFill>
                <a:latin typeface="Heebo Black"/>
                <a:ea typeface="Heebo Black"/>
                <a:cs typeface="Heebo Black"/>
                <a:sym typeface="Heebo Black"/>
              </a:rPr>
              <a:t>Assignment </a:t>
            </a:r>
          </a:p>
        </p:txBody>
      </p:sp>
      <p:grpSp>
        <p:nvGrpSpPr>
          <p:cNvPr id="16" name="Group 16"/>
          <p:cNvGrpSpPr>
            <a:grpSpLocks noChangeAspect="1"/>
          </p:cNvGrpSpPr>
          <p:nvPr/>
        </p:nvGrpSpPr>
        <p:grpSpPr>
          <a:xfrm>
            <a:off x="14244459" y="4836686"/>
            <a:ext cx="6110870" cy="6110870"/>
            <a:chOff x="0" y="0"/>
            <a:chExt cx="14840029" cy="14840029"/>
          </a:xfrm>
        </p:grpSpPr>
        <p:sp>
          <p:nvSpPr>
            <p:cNvPr id="17" name="Freeform 17"/>
            <p:cNvSpPr/>
            <p:nvPr/>
          </p:nvSpPr>
          <p:spPr>
            <a:xfrm>
              <a:off x="-366471" y="-11891"/>
              <a:ext cx="15572971" cy="14863810"/>
            </a:xfrm>
            <a:custGeom>
              <a:avLst/>
              <a:gdLst/>
              <a:ahLst/>
              <a:cxnLst/>
              <a:rect l="l" t="t" r="r" b="b"/>
              <a:pathLst>
                <a:path w="15572971" h="14863810">
                  <a:moveTo>
                    <a:pt x="7786486" y="11891"/>
                  </a:moveTo>
                  <a:cubicBezTo>
                    <a:pt x="5127664" y="0"/>
                    <a:pt x="2665709" y="1411641"/>
                    <a:pt x="1332855" y="3712286"/>
                  </a:cubicBezTo>
                  <a:cubicBezTo>
                    <a:pt x="0" y="6012931"/>
                    <a:pt x="0" y="8850880"/>
                    <a:pt x="1332855" y="11151525"/>
                  </a:cubicBezTo>
                  <a:cubicBezTo>
                    <a:pt x="2665709" y="13452170"/>
                    <a:pt x="5127664" y="14863811"/>
                    <a:pt x="7786486" y="14851920"/>
                  </a:cubicBezTo>
                  <a:cubicBezTo>
                    <a:pt x="10445306" y="14863811"/>
                    <a:pt x="12907262" y="13452170"/>
                    <a:pt x="14240117" y="11151525"/>
                  </a:cubicBezTo>
                  <a:cubicBezTo>
                    <a:pt x="15572971" y="8850880"/>
                    <a:pt x="15572971" y="6012931"/>
                    <a:pt x="14240117" y="3712286"/>
                  </a:cubicBezTo>
                  <a:cubicBezTo>
                    <a:pt x="12907262" y="1411641"/>
                    <a:pt x="10445306" y="0"/>
                    <a:pt x="7786486" y="11891"/>
                  </a:cubicBezTo>
                  <a:close/>
                </a:path>
              </a:pathLst>
            </a:custGeom>
            <a:solidFill>
              <a:srgbClr val="769EBE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Freeform 18"/>
            <p:cNvSpPr/>
            <p:nvPr/>
          </p:nvSpPr>
          <p:spPr>
            <a:xfrm>
              <a:off x="-156193" y="188812"/>
              <a:ext cx="15152415" cy="14462405"/>
            </a:xfrm>
            <a:custGeom>
              <a:avLst/>
              <a:gdLst/>
              <a:ahLst/>
              <a:cxnLst/>
              <a:rect l="l" t="t" r="r" b="b"/>
              <a:pathLst>
                <a:path w="15152415" h="14462405">
                  <a:moveTo>
                    <a:pt x="7576208" y="11570"/>
                  </a:moveTo>
                  <a:cubicBezTo>
                    <a:pt x="4989189" y="0"/>
                    <a:pt x="2593721" y="1373519"/>
                    <a:pt x="1296860" y="3612034"/>
                  </a:cubicBezTo>
                  <a:cubicBezTo>
                    <a:pt x="0" y="5850548"/>
                    <a:pt x="0" y="8611857"/>
                    <a:pt x="1296860" y="10850372"/>
                  </a:cubicBezTo>
                  <a:cubicBezTo>
                    <a:pt x="2593721" y="13088886"/>
                    <a:pt x="4989189" y="14462405"/>
                    <a:pt x="7576208" y="14450835"/>
                  </a:cubicBezTo>
                  <a:cubicBezTo>
                    <a:pt x="10163226" y="14462405"/>
                    <a:pt x="12558694" y="13088886"/>
                    <a:pt x="13855555" y="10850372"/>
                  </a:cubicBezTo>
                  <a:cubicBezTo>
                    <a:pt x="15152416" y="8611857"/>
                    <a:pt x="15152416" y="5850548"/>
                    <a:pt x="13855555" y="3612034"/>
                  </a:cubicBezTo>
                  <a:cubicBezTo>
                    <a:pt x="12558694" y="1373519"/>
                    <a:pt x="10163226" y="0"/>
                    <a:pt x="7576208" y="11570"/>
                  </a:cubicBezTo>
                  <a:close/>
                </a:path>
              </a:pathLst>
            </a:custGeom>
            <a:solidFill>
              <a:srgbClr val="3A5677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Freeform 19"/>
            <p:cNvSpPr/>
            <p:nvPr/>
          </p:nvSpPr>
          <p:spPr>
            <a:xfrm>
              <a:off x="223301" y="551024"/>
              <a:ext cx="14393427" cy="13737979"/>
            </a:xfrm>
            <a:custGeom>
              <a:avLst/>
              <a:gdLst/>
              <a:ahLst/>
              <a:cxnLst/>
              <a:rect l="l" t="t" r="r" b="b"/>
              <a:pathLst>
                <a:path w="14393427" h="13737979">
                  <a:moveTo>
                    <a:pt x="7196714" y="10990"/>
                  </a:moveTo>
                  <a:cubicBezTo>
                    <a:pt x="4739280" y="0"/>
                    <a:pt x="2463801" y="1304719"/>
                    <a:pt x="1231900" y="3431106"/>
                  </a:cubicBezTo>
                  <a:cubicBezTo>
                    <a:pt x="0" y="5557493"/>
                    <a:pt x="0" y="8180487"/>
                    <a:pt x="1231900" y="10306874"/>
                  </a:cubicBezTo>
                  <a:cubicBezTo>
                    <a:pt x="2463801" y="12433261"/>
                    <a:pt x="4739280" y="13737980"/>
                    <a:pt x="7196714" y="13726990"/>
                  </a:cubicBezTo>
                  <a:cubicBezTo>
                    <a:pt x="9654147" y="13737980"/>
                    <a:pt x="11929626" y="12433261"/>
                    <a:pt x="13161527" y="10306874"/>
                  </a:cubicBezTo>
                  <a:cubicBezTo>
                    <a:pt x="14393427" y="8180487"/>
                    <a:pt x="14393427" y="5557493"/>
                    <a:pt x="13161527" y="3431106"/>
                  </a:cubicBezTo>
                  <a:cubicBezTo>
                    <a:pt x="11929626" y="1304719"/>
                    <a:pt x="9654147" y="0"/>
                    <a:pt x="7196714" y="10990"/>
                  </a:cubicBezTo>
                  <a:close/>
                </a:path>
              </a:pathLst>
            </a:custGeom>
            <a:blipFill>
              <a:blip r:embed="rId4"/>
              <a:stretch>
                <a:fillRect l="223" r="223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ED8C17B9-D275-1658-A49A-319BF52728B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0" y="5544616"/>
            <a:ext cx="11478126" cy="4429914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6DED59-28EC-68B2-09E4-CBA33BACF3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7EE1D063-19E7-8B02-D800-C6B2C925E0D7}"/>
              </a:ext>
            </a:extLst>
          </p:cNvPr>
          <p:cNvSpPr/>
          <p:nvPr/>
        </p:nvSpPr>
        <p:spPr>
          <a:xfrm>
            <a:off x="-241610" y="-771884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A2A37504-0566-6B41-9B70-A9B84AD8DB78}"/>
              </a:ext>
            </a:extLst>
          </p:cNvPr>
          <p:cNvGrpSpPr/>
          <p:nvPr/>
        </p:nvGrpSpPr>
        <p:grpSpPr>
          <a:xfrm>
            <a:off x="828296" y="1276685"/>
            <a:ext cx="14895632" cy="8697823"/>
            <a:chOff x="-381523" y="-5751"/>
            <a:chExt cx="14339844" cy="7110024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16E8AE5E-E2AB-B2A3-7208-113604468256}"/>
                </a:ext>
              </a:extLst>
            </p:cNvPr>
            <p:cNvSpPr txBox="1"/>
            <p:nvPr/>
          </p:nvSpPr>
          <p:spPr>
            <a:xfrm>
              <a:off x="0" y="1208429"/>
              <a:ext cx="12224445" cy="619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323850" lvl="1">
                <a:lnSpc>
                  <a:spcPts val="3600"/>
                </a:lnSpc>
              </a:pPr>
              <a:endParaRPr lang="en-US" sz="3000">
                <a:solidFill>
                  <a:srgbClr val="33123B"/>
                </a:solidFill>
                <a:latin typeface="Assistant Regular"/>
                <a:ea typeface="Assistant Regular"/>
                <a:cs typeface="Assistant Regular"/>
              </a:endParaRP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CB691874-550B-B2FE-E3D0-7E3055000877}"/>
                </a:ext>
              </a:extLst>
            </p:cNvPr>
            <p:cNvSpPr txBox="1"/>
            <p:nvPr/>
          </p:nvSpPr>
          <p:spPr>
            <a:xfrm>
              <a:off x="0" y="2211729"/>
              <a:ext cx="13631736" cy="61555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647700" lvl="1" indent="-323850">
                <a:lnSpc>
                  <a:spcPts val="3600"/>
                </a:lnSpc>
                <a:buFont typeface="Arial"/>
                <a:buChar char="•"/>
              </a:pPr>
              <a:endParaRPr lang="en-US" sz="3000">
                <a:solidFill>
                  <a:srgbClr val="33123B"/>
                </a:solidFill>
                <a:latin typeface="Assistant Regular"/>
                <a:ea typeface="Assistant Regular"/>
                <a:cs typeface="Assistant Regular"/>
              </a:endParaRPr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E6141667-77F5-81EB-0965-5755D0030AA6}"/>
                </a:ext>
              </a:extLst>
            </p:cNvPr>
            <p:cNvSpPr txBox="1"/>
            <p:nvPr/>
          </p:nvSpPr>
          <p:spPr>
            <a:xfrm>
              <a:off x="-381523" y="311301"/>
              <a:ext cx="14339844" cy="6792972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742950" indent="-742950">
                <a:lnSpc>
                  <a:spcPct val="150000"/>
                </a:lnSpc>
                <a:buFont typeface="+mj-lt"/>
                <a:buAutoNum type="arabicPeriod" startAt="2"/>
              </a:pPr>
              <a:r>
                <a:rPr lang="en-IN" sz="4000" dirty="0"/>
                <a:t>Write a stored procedure that takes @MeterId, @ReadingDateTime, and @EnergyConsumed as input, inserts a new reading, and handles errors using TRY...CATCH. If successful, return a message.</a:t>
              </a:r>
            </a:p>
            <a:p>
              <a:pPr marL="323850" lvl="1">
                <a:lnSpc>
                  <a:spcPct val="150000"/>
                </a:lnSpc>
              </a:pPr>
              <a:r>
                <a:rPr lang="en-IN" sz="4000" dirty="0"/>
                <a:t>	 	</a:t>
              </a:r>
              <a:r>
                <a:rPr lang="en-IN" sz="4000" b="1" dirty="0"/>
                <a:t>OUTPUT FORMAT:</a:t>
              </a:r>
            </a:p>
            <a:p>
              <a:pPr marL="838200" lvl="1" indent="-514350">
                <a:lnSpc>
                  <a:spcPts val="3600"/>
                </a:lnSpc>
                <a:buFontTx/>
                <a:buAutoNum type="arabicPeriod" startAt="2"/>
              </a:pPr>
              <a:endParaRPr lang="en-US" sz="3200" dirty="0">
                <a:solidFill>
                  <a:srgbClr val="33123B"/>
                </a:solidFill>
                <a:ea typeface="Assistant Regular"/>
                <a:cs typeface="Assistant Regular"/>
              </a:endParaRPr>
            </a:p>
            <a:p>
              <a:pPr marL="838200" lvl="1" indent="-514350">
                <a:lnSpc>
                  <a:spcPts val="3600"/>
                </a:lnSpc>
                <a:buFontTx/>
                <a:buAutoNum type="arabicPeriod" startAt="2"/>
              </a:pPr>
              <a:endParaRPr lang="en-US" sz="3200" dirty="0">
                <a:solidFill>
                  <a:srgbClr val="33123B"/>
                </a:solidFill>
                <a:ea typeface="Assistant Regular"/>
                <a:cs typeface="Assistant Regular"/>
              </a:endParaRPr>
            </a:p>
            <a:p>
              <a:pPr marL="838200" lvl="1" indent="-514350">
                <a:lnSpc>
                  <a:spcPts val="3600"/>
                </a:lnSpc>
                <a:buFontTx/>
                <a:buAutoNum type="arabicPeriod" startAt="2"/>
              </a:pPr>
              <a:endParaRPr lang="en-US" sz="3200" dirty="0">
                <a:solidFill>
                  <a:srgbClr val="33123B"/>
                </a:solidFill>
                <a:ea typeface="Assistant Regular"/>
                <a:cs typeface="Assistant Regular"/>
              </a:endParaRPr>
            </a:p>
            <a:p>
              <a:pPr marL="323850" lvl="1">
                <a:lnSpc>
                  <a:spcPts val="3600"/>
                </a:lnSpc>
              </a:pPr>
              <a:endParaRPr lang="en-US" sz="3200" dirty="0">
                <a:solidFill>
                  <a:srgbClr val="33123B"/>
                </a:solidFill>
                <a:ea typeface="Assistant Regular"/>
                <a:cs typeface="Assistant Regular"/>
              </a:endParaRPr>
            </a:p>
            <a:p>
              <a:pPr marL="323850" lvl="1">
                <a:lnSpc>
                  <a:spcPts val="3600"/>
                </a:lnSpc>
              </a:pPr>
              <a:endParaRPr lang="en-US" sz="3200" dirty="0">
                <a:solidFill>
                  <a:srgbClr val="33123B"/>
                </a:solidFill>
                <a:ea typeface="Assistant Regular"/>
                <a:cs typeface="Assistant Regular"/>
              </a:endParaRPr>
            </a:p>
            <a:p>
              <a:pPr marL="323850" lvl="1">
                <a:lnSpc>
                  <a:spcPts val="3600"/>
                </a:lnSpc>
              </a:pPr>
              <a:endParaRPr lang="en-US" sz="3200" dirty="0">
                <a:solidFill>
                  <a:srgbClr val="33123B"/>
                </a:solidFill>
                <a:ea typeface="Assistant Regular"/>
                <a:cs typeface="Assistant Regular"/>
              </a:endParaRPr>
            </a:p>
            <a:p>
              <a:pPr marL="323850" lvl="1">
                <a:lnSpc>
                  <a:spcPts val="3600"/>
                </a:lnSpc>
              </a:pPr>
              <a:endParaRPr lang="en-US" sz="3200" dirty="0">
                <a:solidFill>
                  <a:srgbClr val="33123B"/>
                </a:solidFill>
                <a:ea typeface="Assistant Regular"/>
                <a:cs typeface="Assistant Regular"/>
              </a:endParaRPr>
            </a:p>
            <a:p>
              <a:pPr marL="323850" lvl="1">
                <a:lnSpc>
                  <a:spcPts val="3600"/>
                </a:lnSpc>
              </a:pPr>
              <a:endParaRPr lang="en-US" sz="3200" dirty="0">
                <a:solidFill>
                  <a:srgbClr val="33123B"/>
                </a:solidFill>
                <a:ea typeface="Assistant Regular"/>
                <a:cs typeface="Assistant Regular"/>
              </a:endParaRPr>
            </a:p>
            <a:p>
              <a:pPr marL="323850" lvl="1">
                <a:lnSpc>
                  <a:spcPts val="3600"/>
                </a:lnSpc>
              </a:pPr>
              <a:endParaRPr lang="en-US" sz="3200" dirty="0">
                <a:solidFill>
                  <a:srgbClr val="33123B"/>
                </a:solidFill>
                <a:ea typeface="Assistant Regular"/>
                <a:cs typeface="Assistant Regular"/>
              </a:endParaRPr>
            </a:p>
            <a:p>
              <a:pPr marL="647700" lvl="1" indent="-323850">
                <a:lnSpc>
                  <a:spcPts val="3600"/>
                </a:lnSpc>
                <a:buAutoNum type="arabicPeriod"/>
              </a:pPr>
              <a:endParaRPr lang="en-US" sz="3200" dirty="0">
                <a:solidFill>
                  <a:srgbClr val="33123B"/>
                </a:solidFill>
                <a:ea typeface="Assistant Regular"/>
                <a:cs typeface="Assistant Regular"/>
              </a:endParaRPr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59BD2B7D-5ED8-8030-2670-7A160F72F294}"/>
                </a:ext>
              </a:extLst>
            </p:cNvPr>
            <p:cNvSpPr txBox="1"/>
            <p:nvPr/>
          </p:nvSpPr>
          <p:spPr>
            <a:xfrm>
              <a:off x="269631" y="-5751"/>
              <a:ext cx="13403693" cy="7181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4200"/>
                </a:lnSpc>
              </a:pPr>
              <a:endParaRPr lang="en-GB" sz="3500" b="1">
                <a:solidFill>
                  <a:srgbClr val="33123B"/>
                </a:solidFill>
                <a:ea typeface="Calibri"/>
                <a:cs typeface="Calibri"/>
              </a:endParaRPr>
            </a:p>
          </p:txBody>
        </p:sp>
      </p:grpSp>
      <p:sp>
        <p:nvSpPr>
          <p:cNvPr id="15" name="TextBox 15">
            <a:extLst>
              <a:ext uri="{FF2B5EF4-FFF2-40B4-BE49-F238E27FC236}">
                <a16:creationId xmlns:a16="http://schemas.microsoft.com/office/drawing/2014/main" id="{D762AFB6-100C-757B-730A-6CD3971802E9}"/>
              </a:ext>
            </a:extLst>
          </p:cNvPr>
          <p:cNvSpPr txBox="1"/>
          <p:nvPr/>
        </p:nvSpPr>
        <p:spPr>
          <a:xfrm>
            <a:off x="7839979" y="312471"/>
            <a:ext cx="9619725" cy="11541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8800"/>
              </a:lnSpc>
            </a:pPr>
            <a:r>
              <a:rPr lang="en-US" sz="8000" b="1">
                <a:solidFill>
                  <a:srgbClr val="8D0A75"/>
                </a:solidFill>
                <a:latin typeface="Heebo Black"/>
                <a:ea typeface="Heebo Black"/>
                <a:cs typeface="Heebo Black"/>
                <a:sym typeface="Heebo Black"/>
              </a:rPr>
              <a:t>Assignment </a:t>
            </a:r>
          </a:p>
        </p:txBody>
      </p:sp>
      <p:grpSp>
        <p:nvGrpSpPr>
          <p:cNvPr id="16" name="Group 16">
            <a:extLst>
              <a:ext uri="{FF2B5EF4-FFF2-40B4-BE49-F238E27FC236}">
                <a16:creationId xmlns:a16="http://schemas.microsoft.com/office/drawing/2014/main" id="{B69C610D-0F42-D9AC-F4F7-E0F5E1FD4338}"/>
              </a:ext>
            </a:extLst>
          </p:cNvPr>
          <p:cNvGrpSpPr>
            <a:grpSpLocks noChangeAspect="1"/>
          </p:cNvGrpSpPr>
          <p:nvPr/>
        </p:nvGrpSpPr>
        <p:grpSpPr>
          <a:xfrm>
            <a:off x="14244459" y="4836686"/>
            <a:ext cx="6110870" cy="6110870"/>
            <a:chOff x="0" y="0"/>
            <a:chExt cx="14840029" cy="1484002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7D5CFE83-39E7-9A29-7559-A7534FBC321B}"/>
                </a:ext>
              </a:extLst>
            </p:cNvPr>
            <p:cNvSpPr/>
            <p:nvPr/>
          </p:nvSpPr>
          <p:spPr>
            <a:xfrm>
              <a:off x="-366471" y="-11891"/>
              <a:ext cx="15572971" cy="14863810"/>
            </a:xfrm>
            <a:custGeom>
              <a:avLst/>
              <a:gdLst/>
              <a:ahLst/>
              <a:cxnLst/>
              <a:rect l="l" t="t" r="r" b="b"/>
              <a:pathLst>
                <a:path w="15572971" h="14863810">
                  <a:moveTo>
                    <a:pt x="7786486" y="11891"/>
                  </a:moveTo>
                  <a:cubicBezTo>
                    <a:pt x="5127664" y="0"/>
                    <a:pt x="2665709" y="1411641"/>
                    <a:pt x="1332855" y="3712286"/>
                  </a:cubicBezTo>
                  <a:cubicBezTo>
                    <a:pt x="0" y="6012931"/>
                    <a:pt x="0" y="8850880"/>
                    <a:pt x="1332855" y="11151525"/>
                  </a:cubicBezTo>
                  <a:cubicBezTo>
                    <a:pt x="2665709" y="13452170"/>
                    <a:pt x="5127664" y="14863811"/>
                    <a:pt x="7786486" y="14851920"/>
                  </a:cubicBezTo>
                  <a:cubicBezTo>
                    <a:pt x="10445306" y="14863811"/>
                    <a:pt x="12907262" y="13452170"/>
                    <a:pt x="14240117" y="11151525"/>
                  </a:cubicBezTo>
                  <a:cubicBezTo>
                    <a:pt x="15572971" y="8850880"/>
                    <a:pt x="15572971" y="6012931"/>
                    <a:pt x="14240117" y="3712286"/>
                  </a:cubicBezTo>
                  <a:cubicBezTo>
                    <a:pt x="12907262" y="1411641"/>
                    <a:pt x="10445306" y="0"/>
                    <a:pt x="7786486" y="11891"/>
                  </a:cubicBezTo>
                  <a:close/>
                </a:path>
              </a:pathLst>
            </a:custGeom>
            <a:solidFill>
              <a:srgbClr val="769EBE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E9BC366E-A00B-A7AD-8461-5843208994CF}"/>
                </a:ext>
              </a:extLst>
            </p:cNvPr>
            <p:cNvSpPr/>
            <p:nvPr/>
          </p:nvSpPr>
          <p:spPr>
            <a:xfrm>
              <a:off x="-156193" y="188812"/>
              <a:ext cx="15152415" cy="14462405"/>
            </a:xfrm>
            <a:custGeom>
              <a:avLst/>
              <a:gdLst/>
              <a:ahLst/>
              <a:cxnLst/>
              <a:rect l="l" t="t" r="r" b="b"/>
              <a:pathLst>
                <a:path w="15152415" h="14462405">
                  <a:moveTo>
                    <a:pt x="7576208" y="11570"/>
                  </a:moveTo>
                  <a:cubicBezTo>
                    <a:pt x="4989189" y="0"/>
                    <a:pt x="2593721" y="1373519"/>
                    <a:pt x="1296860" y="3612034"/>
                  </a:cubicBezTo>
                  <a:cubicBezTo>
                    <a:pt x="0" y="5850548"/>
                    <a:pt x="0" y="8611857"/>
                    <a:pt x="1296860" y="10850372"/>
                  </a:cubicBezTo>
                  <a:cubicBezTo>
                    <a:pt x="2593721" y="13088886"/>
                    <a:pt x="4989189" y="14462405"/>
                    <a:pt x="7576208" y="14450835"/>
                  </a:cubicBezTo>
                  <a:cubicBezTo>
                    <a:pt x="10163226" y="14462405"/>
                    <a:pt x="12558694" y="13088886"/>
                    <a:pt x="13855555" y="10850372"/>
                  </a:cubicBezTo>
                  <a:cubicBezTo>
                    <a:pt x="15152416" y="8611857"/>
                    <a:pt x="15152416" y="5850548"/>
                    <a:pt x="13855555" y="3612034"/>
                  </a:cubicBezTo>
                  <a:cubicBezTo>
                    <a:pt x="12558694" y="1373519"/>
                    <a:pt x="10163226" y="0"/>
                    <a:pt x="7576208" y="11570"/>
                  </a:cubicBezTo>
                  <a:close/>
                </a:path>
              </a:pathLst>
            </a:custGeom>
            <a:solidFill>
              <a:srgbClr val="3A5677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Freeform 19">
              <a:extLst>
                <a:ext uri="{FF2B5EF4-FFF2-40B4-BE49-F238E27FC236}">
                  <a16:creationId xmlns:a16="http://schemas.microsoft.com/office/drawing/2014/main" id="{92586681-8E1F-6EA8-B3F2-29EC7107B940}"/>
                </a:ext>
              </a:extLst>
            </p:cNvPr>
            <p:cNvSpPr/>
            <p:nvPr/>
          </p:nvSpPr>
          <p:spPr>
            <a:xfrm>
              <a:off x="223301" y="551024"/>
              <a:ext cx="14393427" cy="13737979"/>
            </a:xfrm>
            <a:custGeom>
              <a:avLst/>
              <a:gdLst/>
              <a:ahLst/>
              <a:cxnLst/>
              <a:rect l="l" t="t" r="r" b="b"/>
              <a:pathLst>
                <a:path w="14393427" h="13737979">
                  <a:moveTo>
                    <a:pt x="7196714" y="10990"/>
                  </a:moveTo>
                  <a:cubicBezTo>
                    <a:pt x="4739280" y="0"/>
                    <a:pt x="2463801" y="1304719"/>
                    <a:pt x="1231900" y="3431106"/>
                  </a:cubicBezTo>
                  <a:cubicBezTo>
                    <a:pt x="0" y="5557493"/>
                    <a:pt x="0" y="8180487"/>
                    <a:pt x="1231900" y="10306874"/>
                  </a:cubicBezTo>
                  <a:cubicBezTo>
                    <a:pt x="2463801" y="12433261"/>
                    <a:pt x="4739280" y="13737980"/>
                    <a:pt x="7196714" y="13726990"/>
                  </a:cubicBezTo>
                  <a:cubicBezTo>
                    <a:pt x="9654147" y="13737980"/>
                    <a:pt x="11929626" y="12433261"/>
                    <a:pt x="13161527" y="10306874"/>
                  </a:cubicBezTo>
                  <a:cubicBezTo>
                    <a:pt x="14393427" y="8180487"/>
                    <a:pt x="14393427" y="5557493"/>
                    <a:pt x="13161527" y="3431106"/>
                  </a:cubicBezTo>
                  <a:cubicBezTo>
                    <a:pt x="11929626" y="1304719"/>
                    <a:pt x="9654147" y="0"/>
                    <a:pt x="7196714" y="10990"/>
                  </a:cubicBezTo>
                  <a:close/>
                </a:path>
              </a:pathLst>
            </a:custGeom>
            <a:blipFill>
              <a:blip r:embed="rId4"/>
              <a:stretch>
                <a:fillRect l="223" r="223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pic>
        <p:nvPicPr>
          <p:cNvPr id="9" name="Picture 8">
            <a:extLst>
              <a:ext uri="{FF2B5EF4-FFF2-40B4-BE49-F238E27FC236}">
                <a16:creationId xmlns:a16="http://schemas.microsoft.com/office/drawing/2014/main" id="{48E3F2DD-1D1E-287D-DDB0-10F0EED5027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7821" y="5401691"/>
            <a:ext cx="10728157" cy="45780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1408910"/>
      </p:ext>
    </p:extLst>
  </p:cSld>
  <p:clrMapOvr>
    <a:masterClrMapping/>
  </p:clrMapOvr>
  <p:transition spd="slow">
    <p:wip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4AC9E4-6136-23D2-AAF4-1224B4B7B1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683DAB25-80C2-90A1-9D5F-8E9BEA9CF651}"/>
              </a:ext>
            </a:extLst>
          </p:cNvPr>
          <p:cNvSpPr/>
          <p:nvPr/>
        </p:nvSpPr>
        <p:spPr>
          <a:xfrm>
            <a:off x="-241610" y="-771884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D2120F35-63E9-D392-6E0B-72A32584763F}"/>
              </a:ext>
            </a:extLst>
          </p:cNvPr>
          <p:cNvGrpSpPr/>
          <p:nvPr/>
        </p:nvGrpSpPr>
        <p:grpSpPr>
          <a:xfrm>
            <a:off x="625642" y="1276685"/>
            <a:ext cx="14802243" cy="9159508"/>
            <a:chOff x="-576616" y="-5751"/>
            <a:chExt cx="14249940" cy="7487429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8F54C643-A690-A708-BBA7-3DA1B8433018}"/>
                </a:ext>
              </a:extLst>
            </p:cNvPr>
            <p:cNvSpPr txBox="1"/>
            <p:nvPr/>
          </p:nvSpPr>
          <p:spPr>
            <a:xfrm>
              <a:off x="0" y="1208429"/>
              <a:ext cx="12224445" cy="619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323850" lvl="1">
                <a:lnSpc>
                  <a:spcPts val="3600"/>
                </a:lnSpc>
              </a:pPr>
              <a:endParaRPr lang="en-US" sz="3000">
                <a:solidFill>
                  <a:srgbClr val="33123B"/>
                </a:solidFill>
                <a:latin typeface="Assistant Regular"/>
                <a:ea typeface="Assistant Regular"/>
                <a:cs typeface="Assistant Regular"/>
              </a:endParaRP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FF9DEC00-4AFA-94B2-7150-DB8C0EDE13F4}"/>
                </a:ext>
              </a:extLst>
            </p:cNvPr>
            <p:cNvSpPr txBox="1"/>
            <p:nvPr/>
          </p:nvSpPr>
          <p:spPr>
            <a:xfrm>
              <a:off x="0" y="2211729"/>
              <a:ext cx="13631736" cy="61555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647700" lvl="1" indent="-323850">
                <a:lnSpc>
                  <a:spcPts val="3600"/>
                </a:lnSpc>
                <a:buFont typeface="Arial"/>
                <a:buChar char="•"/>
              </a:pPr>
              <a:endParaRPr lang="en-US" sz="3000">
                <a:solidFill>
                  <a:srgbClr val="33123B"/>
                </a:solidFill>
                <a:latin typeface="Assistant Regular"/>
                <a:ea typeface="Assistant Regular"/>
                <a:cs typeface="Assistant Regular"/>
              </a:endParaRPr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5763902A-1C0C-20E7-9616-FB79A4617B83}"/>
                </a:ext>
              </a:extLst>
            </p:cNvPr>
            <p:cNvSpPr txBox="1"/>
            <p:nvPr/>
          </p:nvSpPr>
          <p:spPr>
            <a:xfrm>
              <a:off x="-576616" y="688706"/>
              <a:ext cx="13826829" cy="6792972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514350" indent="-514350">
                <a:lnSpc>
                  <a:spcPct val="150000"/>
                </a:lnSpc>
                <a:buFont typeface="+mj-lt"/>
                <a:buAutoNum type="arabicPeriod" startAt="3"/>
              </a:pPr>
              <a:r>
                <a:rPr lang="en-IN" sz="4000" dirty="0"/>
                <a:t>Create an AFTER DELETE trigger on Customers that stores deleted customer details into a new table ArchivedCustomers. </a:t>
              </a:r>
            </a:p>
            <a:p>
              <a:pPr marL="781050" lvl="2">
                <a:lnSpc>
                  <a:spcPct val="150000"/>
                </a:lnSpc>
              </a:pPr>
              <a:r>
                <a:rPr lang="en-IN" sz="4000" dirty="0"/>
                <a:t>      	</a:t>
              </a:r>
              <a:r>
                <a:rPr lang="en-IN" sz="4000" b="1" dirty="0"/>
                <a:t>OUTPUT FORMAT</a:t>
              </a:r>
              <a:r>
                <a:rPr lang="en-IN" sz="4000" dirty="0"/>
                <a:t>: </a:t>
              </a:r>
            </a:p>
            <a:p>
              <a:pPr marL="781050" lvl="2">
                <a:lnSpc>
                  <a:spcPts val="3600"/>
                </a:lnSpc>
              </a:pPr>
              <a:endParaRPr lang="en-IN" sz="3200" dirty="0"/>
            </a:p>
            <a:p>
              <a:pPr marL="781050" lvl="2">
                <a:lnSpc>
                  <a:spcPts val="3600"/>
                </a:lnSpc>
              </a:pPr>
              <a:endParaRPr lang="en-IN" sz="3200" dirty="0"/>
            </a:p>
            <a:p>
              <a:pPr marL="781050" lvl="2">
                <a:lnSpc>
                  <a:spcPts val="3600"/>
                </a:lnSpc>
              </a:pPr>
              <a:endParaRPr lang="en-IN" sz="3200" dirty="0"/>
            </a:p>
            <a:p>
              <a:pPr marL="781050" lvl="2">
                <a:lnSpc>
                  <a:spcPts val="3600"/>
                </a:lnSpc>
              </a:pPr>
              <a:endParaRPr lang="en-IN" sz="3200" dirty="0"/>
            </a:p>
            <a:p>
              <a:pPr marL="781050" lvl="2">
                <a:lnSpc>
                  <a:spcPts val="3600"/>
                </a:lnSpc>
              </a:pPr>
              <a:endParaRPr lang="en-IN" sz="3200" dirty="0"/>
            </a:p>
            <a:p>
              <a:pPr marL="1295400" lvl="2" indent="-514350">
                <a:lnSpc>
                  <a:spcPts val="3600"/>
                </a:lnSpc>
                <a:buFont typeface="+mj-lt"/>
                <a:buAutoNum type="arabicPeriod" startAt="4"/>
              </a:pPr>
              <a:endParaRPr lang="en-IN" sz="3200" dirty="0"/>
            </a:p>
            <a:p>
              <a:pPr marL="1295400" lvl="2" indent="-514350">
                <a:lnSpc>
                  <a:spcPts val="3600"/>
                </a:lnSpc>
                <a:buFontTx/>
                <a:buAutoNum type="arabicPeriod" startAt="2"/>
              </a:pPr>
              <a:endParaRPr lang="en-US" sz="3200" dirty="0">
                <a:solidFill>
                  <a:srgbClr val="33123B"/>
                </a:solidFill>
                <a:latin typeface="Calibri"/>
                <a:ea typeface="Assistant Regular"/>
                <a:cs typeface="Assistant Regular"/>
              </a:endParaRPr>
            </a:p>
            <a:p>
              <a:pPr marL="1295400" lvl="2" indent="-514350">
                <a:lnSpc>
                  <a:spcPts val="3600"/>
                </a:lnSpc>
                <a:buFontTx/>
                <a:buAutoNum type="arabicPeriod" startAt="2"/>
              </a:pPr>
              <a:endParaRPr lang="en-US" sz="3200" dirty="0">
                <a:solidFill>
                  <a:srgbClr val="33123B"/>
                </a:solidFill>
                <a:latin typeface="Calibri"/>
                <a:ea typeface="Assistant Regular"/>
                <a:cs typeface="Assistant Regular"/>
              </a:endParaRPr>
            </a:p>
            <a:p>
              <a:pPr marL="1295400" lvl="2" indent="-514350">
                <a:lnSpc>
                  <a:spcPts val="3600"/>
                </a:lnSpc>
                <a:buFontTx/>
                <a:buAutoNum type="arabicPeriod" startAt="2"/>
              </a:pPr>
              <a:endParaRPr lang="en-US" sz="3200" dirty="0">
                <a:solidFill>
                  <a:srgbClr val="33123B"/>
                </a:solidFill>
                <a:latin typeface="Calibri"/>
                <a:ea typeface="Assistant Regular"/>
                <a:cs typeface="Assistant Regular"/>
              </a:endParaRPr>
            </a:p>
            <a:p>
              <a:pPr marL="781050" lvl="2">
                <a:lnSpc>
                  <a:spcPts val="3600"/>
                </a:lnSpc>
              </a:pPr>
              <a:endParaRPr lang="en-US" sz="3200" dirty="0">
                <a:solidFill>
                  <a:srgbClr val="33123B"/>
                </a:solidFill>
                <a:latin typeface="Calibri"/>
                <a:ea typeface="Assistant Regular"/>
                <a:cs typeface="Assistant Regular"/>
              </a:endParaRPr>
            </a:p>
            <a:p>
              <a:pPr marL="781050" lvl="2">
                <a:lnSpc>
                  <a:spcPts val="3600"/>
                </a:lnSpc>
              </a:pPr>
              <a:endParaRPr lang="en-US" sz="3200" dirty="0">
                <a:solidFill>
                  <a:srgbClr val="33123B"/>
                </a:solidFill>
                <a:latin typeface="Calibri"/>
                <a:ea typeface="Assistant Regular"/>
                <a:cs typeface="Assistant Regular"/>
              </a:endParaRPr>
            </a:p>
            <a:p>
              <a:pPr marL="1104900" lvl="2" indent="-323850">
                <a:lnSpc>
                  <a:spcPts val="3600"/>
                </a:lnSpc>
                <a:buAutoNum type="arabicPeriod"/>
              </a:pPr>
              <a:endParaRPr lang="en-US" sz="3200" dirty="0">
                <a:solidFill>
                  <a:srgbClr val="33123B"/>
                </a:solidFill>
                <a:latin typeface="Assistant Regular"/>
                <a:ea typeface="Assistant Regular"/>
                <a:cs typeface="Assistant Regular"/>
              </a:endParaRPr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392BDE1E-BA02-3824-9425-EABAD61A42B3}"/>
                </a:ext>
              </a:extLst>
            </p:cNvPr>
            <p:cNvSpPr txBox="1"/>
            <p:nvPr/>
          </p:nvSpPr>
          <p:spPr>
            <a:xfrm>
              <a:off x="269631" y="-5751"/>
              <a:ext cx="13403693" cy="7181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4200"/>
                </a:lnSpc>
              </a:pPr>
              <a:endParaRPr lang="en-GB" sz="3500" b="1">
                <a:solidFill>
                  <a:srgbClr val="33123B"/>
                </a:solidFill>
                <a:ea typeface="Calibri"/>
                <a:cs typeface="Calibri"/>
              </a:endParaRPr>
            </a:p>
          </p:txBody>
        </p:sp>
      </p:grpSp>
      <p:sp>
        <p:nvSpPr>
          <p:cNvPr id="15" name="TextBox 15">
            <a:extLst>
              <a:ext uri="{FF2B5EF4-FFF2-40B4-BE49-F238E27FC236}">
                <a16:creationId xmlns:a16="http://schemas.microsoft.com/office/drawing/2014/main" id="{31B69D72-BEBF-49FF-AE6D-2FF01CC10AAD}"/>
              </a:ext>
            </a:extLst>
          </p:cNvPr>
          <p:cNvSpPr txBox="1"/>
          <p:nvPr/>
        </p:nvSpPr>
        <p:spPr>
          <a:xfrm>
            <a:off x="7839979" y="312471"/>
            <a:ext cx="9619725" cy="11541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8800"/>
              </a:lnSpc>
            </a:pPr>
            <a:r>
              <a:rPr lang="en-US" sz="8000" b="1">
                <a:solidFill>
                  <a:srgbClr val="8D0A75"/>
                </a:solidFill>
                <a:latin typeface="Heebo Black"/>
                <a:ea typeface="Heebo Black"/>
                <a:cs typeface="Heebo Black"/>
                <a:sym typeface="Heebo Black"/>
              </a:rPr>
              <a:t>Assignment </a:t>
            </a:r>
          </a:p>
        </p:txBody>
      </p:sp>
      <p:grpSp>
        <p:nvGrpSpPr>
          <p:cNvPr id="16" name="Group 16">
            <a:extLst>
              <a:ext uri="{FF2B5EF4-FFF2-40B4-BE49-F238E27FC236}">
                <a16:creationId xmlns:a16="http://schemas.microsoft.com/office/drawing/2014/main" id="{20DC913D-B402-5D46-CCFA-1B23E1D35FA7}"/>
              </a:ext>
            </a:extLst>
          </p:cNvPr>
          <p:cNvGrpSpPr>
            <a:grpSpLocks noChangeAspect="1"/>
          </p:cNvGrpSpPr>
          <p:nvPr/>
        </p:nvGrpSpPr>
        <p:grpSpPr>
          <a:xfrm>
            <a:off x="14244459" y="4836686"/>
            <a:ext cx="6110870" cy="6110870"/>
            <a:chOff x="0" y="0"/>
            <a:chExt cx="14840029" cy="1484002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095AAF6C-3EEC-F458-B5FD-4E00E785B271}"/>
                </a:ext>
              </a:extLst>
            </p:cNvPr>
            <p:cNvSpPr/>
            <p:nvPr/>
          </p:nvSpPr>
          <p:spPr>
            <a:xfrm>
              <a:off x="-366471" y="-11891"/>
              <a:ext cx="15572971" cy="14863810"/>
            </a:xfrm>
            <a:custGeom>
              <a:avLst/>
              <a:gdLst/>
              <a:ahLst/>
              <a:cxnLst/>
              <a:rect l="l" t="t" r="r" b="b"/>
              <a:pathLst>
                <a:path w="15572971" h="14863810">
                  <a:moveTo>
                    <a:pt x="7786486" y="11891"/>
                  </a:moveTo>
                  <a:cubicBezTo>
                    <a:pt x="5127664" y="0"/>
                    <a:pt x="2665709" y="1411641"/>
                    <a:pt x="1332855" y="3712286"/>
                  </a:cubicBezTo>
                  <a:cubicBezTo>
                    <a:pt x="0" y="6012931"/>
                    <a:pt x="0" y="8850880"/>
                    <a:pt x="1332855" y="11151525"/>
                  </a:cubicBezTo>
                  <a:cubicBezTo>
                    <a:pt x="2665709" y="13452170"/>
                    <a:pt x="5127664" y="14863811"/>
                    <a:pt x="7786486" y="14851920"/>
                  </a:cubicBezTo>
                  <a:cubicBezTo>
                    <a:pt x="10445306" y="14863811"/>
                    <a:pt x="12907262" y="13452170"/>
                    <a:pt x="14240117" y="11151525"/>
                  </a:cubicBezTo>
                  <a:cubicBezTo>
                    <a:pt x="15572971" y="8850880"/>
                    <a:pt x="15572971" y="6012931"/>
                    <a:pt x="14240117" y="3712286"/>
                  </a:cubicBezTo>
                  <a:cubicBezTo>
                    <a:pt x="12907262" y="1411641"/>
                    <a:pt x="10445306" y="0"/>
                    <a:pt x="7786486" y="11891"/>
                  </a:cubicBezTo>
                  <a:close/>
                </a:path>
              </a:pathLst>
            </a:custGeom>
            <a:solidFill>
              <a:srgbClr val="769EBE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DF284155-4D90-E576-48A7-EC38608BBE07}"/>
                </a:ext>
              </a:extLst>
            </p:cNvPr>
            <p:cNvSpPr/>
            <p:nvPr/>
          </p:nvSpPr>
          <p:spPr>
            <a:xfrm>
              <a:off x="-156193" y="188812"/>
              <a:ext cx="15152415" cy="14462405"/>
            </a:xfrm>
            <a:custGeom>
              <a:avLst/>
              <a:gdLst/>
              <a:ahLst/>
              <a:cxnLst/>
              <a:rect l="l" t="t" r="r" b="b"/>
              <a:pathLst>
                <a:path w="15152415" h="14462405">
                  <a:moveTo>
                    <a:pt x="7576208" y="11570"/>
                  </a:moveTo>
                  <a:cubicBezTo>
                    <a:pt x="4989189" y="0"/>
                    <a:pt x="2593721" y="1373519"/>
                    <a:pt x="1296860" y="3612034"/>
                  </a:cubicBezTo>
                  <a:cubicBezTo>
                    <a:pt x="0" y="5850548"/>
                    <a:pt x="0" y="8611857"/>
                    <a:pt x="1296860" y="10850372"/>
                  </a:cubicBezTo>
                  <a:cubicBezTo>
                    <a:pt x="2593721" y="13088886"/>
                    <a:pt x="4989189" y="14462405"/>
                    <a:pt x="7576208" y="14450835"/>
                  </a:cubicBezTo>
                  <a:cubicBezTo>
                    <a:pt x="10163226" y="14462405"/>
                    <a:pt x="12558694" y="13088886"/>
                    <a:pt x="13855555" y="10850372"/>
                  </a:cubicBezTo>
                  <a:cubicBezTo>
                    <a:pt x="15152416" y="8611857"/>
                    <a:pt x="15152416" y="5850548"/>
                    <a:pt x="13855555" y="3612034"/>
                  </a:cubicBezTo>
                  <a:cubicBezTo>
                    <a:pt x="12558694" y="1373519"/>
                    <a:pt x="10163226" y="0"/>
                    <a:pt x="7576208" y="11570"/>
                  </a:cubicBezTo>
                  <a:close/>
                </a:path>
              </a:pathLst>
            </a:custGeom>
            <a:solidFill>
              <a:srgbClr val="3A5677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Freeform 19">
              <a:extLst>
                <a:ext uri="{FF2B5EF4-FFF2-40B4-BE49-F238E27FC236}">
                  <a16:creationId xmlns:a16="http://schemas.microsoft.com/office/drawing/2014/main" id="{D52A785E-D580-FC7B-EBD2-1323D2883437}"/>
                </a:ext>
              </a:extLst>
            </p:cNvPr>
            <p:cNvSpPr/>
            <p:nvPr/>
          </p:nvSpPr>
          <p:spPr>
            <a:xfrm>
              <a:off x="223301" y="551024"/>
              <a:ext cx="14393427" cy="13737979"/>
            </a:xfrm>
            <a:custGeom>
              <a:avLst/>
              <a:gdLst/>
              <a:ahLst/>
              <a:cxnLst/>
              <a:rect l="l" t="t" r="r" b="b"/>
              <a:pathLst>
                <a:path w="14393427" h="13737979">
                  <a:moveTo>
                    <a:pt x="7196714" y="10990"/>
                  </a:moveTo>
                  <a:cubicBezTo>
                    <a:pt x="4739280" y="0"/>
                    <a:pt x="2463801" y="1304719"/>
                    <a:pt x="1231900" y="3431106"/>
                  </a:cubicBezTo>
                  <a:cubicBezTo>
                    <a:pt x="0" y="5557493"/>
                    <a:pt x="0" y="8180487"/>
                    <a:pt x="1231900" y="10306874"/>
                  </a:cubicBezTo>
                  <a:cubicBezTo>
                    <a:pt x="2463801" y="12433261"/>
                    <a:pt x="4739280" y="13737980"/>
                    <a:pt x="7196714" y="13726990"/>
                  </a:cubicBezTo>
                  <a:cubicBezTo>
                    <a:pt x="9654147" y="13737980"/>
                    <a:pt x="11929626" y="12433261"/>
                    <a:pt x="13161527" y="10306874"/>
                  </a:cubicBezTo>
                  <a:cubicBezTo>
                    <a:pt x="14393427" y="8180487"/>
                    <a:pt x="14393427" y="5557493"/>
                    <a:pt x="13161527" y="3431106"/>
                  </a:cubicBezTo>
                  <a:cubicBezTo>
                    <a:pt x="11929626" y="1304719"/>
                    <a:pt x="9654147" y="0"/>
                    <a:pt x="7196714" y="10990"/>
                  </a:cubicBezTo>
                  <a:close/>
                </a:path>
              </a:pathLst>
            </a:custGeom>
            <a:blipFill>
              <a:blip r:embed="rId4"/>
              <a:stretch>
                <a:fillRect l="223" r="223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pic>
        <p:nvPicPr>
          <p:cNvPr id="10" name="Picture 9">
            <a:extLst>
              <a:ext uri="{FF2B5EF4-FFF2-40B4-BE49-F238E27FC236}">
                <a16:creationId xmlns:a16="http://schemas.microsoft.com/office/drawing/2014/main" id="{5AF1068D-B603-C967-4F39-38B85E96CEC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52864" y="5353225"/>
            <a:ext cx="11502190" cy="4650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298722"/>
      </p:ext>
    </p:extLst>
  </p:cSld>
  <p:clrMapOvr>
    <a:masterClrMapping/>
  </p:clrMapOvr>
  <p:transition spd="slow">
    <p:wip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B274F9-2E08-0477-C101-F54242547D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8F60A08C-45F0-CAF1-9980-9E8749106814}"/>
              </a:ext>
            </a:extLst>
          </p:cNvPr>
          <p:cNvSpPr/>
          <p:nvPr/>
        </p:nvSpPr>
        <p:spPr>
          <a:xfrm>
            <a:off x="-241610" y="-771884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7465F242-0045-4366-91B8-5EFA3AB8C2F6}"/>
              </a:ext>
            </a:extLst>
          </p:cNvPr>
          <p:cNvGrpSpPr/>
          <p:nvPr/>
        </p:nvGrpSpPr>
        <p:grpSpPr>
          <a:xfrm>
            <a:off x="658612" y="1276685"/>
            <a:ext cx="16124700" cy="7100235"/>
            <a:chOff x="-544876" y="-5751"/>
            <a:chExt cx="15523053" cy="5804079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DE16DF6D-A965-16B8-AC01-82ECDFE54119}"/>
                </a:ext>
              </a:extLst>
            </p:cNvPr>
            <p:cNvSpPr txBox="1"/>
            <p:nvPr/>
          </p:nvSpPr>
          <p:spPr>
            <a:xfrm>
              <a:off x="0" y="1208429"/>
              <a:ext cx="12224445" cy="619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323850" lvl="1">
                <a:lnSpc>
                  <a:spcPts val="3600"/>
                </a:lnSpc>
              </a:pPr>
              <a:endParaRPr lang="en-US" sz="3000">
                <a:solidFill>
                  <a:srgbClr val="33123B"/>
                </a:solidFill>
                <a:latin typeface="Assistant Regular"/>
                <a:ea typeface="Assistant Regular"/>
                <a:cs typeface="Assistant Regular"/>
              </a:endParaRP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A06B682E-2CA0-36FA-EAE1-CF2AF604EEF5}"/>
                </a:ext>
              </a:extLst>
            </p:cNvPr>
            <p:cNvSpPr txBox="1"/>
            <p:nvPr/>
          </p:nvSpPr>
          <p:spPr>
            <a:xfrm>
              <a:off x="0" y="2211729"/>
              <a:ext cx="13631736" cy="61555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647700" lvl="1" indent="-323850">
                <a:lnSpc>
                  <a:spcPts val="3600"/>
                </a:lnSpc>
                <a:buFont typeface="Arial"/>
                <a:buChar char="•"/>
              </a:pPr>
              <a:endParaRPr lang="en-US" sz="3000">
                <a:solidFill>
                  <a:srgbClr val="33123B"/>
                </a:solidFill>
                <a:latin typeface="Assistant Regular"/>
                <a:ea typeface="Assistant Regular"/>
                <a:cs typeface="Assistant Regular"/>
              </a:endParaRPr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576106EE-F276-F0C0-32D5-CF916813B371}"/>
                </a:ext>
              </a:extLst>
            </p:cNvPr>
            <p:cNvSpPr txBox="1"/>
            <p:nvPr/>
          </p:nvSpPr>
          <p:spPr>
            <a:xfrm>
              <a:off x="-544876" y="137517"/>
              <a:ext cx="15523053" cy="5660811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781050" lvl="2">
                <a:lnSpc>
                  <a:spcPts val="3600"/>
                </a:lnSpc>
              </a:pPr>
              <a:endParaRPr lang="en-IN" sz="3200" dirty="0"/>
            </a:p>
            <a:p>
              <a:pPr marL="514350" indent="-514350">
                <a:lnSpc>
                  <a:spcPct val="150000"/>
                </a:lnSpc>
                <a:buFont typeface="+mj-lt"/>
                <a:buAutoNum type="arabicPeriod" startAt="4"/>
              </a:pPr>
              <a:r>
                <a:rPr lang="en-IN" sz="4000" dirty="0"/>
                <a:t>Create a view LatestMeterReadings that returns the most recent reading per meter.</a:t>
              </a:r>
              <a:br>
                <a:rPr lang="en-IN" sz="4000" dirty="0"/>
              </a:br>
              <a:r>
                <a:rPr lang="en-IN" sz="4000" dirty="0"/>
                <a:t>Include: MeterId, ReadingDateTime, EnergyConsumed. </a:t>
              </a:r>
            </a:p>
            <a:p>
              <a:pPr marL="781050" lvl="2">
                <a:lnSpc>
                  <a:spcPct val="150000"/>
                </a:lnSpc>
              </a:pPr>
              <a:r>
                <a:rPr lang="en-IN" sz="4000" dirty="0"/>
                <a:t>		 </a:t>
              </a:r>
              <a:r>
                <a:rPr lang="en-IN" sz="4000" b="1" dirty="0"/>
                <a:t>OUTPUT FORMAT:</a:t>
              </a:r>
            </a:p>
            <a:p>
              <a:pPr marL="1295400" lvl="2" indent="-514350">
                <a:lnSpc>
                  <a:spcPts val="3600"/>
                </a:lnSpc>
                <a:buFontTx/>
                <a:buAutoNum type="arabicPeriod" startAt="2"/>
              </a:pPr>
              <a:endParaRPr lang="en-US" sz="3200" dirty="0">
                <a:solidFill>
                  <a:srgbClr val="33123B"/>
                </a:solidFill>
                <a:latin typeface="Calibri"/>
                <a:ea typeface="Assistant Regular"/>
                <a:cs typeface="Assistant Regular"/>
              </a:endParaRPr>
            </a:p>
            <a:p>
              <a:pPr marL="1295400" lvl="2" indent="-514350">
                <a:lnSpc>
                  <a:spcPts val="3600"/>
                </a:lnSpc>
                <a:buFontTx/>
                <a:buAutoNum type="arabicPeriod" startAt="2"/>
              </a:pPr>
              <a:endParaRPr lang="en-US" sz="3200" dirty="0">
                <a:solidFill>
                  <a:srgbClr val="33123B"/>
                </a:solidFill>
                <a:latin typeface="Calibri"/>
                <a:ea typeface="Assistant Regular"/>
                <a:cs typeface="Assistant Regular"/>
              </a:endParaRPr>
            </a:p>
            <a:p>
              <a:pPr marL="1295400" lvl="2" indent="-514350">
                <a:lnSpc>
                  <a:spcPts val="3600"/>
                </a:lnSpc>
                <a:buFontTx/>
                <a:buAutoNum type="arabicPeriod" startAt="2"/>
              </a:pPr>
              <a:endParaRPr lang="en-US" sz="3200" dirty="0">
                <a:solidFill>
                  <a:srgbClr val="33123B"/>
                </a:solidFill>
                <a:latin typeface="Calibri"/>
                <a:ea typeface="Assistant Regular"/>
                <a:cs typeface="Assistant Regular"/>
              </a:endParaRPr>
            </a:p>
            <a:p>
              <a:pPr marL="781050" lvl="2">
                <a:lnSpc>
                  <a:spcPts val="3600"/>
                </a:lnSpc>
              </a:pPr>
              <a:endParaRPr lang="en-US" sz="3200" dirty="0">
                <a:solidFill>
                  <a:srgbClr val="33123B"/>
                </a:solidFill>
                <a:latin typeface="Calibri"/>
                <a:ea typeface="Assistant Regular"/>
                <a:cs typeface="Assistant Regular"/>
              </a:endParaRPr>
            </a:p>
            <a:p>
              <a:pPr marL="781050" lvl="2">
                <a:lnSpc>
                  <a:spcPts val="3600"/>
                </a:lnSpc>
              </a:pPr>
              <a:endParaRPr lang="en-US" sz="3200" dirty="0">
                <a:solidFill>
                  <a:srgbClr val="33123B"/>
                </a:solidFill>
                <a:latin typeface="Calibri"/>
                <a:ea typeface="Assistant Regular"/>
                <a:cs typeface="Assistant Regular"/>
              </a:endParaRPr>
            </a:p>
            <a:p>
              <a:pPr marL="1104900" lvl="2" indent="-323850">
                <a:lnSpc>
                  <a:spcPts val="3600"/>
                </a:lnSpc>
                <a:buAutoNum type="arabicPeriod"/>
              </a:pPr>
              <a:endParaRPr lang="en-US" sz="3200" dirty="0">
                <a:solidFill>
                  <a:srgbClr val="33123B"/>
                </a:solidFill>
                <a:latin typeface="Assistant Regular"/>
                <a:ea typeface="Assistant Regular"/>
                <a:cs typeface="Assistant Regular"/>
              </a:endParaRPr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1B2E191A-81F5-8AE2-3E70-6F066AF0E876}"/>
                </a:ext>
              </a:extLst>
            </p:cNvPr>
            <p:cNvSpPr txBox="1"/>
            <p:nvPr/>
          </p:nvSpPr>
          <p:spPr>
            <a:xfrm>
              <a:off x="269631" y="-5751"/>
              <a:ext cx="13403693" cy="7181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4200"/>
                </a:lnSpc>
              </a:pPr>
              <a:endParaRPr lang="en-GB" sz="3500" b="1">
                <a:solidFill>
                  <a:srgbClr val="33123B"/>
                </a:solidFill>
                <a:ea typeface="Calibri"/>
                <a:cs typeface="Calibri"/>
              </a:endParaRPr>
            </a:p>
          </p:txBody>
        </p:sp>
      </p:grpSp>
      <p:sp>
        <p:nvSpPr>
          <p:cNvPr id="15" name="TextBox 15">
            <a:extLst>
              <a:ext uri="{FF2B5EF4-FFF2-40B4-BE49-F238E27FC236}">
                <a16:creationId xmlns:a16="http://schemas.microsoft.com/office/drawing/2014/main" id="{9B701A90-ADC6-015D-C283-F08D813F97AD}"/>
              </a:ext>
            </a:extLst>
          </p:cNvPr>
          <p:cNvSpPr txBox="1"/>
          <p:nvPr/>
        </p:nvSpPr>
        <p:spPr>
          <a:xfrm>
            <a:off x="7839979" y="312471"/>
            <a:ext cx="9619725" cy="11541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8800"/>
              </a:lnSpc>
            </a:pPr>
            <a:r>
              <a:rPr lang="en-US" sz="8000" b="1">
                <a:solidFill>
                  <a:srgbClr val="8D0A75"/>
                </a:solidFill>
                <a:latin typeface="Heebo Black"/>
                <a:ea typeface="Heebo Black"/>
                <a:cs typeface="Heebo Black"/>
                <a:sym typeface="Heebo Black"/>
              </a:rPr>
              <a:t>Assignment </a:t>
            </a:r>
          </a:p>
        </p:txBody>
      </p:sp>
      <p:grpSp>
        <p:nvGrpSpPr>
          <p:cNvPr id="16" name="Group 16">
            <a:extLst>
              <a:ext uri="{FF2B5EF4-FFF2-40B4-BE49-F238E27FC236}">
                <a16:creationId xmlns:a16="http://schemas.microsoft.com/office/drawing/2014/main" id="{0CE15752-A17A-DF62-CB60-B95321967304}"/>
              </a:ext>
            </a:extLst>
          </p:cNvPr>
          <p:cNvGrpSpPr>
            <a:grpSpLocks noChangeAspect="1"/>
          </p:cNvGrpSpPr>
          <p:nvPr/>
        </p:nvGrpSpPr>
        <p:grpSpPr>
          <a:xfrm>
            <a:off x="14244459" y="4836686"/>
            <a:ext cx="6110870" cy="6110870"/>
            <a:chOff x="0" y="0"/>
            <a:chExt cx="14840029" cy="1484002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72C1482B-59A4-7537-CDBD-C381C188BCB7}"/>
                </a:ext>
              </a:extLst>
            </p:cNvPr>
            <p:cNvSpPr/>
            <p:nvPr/>
          </p:nvSpPr>
          <p:spPr>
            <a:xfrm>
              <a:off x="-366471" y="-11891"/>
              <a:ext cx="15572971" cy="14863810"/>
            </a:xfrm>
            <a:custGeom>
              <a:avLst/>
              <a:gdLst/>
              <a:ahLst/>
              <a:cxnLst/>
              <a:rect l="l" t="t" r="r" b="b"/>
              <a:pathLst>
                <a:path w="15572971" h="14863810">
                  <a:moveTo>
                    <a:pt x="7786486" y="11891"/>
                  </a:moveTo>
                  <a:cubicBezTo>
                    <a:pt x="5127664" y="0"/>
                    <a:pt x="2665709" y="1411641"/>
                    <a:pt x="1332855" y="3712286"/>
                  </a:cubicBezTo>
                  <a:cubicBezTo>
                    <a:pt x="0" y="6012931"/>
                    <a:pt x="0" y="8850880"/>
                    <a:pt x="1332855" y="11151525"/>
                  </a:cubicBezTo>
                  <a:cubicBezTo>
                    <a:pt x="2665709" y="13452170"/>
                    <a:pt x="5127664" y="14863811"/>
                    <a:pt x="7786486" y="14851920"/>
                  </a:cubicBezTo>
                  <a:cubicBezTo>
                    <a:pt x="10445306" y="14863811"/>
                    <a:pt x="12907262" y="13452170"/>
                    <a:pt x="14240117" y="11151525"/>
                  </a:cubicBezTo>
                  <a:cubicBezTo>
                    <a:pt x="15572971" y="8850880"/>
                    <a:pt x="15572971" y="6012931"/>
                    <a:pt x="14240117" y="3712286"/>
                  </a:cubicBezTo>
                  <a:cubicBezTo>
                    <a:pt x="12907262" y="1411641"/>
                    <a:pt x="10445306" y="0"/>
                    <a:pt x="7786486" y="11891"/>
                  </a:cubicBezTo>
                  <a:close/>
                </a:path>
              </a:pathLst>
            </a:custGeom>
            <a:solidFill>
              <a:srgbClr val="769EBE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9D1A15FE-2E3D-0564-1068-E1D4DF46EBB6}"/>
                </a:ext>
              </a:extLst>
            </p:cNvPr>
            <p:cNvSpPr/>
            <p:nvPr/>
          </p:nvSpPr>
          <p:spPr>
            <a:xfrm>
              <a:off x="-156193" y="188812"/>
              <a:ext cx="15152415" cy="14462405"/>
            </a:xfrm>
            <a:custGeom>
              <a:avLst/>
              <a:gdLst/>
              <a:ahLst/>
              <a:cxnLst/>
              <a:rect l="l" t="t" r="r" b="b"/>
              <a:pathLst>
                <a:path w="15152415" h="14462405">
                  <a:moveTo>
                    <a:pt x="7576208" y="11570"/>
                  </a:moveTo>
                  <a:cubicBezTo>
                    <a:pt x="4989189" y="0"/>
                    <a:pt x="2593721" y="1373519"/>
                    <a:pt x="1296860" y="3612034"/>
                  </a:cubicBezTo>
                  <a:cubicBezTo>
                    <a:pt x="0" y="5850548"/>
                    <a:pt x="0" y="8611857"/>
                    <a:pt x="1296860" y="10850372"/>
                  </a:cubicBezTo>
                  <a:cubicBezTo>
                    <a:pt x="2593721" y="13088886"/>
                    <a:pt x="4989189" y="14462405"/>
                    <a:pt x="7576208" y="14450835"/>
                  </a:cubicBezTo>
                  <a:cubicBezTo>
                    <a:pt x="10163226" y="14462405"/>
                    <a:pt x="12558694" y="13088886"/>
                    <a:pt x="13855555" y="10850372"/>
                  </a:cubicBezTo>
                  <a:cubicBezTo>
                    <a:pt x="15152416" y="8611857"/>
                    <a:pt x="15152416" y="5850548"/>
                    <a:pt x="13855555" y="3612034"/>
                  </a:cubicBezTo>
                  <a:cubicBezTo>
                    <a:pt x="12558694" y="1373519"/>
                    <a:pt x="10163226" y="0"/>
                    <a:pt x="7576208" y="11570"/>
                  </a:cubicBezTo>
                  <a:close/>
                </a:path>
              </a:pathLst>
            </a:custGeom>
            <a:solidFill>
              <a:srgbClr val="3A5677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Freeform 19">
              <a:extLst>
                <a:ext uri="{FF2B5EF4-FFF2-40B4-BE49-F238E27FC236}">
                  <a16:creationId xmlns:a16="http://schemas.microsoft.com/office/drawing/2014/main" id="{583A5740-8386-300E-F5FC-97F78B90E4D6}"/>
                </a:ext>
              </a:extLst>
            </p:cNvPr>
            <p:cNvSpPr/>
            <p:nvPr/>
          </p:nvSpPr>
          <p:spPr>
            <a:xfrm>
              <a:off x="223301" y="551024"/>
              <a:ext cx="14393427" cy="13737979"/>
            </a:xfrm>
            <a:custGeom>
              <a:avLst/>
              <a:gdLst/>
              <a:ahLst/>
              <a:cxnLst/>
              <a:rect l="l" t="t" r="r" b="b"/>
              <a:pathLst>
                <a:path w="14393427" h="13737979">
                  <a:moveTo>
                    <a:pt x="7196714" y="10990"/>
                  </a:moveTo>
                  <a:cubicBezTo>
                    <a:pt x="4739280" y="0"/>
                    <a:pt x="2463801" y="1304719"/>
                    <a:pt x="1231900" y="3431106"/>
                  </a:cubicBezTo>
                  <a:cubicBezTo>
                    <a:pt x="0" y="5557493"/>
                    <a:pt x="0" y="8180487"/>
                    <a:pt x="1231900" y="10306874"/>
                  </a:cubicBezTo>
                  <a:cubicBezTo>
                    <a:pt x="2463801" y="12433261"/>
                    <a:pt x="4739280" y="13737980"/>
                    <a:pt x="7196714" y="13726990"/>
                  </a:cubicBezTo>
                  <a:cubicBezTo>
                    <a:pt x="9654147" y="13737980"/>
                    <a:pt x="11929626" y="12433261"/>
                    <a:pt x="13161527" y="10306874"/>
                  </a:cubicBezTo>
                  <a:cubicBezTo>
                    <a:pt x="14393427" y="8180487"/>
                    <a:pt x="14393427" y="5557493"/>
                    <a:pt x="13161527" y="3431106"/>
                  </a:cubicBezTo>
                  <a:cubicBezTo>
                    <a:pt x="11929626" y="1304719"/>
                    <a:pt x="9654147" y="0"/>
                    <a:pt x="7196714" y="10990"/>
                  </a:cubicBezTo>
                  <a:close/>
                </a:path>
              </a:pathLst>
            </a:custGeom>
            <a:blipFill>
              <a:blip r:embed="rId4"/>
              <a:stretch>
                <a:fillRect l="223" r="223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pic>
        <p:nvPicPr>
          <p:cNvPr id="11" name="Picture 10">
            <a:extLst>
              <a:ext uri="{FF2B5EF4-FFF2-40B4-BE49-F238E27FC236}">
                <a16:creationId xmlns:a16="http://schemas.microsoft.com/office/drawing/2014/main" id="{2475C2FF-94E9-A653-F98F-E35742681E7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10908" y="5544616"/>
            <a:ext cx="12058142" cy="4078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717740"/>
      </p:ext>
    </p:extLst>
  </p:cSld>
  <p:clrMapOvr>
    <a:masterClrMapping/>
  </p:clrMapOvr>
  <p:transition spd="slow">
    <p:wip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766888" y="1048926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TextBox 3"/>
          <p:cNvSpPr txBox="1"/>
          <p:nvPr/>
        </p:nvSpPr>
        <p:spPr>
          <a:xfrm>
            <a:off x="11462747" y="533743"/>
            <a:ext cx="6368927" cy="22826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799"/>
              </a:lnSpc>
            </a:pPr>
            <a:r>
              <a:rPr lang="en-US" sz="7999" b="1">
                <a:latin typeface="Heebo Black"/>
                <a:ea typeface="Heebo Black"/>
                <a:cs typeface="Heebo Black"/>
                <a:sym typeface="Heebo Black"/>
              </a:rPr>
              <a:t>Stretch Goals</a:t>
            </a:r>
          </a:p>
          <a:p>
            <a:pPr algn="l">
              <a:lnSpc>
                <a:spcPts val="8800"/>
              </a:lnSpc>
            </a:pPr>
            <a:endParaRPr lang="en-US" sz="7999" b="1">
              <a:latin typeface="Heebo Black"/>
              <a:ea typeface="Heebo Black"/>
              <a:cs typeface="Heebo Black"/>
              <a:sym typeface="Heebo Black"/>
            </a:endParaRPr>
          </a:p>
        </p:txBody>
      </p:sp>
      <p:grpSp>
        <p:nvGrpSpPr>
          <p:cNvPr id="5" name="Group 5"/>
          <p:cNvGrpSpPr>
            <a:grpSpLocks noChangeAspect="1"/>
          </p:cNvGrpSpPr>
          <p:nvPr/>
        </p:nvGrpSpPr>
        <p:grpSpPr>
          <a:xfrm>
            <a:off x="-1305451" y="-607460"/>
            <a:ext cx="6064405" cy="6138747"/>
            <a:chOff x="0" y="0"/>
            <a:chExt cx="14840029" cy="14840029"/>
          </a:xfrm>
        </p:grpSpPr>
        <p:sp>
          <p:nvSpPr>
            <p:cNvPr id="6" name="Freeform 6"/>
            <p:cNvSpPr/>
            <p:nvPr/>
          </p:nvSpPr>
          <p:spPr>
            <a:xfrm>
              <a:off x="-366471" y="-11891"/>
              <a:ext cx="15572971" cy="14863810"/>
            </a:xfrm>
            <a:custGeom>
              <a:avLst/>
              <a:gdLst/>
              <a:ahLst/>
              <a:cxnLst/>
              <a:rect l="l" t="t" r="r" b="b"/>
              <a:pathLst>
                <a:path w="15572971" h="14863810">
                  <a:moveTo>
                    <a:pt x="7786486" y="11891"/>
                  </a:moveTo>
                  <a:cubicBezTo>
                    <a:pt x="5127664" y="0"/>
                    <a:pt x="2665709" y="1411641"/>
                    <a:pt x="1332855" y="3712286"/>
                  </a:cubicBezTo>
                  <a:cubicBezTo>
                    <a:pt x="0" y="6012931"/>
                    <a:pt x="0" y="8850880"/>
                    <a:pt x="1332855" y="11151525"/>
                  </a:cubicBezTo>
                  <a:cubicBezTo>
                    <a:pt x="2665709" y="13452170"/>
                    <a:pt x="5127664" y="14863811"/>
                    <a:pt x="7786486" y="14851920"/>
                  </a:cubicBezTo>
                  <a:cubicBezTo>
                    <a:pt x="10445306" y="14863811"/>
                    <a:pt x="12907262" y="13452170"/>
                    <a:pt x="14240117" y="11151525"/>
                  </a:cubicBezTo>
                  <a:cubicBezTo>
                    <a:pt x="15572971" y="8850880"/>
                    <a:pt x="15572971" y="6012931"/>
                    <a:pt x="14240117" y="3712286"/>
                  </a:cubicBezTo>
                  <a:cubicBezTo>
                    <a:pt x="12907262" y="1411641"/>
                    <a:pt x="10445306" y="0"/>
                    <a:pt x="7786486" y="11891"/>
                  </a:cubicBezTo>
                  <a:close/>
                </a:path>
              </a:pathLst>
            </a:custGeom>
            <a:solidFill>
              <a:srgbClr val="769EBE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Freeform 7"/>
            <p:cNvSpPr/>
            <p:nvPr/>
          </p:nvSpPr>
          <p:spPr>
            <a:xfrm>
              <a:off x="-156193" y="188812"/>
              <a:ext cx="15152415" cy="14462405"/>
            </a:xfrm>
            <a:custGeom>
              <a:avLst/>
              <a:gdLst/>
              <a:ahLst/>
              <a:cxnLst/>
              <a:rect l="l" t="t" r="r" b="b"/>
              <a:pathLst>
                <a:path w="15152415" h="14462405">
                  <a:moveTo>
                    <a:pt x="7576208" y="11570"/>
                  </a:moveTo>
                  <a:cubicBezTo>
                    <a:pt x="4989189" y="0"/>
                    <a:pt x="2593721" y="1373519"/>
                    <a:pt x="1296860" y="3612034"/>
                  </a:cubicBezTo>
                  <a:cubicBezTo>
                    <a:pt x="0" y="5850548"/>
                    <a:pt x="0" y="8611857"/>
                    <a:pt x="1296860" y="10850372"/>
                  </a:cubicBezTo>
                  <a:cubicBezTo>
                    <a:pt x="2593721" y="13088886"/>
                    <a:pt x="4989189" y="14462405"/>
                    <a:pt x="7576208" y="14450835"/>
                  </a:cubicBezTo>
                  <a:cubicBezTo>
                    <a:pt x="10163226" y="14462405"/>
                    <a:pt x="12558694" y="13088886"/>
                    <a:pt x="13855555" y="10850372"/>
                  </a:cubicBezTo>
                  <a:cubicBezTo>
                    <a:pt x="15152416" y="8611857"/>
                    <a:pt x="15152416" y="5850548"/>
                    <a:pt x="13855555" y="3612034"/>
                  </a:cubicBezTo>
                  <a:cubicBezTo>
                    <a:pt x="12558694" y="1373519"/>
                    <a:pt x="10163226" y="0"/>
                    <a:pt x="7576208" y="11570"/>
                  </a:cubicBezTo>
                  <a:close/>
                </a:path>
              </a:pathLst>
            </a:custGeom>
            <a:solidFill>
              <a:srgbClr val="3A5677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8" name="Freeform 8"/>
            <p:cNvSpPr/>
            <p:nvPr/>
          </p:nvSpPr>
          <p:spPr>
            <a:xfrm>
              <a:off x="223301" y="551024"/>
              <a:ext cx="14393427" cy="13737979"/>
            </a:xfrm>
            <a:custGeom>
              <a:avLst/>
              <a:gdLst/>
              <a:ahLst/>
              <a:cxnLst/>
              <a:rect l="l" t="t" r="r" b="b"/>
              <a:pathLst>
                <a:path w="14393427" h="13737979">
                  <a:moveTo>
                    <a:pt x="7196714" y="10990"/>
                  </a:moveTo>
                  <a:cubicBezTo>
                    <a:pt x="4739280" y="0"/>
                    <a:pt x="2463801" y="1304719"/>
                    <a:pt x="1231900" y="3431106"/>
                  </a:cubicBezTo>
                  <a:cubicBezTo>
                    <a:pt x="0" y="5557493"/>
                    <a:pt x="0" y="8180487"/>
                    <a:pt x="1231900" y="10306874"/>
                  </a:cubicBezTo>
                  <a:cubicBezTo>
                    <a:pt x="2463801" y="12433261"/>
                    <a:pt x="4739280" y="13737980"/>
                    <a:pt x="7196714" y="13726990"/>
                  </a:cubicBezTo>
                  <a:cubicBezTo>
                    <a:pt x="9654147" y="13737980"/>
                    <a:pt x="11929626" y="12433261"/>
                    <a:pt x="13161527" y="10306874"/>
                  </a:cubicBezTo>
                  <a:cubicBezTo>
                    <a:pt x="14393427" y="8180487"/>
                    <a:pt x="14393427" y="5557493"/>
                    <a:pt x="13161527" y="3431106"/>
                  </a:cubicBezTo>
                  <a:cubicBezTo>
                    <a:pt x="11929626" y="1304719"/>
                    <a:pt x="9654147" y="0"/>
                    <a:pt x="7196714" y="10990"/>
                  </a:cubicBezTo>
                  <a:close/>
                </a:path>
              </a:pathLst>
            </a:custGeom>
            <a:blipFill>
              <a:blip r:embed="rId4"/>
              <a:stretch>
                <a:fillRect l="223" r="223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5885020" y="520357"/>
            <a:ext cx="2025393" cy="986011"/>
            <a:chOff x="0" y="114300"/>
            <a:chExt cx="2700524" cy="1314681"/>
          </a:xfrm>
        </p:grpSpPr>
        <p:sp>
          <p:nvSpPr>
            <p:cNvPr id="10" name="TextBox 10"/>
            <p:cNvSpPr txBox="1"/>
            <p:nvPr/>
          </p:nvSpPr>
          <p:spPr>
            <a:xfrm>
              <a:off x="0" y="114300"/>
              <a:ext cx="2700524" cy="41182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434"/>
                </a:lnSpc>
                <a:spcBef>
                  <a:spcPct val="0"/>
                </a:spcBef>
              </a:pPr>
              <a:r>
                <a:rPr lang="en-US" sz="3043" b="1">
                  <a:latin typeface="HK Modular"/>
                  <a:ea typeface="HK Modular"/>
                  <a:cs typeface="HK Modular"/>
                  <a:sym typeface="HK Modular"/>
                </a:rPr>
                <a:t>LEVEL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676639"/>
              <a:ext cx="2700524" cy="75234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400"/>
                </a:lnSpc>
                <a:spcBef>
                  <a:spcPct val="0"/>
                </a:spcBef>
              </a:pPr>
              <a:r>
                <a:rPr lang="en-US" sz="5501" b="1">
                  <a:latin typeface="HK Modular"/>
                  <a:ea typeface="HK Modular"/>
                  <a:cs typeface="HK Modular"/>
                  <a:sym typeface="HK Modular"/>
                </a:rPr>
                <a:t>UP</a:t>
              </a:r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7118607" y="143142"/>
            <a:ext cx="2025393" cy="5642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0"/>
              </a:lnSpc>
              <a:spcBef>
                <a:spcPct val="0"/>
              </a:spcBef>
            </a:pPr>
            <a:r>
              <a:rPr lang="en-US" sz="5501" b="1">
                <a:latin typeface="HK Modular"/>
                <a:ea typeface="HK Modular"/>
                <a:cs typeface="HK Modular"/>
                <a:sym typeface="HK Modular"/>
              </a:rPr>
              <a:t>+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897716" y="1307003"/>
            <a:ext cx="2025393" cy="5642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0"/>
              </a:lnSpc>
              <a:spcBef>
                <a:spcPct val="0"/>
              </a:spcBef>
            </a:pPr>
            <a:r>
              <a:rPr lang="en-US" sz="5501" b="1">
                <a:latin typeface="HK Modular"/>
                <a:ea typeface="HK Modular"/>
                <a:cs typeface="HK Modular"/>
                <a:sym typeface="HK Modular"/>
              </a:rPr>
              <a:t>+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131304" y="912703"/>
            <a:ext cx="1347513" cy="5642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0"/>
              </a:lnSpc>
              <a:spcBef>
                <a:spcPct val="0"/>
              </a:spcBef>
            </a:pPr>
            <a:r>
              <a:rPr lang="en-US" sz="5501" b="1">
                <a:latin typeface="HK Modular"/>
                <a:ea typeface="HK Modular"/>
                <a:cs typeface="HK Modular"/>
                <a:sym typeface="HK Modular"/>
              </a:rPr>
              <a:t>+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337758" y="912703"/>
            <a:ext cx="2025393" cy="5642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0"/>
              </a:lnSpc>
              <a:spcBef>
                <a:spcPct val="0"/>
              </a:spcBef>
            </a:pPr>
            <a:r>
              <a:rPr lang="en-US" sz="5501" b="1">
                <a:latin typeface="HK Modular"/>
                <a:ea typeface="HK Modular"/>
                <a:cs typeface="HK Modular"/>
                <a:sym typeface="HK Modular"/>
              </a:rPr>
              <a:t>+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872323" y="-17471"/>
            <a:ext cx="2025393" cy="5642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0"/>
              </a:lnSpc>
              <a:spcBef>
                <a:spcPct val="0"/>
              </a:spcBef>
            </a:pPr>
            <a:r>
              <a:rPr lang="en-US" sz="5501" b="1">
                <a:latin typeface="HK Modular"/>
                <a:ea typeface="HK Modular"/>
                <a:cs typeface="HK Modular"/>
                <a:sym typeface="HK Modular"/>
              </a:rPr>
              <a:t>+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3731819" y="421328"/>
            <a:ext cx="2025393" cy="5642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0"/>
              </a:lnSpc>
              <a:spcBef>
                <a:spcPct val="0"/>
              </a:spcBef>
            </a:pPr>
            <a:r>
              <a:rPr lang="en-US" sz="5501" b="1">
                <a:latin typeface="HK Modular"/>
                <a:ea typeface="HK Modular"/>
                <a:cs typeface="HK Modular"/>
                <a:sym typeface="HK Modular"/>
              </a:rPr>
              <a:t>+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218279" y="143142"/>
            <a:ext cx="2025393" cy="5642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0"/>
              </a:lnSpc>
              <a:spcBef>
                <a:spcPct val="0"/>
              </a:spcBef>
            </a:pPr>
            <a:r>
              <a:rPr lang="en-US" sz="5501" b="1">
                <a:latin typeface="HK Modular"/>
                <a:ea typeface="HK Modular"/>
                <a:cs typeface="HK Modular"/>
                <a:sym typeface="HK Modular"/>
              </a:rPr>
              <a:t>+</a:t>
            </a:r>
          </a:p>
        </p:txBody>
      </p:sp>
      <p:sp>
        <p:nvSpPr>
          <p:cNvPr id="27" name="Slide Number Placeholder 26">
            <a:extLst>
              <a:ext uri="{FF2B5EF4-FFF2-40B4-BE49-F238E27FC236}">
                <a16:creationId xmlns:a16="http://schemas.microsoft.com/office/drawing/2014/main" id="{FD0538BD-B281-3C0B-F413-48312AD49C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chemeClr val="tx1"/>
                </a:solidFill>
              </a:rPr>
              <a:pPr/>
              <a:t>22</a:t>
            </a:fld>
            <a:endParaRPr lang="en-GB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F4B98E8-AEE4-42E7-EF14-9E5BF3A4DDE6}"/>
              </a:ext>
            </a:extLst>
          </p:cNvPr>
          <p:cNvSpPr txBox="1"/>
          <p:nvPr/>
        </p:nvSpPr>
        <p:spPr>
          <a:xfrm>
            <a:off x="4822782" y="1631591"/>
            <a:ext cx="13008892" cy="87645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</a:pPr>
            <a:r>
              <a:rPr lang="en-US" altLang="en-US" sz="32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sz="315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Create a Stored Procedure to Get Monthly Summary</a:t>
            </a:r>
            <a:endParaRPr lang="en-US" altLang="en-US" sz="3150" b="1" dirty="0"/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  <a:tabLst>
                <a:tab pos="457200" algn="l"/>
              </a:tabLst>
            </a:pPr>
            <a:r>
              <a:rPr lang="en-US" altLang="en-US" sz="315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Procedure Name:</a:t>
            </a:r>
            <a:r>
              <a:rPr lang="en-US" altLang="en-US" sz="315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sz="3150" dirty="0"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GetMonthlyEnergySummary</a:t>
            </a:r>
            <a:endParaRPr lang="en-US" altLang="en-US" sz="3150" dirty="0"/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  <a:tabLst>
                <a:tab pos="457200" algn="l"/>
              </a:tabLst>
            </a:pPr>
            <a:r>
              <a:rPr lang="en-US" altLang="en-US" sz="315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Parameters:</a:t>
            </a:r>
            <a:endParaRPr lang="en-US" altLang="en-US" sz="3150" dirty="0"/>
          </a:p>
          <a:p>
            <a:pPr lvl="2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  <a:tabLst>
                <a:tab pos="457200" algn="l"/>
              </a:tabLst>
            </a:pPr>
            <a:endParaRPr lang="en-US" altLang="en-US" sz="3150" dirty="0">
              <a:latin typeface="Arial Unicode MS"/>
              <a:ea typeface="Times New Roman" panose="02020603050405020304" pitchFamily="18" charset="0"/>
              <a:cs typeface="Courier New" panose="02070309020205020404" pitchFamily="49" charset="0"/>
            </a:endParaRP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  <a:tabLst>
                <a:tab pos="457200" algn="l"/>
              </a:tabLst>
            </a:pPr>
            <a:r>
              <a:rPr lang="en-US" altLang="en-US" sz="3150" b="1" dirty="0">
                <a:latin typeface="Arial Unicode MS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US" altLang="en-US" sz="315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Requirements:</a:t>
            </a:r>
            <a:endParaRPr lang="en-US" altLang="en-US" sz="3150" dirty="0"/>
          </a:p>
          <a:p>
            <a:pPr lvl="3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altLang="en-US" sz="315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Return:</a:t>
            </a:r>
            <a:endParaRPr lang="en-US" altLang="en-US" sz="3150" dirty="0"/>
          </a:p>
          <a:p>
            <a:pPr lvl="4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"/>
              <a:tabLst>
                <a:tab pos="457200" algn="l"/>
              </a:tabLst>
            </a:pPr>
            <a:r>
              <a:rPr lang="en-US" altLang="en-US" sz="3150" dirty="0"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MeterID</a:t>
            </a:r>
            <a:endParaRPr lang="en-US" altLang="en-US" sz="3150" dirty="0"/>
          </a:p>
          <a:p>
            <a:pPr lvl="4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"/>
              <a:tabLst>
                <a:tab pos="457200" algn="l"/>
              </a:tabLst>
            </a:pPr>
            <a:r>
              <a:rPr lang="en-US" altLang="en-US" sz="3150" dirty="0"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TotalEnergyConsumed</a:t>
            </a:r>
            <a:r>
              <a:rPr lang="en-US" altLang="en-US" sz="315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for that month</a:t>
            </a:r>
            <a:endParaRPr lang="en-US" altLang="en-US" sz="3150" dirty="0"/>
          </a:p>
          <a:p>
            <a:pPr lvl="4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"/>
              <a:tabLst>
                <a:tab pos="457200" algn="l"/>
              </a:tabLst>
            </a:pPr>
            <a:r>
              <a:rPr lang="en-US" altLang="en-US" sz="3150" dirty="0"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AverageEnergyPerReading</a:t>
            </a:r>
            <a:endParaRPr lang="en-US" altLang="en-US" sz="3150" dirty="0"/>
          </a:p>
          <a:p>
            <a:pPr lvl="2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  <a:tabLst>
                <a:tab pos="457200" algn="l"/>
              </a:tabLst>
            </a:pPr>
            <a:r>
              <a:rPr lang="en-US" altLang="en-US" sz="315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Only include meters with </a:t>
            </a:r>
            <a:r>
              <a:rPr lang="en-US" altLang="en-US" sz="315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at least 5 readings</a:t>
            </a:r>
            <a:r>
              <a:rPr lang="en-US" altLang="en-US" sz="315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in that month</a:t>
            </a:r>
            <a:endParaRPr lang="en-US" altLang="en-US" sz="3150" dirty="0"/>
          </a:p>
          <a:p>
            <a:pPr lvl="2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  <a:tabLst>
                <a:tab pos="457200" algn="l"/>
              </a:tabLst>
            </a:pPr>
            <a:r>
              <a:rPr lang="en-US" altLang="en-US" sz="315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Sort by </a:t>
            </a:r>
            <a:r>
              <a:rPr lang="en-US" altLang="en-US" sz="3150" dirty="0"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TotalEnergyConsumed DESC</a:t>
            </a:r>
            <a:endParaRPr lang="en-US" altLang="en-US" sz="3150" dirty="0"/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</a:pPr>
            <a:r>
              <a:rPr lang="en-US" altLang="en-US" sz="3200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endParaRPr lang="en-IN" sz="3200" dirty="0"/>
          </a:p>
        </p:txBody>
      </p:sp>
    </p:spTree>
  </p:cSld>
  <p:clrMapOvr>
    <a:masterClrMapping/>
  </p:clrMapOvr>
  <p:transition spd="slow">
    <p:wip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196E40-9312-FF90-8E4C-D51E99E82A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5E479D81-6344-B3EC-C3D3-3665C2751E9A}"/>
              </a:ext>
            </a:extLst>
          </p:cNvPr>
          <p:cNvSpPr/>
          <p:nvPr/>
        </p:nvSpPr>
        <p:spPr>
          <a:xfrm>
            <a:off x="-766888" y="1048926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D7DF86BC-7961-9B18-5128-54C5DA4172F6}"/>
              </a:ext>
            </a:extLst>
          </p:cNvPr>
          <p:cNvSpPr txBox="1"/>
          <p:nvPr/>
        </p:nvSpPr>
        <p:spPr>
          <a:xfrm>
            <a:off x="11462747" y="533743"/>
            <a:ext cx="6368927" cy="22826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799"/>
              </a:lnSpc>
            </a:pPr>
            <a:r>
              <a:rPr lang="en-US" sz="7999" b="1">
                <a:latin typeface="Heebo Black"/>
                <a:ea typeface="Heebo Black"/>
                <a:cs typeface="Heebo Black"/>
                <a:sym typeface="Heebo Black"/>
              </a:rPr>
              <a:t>Stretch Goals</a:t>
            </a:r>
          </a:p>
          <a:p>
            <a:pPr algn="l">
              <a:lnSpc>
                <a:spcPts val="8800"/>
              </a:lnSpc>
            </a:pPr>
            <a:endParaRPr lang="en-US" sz="7999" b="1">
              <a:latin typeface="Heebo Black"/>
              <a:ea typeface="Heebo Black"/>
              <a:cs typeface="Heebo Black"/>
              <a:sym typeface="Heebo Black"/>
            </a:endParaRPr>
          </a:p>
        </p:txBody>
      </p:sp>
      <p:grpSp>
        <p:nvGrpSpPr>
          <p:cNvPr id="5" name="Group 5">
            <a:extLst>
              <a:ext uri="{FF2B5EF4-FFF2-40B4-BE49-F238E27FC236}">
                <a16:creationId xmlns:a16="http://schemas.microsoft.com/office/drawing/2014/main" id="{D03649BC-E1D2-656E-9D6D-580396D1CBD3}"/>
              </a:ext>
            </a:extLst>
          </p:cNvPr>
          <p:cNvGrpSpPr>
            <a:grpSpLocks noChangeAspect="1"/>
          </p:cNvGrpSpPr>
          <p:nvPr/>
        </p:nvGrpSpPr>
        <p:grpSpPr>
          <a:xfrm>
            <a:off x="-1305451" y="-607460"/>
            <a:ext cx="6064405" cy="6138747"/>
            <a:chOff x="0" y="0"/>
            <a:chExt cx="14840029" cy="14840029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783F0A26-7400-B964-ACE0-2B7D1F961D6F}"/>
                </a:ext>
              </a:extLst>
            </p:cNvPr>
            <p:cNvSpPr/>
            <p:nvPr/>
          </p:nvSpPr>
          <p:spPr>
            <a:xfrm>
              <a:off x="-366471" y="-11891"/>
              <a:ext cx="15572971" cy="14863810"/>
            </a:xfrm>
            <a:custGeom>
              <a:avLst/>
              <a:gdLst/>
              <a:ahLst/>
              <a:cxnLst/>
              <a:rect l="l" t="t" r="r" b="b"/>
              <a:pathLst>
                <a:path w="15572971" h="14863810">
                  <a:moveTo>
                    <a:pt x="7786486" y="11891"/>
                  </a:moveTo>
                  <a:cubicBezTo>
                    <a:pt x="5127664" y="0"/>
                    <a:pt x="2665709" y="1411641"/>
                    <a:pt x="1332855" y="3712286"/>
                  </a:cubicBezTo>
                  <a:cubicBezTo>
                    <a:pt x="0" y="6012931"/>
                    <a:pt x="0" y="8850880"/>
                    <a:pt x="1332855" y="11151525"/>
                  </a:cubicBezTo>
                  <a:cubicBezTo>
                    <a:pt x="2665709" y="13452170"/>
                    <a:pt x="5127664" y="14863811"/>
                    <a:pt x="7786486" y="14851920"/>
                  </a:cubicBezTo>
                  <a:cubicBezTo>
                    <a:pt x="10445306" y="14863811"/>
                    <a:pt x="12907262" y="13452170"/>
                    <a:pt x="14240117" y="11151525"/>
                  </a:cubicBezTo>
                  <a:cubicBezTo>
                    <a:pt x="15572971" y="8850880"/>
                    <a:pt x="15572971" y="6012931"/>
                    <a:pt x="14240117" y="3712286"/>
                  </a:cubicBezTo>
                  <a:cubicBezTo>
                    <a:pt x="12907262" y="1411641"/>
                    <a:pt x="10445306" y="0"/>
                    <a:pt x="7786486" y="11891"/>
                  </a:cubicBezTo>
                  <a:close/>
                </a:path>
              </a:pathLst>
            </a:custGeom>
            <a:solidFill>
              <a:srgbClr val="769EBE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69D4E7D2-3779-9ACA-FD12-8D878BB31D44}"/>
                </a:ext>
              </a:extLst>
            </p:cNvPr>
            <p:cNvSpPr/>
            <p:nvPr/>
          </p:nvSpPr>
          <p:spPr>
            <a:xfrm>
              <a:off x="-156193" y="188812"/>
              <a:ext cx="15152415" cy="14462405"/>
            </a:xfrm>
            <a:custGeom>
              <a:avLst/>
              <a:gdLst/>
              <a:ahLst/>
              <a:cxnLst/>
              <a:rect l="l" t="t" r="r" b="b"/>
              <a:pathLst>
                <a:path w="15152415" h="14462405">
                  <a:moveTo>
                    <a:pt x="7576208" y="11570"/>
                  </a:moveTo>
                  <a:cubicBezTo>
                    <a:pt x="4989189" y="0"/>
                    <a:pt x="2593721" y="1373519"/>
                    <a:pt x="1296860" y="3612034"/>
                  </a:cubicBezTo>
                  <a:cubicBezTo>
                    <a:pt x="0" y="5850548"/>
                    <a:pt x="0" y="8611857"/>
                    <a:pt x="1296860" y="10850372"/>
                  </a:cubicBezTo>
                  <a:cubicBezTo>
                    <a:pt x="2593721" y="13088886"/>
                    <a:pt x="4989189" y="14462405"/>
                    <a:pt x="7576208" y="14450835"/>
                  </a:cubicBezTo>
                  <a:cubicBezTo>
                    <a:pt x="10163226" y="14462405"/>
                    <a:pt x="12558694" y="13088886"/>
                    <a:pt x="13855555" y="10850372"/>
                  </a:cubicBezTo>
                  <a:cubicBezTo>
                    <a:pt x="15152416" y="8611857"/>
                    <a:pt x="15152416" y="5850548"/>
                    <a:pt x="13855555" y="3612034"/>
                  </a:cubicBezTo>
                  <a:cubicBezTo>
                    <a:pt x="12558694" y="1373519"/>
                    <a:pt x="10163226" y="0"/>
                    <a:pt x="7576208" y="11570"/>
                  </a:cubicBezTo>
                  <a:close/>
                </a:path>
              </a:pathLst>
            </a:custGeom>
            <a:solidFill>
              <a:srgbClr val="3A5677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04B49CD0-EFDC-EB40-79A0-A96A443264A1}"/>
                </a:ext>
              </a:extLst>
            </p:cNvPr>
            <p:cNvSpPr/>
            <p:nvPr/>
          </p:nvSpPr>
          <p:spPr>
            <a:xfrm>
              <a:off x="223301" y="551024"/>
              <a:ext cx="14393427" cy="13737979"/>
            </a:xfrm>
            <a:custGeom>
              <a:avLst/>
              <a:gdLst/>
              <a:ahLst/>
              <a:cxnLst/>
              <a:rect l="l" t="t" r="r" b="b"/>
              <a:pathLst>
                <a:path w="14393427" h="13737979">
                  <a:moveTo>
                    <a:pt x="7196714" y="10990"/>
                  </a:moveTo>
                  <a:cubicBezTo>
                    <a:pt x="4739280" y="0"/>
                    <a:pt x="2463801" y="1304719"/>
                    <a:pt x="1231900" y="3431106"/>
                  </a:cubicBezTo>
                  <a:cubicBezTo>
                    <a:pt x="0" y="5557493"/>
                    <a:pt x="0" y="8180487"/>
                    <a:pt x="1231900" y="10306874"/>
                  </a:cubicBezTo>
                  <a:cubicBezTo>
                    <a:pt x="2463801" y="12433261"/>
                    <a:pt x="4739280" y="13737980"/>
                    <a:pt x="7196714" y="13726990"/>
                  </a:cubicBezTo>
                  <a:cubicBezTo>
                    <a:pt x="9654147" y="13737980"/>
                    <a:pt x="11929626" y="12433261"/>
                    <a:pt x="13161527" y="10306874"/>
                  </a:cubicBezTo>
                  <a:cubicBezTo>
                    <a:pt x="14393427" y="8180487"/>
                    <a:pt x="14393427" y="5557493"/>
                    <a:pt x="13161527" y="3431106"/>
                  </a:cubicBezTo>
                  <a:cubicBezTo>
                    <a:pt x="11929626" y="1304719"/>
                    <a:pt x="9654147" y="0"/>
                    <a:pt x="7196714" y="10990"/>
                  </a:cubicBezTo>
                  <a:close/>
                </a:path>
              </a:pathLst>
            </a:custGeom>
            <a:blipFill>
              <a:blip r:embed="rId4"/>
              <a:stretch>
                <a:fillRect l="223" r="223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A294DFE4-8100-2480-FC5D-B8B523299053}"/>
              </a:ext>
            </a:extLst>
          </p:cNvPr>
          <p:cNvGrpSpPr/>
          <p:nvPr/>
        </p:nvGrpSpPr>
        <p:grpSpPr>
          <a:xfrm>
            <a:off x="5885020" y="520357"/>
            <a:ext cx="2025393" cy="986011"/>
            <a:chOff x="0" y="114300"/>
            <a:chExt cx="2700524" cy="1314681"/>
          </a:xfrm>
        </p:grpSpPr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4A737310-A094-3E8B-05D9-708EC254726D}"/>
                </a:ext>
              </a:extLst>
            </p:cNvPr>
            <p:cNvSpPr txBox="1"/>
            <p:nvPr/>
          </p:nvSpPr>
          <p:spPr>
            <a:xfrm>
              <a:off x="0" y="114300"/>
              <a:ext cx="2700524" cy="41182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434"/>
                </a:lnSpc>
                <a:spcBef>
                  <a:spcPct val="0"/>
                </a:spcBef>
              </a:pPr>
              <a:r>
                <a:rPr lang="en-US" sz="3043" b="1">
                  <a:latin typeface="HK Modular"/>
                  <a:ea typeface="HK Modular"/>
                  <a:cs typeface="HK Modular"/>
                  <a:sym typeface="HK Modular"/>
                </a:rPr>
                <a:t>LEVEL</a:t>
              </a:r>
            </a:p>
          </p:txBody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F7AB1FA6-17F7-B71E-1FF8-47104E81F660}"/>
                </a:ext>
              </a:extLst>
            </p:cNvPr>
            <p:cNvSpPr txBox="1"/>
            <p:nvPr/>
          </p:nvSpPr>
          <p:spPr>
            <a:xfrm>
              <a:off x="0" y="676639"/>
              <a:ext cx="2700524" cy="75234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400"/>
                </a:lnSpc>
                <a:spcBef>
                  <a:spcPct val="0"/>
                </a:spcBef>
              </a:pPr>
              <a:r>
                <a:rPr lang="en-US" sz="5501" b="1">
                  <a:latin typeface="HK Modular"/>
                  <a:ea typeface="HK Modular"/>
                  <a:cs typeface="HK Modular"/>
                  <a:sym typeface="HK Modular"/>
                </a:rPr>
                <a:t>UP</a:t>
              </a:r>
            </a:p>
          </p:txBody>
        </p:sp>
      </p:grpSp>
      <p:sp>
        <p:nvSpPr>
          <p:cNvPr id="12" name="TextBox 12">
            <a:extLst>
              <a:ext uri="{FF2B5EF4-FFF2-40B4-BE49-F238E27FC236}">
                <a16:creationId xmlns:a16="http://schemas.microsoft.com/office/drawing/2014/main" id="{D85182EA-9AEC-8883-564B-0BDC49C9D12F}"/>
              </a:ext>
            </a:extLst>
          </p:cNvPr>
          <p:cNvSpPr txBox="1"/>
          <p:nvPr/>
        </p:nvSpPr>
        <p:spPr>
          <a:xfrm>
            <a:off x="7118607" y="143142"/>
            <a:ext cx="2025393" cy="5642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0"/>
              </a:lnSpc>
              <a:spcBef>
                <a:spcPct val="0"/>
              </a:spcBef>
            </a:pPr>
            <a:r>
              <a:rPr lang="en-US" sz="5501" b="1">
                <a:latin typeface="HK Modular"/>
                <a:ea typeface="HK Modular"/>
                <a:cs typeface="HK Modular"/>
                <a:sym typeface="HK Modular"/>
              </a:rPr>
              <a:t>+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65AFB641-0C09-E12F-0EDE-507D474B6F8E}"/>
              </a:ext>
            </a:extLst>
          </p:cNvPr>
          <p:cNvSpPr txBox="1"/>
          <p:nvPr/>
        </p:nvSpPr>
        <p:spPr>
          <a:xfrm>
            <a:off x="6897716" y="1307003"/>
            <a:ext cx="2025393" cy="5642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0"/>
              </a:lnSpc>
              <a:spcBef>
                <a:spcPct val="0"/>
              </a:spcBef>
            </a:pPr>
            <a:r>
              <a:rPr lang="en-US" sz="5501" b="1">
                <a:latin typeface="HK Modular"/>
                <a:ea typeface="HK Modular"/>
                <a:cs typeface="HK Modular"/>
                <a:sym typeface="HK Modular"/>
              </a:rPr>
              <a:t>+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74D8348C-A154-ED73-FB1E-8FFFAAAE0A3C}"/>
              </a:ext>
            </a:extLst>
          </p:cNvPr>
          <p:cNvSpPr txBox="1"/>
          <p:nvPr/>
        </p:nvSpPr>
        <p:spPr>
          <a:xfrm>
            <a:off x="8131304" y="912703"/>
            <a:ext cx="1347513" cy="5642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0"/>
              </a:lnSpc>
              <a:spcBef>
                <a:spcPct val="0"/>
              </a:spcBef>
            </a:pPr>
            <a:r>
              <a:rPr lang="en-US" sz="5501" b="1">
                <a:latin typeface="HK Modular"/>
                <a:ea typeface="HK Modular"/>
                <a:cs typeface="HK Modular"/>
                <a:sym typeface="HK Modular"/>
              </a:rPr>
              <a:t>+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AF4943FD-6DD1-DF4B-E20D-484CBE47DE7D}"/>
              </a:ext>
            </a:extLst>
          </p:cNvPr>
          <p:cNvSpPr txBox="1"/>
          <p:nvPr/>
        </p:nvSpPr>
        <p:spPr>
          <a:xfrm>
            <a:off x="4337758" y="912703"/>
            <a:ext cx="2025393" cy="5642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0"/>
              </a:lnSpc>
              <a:spcBef>
                <a:spcPct val="0"/>
              </a:spcBef>
            </a:pPr>
            <a:r>
              <a:rPr lang="en-US" sz="5501" b="1">
                <a:latin typeface="HK Modular"/>
                <a:ea typeface="HK Modular"/>
                <a:cs typeface="HK Modular"/>
                <a:sym typeface="HK Modular"/>
              </a:rPr>
              <a:t>+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A4E3C884-14ED-7842-3C46-F3DA4427E3C4}"/>
              </a:ext>
            </a:extLst>
          </p:cNvPr>
          <p:cNvSpPr txBox="1"/>
          <p:nvPr/>
        </p:nvSpPr>
        <p:spPr>
          <a:xfrm>
            <a:off x="4872323" y="-17471"/>
            <a:ext cx="2025393" cy="5642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0"/>
              </a:lnSpc>
              <a:spcBef>
                <a:spcPct val="0"/>
              </a:spcBef>
            </a:pPr>
            <a:r>
              <a:rPr lang="en-US" sz="5501" b="1">
                <a:latin typeface="HK Modular"/>
                <a:ea typeface="HK Modular"/>
                <a:cs typeface="HK Modular"/>
                <a:sym typeface="HK Modular"/>
              </a:rPr>
              <a:t>+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66868204-A312-B062-7924-6287E3ABE787}"/>
              </a:ext>
            </a:extLst>
          </p:cNvPr>
          <p:cNvSpPr txBox="1"/>
          <p:nvPr/>
        </p:nvSpPr>
        <p:spPr>
          <a:xfrm>
            <a:off x="3731819" y="421328"/>
            <a:ext cx="2025393" cy="5642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0"/>
              </a:lnSpc>
              <a:spcBef>
                <a:spcPct val="0"/>
              </a:spcBef>
            </a:pPr>
            <a:r>
              <a:rPr lang="en-US" sz="5501" b="1">
                <a:latin typeface="HK Modular"/>
                <a:ea typeface="HK Modular"/>
                <a:cs typeface="HK Modular"/>
                <a:sym typeface="HK Modular"/>
              </a:rPr>
              <a:t>+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B3792A91-C447-CD53-93B6-E8688612F3CA}"/>
              </a:ext>
            </a:extLst>
          </p:cNvPr>
          <p:cNvSpPr txBox="1"/>
          <p:nvPr/>
        </p:nvSpPr>
        <p:spPr>
          <a:xfrm>
            <a:off x="9218279" y="143142"/>
            <a:ext cx="2025393" cy="5642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0"/>
              </a:lnSpc>
              <a:spcBef>
                <a:spcPct val="0"/>
              </a:spcBef>
            </a:pPr>
            <a:r>
              <a:rPr lang="en-US" sz="5501" b="1">
                <a:latin typeface="HK Modular"/>
                <a:ea typeface="HK Modular"/>
                <a:cs typeface="HK Modular"/>
                <a:sym typeface="HK Modular"/>
              </a:rPr>
              <a:t>+</a:t>
            </a:r>
          </a:p>
        </p:txBody>
      </p:sp>
      <p:sp>
        <p:nvSpPr>
          <p:cNvPr id="27" name="Slide Number Placeholder 26">
            <a:extLst>
              <a:ext uri="{FF2B5EF4-FFF2-40B4-BE49-F238E27FC236}">
                <a16:creationId xmlns:a16="http://schemas.microsoft.com/office/drawing/2014/main" id="{6275FCBC-083C-27B2-EC72-1D5644E2CE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chemeClr val="tx1"/>
                </a:solidFill>
              </a:rPr>
              <a:pPr/>
              <a:t>23</a:t>
            </a:fld>
            <a:endParaRPr lang="en-GB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560CF5E-03A0-643D-337F-D9150464CB71}"/>
              </a:ext>
            </a:extLst>
          </p:cNvPr>
          <p:cNvSpPr txBox="1"/>
          <p:nvPr/>
        </p:nvSpPr>
        <p:spPr>
          <a:xfrm>
            <a:off x="4908712" y="1871260"/>
            <a:ext cx="13008892" cy="61100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</a:pPr>
            <a:r>
              <a:rPr lang="en-IN" sz="4000" b="1" dirty="0"/>
              <a:t>Output Format: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</a:pPr>
            <a:endParaRPr lang="en-IN" sz="3200" dirty="0"/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</a:pPr>
            <a:endParaRPr lang="en-IN" sz="3200" dirty="0"/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</a:pPr>
            <a:endParaRPr lang="en-IN" sz="3200" dirty="0"/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</a:pPr>
            <a:endParaRPr lang="en-IN" sz="3200" dirty="0"/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</a:pPr>
            <a:endParaRPr lang="en-IN" sz="3200" dirty="0"/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</a:pPr>
            <a:endParaRPr lang="en-IN" sz="3200" dirty="0"/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</a:pPr>
            <a:endParaRPr lang="en-IN" sz="320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81453D08-468D-7D9E-15AE-EA9E589AB3C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07897" y="3140944"/>
            <a:ext cx="12109699" cy="6612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8866357"/>
      </p:ext>
    </p:extLst>
  </p:cSld>
  <p:clrMapOvr>
    <a:masterClrMapping/>
  </p:clrMapOvr>
  <p:transition spd="slow">
    <p:wip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E828FD-55F8-774E-214E-8C84FBC889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1F1F6FD7-BF6B-8E4B-D482-D27D57936093}"/>
              </a:ext>
            </a:extLst>
          </p:cNvPr>
          <p:cNvSpPr/>
          <p:nvPr/>
        </p:nvSpPr>
        <p:spPr>
          <a:xfrm>
            <a:off x="-766888" y="1048926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5E7C876A-048A-F64C-C971-53096793506A}"/>
              </a:ext>
            </a:extLst>
          </p:cNvPr>
          <p:cNvSpPr txBox="1"/>
          <p:nvPr/>
        </p:nvSpPr>
        <p:spPr>
          <a:xfrm>
            <a:off x="11462747" y="533743"/>
            <a:ext cx="6368927" cy="22826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799"/>
              </a:lnSpc>
            </a:pPr>
            <a:r>
              <a:rPr lang="en-US" sz="7999" b="1">
                <a:latin typeface="Heebo Black"/>
                <a:ea typeface="Heebo Black"/>
                <a:cs typeface="Heebo Black"/>
                <a:sym typeface="Heebo Black"/>
              </a:rPr>
              <a:t>Stretch Goals</a:t>
            </a:r>
          </a:p>
          <a:p>
            <a:pPr algn="l">
              <a:lnSpc>
                <a:spcPts val="8800"/>
              </a:lnSpc>
            </a:pPr>
            <a:endParaRPr lang="en-US" sz="7999" b="1">
              <a:latin typeface="Heebo Black"/>
              <a:ea typeface="Heebo Black"/>
              <a:cs typeface="Heebo Black"/>
              <a:sym typeface="Heebo Black"/>
            </a:endParaRPr>
          </a:p>
        </p:txBody>
      </p:sp>
      <p:grpSp>
        <p:nvGrpSpPr>
          <p:cNvPr id="5" name="Group 5">
            <a:extLst>
              <a:ext uri="{FF2B5EF4-FFF2-40B4-BE49-F238E27FC236}">
                <a16:creationId xmlns:a16="http://schemas.microsoft.com/office/drawing/2014/main" id="{2F3D614D-2C29-C22B-B674-B30F8787D46D}"/>
              </a:ext>
            </a:extLst>
          </p:cNvPr>
          <p:cNvGrpSpPr>
            <a:grpSpLocks noChangeAspect="1"/>
          </p:cNvGrpSpPr>
          <p:nvPr/>
        </p:nvGrpSpPr>
        <p:grpSpPr>
          <a:xfrm>
            <a:off x="-1305451" y="-607460"/>
            <a:ext cx="6064405" cy="6138747"/>
            <a:chOff x="0" y="0"/>
            <a:chExt cx="14840029" cy="14840029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4167065F-28F2-64F6-5C51-D0A9B49081C8}"/>
                </a:ext>
              </a:extLst>
            </p:cNvPr>
            <p:cNvSpPr/>
            <p:nvPr/>
          </p:nvSpPr>
          <p:spPr>
            <a:xfrm>
              <a:off x="-366471" y="-11891"/>
              <a:ext cx="15572971" cy="14863810"/>
            </a:xfrm>
            <a:custGeom>
              <a:avLst/>
              <a:gdLst/>
              <a:ahLst/>
              <a:cxnLst/>
              <a:rect l="l" t="t" r="r" b="b"/>
              <a:pathLst>
                <a:path w="15572971" h="14863810">
                  <a:moveTo>
                    <a:pt x="7786486" y="11891"/>
                  </a:moveTo>
                  <a:cubicBezTo>
                    <a:pt x="5127664" y="0"/>
                    <a:pt x="2665709" y="1411641"/>
                    <a:pt x="1332855" y="3712286"/>
                  </a:cubicBezTo>
                  <a:cubicBezTo>
                    <a:pt x="0" y="6012931"/>
                    <a:pt x="0" y="8850880"/>
                    <a:pt x="1332855" y="11151525"/>
                  </a:cubicBezTo>
                  <a:cubicBezTo>
                    <a:pt x="2665709" y="13452170"/>
                    <a:pt x="5127664" y="14863811"/>
                    <a:pt x="7786486" y="14851920"/>
                  </a:cubicBezTo>
                  <a:cubicBezTo>
                    <a:pt x="10445306" y="14863811"/>
                    <a:pt x="12907262" y="13452170"/>
                    <a:pt x="14240117" y="11151525"/>
                  </a:cubicBezTo>
                  <a:cubicBezTo>
                    <a:pt x="15572971" y="8850880"/>
                    <a:pt x="15572971" y="6012931"/>
                    <a:pt x="14240117" y="3712286"/>
                  </a:cubicBezTo>
                  <a:cubicBezTo>
                    <a:pt x="12907262" y="1411641"/>
                    <a:pt x="10445306" y="0"/>
                    <a:pt x="7786486" y="11891"/>
                  </a:cubicBezTo>
                  <a:close/>
                </a:path>
              </a:pathLst>
            </a:custGeom>
            <a:solidFill>
              <a:srgbClr val="769EBE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1E1608E6-2391-98CC-E6C8-C49A548F310A}"/>
                </a:ext>
              </a:extLst>
            </p:cNvPr>
            <p:cNvSpPr/>
            <p:nvPr/>
          </p:nvSpPr>
          <p:spPr>
            <a:xfrm>
              <a:off x="-156193" y="188812"/>
              <a:ext cx="15152415" cy="14462405"/>
            </a:xfrm>
            <a:custGeom>
              <a:avLst/>
              <a:gdLst/>
              <a:ahLst/>
              <a:cxnLst/>
              <a:rect l="l" t="t" r="r" b="b"/>
              <a:pathLst>
                <a:path w="15152415" h="14462405">
                  <a:moveTo>
                    <a:pt x="7576208" y="11570"/>
                  </a:moveTo>
                  <a:cubicBezTo>
                    <a:pt x="4989189" y="0"/>
                    <a:pt x="2593721" y="1373519"/>
                    <a:pt x="1296860" y="3612034"/>
                  </a:cubicBezTo>
                  <a:cubicBezTo>
                    <a:pt x="0" y="5850548"/>
                    <a:pt x="0" y="8611857"/>
                    <a:pt x="1296860" y="10850372"/>
                  </a:cubicBezTo>
                  <a:cubicBezTo>
                    <a:pt x="2593721" y="13088886"/>
                    <a:pt x="4989189" y="14462405"/>
                    <a:pt x="7576208" y="14450835"/>
                  </a:cubicBezTo>
                  <a:cubicBezTo>
                    <a:pt x="10163226" y="14462405"/>
                    <a:pt x="12558694" y="13088886"/>
                    <a:pt x="13855555" y="10850372"/>
                  </a:cubicBezTo>
                  <a:cubicBezTo>
                    <a:pt x="15152416" y="8611857"/>
                    <a:pt x="15152416" y="5850548"/>
                    <a:pt x="13855555" y="3612034"/>
                  </a:cubicBezTo>
                  <a:cubicBezTo>
                    <a:pt x="12558694" y="1373519"/>
                    <a:pt x="10163226" y="0"/>
                    <a:pt x="7576208" y="11570"/>
                  </a:cubicBezTo>
                  <a:close/>
                </a:path>
              </a:pathLst>
            </a:custGeom>
            <a:solidFill>
              <a:srgbClr val="3A5677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48CD9BD0-7F22-7215-9BF9-6CBA5E46356F}"/>
                </a:ext>
              </a:extLst>
            </p:cNvPr>
            <p:cNvSpPr/>
            <p:nvPr/>
          </p:nvSpPr>
          <p:spPr>
            <a:xfrm>
              <a:off x="223301" y="551024"/>
              <a:ext cx="14393427" cy="13737979"/>
            </a:xfrm>
            <a:custGeom>
              <a:avLst/>
              <a:gdLst/>
              <a:ahLst/>
              <a:cxnLst/>
              <a:rect l="l" t="t" r="r" b="b"/>
              <a:pathLst>
                <a:path w="14393427" h="13737979">
                  <a:moveTo>
                    <a:pt x="7196714" y="10990"/>
                  </a:moveTo>
                  <a:cubicBezTo>
                    <a:pt x="4739280" y="0"/>
                    <a:pt x="2463801" y="1304719"/>
                    <a:pt x="1231900" y="3431106"/>
                  </a:cubicBezTo>
                  <a:cubicBezTo>
                    <a:pt x="0" y="5557493"/>
                    <a:pt x="0" y="8180487"/>
                    <a:pt x="1231900" y="10306874"/>
                  </a:cubicBezTo>
                  <a:cubicBezTo>
                    <a:pt x="2463801" y="12433261"/>
                    <a:pt x="4739280" y="13737980"/>
                    <a:pt x="7196714" y="13726990"/>
                  </a:cubicBezTo>
                  <a:cubicBezTo>
                    <a:pt x="9654147" y="13737980"/>
                    <a:pt x="11929626" y="12433261"/>
                    <a:pt x="13161527" y="10306874"/>
                  </a:cubicBezTo>
                  <a:cubicBezTo>
                    <a:pt x="14393427" y="8180487"/>
                    <a:pt x="14393427" y="5557493"/>
                    <a:pt x="13161527" y="3431106"/>
                  </a:cubicBezTo>
                  <a:cubicBezTo>
                    <a:pt x="11929626" y="1304719"/>
                    <a:pt x="9654147" y="0"/>
                    <a:pt x="7196714" y="10990"/>
                  </a:cubicBezTo>
                  <a:close/>
                </a:path>
              </a:pathLst>
            </a:custGeom>
            <a:blipFill>
              <a:blip r:embed="rId4"/>
              <a:stretch>
                <a:fillRect l="223" r="223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F3F81FF9-3E44-8207-A976-3ACD5F12D706}"/>
              </a:ext>
            </a:extLst>
          </p:cNvPr>
          <p:cNvGrpSpPr/>
          <p:nvPr/>
        </p:nvGrpSpPr>
        <p:grpSpPr>
          <a:xfrm>
            <a:off x="5885020" y="520357"/>
            <a:ext cx="2025393" cy="986011"/>
            <a:chOff x="0" y="114300"/>
            <a:chExt cx="2700524" cy="1314681"/>
          </a:xfrm>
        </p:grpSpPr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E517EF80-89C4-5D42-CF8D-AC2DE4441CD2}"/>
                </a:ext>
              </a:extLst>
            </p:cNvPr>
            <p:cNvSpPr txBox="1"/>
            <p:nvPr/>
          </p:nvSpPr>
          <p:spPr>
            <a:xfrm>
              <a:off x="0" y="114300"/>
              <a:ext cx="2700524" cy="41182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434"/>
                </a:lnSpc>
                <a:spcBef>
                  <a:spcPct val="0"/>
                </a:spcBef>
              </a:pPr>
              <a:r>
                <a:rPr lang="en-US" sz="3043" b="1">
                  <a:latin typeface="HK Modular"/>
                  <a:ea typeface="HK Modular"/>
                  <a:cs typeface="HK Modular"/>
                  <a:sym typeface="HK Modular"/>
                </a:rPr>
                <a:t>LEVEL</a:t>
              </a:r>
            </a:p>
          </p:txBody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94FD1FB3-9EE3-37DE-8DEE-C5016052F342}"/>
                </a:ext>
              </a:extLst>
            </p:cNvPr>
            <p:cNvSpPr txBox="1"/>
            <p:nvPr/>
          </p:nvSpPr>
          <p:spPr>
            <a:xfrm>
              <a:off x="0" y="676639"/>
              <a:ext cx="2700524" cy="75234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400"/>
                </a:lnSpc>
                <a:spcBef>
                  <a:spcPct val="0"/>
                </a:spcBef>
              </a:pPr>
              <a:r>
                <a:rPr lang="en-US" sz="5501" b="1">
                  <a:latin typeface="HK Modular"/>
                  <a:ea typeface="HK Modular"/>
                  <a:cs typeface="HK Modular"/>
                  <a:sym typeface="HK Modular"/>
                </a:rPr>
                <a:t>UP</a:t>
              </a:r>
            </a:p>
          </p:txBody>
        </p:sp>
      </p:grpSp>
      <p:sp>
        <p:nvSpPr>
          <p:cNvPr id="12" name="TextBox 12">
            <a:extLst>
              <a:ext uri="{FF2B5EF4-FFF2-40B4-BE49-F238E27FC236}">
                <a16:creationId xmlns:a16="http://schemas.microsoft.com/office/drawing/2014/main" id="{646794DC-B314-AC29-FC22-69D373485BB8}"/>
              </a:ext>
            </a:extLst>
          </p:cNvPr>
          <p:cNvSpPr txBox="1"/>
          <p:nvPr/>
        </p:nvSpPr>
        <p:spPr>
          <a:xfrm>
            <a:off x="7118607" y="143142"/>
            <a:ext cx="2025393" cy="5642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0"/>
              </a:lnSpc>
              <a:spcBef>
                <a:spcPct val="0"/>
              </a:spcBef>
            </a:pPr>
            <a:r>
              <a:rPr lang="en-US" sz="5501" b="1">
                <a:latin typeface="HK Modular"/>
                <a:ea typeface="HK Modular"/>
                <a:cs typeface="HK Modular"/>
                <a:sym typeface="HK Modular"/>
              </a:rPr>
              <a:t>+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5BFDBE0A-6C0A-8B0D-5DA1-1E560DD0EB91}"/>
              </a:ext>
            </a:extLst>
          </p:cNvPr>
          <p:cNvSpPr txBox="1"/>
          <p:nvPr/>
        </p:nvSpPr>
        <p:spPr>
          <a:xfrm>
            <a:off x="6897716" y="1307003"/>
            <a:ext cx="2025393" cy="5642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0"/>
              </a:lnSpc>
              <a:spcBef>
                <a:spcPct val="0"/>
              </a:spcBef>
            </a:pPr>
            <a:r>
              <a:rPr lang="en-US" sz="5501" b="1">
                <a:latin typeface="HK Modular"/>
                <a:ea typeface="HK Modular"/>
                <a:cs typeface="HK Modular"/>
                <a:sym typeface="HK Modular"/>
              </a:rPr>
              <a:t>+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1C028AA1-A26E-BABA-3A80-9D8822B73030}"/>
              </a:ext>
            </a:extLst>
          </p:cNvPr>
          <p:cNvSpPr txBox="1"/>
          <p:nvPr/>
        </p:nvSpPr>
        <p:spPr>
          <a:xfrm>
            <a:off x="8131304" y="912703"/>
            <a:ext cx="1347513" cy="5642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0"/>
              </a:lnSpc>
              <a:spcBef>
                <a:spcPct val="0"/>
              </a:spcBef>
            </a:pPr>
            <a:r>
              <a:rPr lang="en-US" sz="5501" b="1">
                <a:latin typeface="HK Modular"/>
                <a:ea typeface="HK Modular"/>
                <a:cs typeface="HK Modular"/>
                <a:sym typeface="HK Modular"/>
              </a:rPr>
              <a:t>+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11DFAE80-FF6C-F821-D108-9D3F50809E4C}"/>
              </a:ext>
            </a:extLst>
          </p:cNvPr>
          <p:cNvSpPr txBox="1"/>
          <p:nvPr/>
        </p:nvSpPr>
        <p:spPr>
          <a:xfrm>
            <a:off x="4337758" y="912703"/>
            <a:ext cx="2025393" cy="5642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0"/>
              </a:lnSpc>
              <a:spcBef>
                <a:spcPct val="0"/>
              </a:spcBef>
            </a:pPr>
            <a:r>
              <a:rPr lang="en-US" sz="5501" b="1">
                <a:latin typeface="HK Modular"/>
                <a:ea typeface="HK Modular"/>
                <a:cs typeface="HK Modular"/>
                <a:sym typeface="HK Modular"/>
              </a:rPr>
              <a:t>+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ADA68D24-95A5-E82C-E251-40DAFCA73D39}"/>
              </a:ext>
            </a:extLst>
          </p:cNvPr>
          <p:cNvSpPr txBox="1"/>
          <p:nvPr/>
        </p:nvSpPr>
        <p:spPr>
          <a:xfrm>
            <a:off x="4872323" y="-17471"/>
            <a:ext cx="2025393" cy="5642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0"/>
              </a:lnSpc>
              <a:spcBef>
                <a:spcPct val="0"/>
              </a:spcBef>
            </a:pPr>
            <a:r>
              <a:rPr lang="en-US" sz="5501" b="1">
                <a:latin typeface="HK Modular"/>
                <a:ea typeface="HK Modular"/>
                <a:cs typeface="HK Modular"/>
                <a:sym typeface="HK Modular"/>
              </a:rPr>
              <a:t>+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6BD79ECA-95E2-249C-61E1-8139DF98B45B}"/>
              </a:ext>
            </a:extLst>
          </p:cNvPr>
          <p:cNvSpPr txBox="1"/>
          <p:nvPr/>
        </p:nvSpPr>
        <p:spPr>
          <a:xfrm>
            <a:off x="3731819" y="421328"/>
            <a:ext cx="2025393" cy="5642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0"/>
              </a:lnSpc>
              <a:spcBef>
                <a:spcPct val="0"/>
              </a:spcBef>
            </a:pPr>
            <a:r>
              <a:rPr lang="en-US" sz="5501" b="1">
                <a:latin typeface="HK Modular"/>
                <a:ea typeface="HK Modular"/>
                <a:cs typeface="HK Modular"/>
                <a:sym typeface="HK Modular"/>
              </a:rPr>
              <a:t>+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807EAF7D-C4D5-6CCA-2A36-FD6F03D1A6C9}"/>
              </a:ext>
            </a:extLst>
          </p:cNvPr>
          <p:cNvSpPr txBox="1"/>
          <p:nvPr/>
        </p:nvSpPr>
        <p:spPr>
          <a:xfrm>
            <a:off x="9218279" y="143142"/>
            <a:ext cx="2025393" cy="5642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0"/>
              </a:lnSpc>
              <a:spcBef>
                <a:spcPct val="0"/>
              </a:spcBef>
            </a:pPr>
            <a:r>
              <a:rPr lang="en-US" sz="5501" b="1">
                <a:latin typeface="HK Modular"/>
                <a:ea typeface="HK Modular"/>
                <a:cs typeface="HK Modular"/>
                <a:sym typeface="HK Modular"/>
              </a:rPr>
              <a:t>+</a:t>
            </a:r>
          </a:p>
        </p:txBody>
      </p:sp>
      <p:sp>
        <p:nvSpPr>
          <p:cNvPr id="27" name="Slide Number Placeholder 26">
            <a:extLst>
              <a:ext uri="{FF2B5EF4-FFF2-40B4-BE49-F238E27FC236}">
                <a16:creationId xmlns:a16="http://schemas.microsoft.com/office/drawing/2014/main" id="{37CF8DAB-7B10-1B71-D5A2-96E61447A9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chemeClr val="tx1"/>
                </a:solidFill>
              </a:rPr>
              <a:pPr/>
              <a:t>24</a:t>
            </a:fld>
            <a:endParaRPr lang="en-GB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EA9B137-399A-7048-1DFB-ABB9B226D9E3}"/>
              </a:ext>
            </a:extLst>
          </p:cNvPr>
          <p:cNvSpPr txBox="1"/>
          <p:nvPr/>
        </p:nvSpPr>
        <p:spPr>
          <a:xfrm>
            <a:off x="4822782" y="1631591"/>
            <a:ext cx="13008892" cy="88958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3500" b="1" dirty="0"/>
              <a:t>Monthly Energy Analysis View</a:t>
            </a:r>
            <a:endParaRPr lang="en-IN" sz="3500" dirty="0"/>
          </a:p>
          <a:p>
            <a:pPr>
              <a:lnSpc>
                <a:spcPct val="150000"/>
              </a:lnSpc>
            </a:pPr>
            <a:r>
              <a:rPr lang="en-IN" sz="3500" b="1" dirty="0"/>
              <a:t>Objective:</a:t>
            </a:r>
            <a:br>
              <a:rPr lang="en-IN" sz="3500" dirty="0"/>
            </a:br>
            <a:r>
              <a:rPr lang="en-IN" sz="3500" dirty="0"/>
              <a:t>Create a view for monthly tracking of customer energy usage.</a:t>
            </a:r>
          </a:p>
          <a:p>
            <a:pPr>
              <a:lnSpc>
                <a:spcPct val="150000"/>
              </a:lnSpc>
            </a:pPr>
            <a:r>
              <a:rPr lang="en-IN" sz="3500" b="1" dirty="0"/>
              <a:t>Instructions:</a:t>
            </a:r>
            <a:endParaRPr lang="en-IN" sz="3500" dirty="0"/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500" dirty="0"/>
              <a:t>Create a view vw_MonthlyCustomerEnergy that shows:</a:t>
            </a:r>
          </a:p>
          <a:p>
            <a:pPr marL="2286000" lvl="4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500" dirty="0"/>
              <a:t>CustomerId</a:t>
            </a:r>
          </a:p>
          <a:p>
            <a:pPr marL="2286000" lvl="4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500" dirty="0"/>
              <a:t>Month</a:t>
            </a:r>
          </a:p>
          <a:p>
            <a:pPr marL="2286000" lvl="4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500" dirty="0"/>
              <a:t>Year</a:t>
            </a:r>
          </a:p>
          <a:p>
            <a:pPr marL="2286000" lvl="4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500" dirty="0"/>
              <a:t>TotalEnergyConsumed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500" dirty="0"/>
              <a:t>Use MONTH(ReadingDateTime) and YEAR(ReadingDateTime) in grouping.</a:t>
            </a:r>
          </a:p>
        </p:txBody>
      </p:sp>
    </p:spTree>
    <p:extLst>
      <p:ext uri="{BB962C8B-B14F-4D97-AF65-F5344CB8AC3E}">
        <p14:creationId xmlns:p14="http://schemas.microsoft.com/office/powerpoint/2010/main" val="1725956264"/>
      </p:ext>
    </p:extLst>
  </p:cSld>
  <p:clrMapOvr>
    <a:masterClrMapping/>
  </p:clrMapOvr>
  <p:transition spd="slow">
    <p:wip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7E9BEE-2CB7-86E7-0BDF-428CC19FED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8F7B2B37-4950-E9BD-6F42-B671AD4FD6ED}"/>
              </a:ext>
            </a:extLst>
          </p:cNvPr>
          <p:cNvSpPr/>
          <p:nvPr/>
        </p:nvSpPr>
        <p:spPr>
          <a:xfrm>
            <a:off x="-766888" y="1048926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5C8C0A70-D258-6AFD-A4B5-2BDB6BD44F17}"/>
              </a:ext>
            </a:extLst>
          </p:cNvPr>
          <p:cNvSpPr txBox="1"/>
          <p:nvPr/>
        </p:nvSpPr>
        <p:spPr>
          <a:xfrm>
            <a:off x="11462747" y="533743"/>
            <a:ext cx="6368927" cy="22826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799"/>
              </a:lnSpc>
            </a:pPr>
            <a:r>
              <a:rPr lang="en-US" sz="7999" b="1">
                <a:latin typeface="Heebo Black"/>
                <a:ea typeface="Heebo Black"/>
                <a:cs typeface="Heebo Black"/>
                <a:sym typeface="Heebo Black"/>
              </a:rPr>
              <a:t>Stretch Goals</a:t>
            </a:r>
          </a:p>
          <a:p>
            <a:pPr algn="l">
              <a:lnSpc>
                <a:spcPts val="8800"/>
              </a:lnSpc>
            </a:pPr>
            <a:endParaRPr lang="en-US" sz="7999" b="1">
              <a:latin typeface="Heebo Black"/>
              <a:ea typeface="Heebo Black"/>
              <a:cs typeface="Heebo Black"/>
              <a:sym typeface="Heebo Black"/>
            </a:endParaRPr>
          </a:p>
        </p:txBody>
      </p:sp>
      <p:grpSp>
        <p:nvGrpSpPr>
          <p:cNvPr id="5" name="Group 5">
            <a:extLst>
              <a:ext uri="{FF2B5EF4-FFF2-40B4-BE49-F238E27FC236}">
                <a16:creationId xmlns:a16="http://schemas.microsoft.com/office/drawing/2014/main" id="{15DA8998-1A2C-EC7E-BA3E-ED20665A9EBA}"/>
              </a:ext>
            </a:extLst>
          </p:cNvPr>
          <p:cNvGrpSpPr>
            <a:grpSpLocks noChangeAspect="1"/>
          </p:cNvGrpSpPr>
          <p:nvPr/>
        </p:nvGrpSpPr>
        <p:grpSpPr>
          <a:xfrm>
            <a:off x="-1305451" y="-607460"/>
            <a:ext cx="6064405" cy="6138747"/>
            <a:chOff x="0" y="0"/>
            <a:chExt cx="14840029" cy="14840029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C55B187F-55C5-BA44-539F-DD7408C39363}"/>
                </a:ext>
              </a:extLst>
            </p:cNvPr>
            <p:cNvSpPr/>
            <p:nvPr/>
          </p:nvSpPr>
          <p:spPr>
            <a:xfrm>
              <a:off x="-366471" y="-11891"/>
              <a:ext cx="15572971" cy="14863810"/>
            </a:xfrm>
            <a:custGeom>
              <a:avLst/>
              <a:gdLst/>
              <a:ahLst/>
              <a:cxnLst/>
              <a:rect l="l" t="t" r="r" b="b"/>
              <a:pathLst>
                <a:path w="15572971" h="14863810">
                  <a:moveTo>
                    <a:pt x="7786486" y="11891"/>
                  </a:moveTo>
                  <a:cubicBezTo>
                    <a:pt x="5127664" y="0"/>
                    <a:pt x="2665709" y="1411641"/>
                    <a:pt x="1332855" y="3712286"/>
                  </a:cubicBezTo>
                  <a:cubicBezTo>
                    <a:pt x="0" y="6012931"/>
                    <a:pt x="0" y="8850880"/>
                    <a:pt x="1332855" y="11151525"/>
                  </a:cubicBezTo>
                  <a:cubicBezTo>
                    <a:pt x="2665709" y="13452170"/>
                    <a:pt x="5127664" y="14863811"/>
                    <a:pt x="7786486" y="14851920"/>
                  </a:cubicBezTo>
                  <a:cubicBezTo>
                    <a:pt x="10445306" y="14863811"/>
                    <a:pt x="12907262" y="13452170"/>
                    <a:pt x="14240117" y="11151525"/>
                  </a:cubicBezTo>
                  <a:cubicBezTo>
                    <a:pt x="15572971" y="8850880"/>
                    <a:pt x="15572971" y="6012931"/>
                    <a:pt x="14240117" y="3712286"/>
                  </a:cubicBezTo>
                  <a:cubicBezTo>
                    <a:pt x="12907262" y="1411641"/>
                    <a:pt x="10445306" y="0"/>
                    <a:pt x="7786486" y="11891"/>
                  </a:cubicBezTo>
                  <a:close/>
                </a:path>
              </a:pathLst>
            </a:custGeom>
            <a:solidFill>
              <a:srgbClr val="769EBE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6F512D66-4630-BAE8-CB55-EF6C64E9F8B9}"/>
                </a:ext>
              </a:extLst>
            </p:cNvPr>
            <p:cNvSpPr/>
            <p:nvPr/>
          </p:nvSpPr>
          <p:spPr>
            <a:xfrm>
              <a:off x="-156193" y="188812"/>
              <a:ext cx="15152415" cy="14462405"/>
            </a:xfrm>
            <a:custGeom>
              <a:avLst/>
              <a:gdLst/>
              <a:ahLst/>
              <a:cxnLst/>
              <a:rect l="l" t="t" r="r" b="b"/>
              <a:pathLst>
                <a:path w="15152415" h="14462405">
                  <a:moveTo>
                    <a:pt x="7576208" y="11570"/>
                  </a:moveTo>
                  <a:cubicBezTo>
                    <a:pt x="4989189" y="0"/>
                    <a:pt x="2593721" y="1373519"/>
                    <a:pt x="1296860" y="3612034"/>
                  </a:cubicBezTo>
                  <a:cubicBezTo>
                    <a:pt x="0" y="5850548"/>
                    <a:pt x="0" y="8611857"/>
                    <a:pt x="1296860" y="10850372"/>
                  </a:cubicBezTo>
                  <a:cubicBezTo>
                    <a:pt x="2593721" y="13088886"/>
                    <a:pt x="4989189" y="14462405"/>
                    <a:pt x="7576208" y="14450835"/>
                  </a:cubicBezTo>
                  <a:cubicBezTo>
                    <a:pt x="10163226" y="14462405"/>
                    <a:pt x="12558694" y="13088886"/>
                    <a:pt x="13855555" y="10850372"/>
                  </a:cubicBezTo>
                  <a:cubicBezTo>
                    <a:pt x="15152416" y="8611857"/>
                    <a:pt x="15152416" y="5850548"/>
                    <a:pt x="13855555" y="3612034"/>
                  </a:cubicBezTo>
                  <a:cubicBezTo>
                    <a:pt x="12558694" y="1373519"/>
                    <a:pt x="10163226" y="0"/>
                    <a:pt x="7576208" y="11570"/>
                  </a:cubicBezTo>
                  <a:close/>
                </a:path>
              </a:pathLst>
            </a:custGeom>
            <a:solidFill>
              <a:srgbClr val="3A5677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ED045159-F1BF-7EF6-453A-32947C61BC73}"/>
                </a:ext>
              </a:extLst>
            </p:cNvPr>
            <p:cNvSpPr/>
            <p:nvPr/>
          </p:nvSpPr>
          <p:spPr>
            <a:xfrm>
              <a:off x="223301" y="551024"/>
              <a:ext cx="14393427" cy="13737979"/>
            </a:xfrm>
            <a:custGeom>
              <a:avLst/>
              <a:gdLst/>
              <a:ahLst/>
              <a:cxnLst/>
              <a:rect l="l" t="t" r="r" b="b"/>
              <a:pathLst>
                <a:path w="14393427" h="13737979">
                  <a:moveTo>
                    <a:pt x="7196714" y="10990"/>
                  </a:moveTo>
                  <a:cubicBezTo>
                    <a:pt x="4739280" y="0"/>
                    <a:pt x="2463801" y="1304719"/>
                    <a:pt x="1231900" y="3431106"/>
                  </a:cubicBezTo>
                  <a:cubicBezTo>
                    <a:pt x="0" y="5557493"/>
                    <a:pt x="0" y="8180487"/>
                    <a:pt x="1231900" y="10306874"/>
                  </a:cubicBezTo>
                  <a:cubicBezTo>
                    <a:pt x="2463801" y="12433261"/>
                    <a:pt x="4739280" y="13737980"/>
                    <a:pt x="7196714" y="13726990"/>
                  </a:cubicBezTo>
                  <a:cubicBezTo>
                    <a:pt x="9654147" y="13737980"/>
                    <a:pt x="11929626" y="12433261"/>
                    <a:pt x="13161527" y="10306874"/>
                  </a:cubicBezTo>
                  <a:cubicBezTo>
                    <a:pt x="14393427" y="8180487"/>
                    <a:pt x="14393427" y="5557493"/>
                    <a:pt x="13161527" y="3431106"/>
                  </a:cubicBezTo>
                  <a:cubicBezTo>
                    <a:pt x="11929626" y="1304719"/>
                    <a:pt x="9654147" y="0"/>
                    <a:pt x="7196714" y="10990"/>
                  </a:cubicBezTo>
                  <a:close/>
                </a:path>
              </a:pathLst>
            </a:custGeom>
            <a:blipFill>
              <a:blip r:embed="rId4"/>
              <a:stretch>
                <a:fillRect l="223" r="223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496EF473-5B97-3D4C-6905-BF169EFC9976}"/>
              </a:ext>
            </a:extLst>
          </p:cNvPr>
          <p:cNvGrpSpPr/>
          <p:nvPr/>
        </p:nvGrpSpPr>
        <p:grpSpPr>
          <a:xfrm>
            <a:off x="5885020" y="520357"/>
            <a:ext cx="2025393" cy="986011"/>
            <a:chOff x="0" y="114300"/>
            <a:chExt cx="2700524" cy="1314681"/>
          </a:xfrm>
        </p:grpSpPr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D9AAF802-93A8-60EC-9A80-466EF36FF6F4}"/>
                </a:ext>
              </a:extLst>
            </p:cNvPr>
            <p:cNvSpPr txBox="1"/>
            <p:nvPr/>
          </p:nvSpPr>
          <p:spPr>
            <a:xfrm>
              <a:off x="0" y="114300"/>
              <a:ext cx="2700524" cy="41182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434"/>
                </a:lnSpc>
                <a:spcBef>
                  <a:spcPct val="0"/>
                </a:spcBef>
              </a:pPr>
              <a:r>
                <a:rPr lang="en-US" sz="3043" b="1">
                  <a:latin typeface="HK Modular"/>
                  <a:ea typeface="HK Modular"/>
                  <a:cs typeface="HK Modular"/>
                  <a:sym typeface="HK Modular"/>
                </a:rPr>
                <a:t>LEVEL</a:t>
              </a:r>
            </a:p>
          </p:txBody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9C8CBB2C-DC21-7ADA-528A-662CB354EDD0}"/>
                </a:ext>
              </a:extLst>
            </p:cNvPr>
            <p:cNvSpPr txBox="1"/>
            <p:nvPr/>
          </p:nvSpPr>
          <p:spPr>
            <a:xfrm>
              <a:off x="0" y="676639"/>
              <a:ext cx="2700524" cy="75234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400"/>
                </a:lnSpc>
                <a:spcBef>
                  <a:spcPct val="0"/>
                </a:spcBef>
              </a:pPr>
              <a:r>
                <a:rPr lang="en-US" sz="5501" b="1">
                  <a:latin typeface="HK Modular"/>
                  <a:ea typeface="HK Modular"/>
                  <a:cs typeface="HK Modular"/>
                  <a:sym typeface="HK Modular"/>
                </a:rPr>
                <a:t>UP</a:t>
              </a:r>
            </a:p>
          </p:txBody>
        </p:sp>
      </p:grpSp>
      <p:sp>
        <p:nvSpPr>
          <p:cNvPr id="12" name="TextBox 12">
            <a:extLst>
              <a:ext uri="{FF2B5EF4-FFF2-40B4-BE49-F238E27FC236}">
                <a16:creationId xmlns:a16="http://schemas.microsoft.com/office/drawing/2014/main" id="{AF42E012-AD68-85D5-DE3C-C22B5D872437}"/>
              </a:ext>
            </a:extLst>
          </p:cNvPr>
          <p:cNvSpPr txBox="1"/>
          <p:nvPr/>
        </p:nvSpPr>
        <p:spPr>
          <a:xfrm>
            <a:off x="7118607" y="143142"/>
            <a:ext cx="2025393" cy="5642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0"/>
              </a:lnSpc>
              <a:spcBef>
                <a:spcPct val="0"/>
              </a:spcBef>
            </a:pPr>
            <a:r>
              <a:rPr lang="en-US" sz="5501" b="1">
                <a:latin typeface="HK Modular"/>
                <a:ea typeface="HK Modular"/>
                <a:cs typeface="HK Modular"/>
                <a:sym typeface="HK Modular"/>
              </a:rPr>
              <a:t>+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65540459-511B-DDEE-2740-057A8C501197}"/>
              </a:ext>
            </a:extLst>
          </p:cNvPr>
          <p:cNvSpPr txBox="1"/>
          <p:nvPr/>
        </p:nvSpPr>
        <p:spPr>
          <a:xfrm>
            <a:off x="6897716" y="1307003"/>
            <a:ext cx="2025393" cy="5642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0"/>
              </a:lnSpc>
              <a:spcBef>
                <a:spcPct val="0"/>
              </a:spcBef>
            </a:pPr>
            <a:r>
              <a:rPr lang="en-US" sz="5501" b="1">
                <a:latin typeface="HK Modular"/>
                <a:ea typeface="HK Modular"/>
                <a:cs typeface="HK Modular"/>
                <a:sym typeface="HK Modular"/>
              </a:rPr>
              <a:t>+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DC3B7046-58C1-1B00-7A3F-DA2ADA2F840D}"/>
              </a:ext>
            </a:extLst>
          </p:cNvPr>
          <p:cNvSpPr txBox="1"/>
          <p:nvPr/>
        </p:nvSpPr>
        <p:spPr>
          <a:xfrm>
            <a:off x="8131304" y="912703"/>
            <a:ext cx="1347513" cy="5642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0"/>
              </a:lnSpc>
              <a:spcBef>
                <a:spcPct val="0"/>
              </a:spcBef>
            </a:pPr>
            <a:r>
              <a:rPr lang="en-US" sz="5501" b="1">
                <a:latin typeface="HK Modular"/>
                <a:ea typeface="HK Modular"/>
                <a:cs typeface="HK Modular"/>
                <a:sym typeface="HK Modular"/>
              </a:rPr>
              <a:t>+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8A1113BC-062E-78C2-E9C2-9C5F978AEF49}"/>
              </a:ext>
            </a:extLst>
          </p:cNvPr>
          <p:cNvSpPr txBox="1"/>
          <p:nvPr/>
        </p:nvSpPr>
        <p:spPr>
          <a:xfrm>
            <a:off x="4337758" y="912703"/>
            <a:ext cx="2025393" cy="5642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0"/>
              </a:lnSpc>
              <a:spcBef>
                <a:spcPct val="0"/>
              </a:spcBef>
            </a:pPr>
            <a:r>
              <a:rPr lang="en-US" sz="5501" b="1">
                <a:latin typeface="HK Modular"/>
                <a:ea typeface="HK Modular"/>
                <a:cs typeface="HK Modular"/>
                <a:sym typeface="HK Modular"/>
              </a:rPr>
              <a:t>+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B78F5125-7690-4A3D-08A2-4A6851B4FCEE}"/>
              </a:ext>
            </a:extLst>
          </p:cNvPr>
          <p:cNvSpPr txBox="1"/>
          <p:nvPr/>
        </p:nvSpPr>
        <p:spPr>
          <a:xfrm>
            <a:off x="4872323" y="-17471"/>
            <a:ext cx="2025393" cy="5642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0"/>
              </a:lnSpc>
              <a:spcBef>
                <a:spcPct val="0"/>
              </a:spcBef>
            </a:pPr>
            <a:r>
              <a:rPr lang="en-US" sz="5501" b="1">
                <a:latin typeface="HK Modular"/>
                <a:ea typeface="HK Modular"/>
                <a:cs typeface="HK Modular"/>
                <a:sym typeface="HK Modular"/>
              </a:rPr>
              <a:t>+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AF5FFDEE-3A8B-92E2-6443-16B68DD63769}"/>
              </a:ext>
            </a:extLst>
          </p:cNvPr>
          <p:cNvSpPr txBox="1"/>
          <p:nvPr/>
        </p:nvSpPr>
        <p:spPr>
          <a:xfrm>
            <a:off x="3731819" y="421328"/>
            <a:ext cx="2025393" cy="5642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0"/>
              </a:lnSpc>
              <a:spcBef>
                <a:spcPct val="0"/>
              </a:spcBef>
            </a:pPr>
            <a:r>
              <a:rPr lang="en-US" sz="5501" b="1">
                <a:latin typeface="HK Modular"/>
                <a:ea typeface="HK Modular"/>
                <a:cs typeface="HK Modular"/>
                <a:sym typeface="HK Modular"/>
              </a:rPr>
              <a:t>+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2E2E903E-3CAC-03CB-5ACF-4291A2DDFFBF}"/>
              </a:ext>
            </a:extLst>
          </p:cNvPr>
          <p:cNvSpPr txBox="1"/>
          <p:nvPr/>
        </p:nvSpPr>
        <p:spPr>
          <a:xfrm>
            <a:off x="9218279" y="143142"/>
            <a:ext cx="2025393" cy="5642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0"/>
              </a:lnSpc>
              <a:spcBef>
                <a:spcPct val="0"/>
              </a:spcBef>
            </a:pPr>
            <a:r>
              <a:rPr lang="en-US" sz="5501" b="1">
                <a:latin typeface="HK Modular"/>
                <a:ea typeface="HK Modular"/>
                <a:cs typeface="HK Modular"/>
                <a:sym typeface="HK Modular"/>
              </a:rPr>
              <a:t>+</a:t>
            </a:r>
          </a:p>
        </p:txBody>
      </p:sp>
      <p:sp>
        <p:nvSpPr>
          <p:cNvPr id="27" name="Slide Number Placeholder 26">
            <a:extLst>
              <a:ext uri="{FF2B5EF4-FFF2-40B4-BE49-F238E27FC236}">
                <a16:creationId xmlns:a16="http://schemas.microsoft.com/office/drawing/2014/main" id="{C6527A4C-26C8-D9FB-37DF-E2551EBDDF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chemeClr val="tx1"/>
                </a:solidFill>
              </a:rPr>
              <a:pPr/>
              <a:t>25</a:t>
            </a:fld>
            <a:endParaRPr lang="en-GB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AAB2C5F-D734-9B3E-6949-C320480CF130}"/>
              </a:ext>
            </a:extLst>
          </p:cNvPr>
          <p:cNvSpPr txBox="1"/>
          <p:nvPr/>
        </p:nvSpPr>
        <p:spPr>
          <a:xfrm>
            <a:off x="4908712" y="1871260"/>
            <a:ext cx="13008892" cy="61100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</a:pPr>
            <a:r>
              <a:rPr lang="en-IN" sz="4000" b="1" dirty="0"/>
              <a:t>Output Format: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</a:pPr>
            <a:endParaRPr lang="en-IN" sz="3200" dirty="0"/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</a:pPr>
            <a:endParaRPr lang="en-IN" sz="3200" dirty="0"/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</a:pPr>
            <a:endParaRPr lang="en-IN" sz="3200" dirty="0"/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</a:pPr>
            <a:endParaRPr lang="en-IN" sz="3200" dirty="0"/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</a:pPr>
            <a:endParaRPr lang="en-IN" sz="3200" dirty="0"/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</a:pPr>
            <a:endParaRPr lang="en-IN" sz="3200" dirty="0"/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</a:pPr>
            <a:endParaRPr lang="en-IN" sz="320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F4D8E2E7-F579-7D32-6448-3348ABF93DB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44515" y="3161798"/>
            <a:ext cx="12953620" cy="6910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9087515"/>
      </p:ext>
    </p:extLst>
  </p:cSld>
  <p:clrMapOvr>
    <a:masterClrMapping/>
  </p:clrMapOvr>
  <p:transition spd="slow">
    <p:wip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338650" y="2344203"/>
            <a:ext cx="11352740" cy="12919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900"/>
              </a:lnSpc>
            </a:pPr>
            <a:r>
              <a:rPr lang="en-US" sz="9000" b="1">
                <a:solidFill>
                  <a:srgbClr val="8D0A75"/>
                </a:solidFill>
                <a:latin typeface="Heebo Black"/>
                <a:ea typeface="Heebo Black"/>
                <a:cs typeface="Heebo Black"/>
                <a:sym typeface="Heebo Black"/>
              </a:rPr>
              <a:t>Debrief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402335" y="4865952"/>
            <a:ext cx="3466514" cy="466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 b="1" dirty="0">
                <a:solidFill>
                  <a:srgbClr val="33123B"/>
                </a:solidFill>
                <a:latin typeface="Assistant Regular Bold"/>
                <a:ea typeface="Assistant Regular Bold"/>
                <a:cs typeface="Assistant Regular Bold"/>
                <a:sym typeface="Assistant Regular Bold"/>
              </a:rPr>
              <a:t>Stored Procedures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9419151" y="4865952"/>
            <a:ext cx="3466514" cy="466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 b="1" dirty="0">
                <a:solidFill>
                  <a:srgbClr val="33123B"/>
                </a:solidFill>
                <a:latin typeface="Assistant Regular Bold"/>
                <a:ea typeface="Assistant Regular Bold"/>
                <a:cs typeface="Assistant Regular Bold"/>
              </a:rPr>
              <a:t>Handling Exceptions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419151" y="5923227"/>
            <a:ext cx="3466514" cy="466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 b="1" dirty="0">
                <a:solidFill>
                  <a:srgbClr val="33123B"/>
                </a:solidFill>
                <a:latin typeface="Assistant Regular Bold"/>
                <a:ea typeface="Assistant Regular Bold"/>
                <a:cs typeface="Assistant Regular Bold"/>
                <a:sym typeface="Assistant Regular Bold"/>
              </a:rPr>
              <a:t>Triggers, Views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281763" y="6875727"/>
            <a:ext cx="3466514" cy="466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 b="1">
                <a:solidFill>
                  <a:srgbClr val="33123B"/>
                </a:solidFill>
                <a:latin typeface="Assistant Regular Bold"/>
                <a:ea typeface="Assistant Regular Bold"/>
                <a:cs typeface="Assistant Regular Bold"/>
                <a:sym typeface="Assistant Regular Bold"/>
              </a:rPr>
              <a:t>Use cases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402335" y="5923226"/>
            <a:ext cx="3466514" cy="466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 b="1" dirty="0">
                <a:solidFill>
                  <a:srgbClr val="33123B"/>
                </a:solidFill>
                <a:latin typeface="Assistant Regular Bold"/>
                <a:ea typeface="Assistant Regular Bold"/>
                <a:cs typeface="Assistant Regular Bold"/>
                <a:sym typeface="Assistant Regular Bold"/>
              </a:rPr>
              <a:t>Transactions</a:t>
            </a:r>
          </a:p>
        </p:txBody>
      </p:sp>
      <p:sp>
        <p:nvSpPr>
          <p:cNvPr id="8" name="Freeform 8"/>
          <p:cNvSpPr/>
          <p:nvPr/>
        </p:nvSpPr>
        <p:spPr>
          <a:xfrm>
            <a:off x="-778351" y="635289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0" name="Freeform 10"/>
          <p:cNvSpPr/>
          <p:nvPr/>
        </p:nvSpPr>
        <p:spPr>
          <a:xfrm>
            <a:off x="16606919" y="1646831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4" name="Freeform 14"/>
          <p:cNvSpPr/>
          <p:nvPr/>
        </p:nvSpPr>
        <p:spPr>
          <a:xfrm>
            <a:off x="7914284" y="-1258572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5" name="Freeform 15"/>
          <p:cNvSpPr/>
          <p:nvPr/>
        </p:nvSpPr>
        <p:spPr>
          <a:xfrm>
            <a:off x="7914284" y="9258300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E09AA338-7558-DCBF-9BD3-6A55D9D0B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26</a:t>
            </a:fld>
            <a:endParaRPr lang="en-GB"/>
          </a:p>
        </p:txBody>
      </p:sp>
    </p:spTree>
  </p:cSld>
  <p:clrMapOvr>
    <a:masterClrMapping/>
  </p:clrMapOvr>
  <p:transition spd="slow">
    <p:wip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355775" y="8640169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1" y="0"/>
                </a:lnTo>
                <a:lnTo>
                  <a:pt x="2459431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5" name="TextBox 5"/>
          <p:cNvSpPr txBox="1"/>
          <p:nvPr/>
        </p:nvSpPr>
        <p:spPr>
          <a:xfrm>
            <a:off x="10564950" y="1264050"/>
            <a:ext cx="7298383" cy="12919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9900"/>
              </a:lnSpc>
            </a:pPr>
            <a:r>
              <a:rPr lang="en-US" sz="9000" b="1" dirty="0">
                <a:solidFill>
                  <a:srgbClr val="8D0A75"/>
                </a:solidFill>
                <a:latin typeface="Heebo Black"/>
                <a:ea typeface="Heebo Black"/>
                <a:cs typeface="Heebo Black"/>
                <a:sym typeface="Heebo Black"/>
              </a:rPr>
              <a:t>References</a:t>
            </a:r>
            <a:endParaRPr lang="en-US" sz="9000" b="1" dirty="0">
              <a:solidFill>
                <a:srgbClr val="8D0A75"/>
              </a:solidFill>
              <a:latin typeface="Heebo Black"/>
              <a:ea typeface="Heebo Black"/>
              <a:cs typeface="Heebo Black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954662" y="819150"/>
            <a:ext cx="9006254" cy="438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300"/>
              </a:lnSpc>
            </a:pPr>
            <a:r>
              <a:rPr lang="en-US" sz="3000" b="1">
                <a:solidFill>
                  <a:srgbClr val="8D0A75"/>
                </a:solidFill>
                <a:latin typeface="Heebo Black"/>
                <a:ea typeface="Heebo Black"/>
                <a:cs typeface="Heebo Black"/>
                <a:sym typeface="Heebo Black"/>
              </a:rPr>
              <a:t>📘 Official Resources (High-Quality &amp; Up-to-Date)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718727" y="1548652"/>
            <a:ext cx="12495415" cy="44871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>
              <a:lnSpc>
                <a:spcPct val="200000"/>
              </a:lnSpc>
              <a:buFont typeface="Wingdings"/>
              <a:buChar char="ü"/>
            </a:pPr>
            <a:r>
              <a:rPr lang="en-US" sz="3000" dirty="0">
                <a:latin typeface="Assistant Regular"/>
                <a:cs typeface="Assistant Regular"/>
                <a:hlinkClick r:id="rId4"/>
              </a:rPr>
              <a:t>https://www.w3schools.com/sql/sql_stored_procedures.asp</a:t>
            </a:r>
            <a:endParaRPr lang="en-US" sz="3000" dirty="0">
              <a:latin typeface="Assistant Regular"/>
              <a:cs typeface="Assistant Regular"/>
            </a:endParaRPr>
          </a:p>
          <a:p>
            <a:pPr marL="457200" indent="-457200">
              <a:lnSpc>
                <a:spcPct val="200000"/>
              </a:lnSpc>
              <a:buFont typeface="Wingdings"/>
              <a:buChar char="ü"/>
            </a:pPr>
            <a:r>
              <a:rPr lang="en-US" sz="3000" dirty="0">
                <a:latin typeface="Assistant Regular"/>
                <a:cs typeface="Assistant Regular"/>
                <a:hlinkClick r:id="rId5"/>
              </a:rPr>
              <a:t>https://dev.mysql.com/doc/refman/8.0/en/sql-start-transaction.html</a:t>
            </a:r>
            <a:endParaRPr lang="en-US" sz="3000" dirty="0">
              <a:latin typeface="Assistant Regular"/>
              <a:cs typeface="Assistant Regular"/>
            </a:endParaRPr>
          </a:p>
          <a:p>
            <a:pPr marL="457200" indent="-457200">
              <a:lnSpc>
                <a:spcPct val="200000"/>
              </a:lnSpc>
              <a:buFont typeface="Wingdings"/>
              <a:buChar char="ü"/>
            </a:pPr>
            <a:r>
              <a:rPr lang="en-US" sz="3000" dirty="0">
                <a:latin typeface="Assistant Regular"/>
                <a:cs typeface="Assistant Regular"/>
                <a:hlinkClick r:id="rId6"/>
              </a:rPr>
              <a:t>https://dev.mysql.com/doc/refman/8.0/en/triggers.html</a:t>
            </a:r>
            <a:endParaRPr lang="en-US" sz="3000" dirty="0">
              <a:latin typeface="Assistant Regular"/>
              <a:cs typeface="Assistant Regular"/>
            </a:endParaRPr>
          </a:p>
          <a:p>
            <a:pPr marL="457200" indent="-457200">
              <a:lnSpc>
                <a:spcPct val="200000"/>
              </a:lnSpc>
              <a:buFont typeface="Wingdings"/>
              <a:buChar char="ü"/>
            </a:pPr>
            <a:r>
              <a:rPr lang="en-US" sz="3000" dirty="0">
                <a:latin typeface="Assistant Regular"/>
                <a:cs typeface="Assistant Regular"/>
                <a:hlinkClick r:id="rId7"/>
              </a:rPr>
              <a:t>https://dev.mysql.com/doc/refman/8.0/en/create-view.html</a:t>
            </a:r>
            <a:endParaRPr lang="en-US" sz="3000" dirty="0">
              <a:latin typeface="Assistant Regular"/>
              <a:cs typeface="Assistant Regular"/>
            </a:endParaRPr>
          </a:p>
          <a:p>
            <a:pPr marL="457200" indent="-457200">
              <a:lnSpc>
                <a:spcPct val="200000"/>
              </a:lnSpc>
              <a:buFont typeface="Wingdings"/>
              <a:buChar char="ü"/>
            </a:pPr>
            <a:endParaRPr lang="en-US" sz="3000" dirty="0">
              <a:latin typeface="Assistant Regular"/>
              <a:cs typeface="Assistant Regular"/>
            </a:endParaRP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7A203954-94E8-E177-2D54-36499D9C9F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27</a:t>
            </a:fld>
            <a:endParaRPr lang="en-GB"/>
          </a:p>
        </p:txBody>
      </p:sp>
    </p:spTree>
  </p:cSld>
  <p:clrMapOvr>
    <a:masterClrMapping/>
  </p:clrMapOvr>
  <p:transition spd="slow">
    <p:wip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E169540-353F-AA0D-CE5D-9D92894927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28</a:t>
            </a:fld>
            <a:endParaRPr lang="en-GB"/>
          </a:p>
        </p:txBody>
      </p:sp>
      <p:sp>
        <p:nvSpPr>
          <p:cNvPr id="5" name="TextBox 2">
            <a:extLst>
              <a:ext uri="{FF2B5EF4-FFF2-40B4-BE49-F238E27FC236}">
                <a16:creationId xmlns:a16="http://schemas.microsoft.com/office/drawing/2014/main" id="{D4AA6279-A4F7-6E37-1B6B-373107FE3476}"/>
              </a:ext>
            </a:extLst>
          </p:cNvPr>
          <p:cNvSpPr txBox="1"/>
          <p:nvPr/>
        </p:nvSpPr>
        <p:spPr>
          <a:xfrm>
            <a:off x="4665649" y="4333875"/>
            <a:ext cx="8956702" cy="1724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200"/>
              </a:lnSpc>
            </a:pPr>
            <a:r>
              <a:rPr lang="en-US" sz="12000" b="1" dirty="0">
                <a:solidFill>
                  <a:srgbClr val="8D0A75"/>
                </a:solidFill>
                <a:latin typeface="Heebo Black"/>
                <a:ea typeface="Heebo Black"/>
                <a:cs typeface="Heebo Black"/>
                <a:sym typeface="Heebo Black"/>
              </a:rPr>
              <a:t>Q&amp;A</a:t>
            </a:r>
          </a:p>
        </p:txBody>
      </p:sp>
    </p:spTree>
  </p:cSld>
  <p:clrMapOvr>
    <a:masterClrMapping/>
  </p:clrMapOvr>
  <p:transition spd="slow">
    <p:wip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2118</TotalTime>
  <Words>1154</Words>
  <Application>Microsoft Office PowerPoint</Application>
  <PresentationFormat>Custom</PresentationFormat>
  <Paragraphs>335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43" baseType="lpstr">
      <vt:lpstr>Calibri</vt:lpstr>
      <vt:lpstr>Arial Unicode MS</vt:lpstr>
      <vt:lpstr>Assistant Regular Bold</vt:lpstr>
      <vt:lpstr>Courier New</vt:lpstr>
      <vt:lpstr>Times New Roman</vt:lpstr>
      <vt:lpstr>Agrandir</vt:lpstr>
      <vt:lpstr>HK Modular</vt:lpstr>
      <vt:lpstr>Arial</vt:lpstr>
      <vt:lpstr>Assistant Regular</vt:lpstr>
      <vt:lpstr>Heebo Black</vt:lpstr>
      <vt:lpstr>Wingdings</vt:lpstr>
      <vt:lpstr>Symbol</vt:lpstr>
      <vt:lpstr>Horizon</vt:lpstr>
      <vt:lpstr>Aptos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flutter sample presentation</dc:title>
  <dc:creator>HP</dc:creator>
  <cp:lastModifiedBy>Sierra Learning</cp:lastModifiedBy>
  <cp:revision>80</cp:revision>
  <dcterms:created xsi:type="dcterms:W3CDTF">2006-08-16T00:00:00Z</dcterms:created>
  <dcterms:modified xsi:type="dcterms:W3CDTF">2025-09-15T14:52:50Z</dcterms:modified>
  <dc:identifier>DAGpXxrSFgM</dc:identifier>
</cp:coreProperties>
</file>