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40"/>
  </p:notesMasterIdLst>
  <p:sldIdLst>
    <p:sldId id="316" r:id="rId2"/>
    <p:sldId id="256" r:id="rId3"/>
    <p:sldId id="257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5" r:id="rId12"/>
    <p:sldId id="326" r:id="rId13"/>
    <p:sldId id="327" r:id="rId14"/>
    <p:sldId id="328" r:id="rId15"/>
    <p:sldId id="329" r:id="rId16"/>
    <p:sldId id="331" r:id="rId17"/>
    <p:sldId id="332" r:id="rId18"/>
    <p:sldId id="330" r:id="rId19"/>
    <p:sldId id="276" r:id="rId20"/>
    <p:sldId id="324" r:id="rId21"/>
    <p:sldId id="302" r:id="rId22"/>
    <p:sldId id="303" r:id="rId23"/>
    <p:sldId id="333" r:id="rId24"/>
    <p:sldId id="334" r:id="rId25"/>
    <p:sldId id="335" r:id="rId26"/>
    <p:sldId id="304" r:id="rId27"/>
    <p:sldId id="305" r:id="rId28"/>
    <p:sldId id="307" r:id="rId29"/>
    <p:sldId id="306" r:id="rId30"/>
    <p:sldId id="274" r:id="rId31"/>
    <p:sldId id="265" r:id="rId32"/>
    <p:sldId id="308" r:id="rId33"/>
    <p:sldId id="309" r:id="rId34"/>
    <p:sldId id="310" r:id="rId35"/>
    <p:sldId id="266" r:id="rId36"/>
    <p:sldId id="311" r:id="rId37"/>
    <p:sldId id="268" r:id="rId38"/>
    <p:sldId id="269" r:id="rId39"/>
  </p:sldIdLst>
  <p:sldSz cx="18288000" cy="10287000"/>
  <p:notesSz cx="6858000" cy="9144000"/>
  <p:embeddedFontLst>
    <p:embeddedFont>
      <p:font typeface="Agrandir" panose="020B0604020202020204" charset="0"/>
      <p:regular r:id="rId41"/>
    </p:embeddedFont>
    <p:embeddedFont>
      <p:font typeface="Assistant Regular" panose="020B0604020202020204" charset="-79"/>
      <p:regular r:id="rId42"/>
    </p:embeddedFont>
    <p:embeddedFont>
      <p:font typeface="Heebo Black" pitchFamily="2" charset="-79"/>
      <p:regular r:id="rId43"/>
      <p:bold r:id="rId44"/>
    </p:embeddedFont>
    <p:embeddedFont>
      <p:font typeface="HK Modular" panose="020B0604020202020204" charset="0"/>
      <p:regular r:id="rId45"/>
    </p:embeddedFont>
    <p:embeddedFont>
      <p:font typeface="Horizon" panose="020B0604020202020204" charset="0"/>
      <p:regular r:id="rId4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8" d="100"/>
          <a:sy n="28" d="100"/>
        </p:scale>
        <p:origin x="293" y="8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B099B1-F1D2-419C-BEDD-6EF3C7B61F68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70F73-A7BF-4FFE-9B41-C49728744D2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0579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19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earn.microsoft.com/en-us/aspnet/core/data/ef-mvc/crud?view=aspnetcore-7.0" TargetMode="External"/><Relationship Id="rId4" Type="http://schemas.openxmlformats.org/officeDocument/2006/relationships/hyperlink" Target="https://learn.microsoft.com/en-us/aspnet/core/web-api/?view=aspnetcore-7.0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3D346C-65C5-47AF-91D7-91A167022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3" name="Google Shape;88;p1">
            <a:extLst>
              <a:ext uri="{FF2B5EF4-FFF2-40B4-BE49-F238E27FC236}">
                <a16:creationId xmlns:a16="http://schemas.microsoft.com/office/drawing/2014/main" id="{532B16B3-6609-F3A9-8935-1E7E45582B33}"/>
              </a:ext>
            </a:extLst>
          </p:cNvPr>
          <p:cNvGrpSpPr/>
          <p:nvPr/>
        </p:nvGrpSpPr>
        <p:grpSpPr>
          <a:xfrm>
            <a:off x="6775593" y="-328312"/>
            <a:ext cx="11512407" cy="10615312"/>
            <a:chOff x="6375082" y="-144661"/>
            <a:chExt cx="11512407" cy="10615312"/>
          </a:xfrm>
        </p:grpSpPr>
        <p:sp>
          <p:nvSpPr>
            <p:cNvPr id="4" name="Google Shape;89;p1">
              <a:extLst>
                <a:ext uri="{FF2B5EF4-FFF2-40B4-BE49-F238E27FC236}">
                  <a16:creationId xmlns:a16="http://schemas.microsoft.com/office/drawing/2014/main" id="{14F6515C-3699-E1EB-00DB-EF19B900D29D}"/>
                </a:ext>
              </a:extLst>
            </p:cNvPr>
            <p:cNvSpPr/>
            <p:nvPr/>
          </p:nvSpPr>
          <p:spPr>
            <a:xfrm>
              <a:off x="6375082" y="1638300"/>
              <a:ext cx="3726767" cy="6356958"/>
            </a:xfrm>
            <a:custGeom>
              <a:avLst/>
              <a:gdLst/>
              <a:ahLst/>
              <a:cxnLst/>
              <a:rect l="l" t="t" r="r" b="b"/>
              <a:pathLst>
                <a:path w="3726767" h="6356958" extrusionOk="0">
                  <a:moveTo>
                    <a:pt x="0" y="0"/>
                  </a:moveTo>
                  <a:lnTo>
                    <a:pt x="3726766" y="0"/>
                  </a:lnTo>
                  <a:lnTo>
                    <a:pt x="3726766" y="6356958"/>
                  </a:lnTo>
                  <a:lnTo>
                    <a:pt x="0" y="635695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5" name="Google Shape;90;p1">
              <a:extLst>
                <a:ext uri="{FF2B5EF4-FFF2-40B4-BE49-F238E27FC236}">
                  <a16:creationId xmlns:a16="http://schemas.microsoft.com/office/drawing/2014/main" id="{A62AA662-476C-E6FB-6E75-8B8F22650C09}"/>
                </a:ext>
              </a:extLst>
            </p:cNvPr>
            <p:cNvGrpSpPr/>
            <p:nvPr/>
          </p:nvGrpSpPr>
          <p:grpSpPr>
            <a:xfrm>
              <a:off x="17569989" y="-144661"/>
              <a:ext cx="317500" cy="10615312"/>
              <a:chOff x="0" y="-38100"/>
              <a:chExt cx="83621" cy="2795802"/>
            </a:xfrm>
          </p:grpSpPr>
          <p:sp>
            <p:nvSpPr>
              <p:cNvPr id="9" name="Google Shape;91;p1">
                <a:extLst>
                  <a:ext uri="{FF2B5EF4-FFF2-40B4-BE49-F238E27FC236}">
                    <a16:creationId xmlns:a16="http://schemas.microsoft.com/office/drawing/2014/main" id="{0EF42A53-F2C5-8EB0-548E-336AE864B302}"/>
                  </a:ext>
                </a:extLst>
              </p:cNvPr>
              <p:cNvSpPr/>
              <p:nvPr/>
            </p:nvSpPr>
            <p:spPr>
              <a:xfrm>
                <a:off x="0" y="0"/>
                <a:ext cx="83621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83621" h="2757702" extrusionOk="0">
                    <a:moveTo>
                      <a:pt x="0" y="0"/>
                    </a:moveTo>
                    <a:lnTo>
                      <a:pt x="83621" y="0"/>
                    </a:lnTo>
                    <a:lnTo>
                      <a:pt x="83621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Google Shape;92;p1">
                <a:extLst>
                  <a:ext uri="{FF2B5EF4-FFF2-40B4-BE49-F238E27FC236}">
                    <a16:creationId xmlns:a16="http://schemas.microsoft.com/office/drawing/2014/main" id="{099A907C-897C-F2BC-E14D-F698EB5736B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83621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" name="Google Shape;93;p1">
              <a:extLst>
                <a:ext uri="{FF2B5EF4-FFF2-40B4-BE49-F238E27FC236}">
                  <a16:creationId xmlns:a16="http://schemas.microsoft.com/office/drawing/2014/main" id="{034B7140-8881-3F8C-8481-B3F14C27C36F}"/>
                </a:ext>
              </a:extLst>
            </p:cNvPr>
            <p:cNvGrpSpPr/>
            <p:nvPr/>
          </p:nvGrpSpPr>
          <p:grpSpPr>
            <a:xfrm>
              <a:off x="16107228" y="-144661"/>
              <a:ext cx="1247470" cy="10615312"/>
              <a:chOff x="0" y="-38100"/>
              <a:chExt cx="328552" cy="2795802"/>
            </a:xfrm>
          </p:grpSpPr>
          <p:sp>
            <p:nvSpPr>
              <p:cNvPr id="7" name="Google Shape;94;p1">
                <a:extLst>
                  <a:ext uri="{FF2B5EF4-FFF2-40B4-BE49-F238E27FC236}">
                    <a16:creationId xmlns:a16="http://schemas.microsoft.com/office/drawing/2014/main" id="{642BB787-A66D-E596-8102-0BAF757D14D4}"/>
                  </a:ext>
                </a:extLst>
              </p:cNvPr>
              <p:cNvSpPr/>
              <p:nvPr/>
            </p:nvSpPr>
            <p:spPr>
              <a:xfrm>
                <a:off x="0" y="0"/>
                <a:ext cx="328552" cy="2757702"/>
              </a:xfrm>
              <a:custGeom>
                <a:avLst/>
                <a:gdLst/>
                <a:ahLst/>
                <a:cxnLst/>
                <a:rect l="l" t="t" r="r" b="b"/>
                <a:pathLst>
                  <a:path w="328552" h="2757702" extrusionOk="0">
                    <a:moveTo>
                      <a:pt x="0" y="0"/>
                    </a:moveTo>
                    <a:lnTo>
                      <a:pt x="328552" y="0"/>
                    </a:lnTo>
                    <a:lnTo>
                      <a:pt x="328552" y="2757702"/>
                    </a:lnTo>
                    <a:lnTo>
                      <a:pt x="0" y="2757702"/>
                    </a:lnTo>
                    <a:close/>
                  </a:path>
                </a:pathLst>
              </a:custGeom>
              <a:solidFill>
                <a:srgbClr val="185C36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Google Shape;95;p1">
                <a:extLst>
                  <a:ext uri="{FF2B5EF4-FFF2-40B4-BE49-F238E27FC236}">
                    <a16:creationId xmlns:a16="http://schemas.microsoft.com/office/drawing/2014/main" id="{1E6B82F4-8166-8FE6-137C-48C384277E1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328552" cy="27958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marL="0" marR="0" lvl="0" indent="0" algn="ctr" rtl="0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55496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2931" y="3927248"/>
            <a:ext cx="14861638" cy="2635244"/>
            <a:chOff x="-341904" y="836967"/>
            <a:chExt cx="19815517" cy="3513659"/>
          </a:xfrm>
        </p:grpSpPr>
        <p:sp>
          <p:nvSpPr>
            <p:cNvPr id="3" name="TextBox 3"/>
            <p:cNvSpPr txBox="1"/>
            <p:nvPr/>
          </p:nvSpPr>
          <p:spPr>
            <a:xfrm>
              <a:off x="-341904" y="836967"/>
              <a:ext cx="19815517" cy="22016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000" spc="279" dirty="0">
                  <a:ea typeface="+mn-lt"/>
                  <a:cs typeface="+mn-lt"/>
                  <a:sym typeface="Heebo Black"/>
                </a:rPr>
                <a:t>MVC and API Development</a:t>
              </a:r>
              <a:endParaRPr lang="en-US" sz="9000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3212525" y="8640170"/>
            <a:ext cx="411294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 dirty="0">
                <a:latin typeface="Calibri"/>
                <a:ea typeface="Agrandir Bold"/>
                <a:cs typeface="Agrandir Bold"/>
              </a:rPr>
              <a:t>By: Mr. Shivam Supekar </a:t>
            </a:r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A22D2A28-66CB-3372-0222-61591D37F9F7}"/>
              </a:ext>
            </a:extLst>
          </p:cNvPr>
          <p:cNvSpPr txBox="1"/>
          <p:nvPr/>
        </p:nvSpPr>
        <p:spPr>
          <a:xfrm>
            <a:off x="16324569" y="1416196"/>
            <a:ext cx="1935631" cy="4816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4000" b="1" dirty="0">
                <a:latin typeface="Calibri"/>
                <a:ea typeface="Agrandir Bold"/>
                <a:cs typeface="Agrandir Bold"/>
              </a:rPr>
              <a:t>5 / 12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6580AB-0610-3CBB-3ED3-41E3F8D1A1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8" b="18525"/>
          <a:stretch>
            <a:fillRect/>
          </a:stretch>
        </p:blipFill>
        <p:spPr>
          <a:xfrm>
            <a:off x="4932947" y="439666"/>
            <a:ext cx="7507705" cy="2434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754282" y="94170"/>
            <a:ext cx="7620811" cy="1291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4754282" y="2298210"/>
            <a:ext cx="5548532" cy="881343"/>
            <a:chOff x="0" y="0"/>
            <a:chExt cx="7398043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IN" sz="2400" dirty="0"/>
                <a:t>Create the Database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996685" y="2298210"/>
            <a:ext cx="5548533" cy="881343"/>
            <a:chOff x="0" y="0"/>
            <a:chExt cx="7398043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10122" y="270697"/>
              <a:ext cx="5587921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/>
              <a:r>
                <a:rPr lang="en-GB" sz="2400" dirty="0"/>
                <a:t>Connect with .NET</a:t>
              </a:r>
              <a:endParaRPr lang="en-IN" sz="2400" dirty="0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754282" y="3670432"/>
            <a:ext cx="5548532" cy="881343"/>
            <a:chOff x="0" y="0"/>
            <a:chExt cx="7398043" cy="1175123"/>
          </a:xfrm>
        </p:grpSpPr>
        <p:grpSp>
          <p:nvGrpSpPr>
            <p:cNvPr id="20" name="Group 2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810123" y="270697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/>
              <a:r>
                <a:rPr lang="en-IN" sz="2400" dirty="0"/>
                <a:t>Create the model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754282" y="5042655"/>
            <a:ext cx="5548532" cy="881343"/>
            <a:chOff x="0" y="0"/>
            <a:chExt cx="7398043" cy="1175123"/>
          </a:xfrm>
        </p:grpSpPr>
        <p:grpSp>
          <p:nvGrpSpPr>
            <p:cNvPr id="25" name="Group 2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Add methods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0996685" y="3670432"/>
            <a:ext cx="5548532" cy="881343"/>
            <a:chOff x="0" y="0"/>
            <a:chExt cx="7398043" cy="1175123"/>
          </a:xfrm>
        </p:grpSpPr>
        <p:grpSp>
          <p:nvGrpSpPr>
            <p:cNvPr id="35" name="Group 3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10123" y="270697"/>
              <a:ext cx="5587920" cy="4855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GB" sz="2400" dirty="0">
                  <a:solidFill>
                    <a:srgbClr val="33123B"/>
                  </a:solidFill>
                  <a:latin typeface="Aptos"/>
                </a:rPr>
                <a:t>Create the Controller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0996685" y="5042655"/>
            <a:ext cx="5548532" cy="881343"/>
            <a:chOff x="0" y="0"/>
            <a:chExt cx="7398043" cy="1175123"/>
          </a:xfrm>
        </p:grpSpPr>
        <p:grpSp>
          <p:nvGrpSpPr>
            <p:cNvPr id="40" name="Group 4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Create the view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32384" y="574231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 dirty="0"/>
          </a:p>
        </p:txBody>
      </p:sp>
      <p:grpSp>
        <p:nvGrpSpPr>
          <p:cNvPr id="2" name="Group 39">
            <a:extLst>
              <a:ext uri="{FF2B5EF4-FFF2-40B4-BE49-F238E27FC236}">
                <a16:creationId xmlns:a16="http://schemas.microsoft.com/office/drawing/2014/main" id="{FCB2E5E8-8208-FD82-9E1E-B3667F8110F5}"/>
              </a:ext>
            </a:extLst>
          </p:cNvPr>
          <p:cNvGrpSpPr/>
          <p:nvPr/>
        </p:nvGrpSpPr>
        <p:grpSpPr>
          <a:xfrm>
            <a:off x="11017502" y="6470371"/>
            <a:ext cx="5548532" cy="881343"/>
            <a:chOff x="0" y="0"/>
            <a:chExt cx="7398043" cy="1175123"/>
          </a:xfrm>
        </p:grpSpPr>
        <p:grpSp>
          <p:nvGrpSpPr>
            <p:cNvPr id="3" name="Group 40">
              <a:extLst>
                <a:ext uri="{FF2B5EF4-FFF2-40B4-BE49-F238E27FC236}">
                  <a16:creationId xmlns:a16="http://schemas.microsoft.com/office/drawing/2014/main" id="{BBFA0DB1-5CBB-1923-F362-D4B3F9EB94E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0" name="Freeform 41">
                <a:extLst>
                  <a:ext uri="{FF2B5EF4-FFF2-40B4-BE49-F238E27FC236}">
                    <a16:creationId xmlns:a16="http://schemas.microsoft.com/office/drawing/2014/main" id="{6F76999D-4B8B-33D9-FA4B-36E5851FB00C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" name="TextBox 42">
              <a:extLst>
                <a:ext uri="{FF2B5EF4-FFF2-40B4-BE49-F238E27FC236}">
                  <a16:creationId xmlns:a16="http://schemas.microsoft.com/office/drawing/2014/main" id="{DF988E98-6CC1-52A0-D4C0-ED5B8C92FC8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8</a:t>
              </a:r>
            </a:p>
          </p:txBody>
        </p:sp>
        <p:sp>
          <p:nvSpPr>
            <p:cNvPr id="29" name="TextBox 43">
              <a:extLst>
                <a:ext uri="{FF2B5EF4-FFF2-40B4-BE49-F238E27FC236}">
                  <a16:creationId xmlns:a16="http://schemas.microsoft.com/office/drawing/2014/main" id="{7F2F1FBC-68EE-4D9F-FB9C-188C3499FACE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31" name="Group 9">
            <a:extLst>
              <a:ext uri="{FF2B5EF4-FFF2-40B4-BE49-F238E27FC236}">
                <a16:creationId xmlns:a16="http://schemas.microsoft.com/office/drawing/2014/main" id="{49E9846F-B080-AEAC-628B-673EDCBA68E2}"/>
              </a:ext>
            </a:extLst>
          </p:cNvPr>
          <p:cNvGrpSpPr/>
          <p:nvPr/>
        </p:nvGrpSpPr>
        <p:grpSpPr>
          <a:xfrm>
            <a:off x="4754282" y="7785767"/>
            <a:ext cx="5548532" cy="881343"/>
            <a:chOff x="0" y="0"/>
            <a:chExt cx="7398043" cy="1175123"/>
          </a:xfrm>
        </p:grpSpPr>
        <p:grpSp>
          <p:nvGrpSpPr>
            <p:cNvPr id="32" name="Group 10">
              <a:extLst>
                <a:ext uri="{FF2B5EF4-FFF2-40B4-BE49-F238E27FC236}">
                  <a16:creationId xmlns:a16="http://schemas.microsoft.com/office/drawing/2014/main" id="{3CFC9A25-F66F-309F-7423-24A3939AE3C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5" name="Freeform 11">
                <a:extLst>
                  <a:ext uri="{FF2B5EF4-FFF2-40B4-BE49-F238E27FC236}">
                    <a16:creationId xmlns:a16="http://schemas.microsoft.com/office/drawing/2014/main" id="{4A05880C-C13D-A9B2-B578-535E3C4E1BF7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3" name="TextBox 12">
              <a:extLst>
                <a:ext uri="{FF2B5EF4-FFF2-40B4-BE49-F238E27FC236}">
                  <a16:creationId xmlns:a16="http://schemas.microsoft.com/office/drawing/2014/main" id="{2827C385-C3CC-1B39-4A8C-45E1FEB51378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729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9</a:t>
              </a:r>
              <a:endParaRPr lang="en-US" sz="2721" b="1" u="none" dirty="0">
                <a:solidFill>
                  <a:srgbClr val="33123B"/>
                </a:solidFill>
                <a:latin typeface="Horizon"/>
                <a:ea typeface="Horizon"/>
                <a:cs typeface="Horizon"/>
                <a:sym typeface="Horizon"/>
              </a:endParaRPr>
            </a:p>
          </p:txBody>
        </p:sp>
        <p:sp>
          <p:nvSpPr>
            <p:cNvPr id="44" name="TextBox 13">
              <a:extLst>
                <a:ext uri="{FF2B5EF4-FFF2-40B4-BE49-F238E27FC236}">
                  <a16:creationId xmlns:a16="http://schemas.microsoft.com/office/drawing/2014/main" id="{11D12FC2-FD6E-58F9-857D-8BB97C30535C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Assignment </a:t>
              </a:r>
            </a:p>
          </p:txBody>
        </p:sp>
      </p:grpSp>
      <p:grpSp>
        <p:nvGrpSpPr>
          <p:cNvPr id="46" name="Group 39">
            <a:extLst>
              <a:ext uri="{FF2B5EF4-FFF2-40B4-BE49-F238E27FC236}">
                <a16:creationId xmlns:a16="http://schemas.microsoft.com/office/drawing/2014/main" id="{FB8321E0-6F0A-83EA-4EF6-4E11D012EA7D}"/>
              </a:ext>
            </a:extLst>
          </p:cNvPr>
          <p:cNvGrpSpPr/>
          <p:nvPr/>
        </p:nvGrpSpPr>
        <p:grpSpPr>
          <a:xfrm>
            <a:off x="11017502" y="7898087"/>
            <a:ext cx="5548532" cy="881343"/>
            <a:chOff x="0" y="0"/>
            <a:chExt cx="7398043" cy="1175123"/>
          </a:xfrm>
        </p:grpSpPr>
        <p:grpSp>
          <p:nvGrpSpPr>
            <p:cNvPr id="47" name="Group 40">
              <a:extLst>
                <a:ext uri="{FF2B5EF4-FFF2-40B4-BE49-F238E27FC236}">
                  <a16:creationId xmlns:a16="http://schemas.microsoft.com/office/drawing/2014/main" id="{41B6FEFF-973B-A4B5-F7E5-B98267BC5F6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0" name="Freeform 41">
                <a:extLst>
                  <a:ext uri="{FF2B5EF4-FFF2-40B4-BE49-F238E27FC236}">
                    <a16:creationId xmlns:a16="http://schemas.microsoft.com/office/drawing/2014/main" id="{A08CFC17-8C81-BEB6-7B26-2350C244B240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8" name="TextBox 42">
              <a:extLst>
                <a:ext uri="{FF2B5EF4-FFF2-40B4-BE49-F238E27FC236}">
                  <a16:creationId xmlns:a16="http://schemas.microsoft.com/office/drawing/2014/main" id="{B21A5377-4965-4BBA-91F4-CDCCED70320F}"/>
                </a:ext>
              </a:extLst>
            </p:cNvPr>
            <p:cNvSpPr txBox="1"/>
            <p:nvPr/>
          </p:nvSpPr>
          <p:spPr>
            <a:xfrm>
              <a:off x="169271" y="359293"/>
              <a:ext cx="781071" cy="45653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10</a:t>
              </a:r>
            </a:p>
          </p:txBody>
        </p:sp>
        <p:sp>
          <p:nvSpPr>
            <p:cNvPr id="49" name="TextBox 43">
              <a:extLst>
                <a:ext uri="{FF2B5EF4-FFF2-40B4-BE49-F238E27FC236}">
                  <a16:creationId xmlns:a16="http://schemas.microsoft.com/office/drawing/2014/main" id="{FC9C4FD7-E19F-2D96-8B56-63FB3539B910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Debrief</a:t>
              </a:r>
              <a:endParaRPr lang="en-US" sz="2400" dirty="0">
                <a:solidFill>
                  <a:srgbClr val="33123B"/>
                </a:solidFill>
                <a:ea typeface="Agrandir"/>
                <a:cs typeface="Agrandir"/>
              </a:endParaRPr>
            </a:p>
          </p:txBody>
        </p:sp>
      </p:grpSp>
      <p:grpSp>
        <p:nvGrpSpPr>
          <p:cNvPr id="51" name="Group 39">
            <a:extLst>
              <a:ext uri="{FF2B5EF4-FFF2-40B4-BE49-F238E27FC236}">
                <a16:creationId xmlns:a16="http://schemas.microsoft.com/office/drawing/2014/main" id="{EDAA8F93-1E6C-7788-4201-C149CE5D2870}"/>
              </a:ext>
            </a:extLst>
          </p:cNvPr>
          <p:cNvGrpSpPr/>
          <p:nvPr/>
        </p:nvGrpSpPr>
        <p:grpSpPr>
          <a:xfrm>
            <a:off x="4754282" y="6414878"/>
            <a:ext cx="5548532" cy="881343"/>
            <a:chOff x="0" y="0"/>
            <a:chExt cx="7398043" cy="1175123"/>
          </a:xfrm>
        </p:grpSpPr>
        <p:grpSp>
          <p:nvGrpSpPr>
            <p:cNvPr id="53" name="Group 40">
              <a:extLst>
                <a:ext uri="{FF2B5EF4-FFF2-40B4-BE49-F238E27FC236}">
                  <a16:creationId xmlns:a16="http://schemas.microsoft.com/office/drawing/2014/main" id="{55A8EBB9-9E67-29CB-77DC-FD640EEF295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56" name="Freeform 41">
                <a:extLst>
                  <a:ext uri="{FF2B5EF4-FFF2-40B4-BE49-F238E27FC236}">
                    <a16:creationId xmlns:a16="http://schemas.microsoft.com/office/drawing/2014/main" id="{4FD62DDD-FFB2-E4BE-5E15-E3F8D1CE16B0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54" name="TextBox 42">
              <a:extLst>
                <a:ext uri="{FF2B5EF4-FFF2-40B4-BE49-F238E27FC236}">
                  <a16:creationId xmlns:a16="http://schemas.microsoft.com/office/drawing/2014/main" id="{4F9CB412-2C3E-7B7C-76E1-B5605E77E8F7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6</a:t>
              </a:r>
            </a:p>
          </p:txBody>
        </p:sp>
        <p:sp>
          <p:nvSpPr>
            <p:cNvPr id="55" name="TextBox 43">
              <a:extLst>
                <a:ext uri="{FF2B5EF4-FFF2-40B4-BE49-F238E27FC236}">
                  <a16:creationId xmlns:a16="http://schemas.microsoft.com/office/drawing/2014/main" id="{4773AC09-F8E2-13CA-D89F-9D42B6F3D29D}"/>
                </a:ext>
              </a:extLst>
            </p:cNvPr>
            <p:cNvSpPr txBox="1"/>
            <p:nvPr/>
          </p:nvSpPr>
          <p:spPr>
            <a:xfrm>
              <a:off x="1810123" y="270697"/>
              <a:ext cx="5587920" cy="48021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Apply methods in view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C3C7-E5A4-0562-01CD-6705880D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00C1F3B-5E80-2C8E-4564-1A1CE3332B1A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4532AA8-E1D4-9D9C-AF98-34FCA1AE49AB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BD25EA90-C139-E821-CC4A-421D566C6B33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01295EB-C641-F348-3C4B-13953817E861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1E68289-6C76-05E0-70DA-65E60BFD38B3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FB70E9DF-7F5B-A541-4852-889656CEC05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430BBE9-D339-9FEF-7158-8BDE4F861F2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C7FAC10-D760-2160-63A7-D0B0C451A647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MVC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CD8E3F5-B1FE-47DB-71C7-6D7B955EC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5A62614-FC19-3A7A-5EC5-20DC2CD1EEDB}"/>
              </a:ext>
            </a:extLst>
          </p:cNvPr>
          <p:cNvSpPr txBox="1"/>
          <p:nvPr/>
        </p:nvSpPr>
        <p:spPr>
          <a:xfrm>
            <a:off x="1227221" y="1897409"/>
            <a:ext cx="1603866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b="1" dirty="0"/>
              <a:t>MVC</a:t>
            </a:r>
            <a:r>
              <a:rPr lang="en-US" sz="4800" dirty="0"/>
              <a:t> is an architectural pattern that separates an application into three parts: </a:t>
            </a:r>
            <a:r>
              <a:rPr lang="en-US" sz="4800" b="1" dirty="0"/>
              <a:t>Model</a:t>
            </a:r>
            <a:r>
              <a:rPr lang="en-US" sz="4800" dirty="0"/>
              <a:t>, </a:t>
            </a:r>
            <a:r>
              <a:rPr lang="en-US" sz="4800" b="1" dirty="0"/>
              <a:t>View</a:t>
            </a:r>
            <a:r>
              <a:rPr lang="en-US" sz="4800" dirty="0"/>
              <a:t>, and </a:t>
            </a:r>
            <a:r>
              <a:rPr lang="en-US" sz="4800" b="1" dirty="0"/>
              <a:t>Controller</a:t>
            </a:r>
            <a:r>
              <a:rPr lang="en-US" sz="48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/>
              <a:t>The </a:t>
            </a:r>
            <a:r>
              <a:rPr lang="en-US" sz="4800" b="1" dirty="0"/>
              <a:t>Model</a:t>
            </a:r>
            <a:r>
              <a:rPr lang="en-US" sz="4800" dirty="0"/>
              <a:t> represents the application's data and business logic.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/>
              <a:t>The </a:t>
            </a:r>
            <a:r>
              <a:rPr lang="en-US" sz="4800" b="1" dirty="0"/>
              <a:t>View</a:t>
            </a:r>
            <a:r>
              <a:rPr lang="en-US" sz="4800" dirty="0"/>
              <a:t> is the user interface that displays the data (e.g., HTML or JSON).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800" dirty="0"/>
              <a:t>The </a:t>
            </a:r>
            <a:r>
              <a:rPr lang="en-US" sz="4800" b="1" dirty="0"/>
              <a:t>Controller</a:t>
            </a:r>
            <a:r>
              <a:rPr lang="en-US" sz="4800" dirty="0"/>
              <a:t> handles user input, interacts with the Model, and chooses a View to render.</a:t>
            </a:r>
          </a:p>
          <a:p>
            <a:pPr lvl="1" fontAlgn="base"/>
            <a:endParaRPr lang="en-US" sz="4800" dirty="0"/>
          </a:p>
          <a:p>
            <a:pPr lvl="1" fontAlgn="base"/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21560194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CA32E-3592-183D-71C9-0DEF8CA14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7E45C5-B236-FC82-6D5B-8ECE85E62572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E4B665D-F78A-AC58-C5C2-F709D87BCCB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E62C765-68B1-32CC-B3EB-749648A2ACA1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2C72A85-E29B-9111-1ED0-031F3C3B09A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A374D07-E6A2-8FDF-3992-A08C511FF171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83F9E5-53B9-9B63-9F20-3FDC1FE7876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ADD520-F43C-C31F-A150-4C7AFEAC232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36D5F35-DBFD-DA5F-3663-492C861FCADF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RestAPI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69F73D3-7371-91D7-58C2-8C8A7BB6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C977D9D-3982-EE8B-C2C7-9A0BA8FB8CC8}"/>
              </a:ext>
            </a:extLst>
          </p:cNvPr>
          <p:cNvSpPr txBox="1"/>
          <p:nvPr/>
        </p:nvSpPr>
        <p:spPr>
          <a:xfrm>
            <a:off x="1227221" y="1897409"/>
            <a:ext cx="16038669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RestAPI?</a:t>
            </a:r>
          </a:p>
          <a:p>
            <a:pPr lvl="2"/>
            <a:r>
              <a:rPr lang="en-US" sz="4000" dirty="0"/>
              <a:t>REST API = Representational State Transfer Application Programming Interface</a:t>
            </a:r>
          </a:p>
          <a:p>
            <a:pPr lvl="2"/>
            <a:endParaRPr lang="en-US" sz="4000" dirty="0"/>
          </a:p>
          <a:p>
            <a:pPr lvl="2"/>
            <a:r>
              <a:rPr lang="en-US" sz="4000" dirty="0"/>
              <a:t> </a:t>
            </a:r>
            <a:r>
              <a:rPr lang="en-US" sz="4000" b="1" dirty="0"/>
              <a:t>API (Application Programming Interface)</a:t>
            </a:r>
            <a:r>
              <a:rPr lang="en-US" sz="4000" dirty="0"/>
              <a:t> : A way for two software applications to talk to each other.</a:t>
            </a:r>
            <a:br>
              <a:rPr lang="en-US" sz="4000" dirty="0"/>
            </a:br>
            <a:r>
              <a:rPr lang="en-US" sz="4000" b="1" dirty="0"/>
              <a:t>REST</a:t>
            </a:r>
            <a:r>
              <a:rPr lang="en-US" sz="4000" dirty="0"/>
              <a:t> : A set of rules (architecture style) for designing APIs that are simple, scalable, and use HTTP (the same protocol as websites).</a:t>
            </a:r>
          </a:p>
          <a:p>
            <a:pPr lvl="2"/>
            <a:endParaRPr lang="en-US" sz="4000" dirty="0"/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Uses HTTP methods (GET, POST, PUT, PATCH, DELETE).</a:t>
            </a:r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Treats data as resources, each identified by a URL.</a:t>
            </a:r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Stateless: each request is independent.</a:t>
            </a:r>
          </a:p>
          <a:p>
            <a:pPr marL="1485900" lvl="2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Returns data usually in JSON format.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645123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C2E7B-086A-3482-A4A5-39A9E59ED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17BED7-A936-6A07-B1EE-862A4C243106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2322319-854C-1251-E393-2BC5AA76F6C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83BEB1C-848C-1601-E8CD-FBD50319FE9D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A1C952F-1297-5542-3CB8-B1A5B71FE7A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4A01F37-5825-150A-D7E5-80BCCD79B12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71AE789-9A94-4E2C-6705-6DB5B1DF3E45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F3444D-FD62-DD08-2166-937B6C71C24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EE0F925-4C64-AC9C-50BE-5F592C36EC8D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HTTP METHODS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ECF68FC-781F-0D9C-C067-2EBA81348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0E4646C-2411-6E03-5216-D83D7640074B}"/>
              </a:ext>
            </a:extLst>
          </p:cNvPr>
          <p:cNvSpPr txBox="1"/>
          <p:nvPr/>
        </p:nvSpPr>
        <p:spPr>
          <a:xfrm>
            <a:off x="1227221" y="1897409"/>
            <a:ext cx="1603866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4F2E9472-296E-925A-F739-D21104612C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061698"/>
              </p:ext>
            </p:extLst>
          </p:nvPr>
        </p:nvGraphicFramePr>
        <p:xfrm>
          <a:off x="1123151" y="1579496"/>
          <a:ext cx="16210964" cy="852772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052741">
                  <a:extLst>
                    <a:ext uri="{9D8B030D-6E8A-4147-A177-3AD203B41FA5}">
                      <a16:colId xmlns:a16="http://schemas.microsoft.com/office/drawing/2014/main" val="3867257528"/>
                    </a:ext>
                  </a:extLst>
                </a:gridCol>
                <a:gridCol w="4052741">
                  <a:extLst>
                    <a:ext uri="{9D8B030D-6E8A-4147-A177-3AD203B41FA5}">
                      <a16:colId xmlns:a16="http://schemas.microsoft.com/office/drawing/2014/main" val="352772234"/>
                    </a:ext>
                  </a:extLst>
                </a:gridCol>
                <a:gridCol w="4052741">
                  <a:extLst>
                    <a:ext uri="{9D8B030D-6E8A-4147-A177-3AD203B41FA5}">
                      <a16:colId xmlns:a16="http://schemas.microsoft.com/office/drawing/2014/main" val="767794665"/>
                    </a:ext>
                  </a:extLst>
                </a:gridCol>
                <a:gridCol w="4052741">
                  <a:extLst>
                    <a:ext uri="{9D8B030D-6E8A-4147-A177-3AD203B41FA5}">
                      <a16:colId xmlns:a16="http://schemas.microsoft.com/office/drawing/2014/main" val="1475645584"/>
                    </a:ext>
                  </a:extLst>
                </a:gridCol>
              </a:tblGrid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effectLst/>
                        </a:rPr>
                        <a:t>CRUD Operation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HTTP Method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RESTful Example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Description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6786319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C</a:t>
                      </a:r>
                      <a:r>
                        <a:rPr lang="en-IN" sz="3200">
                          <a:effectLst/>
                        </a:rPr>
                        <a:t>reate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 dirty="0">
                          <a:effectLst/>
                        </a:rPr>
                        <a:t>POST</a:t>
                      </a:r>
                      <a:endParaRPr lang="en-IN" sz="3200" dirty="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POST /api/users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Creates a new user. The data for the new user is in the request body.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266403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R</a:t>
                      </a:r>
                      <a:r>
                        <a:rPr lang="en-IN" sz="3200">
                          <a:effectLst/>
                        </a:rPr>
                        <a:t>ead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GET</a:t>
                      </a:r>
                      <a:endParaRPr lang="en-IN" sz="32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GET /api/users/123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Retrieves the representation of the user with ID 123.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775314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U</a:t>
                      </a:r>
                      <a:r>
                        <a:rPr lang="en-IN" sz="3200">
                          <a:effectLst/>
                        </a:rPr>
                        <a:t>pdate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PUT</a:t>
                      </a:r>
                      <a:r>
                        <a:rPr lang="en-IN" sz="3200">
                          <a:effectLst/>
                        </a:rPr>
                        <a:t> or </a:t>
                      </a:r>
                      <a:r>
                        <a:rPr lang="en-IN" sz="3200" b="1">
                          <a:effectLst/>
                        </a:rPr>
                        <a:t>PATCH</a:t>
                      </a:r>
                      <a:endParaRPr lang="en-IN" sz="32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PUT /api/users/123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>
                          <a:effectLst/>
                        </a:rPr>
                        <a:t>Replaces the entire user object with the new data in the request body.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970770"/>
                  </a:ext>
                </a:extLst>
              </a:tr>
              <a:tr h="14444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D</a:t>
                      </a:r>
                      <a:r>
                        <a:rPr lang="en-IN" sz="3200">
                          <a:effectLst/>
                        </a:rPr>
                        <a:t>elete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 b="1">
                          <a:effectLst/>
                        </a:rPr>
                        <a:t>DELETE</a:t>
                      </a:r>
                      <a:endParaRPr lang="en-IN" sz="32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200">
                          <a:effectLst/>
                        </a:rPr>
                        <a:t>DELETE /api/users/123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200" dirty="0">
                          <a:effectLst/>
                        </a:rPr>
                        <a:t>Deletes the user with ID 123.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516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314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5919B-344A-5C77-86F2-31418FC0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07E810-106F-2E5E-A211-36281EAFE60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766823-CD0C-70D9-1A1D-F5953438C3E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DB862CC-52A8-E305-83B6-9E24C313BEB2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A124F01-77C5-1978-AAEC-484E40FD77B8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F867CF3-911D-69C7-B851-EAABAF7C1182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F90D3D6-C1A6-89B5-3BD7-CC886A2FB77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5F1AD78-5546-EFB4-F957-4B97CC06773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F06CCF9-3007-782E-87F3-4AA9CB6FEC14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JSON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36623EF-9BC0-3DDF-8DD7-22DD6639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8DDE157-1A38-B76C-F8F0-DF553004C5B8}"/>
              </a:ext>
            </a:extLst>
          </p:cNvPr>
          <p:cNvSpPr txBox="1"/>
          <p:nvPr/>
        </p:nvSpPr>
        <p:spPr>
          <a:xfrm>
            <a:off x="1239818" y="1225401"/>
            <a:ext cx="16038669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JSON?</a:t>
            </a:r>
          </a:p>
          <a:p>
            <a:r>
              <a:rPr lang="en-US" sz="4000" b="1" dirty="0"/>
              <a:t>    JSON (JavaScript Object Notation)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lightweight data format used to store and exchange information.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Easy for humans to read &amp; write and easy for machines to parse &amp; generate.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Mostly used in APIs to send data between client (browser/app) and server.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Looks like key–value pairs.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EDD4F0-E92D-3CA6-4A71-9DD983B01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9615" y="6434932"/>
            <a:ext cx="8230172" cy="3593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906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C0312-C3E1-6731-A845-BE68A603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DAFD02-C38C-0E57-BC19-680F868217E1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0D24099-2BA9-5DC9-0877-D1ADB296F02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58A77C2-2572-603B-E287-A6450ED78E11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BD2349-FD24-6338-03D3-7EE45DA3EA71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1570724-972E-7E2D-C7BC-59381D699B67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4B9588B-89F8-C525-2E5E-D5495BFACFE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E8310A1-57F6-7ACF-7611-B05A7C73643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5DFA17F-6993-0B38-5FB2-F9021A8A3722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ADO.NET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6098EE7-0BCF-95A5-AFF7-42904695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8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BA8442-7F5C-4887-65C6-6A57B26023E3}"/>
              </a:ext>
            </a:extLst>
          </p:cNvPr>
          <p:cNvSpPr txBox="1"/>
          <p:nvPr/>
        </p:nvSpPr>
        <p:spPr>
          <a:xfrm>
            <a:off x="1239818" y="1225401"/>
            <a:ext cx="16038669" cy="1178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    </a:t>
            </a:r>
            <a:r>
              <a:rPr lang="en-IN" sz="4000" dirty="0"/>
              <a:t>ADO.NET (ActiveX Data Objects for .NET)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A data access technology in .NET.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It allows your C# / .NET application to connect to a database (like SQL Server, Oracle, PostgreSQL, etc.) and perform operations such as: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Read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Insert new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Update existing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Delete data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Why use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Before ADO.NET, connecting to databases was manual and complex, often tied to specific database vendors.</a:t>
            </a:r>
            <a:br>
              <a:rPr lang="en-US" sz="4000" dirty="0"/>
            </a:br>
            <a:r>
              <a:rPr lang="en-US" sz="4000" dirty="0"/>
              <a:t>ADO.NET gives a standardized and easy way to interact with different databases.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46343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649E5B-4660-5A32-BC7A-8D7148C79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4D52E8-A8BD-8C7E-A97F-57BAAF6873E3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F5269E-D93C-981C-0DBB-162325EDD329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C569A31-5C0D-B56D-8B73-7510709E18BA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A9B95C7-0C30-DF0B-29F3-88C22E5B8B5D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3F2CEA9-576A-666C-4373-663E5321A6F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108A401-5826-5788-4ED4-968DAFA47D9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E177B97-9EBF-0E56-BC77-1C0EB3551E7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777D769-9784-ADBE-6838-1E1F1D688F34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ADO.NET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661B943-2283-7677-528E-C3DFE77B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2CC78E-1693-8BF6-8E17-6C81E162DAC8}"/>
              </a:ext>
            </a:extLst>
          </p:cNvPr>
          <p:cNvSpPr txBox="1"/>
          <p:nvPr/>
        </p:nvSpPr>
        <p:spPr>
          <a:xfrm>
            <a:off x="1239818" y="1225401"/>
            <a:ext cx="16038669" cy="11787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What is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    </a:t>
            </a:r>
            <a:r>
              <a:rPr lang="en-IN" sz="4000" dirty="0"/>
              <a:t>ADO.NET (ActiveX Data Objects for .NET)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A data access technology in .NET.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It allows your C# / .NET application to connect to a database (like SQL Server, Oracle, PostgreSQL, etc.) and perform operations such as: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Read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Insert new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Update existing data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IN" sz="4000" dirty="0"/>
              <a:t>Delete data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US" sz="4000" b="1" dirty="0"/>
              <a:t>Why use ADO.NET?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Before ADO.NET, connecting to databases was manual and complex, often tied to specific database vendors.</a:t>
            </a:r>
            <a:br>
              <a:rPr lang="en-US" sz="4000" dirty="0"/>
            </a:br>
            <a:r>
              <a:rPr lang="en-US" sz="4000" dirty="0"/>
              <a:t>ADO.NET gives a standardized and easy way to interact with different databases.</a:t>
            </a:r>
          </a:p>
          <a:p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72307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EB3BC-0AAB-DF22-C536-139E720C8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085C0E5-620D-702B-F9B7-48182325DCFA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E0CA12-60A7-A139-8BD8-EDEE33417533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FA92646-143E-3156-9EF6-2EF9D7ACC219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01DF1D2-A784-6516-ED16-ECC138ED4018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E10CF76-EF66-8F56-C3CC-E1AFAF0CBBEB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DF2AE13-B79D-4793-480B-B4F287239856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ACE655F-91CE-E8D0-3C2F-4F8C864DF18F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AC8460B-A939-72EB-5780-8910C53D0264}"/>
              </a:ext>
            </a:extLst>
          </p:cNvPr>
          <p:cNvSpPr txBox="1"/>
          <p:nvPr/>
        </p:nvSpPr>
        <p:spPr>
          <a:xfrm>
            <a:off x="1504358" y="1937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solidFill>
                  <a:srgbClr val="7030A0"/>
                </a:solidFill>
                <a:ea typeface="+mn-lt"/>
                <a:cs typeface="+mn-lt"/>
              </a:rPr>
              <a:t>ADO.NET</a:t>
            </a:r>
            <a:endParaRPr lang="en-US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1F0D286-7D5B-D9C0-18BD-2807AC91D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FC23F9-3319-42BE-CD3D-F5AAF41361A7}"/>
              </a:ext>
            </a:extLst>
          </p:cNvPr>
          <p:cNvSpPr txBox="1"/>
          <p:nvPr/>
        </p:nvSpPr>
        <p:spPr>
          <a:xfrm>
            <a:off x="1239818" y="1225401"/>
            <a:ext cx="16038669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lang="en-US" altLang="en-US" sz="4000" b="1" dirty="0">
                <a:latin typeface="+mj-lt"/>
              </a:rPr>
              <a:t>Key Components of ADO.NET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sz="4000" b="1" dirty="0">
                <a:latin typeface="+mj-lt"/>
              </a:rPr>
              <a:t>Connection</a:t>
            </a:r>
            <a:r>
              <a:rPr lang="en-US" altLang="en-US" sz="4000" dirty="0">
                <a:latin typeface="+mj-lt"/>
              </a:rPr>
              <a:t> → Opens a link to the database.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+mj-lt"/>
              </a:rPr>
              <a:t>Example: SqlConnection (for SQL Server).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sz="4000" b="1" dirty="0">
                <a:latin typeface="+mj-lt"/>
              </a:rPr>
              <a:t>Command</a:t>
            </a:r>
            <a:r>
              <a:rPr lang="en-US" altLang="en-US" sz="4000" dirty="0">
                <a:latin typeface="+mj-lt"/>
              </a:rPr>
              <a:t> → Used to run SQL queries or stored procedures.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+mj-lt"/>
              </a:rPr>
              <a:t>Example: SqlCommand.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sz="4000" b="1" dirty="0">
                <a:latin typeface="+mj-lt"/>
              </a:rPr>
              <a:t>DataReader</a:t>
            </a:r>
            <a:r>
              <a:rPr lang="en-US" altLang="en-US" sz="4000" dirty="0">
                <a:latin typeface="+mj-lt"/>
              </a:rPr>
              <a:t> → Reads data </a:t>
            </a:r>
            <a:r>
              <a:rPr lang="en-US" altLang="en-US" sz="4000" b="1" dirty="0">
                <a:latin typeface="+mj-lt"/>
              </a:rPr>
              <a:t>fast and forward-only</a:t>
            </a:r>
            <a:r>
              <a:rPr lang="en-US" altLang="en-US" sz="4000" dirty="0">
                <a:latin typeface="+mj-lt"/>
              </a:rPr>
              <a:t> (one row at a time).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000" dirty="0">
                <a:latin typeface="+mj-lt"/>
              </a:rPr>
              <a:t>Example: SqlDataReader.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sz="4000" b="1" dirty="0">
                <a:latin typeface="+mj-lt"/>
              </a:rPr>
              <a:t>DataAdapter</a:t>
            </a:r>
            <a:r>
              <a:rPr lang="en-US" altLang="en-US" sz="4000" dirty="0">
                <a:latin typeface="+mj-lt"/>
              </a:rPr>
              <a:t> → Acts as a bridge between database and DataSet.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sz="4000" b="1" dirty="0">
                <a:latin typeface="+mj-lt"/>
              </a:rPr>
              <a:t>DataSet / DataTable</a:t>
            </a:r>
            <a:r>
              <a:rPr lang="en-US" altLang="en-US" sz="4000" dirty="0">
                <a:latin typeface="+mj-lt"/>
              </a:rPr>
              <a:t> → Stores data in memory (like an offline copy)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1426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5FE06-BDE0-CD99-D9B4-9403E8712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0D1C1D-E468-9992-1DD1-0CEE8479FD30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62FE7AC-E89E-05A1-F1B9-7B1B4BD37B6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EF738DA-B0DE-4D88-220C-2B4F6D7BCC2D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5C28C3F-BCC2-1ED0-65E6-D1F1351110B9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7B32D7D-C762-70E8-2BBF-6BD0ACD72660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CFD51C04-B812-8283-A8EB-BF08519865D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8CBB36F-8D4F-215C-854A-51BB532EF82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E37F2F4-A1FF-A433-4A8C-C3EFE1EB7CF7}"/>
              </a:ext>
            </a:extLst>
          </p:cNvPr>
          <p:cNvSpPr txBox="1"/>
          <p:nvPr/>
        </p:nvSpPr>
        <p:spPr>
          <a:xfrm>
            <a:off x="290525" y="193718"/>
            <a:ext cx="16987961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Structuring an API using a Service Layer For logic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B5A5E5A0-9685-F410-6066-4E51AD8B7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F08F7E-9D41-AED5-0611-F696BA94CF87}"/>
              </a:ext>
            </a:extLst>
          </p:cNvPr>
          <p:cNvSpPr txBox="1"/>
          <p:nvPr/>
        </p:nvSpPr>
        <p:spPr>
          <a:xfrm>
            <a:off x="1068131" y="3051999"/>
            <a:ext cx="16038669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A well-structured API separates code into distinct layers for maintainability.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 </a:t>
            </a:r>
            <a:r>
              <a:rPr lang="en-US" sz="4000" b="1" dirty="0"/>
              <a:t>Controller</a:t>
            </a:r>
            <a:r>
              <a:rPr lang="en-US" sz="4000" dirty="0"/>
              <a:t> layer handles raw HTTP requests and responses. It should be "thin."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 </a:t>
            </a:r>
            <a:r>
              <a:rPr lang="en-US" sz="4000" b="1" dirty="0"/>
              <a:t>Service Layer</a:t>
            </a:r>
            <a:r>
              <a:rPr lang="en-US" sz="4000" dirty="0"/>
              <a:t> contains the core business logic, validation, and orchestration.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The </a:t>
            </a:r>
            <a:r>
              <a:rPr lang="en-US" sz="4000" b="1" dirty="0"/>
              <a:t>Data Access Layer (DAL)</a:t>
            </a:r>
            <a:r>
              <a:rPr lang="en-US" sz="4000" dirty="0"/>
              <a:t> is responsible for all direct database communication.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This separation makes your application easier to test, reuse, and scale.</a:t>
            </a:r>
          </a:p>
          <a:p>
            <a:br>
              <a:rPr lang="en-US" sz="4000" dirty="0"/>
            </a:br>
            <a:endParaRPr lang="en-US" altLang="en-US" sz="4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20803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34181-1684-9E14-9E61-3410F5957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F23BCD8-3E2C-6281-0BA3-AB003F1D081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AF4124F-544F-B43B-44A6-000B3FE0AD1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2C218DB-2901-86DF-DB00-FB62FA9A4FEA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35FC77C-E76A-CD52-C3FD-D34B2C2E4F5C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C38A77E-C5A5-D860-9A30-4941BEA1CD9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6A0E354-8B1E-2447-775C-6EE118E7E9D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0662BB7-CF2D-FC6B-58B2-D5AE10D31B2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F2E3049-D430-4801-2654-05D6C49E3881}"/>
              </a:ext>
            </a:extLst>
          </p:cNvPr>
          <p:cNvSpPr txBox="1"/>
          <p:nvPr/>
        </p:nvSpPr>
        <p:spPr>
          <a:xfrm>
            <a:off x="290525" y="193718"/>
            <a:ext cx="16987961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Structuring an API using a Service Layer For logic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149B1C9-73D5-7104-C86A-5A281CFF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12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29E8EAF-61A1-5DA6-E654-C0D7687B6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13588"/>
              </p:ext>
            </p:extLst>
          </p:nvPr>
        </p:nvGraphicFramePr>
        <p:xfrm>
          <a:off x="290525" y="2847634"/>
          <a:ext cx="17868723" cy="6854916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956241">
                  <a:extLst>
                    <a:ext uri="{9D8B030D-6E8A-4147-A177-3AD203B41FA5}">
                      <a16:colId xmlns:a16="http://schemas.microsoft.com/office/drawing/2014/main" val="1530072320"/>
                    </a:ext>
                  </a:extLst>
                </a:gridCol>
                <a:gridCol w="5956241">
                  <a:extLst>
                    <a:ext uri="{9D8B030D-6E8A-4147-A177-3AD203B41FA5}">
                      <a16:colId xmlns:a16="http://schemas.microsoft.com/office/drawing/2014/main" val="3213879654"/>
                    </a:ext>
                  </a:extLst>
                </a:gridCol>
                <a:gridCol w="5956241">
                  <a:extLst>
                    <a:ext uri="{9D8B030D-6E8A-4147-A177-3AD203B41FA5}">
                      <a16:colId xmlns:a16="http://schemas.microsoft.com/office/drawing/2014/main" val="3359472325"/>
                    </a:ext>
                  </a:extLst>
                </a:gridCol>
              </a:tblGrid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 dirty="0">
                          <a:effectLst/>
                        </a:rPr>
                        <a:t>Layer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Responsibility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Analogy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02375"/>
                  </a:ext>
                </a:extLst>
              </a:tr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 dirty="0">
                          <a:effectLst/>
                        </a:rPr>
                        <a:t>Controller Layer</a:t>
                      </a:r>
                      <a:endParaRPr lang="en-IN" sz="3000" dirty="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000">
                          <a:effectLst/>
                        </a:rPr>
                        <a:t>Handles incoming HTTP requests and outgoing HTTP responses. Translates HTTP data into C# objects.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>
                          <a:effectLst/>
                        </a:rPr>
                        <a:t>The Waiter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9725403"/>
                  </a:ext>
                </a:extLst>
              </a:tr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Service Layer</a:t>
                      </a:r>
                      <a:endParaRPr lang="en-IN" sz="30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000" dirty="0">
                          <a:effectLst/>
                        </a:rPr>
                        <a:t>Contains the core application and business logic. Validates data, performs calculations, and orchestrates calls to the data layer.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>
                          <a:effectLst/>
                        </a:rPr>
                        <a:t>The Head Chef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0399594"/>
                  </a:ext>
                </a:extLst>
              </a:tr>
              <a:tr h="164489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b="1">
                          <a:effectLst/>
                        </a:rPr>
                        <a:t>Data Access Layer (DAL)</a:t>
                      </a:r>
                      <a:endParaRPr lang="en-IN" sz="3000">
                        <a:effectLst/>
                      </a:endParaRP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3000">
                          <a:effectLst/>
                        </a:rPr>
                        <a:t>Contains all the code that directly interacts with the database (e.g., ADO.NET code, SQL queries).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3000" dirty="0">
                          <a:effectLst/>
                        </a:rPr>
                        <a:t>The Line Cook</a:t>
                      </a:r>
                    </a:p>
                  </a:txBody>
                  <a:tcPr marL="99060" marR="9906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8298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13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6E94-C9EF-B824-72D1-D08FF854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8004D1A-E2E4-B397-91CC-EC3CC6A0EFF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A9940C6-004F-6368-EC2B-6C135EF559E2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08D9BCC-1A7D-4E64-DBB4-280952185AAB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BA6E9CE-A052-EAB5-455F-0104C446A2CB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D74521D-2110-3184-0055-38D62A8E2744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371999E-9B81-9559-CD0D-DE5981D7862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AC3A77B-0537-2363-2642-35EE4DB0AFA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9F65CCD-6DEB-39A8-625B-5D41C39F9CC0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Implementing Data Access Access Logic with ADO.NET in a service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9C02372-180C-1D23-D6C9-25D462F1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13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FB1832-96DD-CCC9-245E-6E932C09BDB5}"/>
              </a:ext>
            </a:extLst>
          </p:cNvPr>
          <p:cNvSpPr txBox="1"/>
          <p:nvPr/>
        </p:nvSpPr>
        <p:spPr>
          <a:xfrm>
            <a:off x="1068131" y="3051999"/>
            <a:ext cx="160386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Data Access Layer (DAL)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encapsulates all database code.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Methods in the DAL should map to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CRUD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operations (Create, Read, Update, Delete).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Read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operations use ExecuteReader() and map the results to C# objects.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Create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,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Update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, and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Delete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operations use ExecuteNonQuery().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 DAL's public methods should always return clean C# objects, not ADO.NET objects like a DataReader.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865398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1273E-21AB-89D4-4950-A3AB0604E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6483DE2-8511-352C-81EC-07DA26987CBB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81F8F6C-1A36-C6C8-0CA6-6693292C984A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53BD73AC-79A3-BB40-E9C1-BC864444EDD5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FC7D082-061E-957B-CA66-6DB14E9F9139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3046DA4-5061-C826-378D-5D583C7347BC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018ED4BF-1748-EBAE-252B-86BDDEF81179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457FCC82-CED0-C01D-990B-064B17287714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D1FFF3D-7815-69D1-3414-EDE9E0A379CD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Ensuring Atomicity with Database Transactions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84D7BA1-5B96-648C-F284-8DFCE0A66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367D70-4CAE-1DF1-BE64-5D4411EC7A07}"/>
              </a:ext>
            </a:extLst>
          </p:cNvPr>
          <p:cNvSpPr txBox="1"/>
          <p:nvPr/>
        </p:nvSpPr>
        <p:spPr>
          <a:xfrm>
            <a:off x="1068131" y="3051999"/>
            <a:ext cx="1603866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latin typeface="+mj-lt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A </a:t>
            </a:r>
            <a:r>
              <a:rPr lang="en-US" sz="4000" b="1" dirty="0">
                <a:latin typeface="+mj-lt"/>
              </a:rPr>
              <a:t>database transaction</a:t>
            </a:r>
            <a:r>
              <a:rPr lang="en-US" sz="4000" dirty="0">
                <a:latin typeface="+mj-lt"/>
              </a:rPr>
              <a:t> groups a sequence of operations into a single, logical unit of work.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Its key property is </a:t>
            </a:r>
            <a:r>
              <a:rPr lang="en-US" sz="4000" b="1" dirty="0">
                <a:latin typeface="+mj-lt"/>
              </a:rPr>
              <a:t>atomicity</a:t>
            </a:r>
            <a:r>
              <a:rPr lang="en-US" sz="4000" dirty="0">
                <a:latin typeface="+mj-lt"/>
              </a:rPr>
              <a:t>: either </a:t>
            </a:r>
            <a:r>
              <a:rPr lang="en-US" sz="4000" b="1" dirty="0">
                <a:latin typeface="+mj-lt"/>
              </a:rPr>
              <a:t>ALL</a:t>
            </a:r>
            <a:r>
              <a:rPr lang="en-US" sz="4000" dirty="0">
                <a:latin typeface="+mj-lt"/>
              </a:rPr>
              <a:t> operations succeed, or </a:t>
            </a:r>
            <a:r>
              <a:rPr lang="en-US" sz="4000" b="1" dirty="0">
                <a:latin typeface="+mj-lt"/>
              </a:rPr>
              <a:t>NONE</a:t>
            </a:r>
            <a:r>
              <a:rPr lang="en-US" sz="4000" dirty="0">
                <a:latin typeface="+mj-lt"/>
              </a:rPr>
              <a:t> of them do.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If any single operation fails, the entire transaction is </a:t>
            </a:r>
            <a:r>
              <a:rPr lang="en-US" sz="4000" b="1" dirty="0">
                <a:latin typeface="+mj-lt"/>
              </a:rPr>
              <a:t>rolled back</a:t>
            </a:r>
            <a:r>
              <a:rPr lang="en-US" sz="4000" dirty="0">
                <a:latin typeface="+mj-lt"/>
              </a:rPr>
              <a:t>, undoing all changes.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>
                <a:latin typeface="+mj-lt"/>
              </a:rPr>
              <a:t>Transactions are essential for maintaining data integrity and consistency.</a:t>
            </a:r>
          </a:p>
          <a:p>
            <a:br>
              <a:rPr lang="en-US" sz="4000" dirty="0">
                <a:latin typeface="+mj-lt"/>
              </a:rPr>
            </a:b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26196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BB220-1C33-69FF-C172-BC1DA29D5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78969D7-A118-DA16-5B10-3B667A285749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4360993-EADD-165F-E6E1-129D3A84CE8A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10EA1ACD-2ACD-1A0B-A951-F12AD4FDAA57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BFEA463-601E-CDF0-63D9-19465E6C57AA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B079D97-FD58-1D83-EABB-931F4C8D337A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65CBB972-C0F8-B84B-BA47-55EA8C17E1F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62B77B-7C8C-6F9D-6CBE-6D1C7CC05907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8A38CAF-97DF-2084-F9FE-145458A89C75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Starting an Explicit Transaction with ADO.NET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C92537B-E63B-D5A8-0190-9EB558140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5B7873A-6C87-63A4-8AE7-EB59089F869C}"/>
              </a:ext>
            </a:extLst>
          </p:cNvPr>
          <p:cNvSpPr txBox="1"/>
          <p:nvPr/>
        </p:nvSpPr>
        <p:spPr>
          <a:xfrm>
            <a:off x="1068131" y="3051999"/>
            <a:ext cx="16038669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In ADO.NET, you start a transaction by calling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.BeginTransaction()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on an open Connection object.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This method returns a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Transaction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object (e.g., NpgsqlTransaction).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All Command objects that are part of the transaction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must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have their .Transaction property set to this object.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 Transaction object itself is IDisposable and should be wrapped in a using statement.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181629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61F-F563-0872-C0D7-CBB1833A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6ABD9E-C0D5-5F2F-CBF1-4C8D0430BD48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B48B914-F939-E47A-E77D-45713C3F6737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1880626-92B6-C52A-30A9-9ED24B1401C9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7621FC7-98C2-43B8-C0B8-B90A98F8D8C0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579D819-3DF6-24A6-19E6-CF4408BFEEF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4BA0023-4E98-3D53-918F-E5EF018752E2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F932127-CC67-A4E1-8CD2-F59CCFEE218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1BBD07E0-DF5E-805A-6986-9DA222D481CD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Managing a Transaction with Commit and Rollback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5CE9FBF-1E72-97C8-9B07-466AB4FEE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1F5BFD4-861C-DAD0-3CF7-9F1FF5CFE6E0}"/>
              </a:ext>
            </a:extLst>
          </p:cNvPr>
          <p:cNvSpPr txBox="1"/>
          <p:nvPr/>
        </p:nvSpPr>
        <p:spPr>
          <a:xfrm>
            <a:off x="1068131" y="3051999"/>
            <a:ext cx="160386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000" dirty="0">
              <a:latin typeface="+mj-lt"/>
            </a:endParaRP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try...catch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block is the essential structure for managing transactions.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You execute all your database commands inside the try block.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The very last line of a successful try block must be </a:t>
            </a:r>
            <a:r>
              <a:rPr lang="en-US" altLang="en-US" sz="4000" b="1" dirty="0" err="1">
                <a:solidFill>
                  <a:srgbClr val="24292F"/>
                </a:solidFill>
                <a:latin typeface="+mj-lt"/>
              </a:rPr>
              <a:t>transaction.Commit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()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to make changes permanent.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If any exception occurs, the catch block is executed, where you must call </a:t>
            </a:r>
            <a:r>
              <a:rPr lang="en-US" altLang="en-US" sz="4000" b="1" dirty="0" err="1">
                <a:solidFill>
                  <a:srgbClr val="24292F"/>
                </a:solidFill>
                <a:latin typeface="+mj-lt"/>
              </a:rPr>
              <a:t>transaction.Rollback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()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to undo all changes.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lang="en-US" altLang="en-US" sz="4000" dirty="0">
                <a:latin typeface="+mj-lt"/>
              </a:rPr>
            </a:b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63823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553D5-ECE9-9E5D-B2DC-4E473346E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20DD70-E195-AF37-B4BD-DE26C692DCC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ECAD64F-F73A-1AC4-DECF-9111E0E3FBD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559C2CB-958A-6BE9-11AC-48F71AA4C321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9414221-2EBF-FE14-44A1-2D34567E5E2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348D343-2F4B-A6F7-61EE-53472F83B237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B6F1C5B-5016-A7EE-7F91-3284293AC0C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7ED9F66-26C3-B390-DFD9-89BF7ECF37A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3FC94E6-4301-2A5E-303A-0515AE9273FB}"/>
              </a:ext>
            </a:extLst>
          </p:cNvPr>
          <p:cNvSpPr txBox="1"/>
          <p:nvPr/>
        </p:nvSpPr>
        <p:spPr>
          <a:xfrm>
            <a:off x="290525" y="193718"/>
            <a:ext cx="16987961" cy="24926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7030A0"/>
                </a:solidFill>
                <a:ea typeface="+mn-lt"/>
                <a:cs typeface="+mn-lt"/>
              </a:rPr>
              <a:t>Defining API routes with Attribute Routing</a:t>
            </a:r>
            <a:endParaRPr lang="en-US" sz="8000" dirty="0">
              <a:solidFill>
                <a:srgbClr val="7030A0"/>
              </a:solidFill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E71DE43-66E9-0E82-558A-6C99FF0DA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17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E1949B-22DC-B528-208A-51D08E53D694}"/>
              </a:ext>
            </a:extLst>
          </p:cNvPr>
          <p:cNvSpPr txBox="1"/>
          <p:nvPr/>
        </p:nvSpPr>
        <p:spPr>
          <a:xfrm>
            <a:off x="1068131" y="3051999"/>
            <a:ext cx="1603866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Routing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is how ASP.NET Core maps an incoming URL to a specific controller action method.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Attribute Routing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is the preferred method for APIs, where you define routes directly on your controllers and actions.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A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[Route(...)]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attribute on the controller sets a base path (e.g., api/products).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HTTP verb attributes like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[HttpGet]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and </a:t>
            </a:r>
            <a:r>
              <a:rPr lang="en-US" altLang="en-US" sz="4000" b="1" dirty="0">
                <a:solidFill>
                  <a:srgbClr val="24292F"/>
                </a:solidFill>
                <a:latin typeface="+mj-lt"/>
              </a:rPr>
              <a:t>[HttpPost]</a:t>
            </a:r>
            <a:r>
              <a:rPr lang="en-US" altLang="en-US" sz="4000" dirty="0">
                <a:solidFill>
                  <a:srgbClr val="24292F"/>
                </a:solidFill>
                <a:latin typeface="+mj-lt"/>
              </a:rPr>
              <a:t> on the action methods complete the route.</a:t>
            </a:r>
            <a:br>
              <a:rPr lang="en-US" altLang="en-US" sz="4000" dirty="0">
                <a:latin typeface="+mj-lt"/>
              </a:rPr>
            </a:br>
            <a:endParaRPr lang="en-US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93998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8E9FE4-A73E-CC92-CC5B-962232D86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CC71D2-C735-D85F-A303-04D44B46A156}"/>
              </a:ext>
            </a:extLst>
          </p:cNvPr>
          <p:cNvSpPr txBox="1"/>
          <p:nvPr/>
        </p:nvSpPr>
        <p:spPr>
          <a:xfrm>
            <a:off x="2454442" y="2310063"/>
            <a:ext cx="1357162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0000" b="1" dirty="0"/>
              <a:t>Implementation of MVC design structure in Visual studio  </a:t>
            </a:r>
          </a:p>
        </p:txBody>
      </p:sp>
    </p:spTree>
    <p:extLst>
      <p:ext uri="{BB962C8B-B14F-4D97-AF65-F5344CB8AC3E}">
        <p14:creationId xmlns:p14="http://schemas.microsoft.com/office/powerpoint/2010/main" val="22814517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AD6BE-F179-A13A-C05D-6AC510D6C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4B74709-C462-95F8-08CD-0D0FCEF0E19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DD05D65-E3B2-A39A-4FAE-7F33521F69D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362F84B-568A-E77B-A22D-D15ACE8BD1F3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3B135D7-88A5-B84B-C023-37DC14FBFBAA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2193D8A-D774-A060-7EA8-525AFFC6FCD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81A7571D-1B77-EC80-4008-4C1C4002EA7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2C774A1-DA04-2217-CEB9-8D288A3321F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2A4B228-6952-4F52-16AC-B47AB546A649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Database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D59735C-CF7F-8165-EB3C-F9331F92E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19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9F5CF7-557E-A40D-9D5E-1EEEBD7B22EC}"/>
              </a:ext>
            </a:extLst>
          </p:cNvPr>
          <p:cNvSpPr txBox="1"/>
          <p:nvPr/>
        </p:nvSpPr>
        <p:spPr>
          <a:xfrm>
            <a:off x="1889440" y="1917095"/>
            <a:ext cx="15406007" cy="93256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Choose a database (SQL Server, SQLite, etc.)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Create tables and relationships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sp>
        <p:nvSpPr>
          <p:cNvPr id="15" name="Flowchart: Alternate Process 14">
            <a:extLst>
              <a:ext uri="{FF2B5EF4-FFF2-40B4-BE49-F238E27FC236}">
                <a16:creationId xmlns:a16="http://schemas.microsoft.com/office/drawing/2014/main" id="{56FF8574-F16B-5592-D661-B9A22FA1B8C7}"/>
              </a:ext>
            </a:extLst>
          </p:cNvPr>
          <p:cNvSpPr/>
          <p:nvPr/>
        </p:nvSpPr>
        <p:spPr>
          <a:xfrm>
            <a:off x="2273422" y="4191790"/>
            <a:ext cx="7724274" cy="2287272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F63637-60F1-2B1A-7F44-3D0CC05F1128}"/>
              </a:ext>
            </a:extLst>
          </p:cNvPr>
          <p:cNvSpPr txBox="1"/>
          <p:nvPr/>
        </p:nvSpPr>
        <p:spPr>
          <a:xfrm>
            <a:off x="2273422" y="4414070"/>
            <a:ext cx="75317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4000" dirty="0"/>
              <a:t>Create database database_name;</a:t>
            </a:r>
          </a:p>
          <a:p>
            <a:pPr lvl="1" fontAlgn="base"/>
            <a:endParaRPr lang="en-US" sz="4000" dirty="0"/>
          </a:p>
          <a:p>
            <a:pPr lvl="1" fontAlgn="base"/>
            <a:r>
              <a:rPr lang="en-US" sz="4000" dirty="0"/>
              <a:t>Use database_name;</a:t>
            </a:r>
          </a:p>
        </p:txBody>
      </p:sp>
      <p:sp>
        <p:nvSpPr>
          <p:cNvPr id="20" name="Flowchart: Alternate Process 19">
            <a:extLst>
              <a:ext uri="{FF2B5EF4-FFF2-40B4-BE49-F238E27FC236}">
                <a16:creationId xmlns:a16="http://schemas.microsoft.com/office/drawing/2014/main" id="{126F8213-97B9-26AA-B912-D8AF0AA6B6B9}"/>
              </a:ext>
            </a:extLst>
          </p:cNvPr>
          <p:cNvSpPr/>
          <p:nvPr/>
        </p:nvSpPr>
        <p:spPr>
          <a:xfrm>
            <a:off x="2177318" y="6884753"/>
            <a:ext cx="8940037" cy="3249957"/>
          </a:xfrm>
          <a:prstGeom prst="flowChartAlternateProcess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F3D9792-6ABF-1C06-857D-B0D2482E18B1}"/>
              </a:ext>
            </a:extLst>
          </p:cNvPr>
          <p:cNvSpPr txBox="1"/>
          <p:nvPr/>
        </p:nvSpPr>
        <p:spPr>
          <a:xfrm>
            <a:off x="2730770" y="7039782"/>
            <a:ext cx="7688577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fontAlgn="base"/>
            <a:r>
              <a:rPr lang="en-US" sz="4000" dirty="0"/>
              <a:t>Create table employee Id (</a:t>
            </a:r>
          </a:p>
          <a:p>
            <a:pPr lvl="1" fontAlgn="base"/>
            <a:r>
              <a:rPr lang="en-US" sz="4000" dirty="0"/>
              <a:t> INT PRIMARY KEY IDENTITY,</a:t>
            </a:r>
          </a:p>
          <a:p>
            <a:pPr lvl="1" fontAlgn="base"/>
            <a:r>
              <a:rPr lang="en-US" sz="4000" dirty="0"/>
              <a:t>  Name VARCHAR(100),</a:t>
            </a:r>
          </a:p>
          <a:p>
            <a:pPr lvl="1" fontAlgn="base"/>
            <a:r>
              <a:rPr lang="en-US" sz="4000" dirty="0"/>
              <a:t>  Email VARCHAR(100)</a:t>
            </a:r>
          </a:p>
          <a:p>
            <a:pPr lvl="1" fontAlgn="base"/>
            <a:r>
              <a:rPr lang="en-US" sz="4000" dirty="0"/>
              <a:t>);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7A75CB2-AE21-185D-4128-5217899F53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1541" y="3142350"/>
            <a:ext cx="4708947" cy="4708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518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E3CE2-3791-FE94-3E67-6240B1FC6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A95B01-A495-B76B-8C4C-AD2E3C26F06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AC607B1-99BF-C776-FD29-2CB80D018C36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FFD6DF-A57D-83CC-C600-47B69E4BCDDF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3DD6985-49D2-CF33-888D-E9B27EBABF41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C8E3095-75E5-536F-A399-3FC99F23F295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376B3C21-10A0-740E-7C8E-93A965BD2A2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775D072-6AB0-AFD4-530E-C8FB2E2FA0AD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7B16658-FDD2-11B0-3D79-F6C4BD880A69}"/>
              </a:ext>
            </a:extLst>
          </p:cNvPr>
          <p:cNvSpPr txBox="1"/>
          <p:nvPr/>
        </p:nvSpPr>
        <p:spPr>
          <a:xfrm>
            <a:off x="128752" y="116317"/>
            <a:ext cx="18159248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ea typeface="+mn-lt"/>
                <a:cs typeface="+mn-lt"/>
              </a:rPr>
              <a:t>Data Connection with NpgsqlConnection</a:t>
            </a:r>
            <a:endParaRPr lang="en-US" sz="8000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A0A0FE0-162D-69BF-1C5A-5AC7CF309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20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1EAF57-6BE3-30AF-AA80-74FEA630B86A}"/>
              </a:ext>
            </a:extLst>
          </p:cNvPr>
          <p:cNvSpPr txBox="1"/>
          <p:nvPr/>
        </p:nvSpPr>
        <p:spPr>
          <a:xfrm>
            <a:off x="1889440" y="1917095"/>
            <a:ext cx="15406007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500" dirty="0">
              <a:latin typeface="+mj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Npgsql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is the official .NET data provider for the PostgreSQL database.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You must add the Npgsql </a:t>
            </a: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NuGet package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to your project to use it.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The </a:t>
            </a: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NpgsqlConnection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class is the specific ADO.NET component for connecting to PostgreSQL.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You must always properly open, close, and dispose of the connection, preferably with a </a:t>
            </a:r>
            <a:r>
              <a:rPr lang="en-US" altLang="en-US" sz="4500" b="1" dirty="0">
                <a:solidFill>
                  <a:srgbClr val="24292F"/>
                </a:solidFill>
                <a:latin typeface="+mj-lt"/>
              </a:rPr>
              <a:t>using</a:t>
            </a:r>
            <a:r>
              <a:rPr lang="en-US" altLang="en-US" sz="4500" dirty="0">
                <a:solidFill>
                  <a:srgbClr val="24292F"/>
                </a:solidFill>
                <a:latin typeface="+mj-lt"/>
              </a:rPr>
              <a:t> statement.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45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480557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62980-CDB4-3C4D-B93F-0AB121AB1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901A481-CE3D-5C30-9240-00A24AB28003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6D596A6-99D0-6D71-1489-7FDD17AEEB92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70AD56BD-6BEE-EEF2-5C7B-E2823C01E620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D05E63A-F946-BBAF-AA8A-2544459B7A22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AB2EFF6-06DF-83B7-147E-ACCD073C79B2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1DD37A9-BE2B-C545-4D24-84FBA3DEE5B7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AE8544D-FB10-C619-78C9-D48939B3140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9380199-35D4-52BF-7D42-B2C234F5AAD4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Connect with  .NET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7C2F6A4-164A-E9A6-7A9C-0550211F1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21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AEFC996-56ED-5103-19C8-AB88CF2B6DAB}"/>
              </a:ext>
            </a:extLst>
          </p:cNvPr>
          <p:cNvSpPr txBox="1"/>
          <p:nvPr/>
        </p:nvSpPr>
        <p:spPr>
          <a:xfrm>
            <a:off x="259109" y="1576923"/>
            <a:ext cx="15406007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dirty="0"/>
              <a:t>:</a:t>
            </a:r>
          </a:p>
          <a:p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r>
              <a:rPr lang="en-IN" sz="4000" dirty="0"/>
              <a:t>Add connection string in appsettings.json :</a:t>
            </a: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A68DD81-FB57-E9C4-F551-B8D889E885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1" y="3864195"/>
            <a:ext cx="11264553" cy="3953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E7027C-67D9-E74E-C4B7-7FDB213152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31354" y="3713857"/>
            <a:ext cx="5956646" cy="458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093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715A17-BB88-29D6-8BB2-75A90C834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463C2DE-33BC-4599-9F6C-06960A0896D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89441E2-FEBA-D716-0391-D71B4EB51E85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D92FA74-6F01-629D-5D52-8D2D971D9067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7DCE6FC-24EB-0CBE-2F83-41F6EEA414E5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7552050-8400-6C59-43FF-0D7C4A7FD4EB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5D509DD-9E9E-4701-A0DE-9297F977CD5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D8E88C9-DAD2-3891-B4EF-E46B9E6001E5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F597513-A9EA-29BB-2E1C-AC5B26624312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the Model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7A744B4-C744-2F02-3553-B24E2F21F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22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C4654B-7F04-ED83-9971-E8692BDFD550}"/>
              </a:ext>
            </a:extLst>
          </p:cNvPr>
          <p:cNvSpPr txBox="1"/>
          <p:nvPr/>
        </p:nvSpPr>
        <p:spPr>
          <a:xfrm>
            <a:off x="1889440" y="1917095"/>
            <a:ext cx="15406007" cy="809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Create a model class that maps to your table: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marL="571500" indent="-571500" fontAlgn="base">
              <a:buFont typeface="Arial" panose="020B0604020202020204" pitchFamily="34" charset="0"/>
              <a:buChar char="•"/>
            </a:pPr>
            <a:r>
              <a:rPr lang="en-IN" sz="4000" dirty="0"/>
              <a:t>Add model to DbContext :</a:t>
            </a: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B3E497F-BCCC-F781-78AC-E7ACDC5FBE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4485" y="3492115"/>
            <a:ext cx="8614610" cy="228727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280F6F2-9B16-3628-D69C-A3CBFC71A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4485" y="7348353"/>
            <a:ext cx="8614610" cy="102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141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50A0-1921-5502-9D35-AA6670667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1F81D7-4300-F468-12E7-BBF82B5322AF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413F9F2-D4B2-D873-BFBD-C2EC528F1541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86D7460-D181-C66D-BA2C-AD2732539300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0A913F51-1A2F-66F4-196F-D5EF541092AF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D4CCD899-89D0-9FDA-C237-48C76AA15DBF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FC9B070-49ED-0481-7EA7-E961FBE9A93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5BB56BB-19EC-9B14-2BB8-ACE5874F2E1A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549E1B5-DE9E-13EC-E55A-09B8DBCAF832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the DbContext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73D562A-BF02-916F-4BD1-9A71331AA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23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B1CB327-3858-81FC-4A88-0AC34BD084AD}"/>
              </a:ext>
            </a:extLst>
          </p:cNvPr>
          <p:cNvSpPr txBox="1"/>
          <p:nvPr/>
        </p:nvSpPr>
        <p:spPr>
          <a:xfrm>
            <a:off x="259109" y="1576923"/>
            <a:ext cx="18028891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Steps</a:t>
            </a:r>
            <a:r>
              <a:rPr lang="en-US" sz="4000" dirty="0">
                <a:latin typeface="+mj-lt"/>
              </a:rPr>
              <a:t>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4000" dirty="0">
                <a:latin typeface="+mj-lt"/>
              </a:rPr>
              <a:t>Add Data/</a:t>
            </a:r>
            <a:r>
              <a:rPr lang="en-IN" sz="4000" dirty="0" err="1">
                <a:latin typeface="+mj-lt"/>
              </a:rPr>
              <a:t>AppDbContext.cs</a:t>
            </a:r>
            <a:r>
              <a:rPr lang="en-IN" sz="4000" dirty="0">
                <a:latin typeface="+mj-lt"/>
              </a:rPr>
              <a:t> : 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DbContext is the bridge between your C# code and your SQL Server database.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It represents a session with the database 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77C500-6B5A-4030-3548-3D59553D2C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3496" y="4318657"/>
            <a:ext cx="12481876" cy="54509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78274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75D9-FE1C-C980-C27A-8F418318A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B04906-149C-7721-7E35-86FA4CA1887A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32B3D4-D1BF-A20B-5D06-72C959745870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641D2F5-D70E-BEB9-79EA-16B9B4D7714A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BF2EC4C-34A4-063D-11FC-37036071D585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E55F0126-D166-D8A4-70BE-2CB7322455F8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E43C73A-8777-F306-EB05-3B82E4E0410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B7E4C4C-D783-61DB-9822-5A1C58CD7B83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A5DA377-1DE4-2483-A6D7-0AC45DEC71A4}"/>
              </a:ext>
            </a:extLst>
          </p:cNvPr>
          <p:cNvSpPr txBox="1"/>
          <p:nvPr/>
        </p:nvSpPr>
        <p:spPr>
          <a:xfrm>
            <a:off x="673768" y="309918"/>
            <a:ext cx="1622406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Register DbContext in Program.cs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F572FB1-0887-F1F7-7FBC-016F5B707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24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71999D-76D8-E454-D078-3104BBA07CF9}"/>
              </a:ext>
            </a:extLst>
          </p:cNvPr>
          <p:cNvSpPr txBox="1"/>
          <p:nvPr/>
        </p:nvSpPr>
        <p:spPr>
          <a:xfrm>
            <a:off x="673768" y="2528510"/>
            <a:ext cx="18028891" cy="6863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Steps</a:t>
            </a:r>
            <a:r>
              <a:rPr lang="en-US" sz="4000" dirty="0">
                <a:latin typeface="+mj-lt"/>
              </a:rPr>
              <a:t>: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AA6A19-A793-381B-7DAB-C46CBCA27F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432" y="3477524"/>
            <a:ext cx="15629136" cy="5608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0937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E24B3-DF0B-2915-7D6D-CC53137DF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7683261-3D09-C4CD-7813-094FAFDB2CCD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ABAC88-D304-52C1-EC7C-CCF57AA86D7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39904E0-7C5B-BEDC-316A-AAD2C5A3DD58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68C07AB-FFBA-2F4D-EE7B-121107E14DB3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F8349B8-A4DE-CCB0-5279-D46DE52487BE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3791A07-2C4D-9295-EBEF-A21DDA6C47D0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CD7914-9AAF-0814-95A2-1E3A13D867C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C0817C9-4192-7208-E876-6DD6C0423131}"/>
              </a:ext>
            </a:extLst>
          </p:cNvPr>
          <p:cNvSpPr txBox="1"/>
          <p:nvPr/>
        </p:nvSpPr>
        <p:spPr>
          <a:xfrm>
            <a:off x="673768" y="309918"/>
            <a:ext cx="1622406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Code-First and Data-First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1C2A268-55A4-10BA-511C-97BF7EA7F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801147-CD12-0892-0F62-9947714F2F41}"/>
              </a:ext>
            </a:extLst>
          </p:cNvPr>
          <p:cNvSpPr txBox="1"/>
          <p:nvPr/>
        </p:nvSpPr>
        <p:spPr>
          <a:xfrm>
            <a:off x="128751" y="1675061"/>
            <a:ext cx="18159249" cy="8710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4000" b="1" dirty="0">
                <a:latin typeface="+mj-lt"/>
              </a:rPr>
              <a:t>Steps: </a:t>
            </a:r>
          </a:p>
          <a:p>
            <a:pPr marL="742950" lvl="0" indent="-74295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4000" b="1" dirty="0">
                <a:latin typeface="+mj-lt"/>
              </a:rPr>
              <a:t>If</a:t>
            </a:r>
            <a:r>
              <a:rPr lang="en-US" altLang="en-US" sz="4000" b="1" dirty="0">
                <a:latin typeface="+mj-lt"/>
              </a:rPr>
              <a:t> you want Code-First (let EF create tables): add and apply migrations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+mj-lt"/>
              </a:rPr>
              <a:t>In Visual Studio Package Manager Console: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+mj-lt"/>
              </a:rPr>
              <a:t>							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4000" dirty="0">
                <a:latin typeface="+mj-lt"/>
              </a:rPr>
              <a:t>							This will create the Users table according to your 								model. </a:t>
            </a:r>
          </a:p>
          <a:p>
            <a:pPr marL="742950" indent="-742950">
              <a:buFont typeface="+mj-lt"/>
              <a:buAutoNum type="arabicPeriod" startAt="2"/>
            </a:pPr>
            <a:r>
              <a:rPr lang="en-US" sz="4000" b="1" dirty="0"/>
              <a:t>If you already have an existing database (Database-First): scaffold model + context</a:t>
            </a:r>
            <a:endParaRPr lang="en-US" sz="4000" b="1" dirty="0">
              <a:latin typeface="+mj-lt"/>
            </a:endParaRPr>
          </a:p>
          <a:p>
            <a:r>
              <a:rPr lang="en-IN" sz="4000" dirty="0"/>
              <a:t>Package Manager Console:</a:t>
            </a:r>
          </a:p>
          <a:p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8D713C6-BB60-BC5E-EB0C-FEC4394BE8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430" y="3758249"/>
            <a:ext cx="5122528" cy="1684434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90FC6E-2C00-C605-827D-68165E4ACFBA}"/>
              </a:ext>
            </a:extLst>
          </p:cNvPr>
          <p:cNvSpPr/>
          <p:nvPr/>
        </p:nvSpPr>
        <p:spPr>
          <a:xfrm>
            <a:off x="811944" y="7519770"/>
            <a:ext cx="16664110" cy="269265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19F13-FD74-F25F-4DB9-B28E24EB3E73}"/>
              </a:ext>
            </a:extLst>
          </p:cNvPr>
          <p:cNvSpPr txBox="1"/>
          <p:nvPr/>
        </p:nvSpPr>
        <p:spPr>
          <a:xfrm>
            <a:off x="1112125" y="7519770"/>
            <a:ext cx="1606374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Scaffold-DbContext "Server=(localdb)\MSSQLLocalDB;Database=MyAppDB;Trusted_Connection=True;" </a:t>
            </a:r>
            <a:r>
              <a:rPr lang="en-IN" sz="4000" dirty="0" err="1"/>
              <a:t>Microsoft.EntityFrameworkCore.SqlServer</a:t>
            </a:r>
            <a:r>
              <a:rPr lang="en-IN" sz="4000" dirty="0"/>
              <a:t> -</a:t>
            </a:r>
            <a:r>
              <a:rPr lang="en-IN" sz="4000" dirty="0" err="1"/>
              <a:t>OutputDir</a:t>
            </a:r>
            <a:r>
              <a:rPr lang="en-IN" sz="4000" dirty="0"/>
              <a:t> Models -Context AppDbContext -DataAnnotations</a:t>
            </a:r>
          </a:p>
          <a:p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653710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B602D-4141-FBBB-4716-E99FD56BA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567856-2B29-E86C-11C4-B3E8943F5C6E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3794556-7EDB-BAA8-4997-033D9C8F095B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834E317-981B-B3DD-B65A-4CEE4EB054BB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5559F0-05EB-29E4-AE8E-E8A8241AE41D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66BD746D-08F9-FD8F-0331-FEFD16F4B642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5144616-DAF5-1EFF-66C3-E4B985D6E31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ED702AC-88D6-EEEA-CACF-5479BA5A6DB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4BCE3FF-D477-5F3D-A616-A4B04B1AD46B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Create API Controller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B12CA6C-005F-A753-B61E-E1D43EC1D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E83CD2-56D6-065B-AA4B-A1DFC9281F97}"/>
              </a:ext>
            </a:extLst>
          </p:cNvPr>
          <p:cNvSpPr txBox="1"/>
          <p:nvPr/>
        </p:nvSpPr>
        <p:spPr>
          <a:xfrm>
            <a:off x="1889440" y="1917095"/>
            <a:ext cx="15406007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latin typeface="+mj-lt"/>
              </a:rPr>
              <a:t>Steps</a:t>
            </a:r>
            <a:r>
              <a:rPr lang="en-US" sz="4000" dirty="0">
                <a:latin typeface="+mj-lt"/>
              </a:rPr>
              <a:t>:</a:t>
            </a:r>
          </a:p>
          <a:p>
            <a:pPr marL="571500" lvl="0" indent="-5715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4000" dirty="0">
                <a:latin typeface="+mj-lt"/>
              </a:rPr>
              <a:t>Add a new controller Controllers/</a:t>
            </a:r>
            <a:r>
              <a:rPr lang="en-US" altLang="en-US" sz="4000" dirty="0" err="1">
                <a:latin typeface="+mj-lt"/>
              </a:rPr>
              <a:t>UsersApiController.cs</a:t>
            </a:r>
            <a:r>
              <a:rPr lang="en-US" altLang="en-US" sz="4000" dirty="0">
                <a:latin typeface="+mj-lt"/>
              </a:rPr>
              <a:t>: 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r>
              <a:rPr lang="en-US" sz="4000" dirty="0" err="1">
                <a:latin typeface="+mj-lt"/>
              </a:rPr>
              <a:t>E.g</a:t>
            </a:r>
            <a:r>
              <a:rPr lang="en-US" sz="4000" dirty="0">
                <a:latin typeface="+mj-lt"/>
              </a:rPr>
              <a:t>,: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  <a:p>
            <a:pPr lvl="1" fontAlgn="base"/>
            <a:endParaRPr lang="en-US" sz="4000" dirty="0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5BCB59-02A7-117F-7DEE-00CADF9624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8769" y="3786099"/>
            <a:ext cx="10997246" cy="594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729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5B03-B156-92C5-3D36-022D94C7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D0DCF1-6F67-595A-DD8D-C7C27325179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08A8254-A2FF-4599-AEAF-4299DD4C1D7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CFC26D4-602E-939A-69A3-C2070373B177}"/>
              </a:ext>
            </a:extLst>
          </p:cNvPr>
          <p:cNvGrpSpPr/>
          <p:nvPr/>
        </p:nvGrpSpPr>
        <p:grpSpPr>
          <a:xfrm>
            <a:off x="962938" y="1053703"/>
            <a:ext cx="16560946" cy="9233297"/>
            <a:chOff x="-5569819" y="-3634278"/>
            <a:chExt cx="24952543" cy="1224874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3BC99DA-BBB7-C7B6-B71E-36EFDACF0469}"/>
                </a:ext>
              </a:extLst>
            </p:cNvPr>
            <p:cNvSpPr txBox="1"/>
            <p:nvPr/>
          </p:nvSpPr>
          <p:spPr>
            <a:xfrm>
              <a:off x="-5569819" y="-3634278"/>
              <a:ext cx="24952543" cy="122487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r>
                <a:rPr lang="en-US" sz="3000" b="1" u="sng" dirty="0"/>
                <a:t>Purpose:</a:t>
              </a:r>
              <a:br>
                <a:rPr lang="en-US" sz="3000" dirty="0"/>
              </a:br>
              <a:r>
                <a:rPr lang="en-US" sz="3000" dirty="0"/>
                <a:t>Controller methods (also called </a:t>
              </a:r>
              <a:r>
                <a:rPr lang="en-US" sz="3000" i="1" dirty="0"/>
                <a:t>actions</a:t>
              </a:r>
              <a:r>
                <a:rPr lang="en-US" sz="3000" dirty="0"/>
                <a:t>) handle requests and define application behavior for different operations like displaying data, saving new records, editing, or deleting entries.</a:t>
              </a:r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 panose="020B0604020202020204" pitchFamily="34" charset="0"/>
                <a:buChar char="•"/>
              </a:pPr>
              <a:r>
                <a:rPr lang="en-IN" sz="3000" b="1" u="sng" dirty="0"/>
                <a:t>Common Methods in Controller</a:t>
              </a:r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IN" sz="3000" b="1" dirty="0"/>
            </a:p>
            <a:p>
              <a:pPr marL="514350" indent="-514350">
                <a:lnSpc>
                  <a:spcPts val="3600"/>
                </a:lnSpc>
                <a:buFont typeface="+mj-lt"/>
                <a:buAutoNum type="arabicPeriod"/>
              </a:pPr>
              <a:r>
                <a:rPr lang="en-GB" sz="3000" b="1" dirty="0">
                  <a:ea typeface="+mn-lt"/>
                  <a:cs typeface="+mn-lt"/>
                </a:rPr>
                <a:t>Index() </a:t>
              </a:r>
              <a:r>
                <a:rPr lang="en-US" sz="3000" dirty="0"/>
                <a:t>– List all users</a:t>
              </a:r>
              <a:br>
                <a:rPr lang="en-US" sz="3000" dirty="0"/>
              </a:br>
              <a:r>
                <a:rPr lang="en-US" sz="3000" dirty="0"/>
                <a:t>Retrieves and displays all records from the database.</a:t>
              </a:r>
            </a:p>
            <a:p>
              <a:pPr marL="514350" indent="-514350">
                <a:lnSpc>
                  <a:spcPts val="3600"/>
                </a:lnSpc>
                <a:buFont typeface="+mj-lt"/>
                <a:buAutoNum type="arabicPeriod"/>
              </a:pPr>
              <a:endParaRPr lang="en-US" sz="3000" dirty="0"/>
            </a:p>
            <a:p>
              <a:pPr marL="514350" indent="-514350">
                <a:buFont typeface="+mj-lt"/>
                <a:buAutoNum type="arabicPeriod"/>
              </a:pPr>
              <a:r>
                <a:rPr lang="en-US" sz="3000" b="1" dirty="0">
                  <a:ea typeface="+mn-lt"/>
                  <a:cs typeface="+mn-lt"/>
                </a:rPr>
                <a:t>Create() </a:t>
              </a:r>
              <a:r>
                <a:rPr lang="en-US" sz="3000" dirty="0"/>
                <a:t>– Show form / Save new user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GET Create</a:t>
              </a:r>
              <a:r>
                <a:rPr lang="en-US" sz="3000" dirty="0"/>
                <a:t>: Displays the form to add a new user.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POST Create</a:t>
              </a:r>
              <a:r>
                <a:rPr lang="en-US" sz="3000" dirty="0"/>
                <a:t>: Saves the new user to the database.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endParaRPr lang="en-US" sz="3000" dirty="0"/>
            </a:p>
            <a:p>
              <a:pPr marL="514350" indent="-514350">
                <a:buFont typeface="+mj-lt"/>
                <a:buAutoNum type="arabicPeriod"/>
              </a:pPr>
              <a:r>
                <a:rPr lang="en-GB" sz="3000" b="1" dirty="0">
                  <a:ea typeface="+mn-lt"/>
                  <a:cs typeface="+mn-lt"/>
                </a:rPr>
                <a:t>Edit() </a:t>
              </a:r>
              <a:r>
                <a:rPr lang="en-US" sz="3000" dirty="0"/>
                <a:t>– Modify existing user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GET Edit</a:t>
              </a:r>
              <a:r>
                <a:rPr lang="en-US" sz="3000" dirty="0"/>
                <a:t>: Loads the user data into a form for editing.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POST Edit</a:t>
              </a:r>
              <a:r>
                <a:rPr lang="en-US" sz="3000" dirty="0"/>
                <a:t>: Saves the updated data.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endParaRPr lang="en-US" sz="3000" dirty="0"/>
            </a:p>
            <a:p>
              <a:pPr marL="514350" indent="-514350">
                <a:buFont typeface="+mj-lt"/>
                <a:buAutoNum type="arabicPeriod"/>
              </a:pPr>
              <a:r>
                <a:rPr lang="en-GB" sz="3000" b="1" dirty="0">
                  <a:ea typeface="+mn-lt"/>
                  <a:cs typeface="+mn-lt"/>
                </a:rPr>
                <a:t>Delete()</a:t>
              </a:r>
              <a:r>
                <a:rPr lang="en-US" sz="3000" b="1" dirty="0"/>
                <a:t> </a:t>
              </a:r>
              <a:r>
                <a:rPr lang="en-US" sz="3000" dirty="0"/>
                <a:t>– Remove a user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GET Delete</a:t>
              </a:r>
              <a:r>
                <a:rPr lang="en-US" sz="3000" dirty="0"/>
                <a:t>: Displays confirmation for deletion.</a:t>
              </a:r>
            </a:p>
            <a:p>
              <a:pPr marL="1371600" lvl="2" indent="-457200">
                <a:buFont typeface="Arial" panose="020B0604020202020204" pitchFamily="34" charset="0"/>
                <a:buChar char="•"/>
              </a:pPr>
              <a:r>
                <a:rPr lang="en-US" sz="3000" b="1" dirty="0"/>
                <a:t>POST DeleteConfirmed</a:t>
              </a:r>
              <a:r>
                <a:rPr lang="en-US" sz="3000" dirty="0"/>
                <a:t>: Deletes the user from the database.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F494A6-FE87-0FEF-116B-2227BCDD096F}"/>
                </a:ext>
              </a:extLst>
            </p:cNvPr>
            <p:cNvSpPr txBox="1"/>
            <p:nvPr/>
          </p:nvSpPr>
          <p:spPr>
            <a:xfrm>
              <a:off x="-1" y="-9525"/>
              <a:ext cx="15443231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EE3E86AE-11BB-01E6-83ED-E546759F1FD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E9E7507-5D0E-7044-D50C-1A30D4CB5262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5F67803-CB15-BFA2-0704-AE68FAAB3E6E}"/>
              </a:ext>
            </a:extLst>
          </p:cNvPr>
          <p:cNvSpPr txBox="1"/>
          <p:nvPr/>
        </p:nvSpPr>
        <p:spPr>
          <a:xfrm>
            <a:off x="1588991" y="67776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Add Methods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4D6559B-DBE8-7FFD-DA93-97FAD13A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27</a:t>
            </a:fld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09589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C0582-5026-EE51-9B75-370011A85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18475D-1D88-C5B3-7E4D-FF14C287B1A4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A0028C0-584B-05B9-ABAE-DFEB6E6E9FB4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D8D0181-6876-E261-735D-B9C5924CD246}"/>
              </a:ext>
            </a:extLst>
          </p:cNvPr>
          <p:cNvGrpSpPr/>
          <p:nvPr/>
        </p:nvGrpSpPr>
        <p:grpSpPr>
          <a:xfrm>
            <a:off x="1480353" y="1806984"/>
            <a:ext cx="16560946" cy="7848302"/>
            <a:chOff x="-4790225" y="-2634988"/>
            <a:chExt cx="24952543" cy="10411429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40E7A52F-4B80-4FB4-FE60-714BC3EF49EC}"/>
                </a:ext>
              </a:extLst>
            </p:cNvPr>
            <p:cNvSpPr txBox="1"/>
            <p:nvPr/>
          </p:nvSpPr>
          <p:spPr>
            <a:xfrm>
              <a:off x="-4790225" y="-2634988"/>
              <a:ext cx="24952543" cy="1041142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5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r>
                <a:rPr lang="en-US" sz="5000" dirty="0"/>
                <a:t>Example :</a:t>
              </a:r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  <a:p>
              <a:pPr marL="457200" indent="-457200">
                <a:lnSpc>
                  <a:spcPts val="3600"/>
                </a:lnSpc>
                <a:buFont typeface="Arial"/>
                <a:buChar char="•"/>
              </a:pPr>
              <a:endParaRPr lang="en-US" sz="3000" dirty="0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4DCFF032-69AE-417A-8F53-D7B17E50C82F}"/>
                </a:ext>
              </a:extLst>
            </p:cNvPr>
            <p:cNvSpPr txBox="1"/>
            <p:nvPr/>
          </p:nvSpPr>
          <p:spPr>
            <a:xfrm>
              <a:off x="-1" y="-9525"/>
              <a:ext cx="15443231" cy="6166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24DD6398-865F-7B0D-11C5-EC82E4021248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00A92775-6EFF-AFE3-AC40-5011F763FA6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6B449DC-DE92-AE53-6547-970845E547E5}"/>
              </a:ext>
            </a:extLst>
          </p:cNvPr>
          <p:cNvSpPr txBox="1"/>
          <p:nvPr/>
        </p:nvSpPr>
        <p:spPr>
          <a:xfrm>
            <a:off x="1588991" y="417090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Add Methods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22535EE-8317-40FB-C26F-7E283F775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28</a:t>
            </a:fld>
            <a:endParaRPr lang="en-GB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45F246-F05C-54ED-373E-31814704B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9785" y="3825272"/>
            <a:ext cx="10249637" cy="3924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748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BDBFA-2455-1E4D-0C96-794F2E129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DF2D5D-AC86-8DAE-EB8C-164E60BF3EEC}"/>
              </a:ext>
            </a:extLst>
          </p:cNvPr>
          <p:cNvSpPr/>
          <p:nvPr/>
        </p:nvSpPr>
        <p:spPr>
          <a:xfrm>
            <a:off x="-840884" y="24123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919B5AC-40D8-519A-5389-BA3D60CA7D7D}"/>
              </a:ext>
            </a:extLst>
          </p:cNvPr>
          <p:cNvSpPr/>
          <p:nvPr/>
        </p:nvSpPr>
        <p:spPr>
          <a:xfrm>
            <a:off x="-870441" y="284763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6407D17-7A15-ED13-8237-6F2A3797C60E}"/>
              </a:ext>
            </a:extLst>
          </p:cNvPr>
          <p:cNvGrpSpPr/>
          <p:nvPr/>
        </p:nvGrpSpPr>
        <p:grpSpPr>
          <a:xfrm>
            <a:off x="2730770" y="1985187"/>
            <a:ext cx="14535120" cy="2265783"/>
            <a:chOff x="-2906210" y="-2398587"/>
            <a:chExt cx="21900210" cy="3005753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ED24DD1-3FEF-29A6-1F67-1266929BB966}"/>
                </a:ext>
              </a:extLst>
            </p:cNvPr>
            <p:cNvSpPr txBox="1"/>
            <p:nvPr/>
          </p:nvSpPr>
          <p:spPr>
            <a:xfrm>
              <a:off x="-2906210" y="-2398587"/>
              <a:ext cx="21900210" cy="61243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ts val="3600"/>
                </a:lnSpc>
                <a:buFont typeface="Arial"/>
                <a:buChar char="•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48BD088-8FED-8BA9-3388-2D4EC5C10D8A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F4E8B05-80FD-9AE4-9317-7F6AE048B5E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3E008F6-51C3-8B3F-9F3A-A20E3D058726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9DD147A-3888-6F29-01BA-FFF3B554C3EA}"/>
              </a:ext>
            </a:extLst>
          </p:cNvPr>
          <p:cNvSpPr txBox="1"/>
          <p:nvPr/>
        </p:nvSpPr>
        <p:spPr>
          <a:xfrm>
            <a:off x="1618548" y="309918"/>
            <a:ext cx="15279283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Apply Methods in View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AB32337B-8D85-A99B-6F83-33C7AF4A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29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295160F-9083-92C0-6F8B-EB912F737D1C}"/>
              </a:ext>
            </a:extLst>
          </p:cNvPr>
          <p:cNvSpPr txBox="1"/>
          <p:nvPr/>
        </p:nvSpPr>
        <p:spPr>
          <a:xfrm>
            <a:off x="1859883" y="1897409"/>
            <a:ext cx="15406007" cy="7478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Steps</a:t>
            </a:r>
            <a:r>
              <a:rPr lang="en-US" sz="4000" b="1" dirty="0">
                <a:sym typeface="Wingdings" panose="05000000000000000000" pitchFamily="2" charset="2"/>
              </a:rPr>
              <a:t>(</a:t>
            </a:r>
            <a:r>
              <a:rPr lang="en-US" sz="4000" dirty="0">
                <a:sym typeface="Wingdings" panose="05000000000000000000" pitchFamily="2" charset="2"/>
              </a:rPr>
              <a:t>optional)</a:t>
            </a: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r>
              <a:rPr lang="en-US" sz="4000" dirty="0"/>
              <a:t>Use Razor helpers to call controller actions:</a:t>
            </a:r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endParaRPr lang="en-US" sz="4000" dirty="0"/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  <a:p>
            <a:pPr marL="1028700" lvl="1" indent="-571500" fontAlgn="base">
              <a:buFont typeface="Arial" panose="020B0604020202020204" pitchFamily="34" charset="0"/>
              <a:buChar char="•"/>
            </a:pPr>
            <a:r>
              <a:rPr lang="en-US" sz="4000" dirty="0"/>
              <a:t>Use form and @Html.BeginForm() for Create/Edit actions </a:t>
            </a:r>
          </a:p>
          <a:p>
            <a:pPr lvl="1" fontAlgn="base"/>
            <a:endParaRPr lang="en-US" sz="4000" dirty="0"/>
          </a:p>
          <a:p>
            <a:pPr lvl="1" fontAlgn="base"/>
            <a:endParaRPr lang="en-US" sz="4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8174EB0-4D3C-F381-EDB0-49526A6B58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428" y="3733101"/>
            <a:ext cx="10901204" cy="305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979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339102"/>
            <a:chOff x="-2918087" y="-1990758"/>
            <a:chExt cx="21900210" cy="3103017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31030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lnSpc>
                  <a:spcPts val="3600"/>
                </a:lnSpc>
              </a:pPr>
              <a:endParaRPr lang="en-GB" sz="3200" dirty="0">
                <a:ea typeface="+mn-lt"/>
                <a:cs typeface="+mn-lt"/>
              </a:endParaRPr>
            </a:p>
            <a:p>
              <a:pPr lvl="1" algn="just">
                <a:lnSpc>
                  <a:spcPts val="3600"/>
                </a:lnSpc>
              </a:pPr>
              <a:r>
                <a:rPr lang="en-GB" sz="3200" dirty="0">
                  <a:ea typeface="+mn-lt"/>
                  <a:cs typeface="+mn-lt"/>
                </a:rPr>
                <a:t>  </a:t>
              </a:r>
              <a:endParaRPr lang="en-GB" sz="3200" i="1" dirty="0">
                <a:ea typeface="+mn-lt"/>
                <a:cs typeface="+mn-lt"/>
              </a:endParaRPr>
            </a:p>
            <a:p>
              <a:pPr lvl="1" algn="just"/>
              <a:r>
                <a:rPr lang="en-GB" sz="3200" b="1" dirty="0">
                  <a:ea typeface="+mn-lt"/>
                  <a:cs typeface="+mn-lt"/>
                </a:rPr>
                <a:t>  </a:t>
              </a:r>
            </a:p>
            <a:p>
              <a:pPr marL="457200" lvl="1" algn="just">
                <a:lnSpc>
                  <a:spcPts val="3600"/>
                </a:lnSpc>
              </a:pPr>
              <a:endParaRPr lang="en-GB" sz="3200" i="1" dirty="0">
                <a:ea typeface="+mn-lt"/>
                <a:cs typeface="+mn-lt"/>
              </a:endParaRPr>
            </a:p>
            <a:p>
              <a:pPr marL="457200" indent="-457200" algn="just">
                <a:lnSpc>
                  <a:spcPts val="3600"/>
                </a:lnSpc>
                <a:buFont typeface="Wingdings"/>
                <a:buChar char="Ø"/>
              </a:pPr>
              <a:endParaRPr lang="en-GB" sz="3200" dirty="0"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2" cy="6166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1" y="0"/>
            <a:ext cx="18452122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9000" b="1" dirty="0">
                <a:ea typeface="+mn-lt"/>
                <a:cs typeface="+mn-lt"/>
              </a:rPr>
              <a:t>Use Cases 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30</a:t>
            </a:fld>
            <a:endParaRPr lang="en-GB">
              <a:solidFill>
                <a:schemeClr val="tx1"/>
              </a:solidFill>
            </a:endParaRP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6C12A5A-149D-693D-D531-3ECB371DD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5215669"/>
              </p:ext>
            </p:extLst>
          </p:nvPr>
        </p:nvGraphicFramePr>
        <p:xfrm>
          <a:off x="2262351" y="1907825"/>
          <a:ext cx="14535121" cy="7500732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3586353">
                  <a:extLst>
                    <a:ext uri="{9D8B030D-6E8A-4147-A177-3AD203B41FA5}">
                      <a16:colId xmlns:a16="http://schemas.microsoft.com/office/drawing/2014/main" val="1798007779"/>
                    </a:ext>
                  </a:extLst>
                </a:gridCol>
                <a:gridCol w="10948768">
                  <a:extLst>
                    <a:ext uri="{9D8B030D-6E8A-4147-A177-3AD203B41FA5}">
                      <a16:colId xmlns:a16="http://schemas.microsoft.com/office/drawing/2014/main" val="1324233541"/>
                    </a:ext>
                  </a:extLst>
                </a:gridCol>
              </a:tblGrid>
              <a:tr h="554661">
                <a:tc>
                  <a:txBody>
                    <a:bodyPr/>
                    <a:lstStyle/>
                    <a:p>
                      <a:r>
                        <a:rPr lang="en-IN" sz="4000" dirty="0"/>
                        <a:t>Topics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Use cases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271051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MVC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Clean separation of concerns for scalable web apps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331488"/>
                  </a:ext>
                </a:extLst>
              </a:tr>
              <a:tr h="554661">
                <a:tc>
                  <a:txBody>
                    <a:bodyPr/>
                    <a:lstStyle/>
                    <a:p>
                      <a:r>
                        <a:rPr lang="en-IN" sz="4000" b="1" dirty="0"/>
                        <a:t>Controllers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Handle requests, connect views &amp; models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1552312"/>
                  </a:ext>
                </a:extLst>
              </a:tr>
              <a:tr h="554661">
                <a:tc>
                  <a:txBody>
                    <a:bodyPr/>
                    <a:lstStyle/>
                    <a:p>
                      <a:r>
                        <a:rPr lang="en-IN" sz="4000" b="1" dirty="0"/>
                        <a:t>REST API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Serve data to frontends/mobile via HTTP verbs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5505047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Routing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Map URLs to actions; enable clean, dynamic paths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212081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Filters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Add logging, auth, error handling (cross-cutting logic)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0488942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Services (BL)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4000" dirty="0"/>
                        <a:t>Encapsulate business logic, injected via DI</a:t>
                      </a:r>
                      <a:endParaRPr lang="en-IN" sz="4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67061"/>
                  </a:ext>
                </a:extLst>
              </a:tr>
              <a:tr h="1021743">
                <a:tc>
                  <a:txBody>
                    <a:bodyPr/>
                    <a:lstStyle/>
                    <a:p>
                      <a:r>
                        <a:rPr lang="en-IN" sz="4000" b="1" dirty="0"/>
                        <a:t>CRUD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4000" dirty="0"/>
                        <a:t>Core data operations – Create, Read, Update, Delete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71329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12485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715879" y="1314672"/>
            <a:ext cx="13419586" cy="8972328"/>
            <a:chOff x="0" y="-208366"/>
            <a:chExt cx="15469261" cy="11963099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9587" y="-208366"/>
              <a:ext cx="15339674" cy="1196309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4000" b="1" dirty="0"/>
                <a:t>Assignment 1: Basic MVC Web App with CRUD</a:t>
              </a:r>
            </a:p>
            <a:p>
              <a:pPr>
                <a:lnSpc>
                  <a:spcPct val="150000"/>
                </a:lnSpc>
              </a:pPr>
              <a:r>
                <a:rPr lang="en-IN" sz="3200" u="sng" dirty="0"/>
                <a:t>Objective</a:t>
              </a:r>
              <a:r>
                <a:rPr lang="en-IN" sz="3200" dirty="0"/>
                <a:t>: Build a simple MVC application to manage a list of products.</a:t>
              </a:r>
            </a:p>
            <a:p>
              <a:pPr>
                <a:lnSpc>
                  <a:spcPct val="150000"/>
                </a:lnSpc>
              </a:pPr>
              <a:r>
                <a:rPr lang="en-IN" sz="3200" u="sng" dirty="0"/>
                <a:t>Tasks:</a:t>
              </a:r>
              <a:endParaRPr lang="en-IN" sz="3200" dirty="0"/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Create a Product model with properties: Id, Name, Description, Price.</a:t>
              </a:r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Create a ProductController with actions for: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Listing all products (Index)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Viewing product details (Details)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Creating a new product (Create)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Editing an existing product (Edit)</a:t>
              </a:r>
            </a:p>
            <a:p>
              <a:pPr marL="1828800" lvl="3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Deleting a product (Delete)</a:t>
              </a:r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Use in-memory data storage (e.g., a static list) to perform CRUD operations.</a:t>
              </a:r>
            </a:p>
            <a:p>
              <a:pPr marL="457200" lvl="0" indent="-4572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IN" sz="3200" dirty="0"/>
                <a:t>Implement basic routing so URLs follow RESTful conventions.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A1D36-CBB8-E70A-AF0C-F24A1A0F2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67492FE-CE8B-7B60-D894-F17E31DB7889}"/>
              </a:ext>
            </a:extLst>
          </p:cNvPr>
          <p:cNvSpPr/>
          <p:nvPr/>
        </p:nvSpPr>
        <p:spPr>
          <a:xfrm>
            <a:off x="-241610" y="-12485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EA3F84E-F654-99BF-C593-C2C621C0B7B3}"/>
              </a:ext>
            </a:extLst>
          </p:cNvPr>
          <p:cNvGrpSpPr/>
          <p:nvPr/>
        </p:nvGrpSpPr>
        <p:grpSpPr>
          <a:xfrm>
            <a:off x="715879" y="1314672"/>
            <a:ext cx="13419586" cy="9526326"/>
            <a:chOff x="0" y="-208366"/>
            <a:chExt cx="15469261" cy="1270176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9BCBACA6-97B5-D237-5BA1-3876E233C57D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9A8D9C3-D822-C8DE-0D36-3EBE5FDFEC30}"/>
                </a:ext>
              </a:extLst>
            </p:cNvPr>
            <p:cNvSpPr txBox="1"/>
            <p:nvPr/>
          </p:nvSpPr>
          <p:spPr>
            <a:xfrm>
              <a:off x="0" y="688706"/>
              <a:ext cx="13250214" cy="18466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62DC9C8-556C-8A55-FAE6-0AF03DA74F94}"/>
                </a:ext>
              </a:extLst>
            </p:cNvPr>
            <p:cNvSpPr txBox="1"/>
            <p:nvPr/>
          </p:nvSpPr>
          <p:spPr>
            <a:xfrm>
              <a:off x="129587" y="-208366"/>
              <a:ext cx="15339674" cy="127017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b="1" dirty="0"/>
                <a:t>Output Format: </a:t>
              </a:r>
              <a:r>
                <a:rPr lang="en-IN" sz="3200" dirty="0"/>
                <a:t>(e.g. for </a:t>
              </a:r>
              <a:r>
                <a:rPr lang="en-IN" sz="3200" b="1" dirty="0"/>
                <a:t>List All Products</a:t>
              </a:r>
              <a:r>
                <a:rPr lang="en-IN" sz="3200" dirty="0"/>
                <a:t> — /Products or /Products/Index) </a:t>
              </a:r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8BB7C6EE-1CAD-0A92-6289-3FAE74B555D0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F7436DE-AF6A-E427-643A-C16897F2C4A8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2880C0-FF58-F511-3C94-0C35F001D1D7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51B87284-2A4B-11B0-E415-F6BD7FA269AA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AB66F22-92CD-461B-7A0F-2E33CC7C5000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2F98B277-7A95-DAC0-3765-9780A62E1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8381C1-22C3-D827-1FEB-186FB5D0A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939" y="2552470"/>
            <a:ext cx="12673212" cy="6464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73216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C7345-573D-3D5B-5ABC-48FA2352B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>
            <a:extLst>
              <a:ext uri="{FF2B5EF4-FFF2-40B4-BE49-F238E27FC236}">
                <a16:creationId xmlns:a16="http://schemas.microsoft.com/office/drawing/2014/main" id="{5EA110A7-FAFC-00E2-0277-7D815C87EB35}"/>
              </a:ext>
            </a:extLst>
          </p:cNvPr>
          <p:cNvGrpSpPr/>
          <p:nvPr/>
        </p:nvGrpSpPr>
        <p:grpSpPr>
          <a:xfrm>
            <a:off x="-100385" y="576008"/>
            <a:ext cx="13307169" cy="9710992"/>
            <a:chOff x="-940939" y="-1193251"/>
            <a:chExt cx="15339674" cy="12947985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59354EF-793E-37A8-A9D6-235BC22417E9}"/>
                </a:ext>
              </a:extLst>
            </p:cNvPr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DD36579-9DB4-F119-398F-25250DEF1570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8792CF-3D66-C7EC-E174-C205A8AF0103}"/>
                </a:ext>
              </a:extLst>
            </p:cNvPr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6839AB7-37F5-C323-48EE-16DA92AE279D}"/>
                </a:ext>
              </a:extLst>
            </p:cNvPr>
            <p:cNvSpPr txBox="1"/>
            <p:nvPr/>
          </p:nvSpPr>
          <p:spPr>
            <a:xfrm>
              <a:off x="-940939" y="-1193251"/>
              <a:ext cx="15339674" cy="1294798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indent="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</a:tabLst>
              </a:pPr>
              <a:r>
                <a:rPr lang="en-IN" sz="4000" b="1" dirty="0">
                  <a:latin typeface="+mj-lt"/>
                </a:rPr>
                <a:t>Assignment 2: </a:t>
              </a:r>
              <a:r>
                <a:rPr lang="en-US" altLang="en-US" sz="4000" dirty="0">
                  <a:solidFill>
                    <a:srgbClr val="000000"/>
                  </a:solidFill>
                  <a:latin typeface="+mj-lt"/>
                  <a:ea typeface="Times New Roman" panose="02020603050405020304" pitchFamily="18" charset="0"/>
                  <a:cs typeface="Times New Roman" panose="02020603050405020304" pitchFamily="18" charset="0"/>
                </a:rPr>
                <a:t>RESTful API for Employee Management</a:t>
              </a:r>
              <a:endParaRPr lang="en-US" altLang="en-US" sz="4000" i="1" dirty="0">
                <a:solidFill>
                  <a:srgbClr val="2F5496"/>
                </a:solidFill>
                <a:latin typeface="+mj-lt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lvl="0" indent="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</a:tabLst>
              </a:pPr>
              <a:r>
                <a:rPr lang="en-US" altLang="en-US" sz="3200" b="1" dirty="0">
                  <a:latin typeface="+mj-lt"/>
                  <a:ea typeface="Times New Roman" panose="02020603050405020304" pitchFamily="18" charset="0"/>
                </a:rPr>
                <a:t>Objective: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Develop a REST API for employee data.</a:t>
              </a:r>
            </a:p>
            <a:p>
              <a:pPr lvl="0" indent="457200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Tasks: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Create an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Employee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model with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Id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,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Name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,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Department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,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Salary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Implement an 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EmployeeController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with REST endpoints: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GET /api/employees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List all employees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GET /api/employees/{id}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Get employee by ID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POST /api/employees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Add a new employee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PUT /api/employees/{id}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Update employee info</a:t>
              </a:r>
            </a:p>
            <a:p>
              <a:pPr lvl="4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 typeface="Symbol" panose="05050102010706020507" pitchFamily="18" charset="2"/>
                <a:buChar char="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  <a:cs typeface="Courier New" panose="02070309020205020404" pitchFamily="49" charset="0"/>
                </a:rPr>
                <a:t>DELETE /api/employees/{id}</a:t>
              </a: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 — Delete an employee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Use routing attributes to configure routes.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Return appropriate HTTP status codes.</a:t>
              </a:r>
            </a:p>
            <a:p>
              <a:pPr lvl="3" eaLnBrk="0" fontAlgn="base" hangingPunct="0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  <a:tabLst>
                  <a:tab pos="1371600" algn="l"/>
                </a:tabLst>
              </a:pPr>
              <a:r>
                <a:rPr lang="en-US" altLang="en-US" sz="3200" dirty="0">
                  <a:latin typeface="+mj-lt"/>
                  <a:ea typeface="Times New Roman" panose="02020603050405020304" pitchFamily="18" charset="0"/>
                </a:rPr>
                <a:t>Use a simple in-memory list for storage.</a:t>
              </a:r>
              <a:endParaRPr lang="en-US" altLang="en-US" sz="3200" dirty="0">
                <a:latin typeface="+mj-lt"/>
              </a:endParaRPr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5AEC590D-499D-40C9-B59D-157B4BFBDF90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80C38D0-7B1E-0865-9250-51F9C961AFE7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2AC96DB-C493-CB9F-FED2-F01A19DF19FB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F06315C-BC04-25BC-9641-7C31D6C957C6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E432114F-F165-050B-089B-79DE8B5DFBF3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2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02DFC4C-0A02-0320-319A-1731CCFF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1459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B5950-8FA2-5869-34F4-7E241C15F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362049-348E-5653-40BB-2DFD290489D8}"/>
              </a:ext>
            </a:extLst>
          </p:cNvPr>
          <p:cNvSpPr/>
          <p:nvPr/>
        </p:nvSpPr>
        <p:spPr>
          <a:xfrm>
            <a:off x="-241610" y="-124853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956E6A3D-6CB7-6F8B-2797-FBB8D4944369}"/>
              </a:ext>
            </a:extLst>
          </p:cNvPr>
          <p:cNvGrpSpPr/>
          <p:nvPr/>
        </p:nvGrpSpPr>
        <p:grpSpPr>
          <a:xfrm>
            <a:off x="715879" y="1314672"/>
            <a:ext cx="13419586" cy="8787662"/>
            <a:chOff x="0" y="-208366"/>
            <a:chExt cx="15469261" cy="11716879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75AB193C-8B0B-40B1-AB77-DB5490EF0824}"/>
                </a:ext>
              </a:extLst>
            </p:cNvPr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BD65D59-63FE-79B8-C878-0D0EDD6AB0D5}"/>
                </a:ext>
              </a:extLst>
            </p:cNvPr>
            <p:cNvSpPr txBox="1"/>
            <p:nvPr/>
          </p:nvSpPr>
          <p:spPr>
            <a:xfrm>
              <a:off x="129587" y="-208366"/>
              <a:ext cx="15339674" cy="1171687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IN" sz="3200" b="1" dirty="0"/>
                <a:t>Output Format: </a:t>
              </a:r>
              <a:r>
                <a:rPr lang="en-IN" sz="3200" dirty="0"/>
                <a:t>(e.g., for GET /api/employees)</a:t>
              </a:r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  <a:p>
              <a:pPr>
                <a:lnSpc>
                  <a:spcPct val="150000"/>
                </a:lnSpc>
              </a:pPr>
              <a:endParaRPr lang="en-IN" sz="3200" b="1" dirty="0"/>
            </a:p>
          </p:txBody>
        </p:sp>
      </p:grpSp>
      <p:sp>
        <p:nvSpPr>
          <p:cNvPr id="15" name="TextBox 15">
            <a:extLst>
              <a:ext uri="{FF2B5EF4-FFF2-40B4-BE49-F238E27FC236}">
                <a16:creationId xmlns:a16="http://schemas.microsoft.com/office/drawing/2014/main" id="{456BE7E4-A418-E1CA-BFF1-5A1514C6C11E}"/>
              </a:ext>
            </a:extLst>
          </p:cNvPr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10FF8EF-B754-6A61-2D1A-3E0F6D19DDDC}"/>
              </a:ext>
            </a:extLst>
          </p:cNvPr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A024B00-20F9-94F0-143C-62CA0F869232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EA85AC98-2962-6524-F6D5-40AFDF4B21FB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D4D47561-4ECA-B28D-D083-F32E372C2A6C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CEBC65F3-D73E-66F4-0906-2D049EAA7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67B34A-C88D-A0F0-78A1-C25079017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96" y="2791326"/>
            <a:ext cx="12762473" cy="6181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9260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234083" y="-1394325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994642" y="2076564"/>
            <a:ext cx="12392605" cy="226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marL="323850" lvl="1"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35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1CE75F-6295-B6C9-0F42-0C0E45A1C43E}"/>
              </a:ext>
            </a:extLst>
          </p:cNvPr>
          <p:cNvSpPr txBox="1"/>
          <p:nvPr/>
        </p:nvSpPr>
        <p:spPr>
          <a:xfrm>
            <a:off x="4872323" y="1745263"/>
            <a:ext cx="13465218" cy="88958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500" b="1" dirty="0"/>
              <a:t>Implement Filters in MVC</a:t>
            </a:r>
          </a:p>
          <a:p>
            <a:pPr lvl="1">
              <a:lnSpc>
                <a:spcPct val="150000"/>
              </a:lnSpc>
            </a:pPr>
            <a:r>
              <a:rPr lang="en-IN" sz="3500" dirty="0"/>
              <a:t>Objective: Use filters for authentication and logging.</a:t>
            </a:r>
          </a:p>
          <a:p>
            <a:pPr lvl="1">
              <a:lnSpc>
                <a:spcPct val="150000"/>
              </a:lnSpc>
            </a:pPr>
            <a:r>
              <a:rPr lang="en-IN" sz="3500" dirty="0"/>
              <a:t>Tasks: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Create a custom authorization filter that restricts access to certain controller actions.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Implement a logging filter that logs action execution time and details.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Apply filters globally and on specific controller actions.</a:t>
            </a:r>
          </a:p>
          <a:p>
            <a:pPr marL="1371600" lvl="2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500" dirty="0"/>
              <a:t>Demonstrate filters working in an MVC app with at least two controllers.</a:t>
            </a:r>
          </a:p>
          <a:p>
            <a:pPr>
              <a:lnSpc>
                <a:spcPct val="150000"/>
              </a:lnSpc>
            </a:pPr>
            <a:endParaRPr lang="en-IN" sz="3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02D0-888C-EF3A-3A34-0AEC74E06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EEBE88-2565-EAFF-F510-49192DEB5B36}"/>
              </a:ext>
            </a:extLst>
          </p:cNvPr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3D2D2B82-6B91-DC8A-F647-8D41894564B9}"/>
              </a:ext>
            </a:extLst>
          </p:cNvPr>
          <p:cNvSpPr txBox="1"/>
          <p:nvPr/>
        </p:nvSpPr>
        <p:spPr>
          <a:xfrm>
            <a:off x="11462747" y="533743"/>
            <a:ext cx="6368927" cy="2282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8488E98-C068-6F39-040D-F42F6ACC5DEE}"/>
              </a:ext>
            </a:extLst>
          </p:cNvPr>
          <p:cNvGrpSpPr>
            <a:grpSpLocks noChangeAspect="1"/>
          </p:cNvGrpSpPr>
          <p:nvPr/>
        </p:nvGrpSpPr>
        <p:grpSpPr>
          <a:xfrm>
            <a:off x="-1234083" y="-1394325"/>
            <a:ext cx="6064405" cy="6138747"/>
            <a:chOff x="0" y="0"/>
            <a:chExt cx="14840029" cy="14840029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AA7374E-FD81-3C77-E6E2-C1E37BA6AAB4}"/>
                </a:ext>
              </a:extLst>
            </p:cNvPr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BA4B3BA-B2B1-1790-37D4-5CDFC20DF9B0}"/>
                </a:ext>
              </a:extLst>
            </p:cNvPr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275BD7C-652C-A6CB-39A7-B4A44D2959B8}"/>
                </a:ext>
              </a:extLst>
            </p:cNvPr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66A06AA9-46FF-59DB-5D38-21BD4D21B1B9}"/>
              </a:ext>
            </a:extLst>
          </p:cNvPr>
          <p:cNvGrpSpPr/>
          <p:nvPr/>
        </p:nvGrpSpPr>
        <p:grpSpPr>
          <a:xfrm>
            <a:off x="5885020" y="520357"/>
            <a:ext cx="2025393" cy="986011"/>
            <a:chOff x="0" y="114300"/>
            <a:chExt cx="2700524" cy="1314681"/>
          </a:xfrm>
        </p:grpSpPr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222A58F-2252-1B41-1C22-320F4FA2031D}"/>
                </a:ext>
              </a:extLst>
            </p:cNvPr>
            <p:cNvSpPr txBox="1"/>
            <p:nvPr/>
          </p:nvSpPr>
          <p:spPr>
            <a:xfrm>
              <a:off x="0" y="114300"/>
              <a:ext cx="2700524" cy="411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6BEEDEBA-1BD2-5F8C-FA1B-CC5313B5E336}"/>
                </a:ext>
              </a:extLst>
            </p:cNvPr>
            <p:cNvSpPr txBox="1"/>
            <p:nvPr/>
          </p:nvSpPr>
          <p:spPr>
            <a:xfrm>
              <a:off x="0" y="676639"/>
              <a:ext cx="2700524" cy="7523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1891034D-E151-9E86-229A-1896AECC1EA5}"/>
              </a:ext>
            </a:extLst>
          </p:cNvPr>
          <p:cNvSpPr txBox="1"/>
          <p:nvPr/>
        </p:nvSpPr>
        <p:spPr>
          <a:xfrm>
            <a:off x="7118607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8BE27EF1-C3D7-8CD9-3E64-3D79593CD8D1}"/>
              </a:ext>
            </a:extLst>
          </p:cNvPr>
          <p:cNvSpPr txBox="1"/>
          <p:nvPr/>
        </p:nvSpPr>
        <p:spPr>
          <a:xfrm>
            <a:off x="6897716" y="13070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CFBD6CA-C38C-2C83-002A-0670AF8125B3}"/>
              </a:ext>
            </a:extLst>
          </p:cNvPr>
          <p:cNvSpPr txBox="1"/>
          <p:nvPr/>
        </p:nvSpPr>
        <p:spPr>
          <a:xfrm>
            <a:off x="8131304" y="912703"/>
            <a:ext cx="134751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E69B132-6654-05F9-7CAB-13DAA0E68F3B}"/>
              </a:ext>
            </a:extLst>
          </p:cNvPr>
          <p:cNvSpPr txBox="1"/>
          <p:nvPr/>
        </p:nvSpPr>
        <p:spPr>
          <a:xfrm>
            <a:off x="4337758" y="912703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59B4C37E-5130-0A87-67D2-7836D019A2E4}"/>
              </a:ext>
            </a:extLst>
          </p:cNvPr>
          <p:cNvSpPr txBox="1"/>
          <p:nvPr/>
        </p:nvSpPr>
        <p:spPr>
          <a:xfrm>
            <a:off x="4872323" y="-17471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E66B1EBA-EF96-A8E8-EF42-430F79BB4ED0}"/>
              </a:ext>
            </a:extLst>
          </p:cNvPr>
          <p:cNvSpPr txBox="1"/>
          <p:nvPr/>
        </p:nvSpPr>
        <p:spPr>
          <a:xfrm>
            <a:off x="3731819" y="421328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E3028982-7D89-C6EC-EA1E-0261CB1B1D39}"/>
              </a:ext>
            </a:extLst>
          </p:cNvPr>
          <p:cNvSpPr txBox="1"/>
          <p:nvPr/>
        </p:nvSpPr>
        <p:spPr>
          <a:xfrm>
            <a:off x="9218279" y="143142"/>
            <a:ext cx="2025393" cy="564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3197FA2D-3DE3-D1FF-8F58-2E16AED51044}"/>
              </a:ext>
            </a:extLst>
          </p:cNvPr>
          <p:cNvSpPr txBox="1"/>
          <p:nvPr/>
        </p:nvSpPr>
        <p:spPr>
          <a:xfrm>
            <a:off x="4994642" y="2076564"/>
            <a:ext cx="12392605" cy="22653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algn="just">
              <a:lnSpc>
                <a:spcPct val="150000"/>
              </a:lnSpc>
            </a:pPr>
            <a:endParaRPr lang="en-US" dirty="0"/>
          </a:p>
          <a:p>
            <a:pPr algn="just">
              <a:lnSpc>
                <a:spcPct val="150000"/>
              </a:lnSpc>
            </a:pPr>
            <a:endParaRPr lang="en-GB" sz="3200" dirty="0">
              <a:ea typeface="+mn-lt"/>
              <a:cs typeface="+mn-lt"/>
            </a:endParaRPr>
          </a:p>
          <a:p>
            <a:pPr marL="323850" lvl="1" algn="just">
              <a:lnSpc>
                <a:spcPct val="150000"/>
              </a:lnSpc>
            </a:pPr>
            <a:endParaRPr lang="en-US" dirty="0">
              <a:ea typeface="Calibri"/>
              <a:cs typeface="Calibri"/>
            </a:endParaRP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808E989-B718-8360-7F0F-A02DA4B10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solidFill>
                  <a:schemeClr val="tx1"/>
                </a:solidFill>
              </a:rPr>
              <a:pPr/>
              <a:t>36</a:t>
            </a:fld>
            <a:endParaRPr lang="en-GB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B0C773-7A6A-30EF-A747-A83346345B2D}"/>
              </a:ext>
            </a:extLst>
          </p:cNvPr>
          <p:cNvSpPr txBox="1"/>
          <p:nvPr/>
        </p:nvSpPr>
        <p:spPr>
          <a:xfrm>
            <a:off x="4730138" y="2436429"/>
            <a:ext cx="13465218" cy="80187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500" b="1" dirty="0"/>
              <a:t>Output Format </a:t>
            </a:r>
            <a:r>
              <a:rPr lang="en-IN" sz="3200" dirty="0"/>
              <a:t>:</a:t>
            </a:r>
            <a:r>
              <a:rPr lang="en-IN" sz="3200" u="sng" dirty="0"/>
              <a:t>(e.g. for Authorization Filter)</a:t>
            </a:r>
            <a:endParaRPr lang="en-IN" sz="3200" dirty="0"/>
          </a:p>
          <a:p>
            <a:pPr>
              <a:lnSpc>
                <a:spcPct val="150000"/>
              </a:lnSpc>
            </a:pPr>
            <a:endParaRPr lang="en-IN" sz="32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  <a:p>
            <a:pPr>
              <a:lnSpc>
                <a:spcPct val="150000"/>
              </a:lnSpc>
            </a:pPr>
            <a:endParaRPr lang="en-IN" sz="35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ECEC199-1C27-6A84-E688-1AC9E9B97E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030" y="4123341"/>
            <a:ext cx="13465218" cy="4856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4902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10564950" y="1264050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 dirty="0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 dirty="0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7" y="1548652"/>
            <a:ext cx="12495415" cy="4487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4"/>
              </a:rPr>
              <a:t>https://learn.microsoft.com/en-us/aspnet/core/web-api/?view=aspnetcore-7.0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r>
              <a:rPr lang="en-GB" sz="3000" dirty="0">
                <a:solidFill>
                  <a:srgbClr val="000000"/>
                </a:solidFill>
                <a:ea typeface="+mn-lt"/>
                <a:cs typeface="+mn-lt"/>
                <a:sym typeface="Assistant Regular"/>
                <a:hlinkClick r:id="rId5"/>
              </a:rPr>
              <a:t>https://learn.microsoft.com/en-us/aspnet/core/data/ef-mvc/crud?view=aspnetcore-7.0</a:t>
            </a: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GB" sz="3000" dirty="0">
              <a:solidFill>
                <a:srgbClr val="000000"/>
              </a:solidFill>
              <a:ea typeface="+mn-lt"/>
              <a:cs typeface="+mn-lt"/>
              <a:sym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GB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17061</TotalTime>
  <Words>2279</Words>
  <Application>Microsoft Office PowerPoint</Application>
  <PresentationFormat>Custom</PresentationFormat>
  <Paragraphs>458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Calibri</vt:lpstr>
      <vt:lpstr>HK Modular</vt:lpstr>
      <vt:lpstr>Heebo Black</vt:lpstr>
      <vt:lpstr>Assistant Regular</vt:lpstr>
      <vt:lpstr>Arial</vt:lpstr>
      <vt:lpstr>Horizon</vt:lpstr>
      <vt:lpstr>Wingdings</vt:lpstr>
      <vt:lpstr>Aptos</vt:lpstr>
      <vt:lpstr>Symbol</vt:lpstr>
      <vt:lpstr>Agrandir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Sierra Learning</cp:lastModifiedBy>
  <cp:revision>112</cp:revision>
  <dcterms:created xsi:type="dcterms:W3CDTF">2006-08-16T00:00:00Z</dcterms:created>
  <dcterms:modified xsi:type="dcterms:W3CDTF">2025-09-29T11:50:34Z</dcterms:modified>
  <dc:identifier>DAGpXxrSFgM</dc:identifier>
</cp:coreProperties>
</file>