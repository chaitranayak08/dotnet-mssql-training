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sldIdLst>
    <p:sldId id="256" r:id="rId2"/>
    <p:sldId id="257" r:id="rId3"/>
    <p:sldId id="258" r:id="rId4"/>
    <p:sldId id="294" r:id="rId5"/>
    <p:sldId id="275" r:id="rId6"/>
    <p:sldId id="295" r:id="rId7"/>
    <p:sldId id="276" r:id="rId8"/>
    <p:sldId id="296" r:id="rId9"/>
    <p:sldId id="290" r:id="rId10"/>
    <p:sldId id="291" r:id="rId11"/>
    <p:sldId id="297" r:id="rId12"/>
    <p:sldId id="292" r:id="rId13"/>
    <p:sldId id="277" r:id="rId14"/>
    <p:sldId id="278" r:id="rId15"/>
    <p:sldId id="298" r:id="rId16"/>
    <p:sldId id="265" r:id="rId17"/>
    <p:sldId id="287" r:id="rId18"/>
    <p:sldId id="289" r:id="rId19"/>
    <p:sldId id="288" r:id="rId20"/>
    <p:sldId id="266" r:id="rId21"/>
    <p:sldId id="267" r:id="rId22"/>
    <p:sldId id="268" r:id="rId23"/>
    <p:sldId id="269" r:id="rId24"/>
  </p:sldIdLst>
  <p:sldSz cx="18288000" cy="10287000"/>
  <p:notesSz cx="6858000" cy="9144000"/>
  <p:embeddedFontLst>
    <p:embeddedFont>
      <p:font typeface="Assistant Regular" panose="020B0604020202020204" charset="-79"/>
      <p:regular r:id="rId25"/>
    </p:embeddedFont>
    <p:embeddedFont>
      <p:font typeface="Assistant Regular Bold" panose="020B0604020202020204" charset="-79"/>
      <p:regular r:id="rId26"/>
    </p:embeddedFont>
    <p:embeddedFont>
      <p:font typeface="Heebo Black" pitchFamily="2" charset="-79"/>
      <p:regular r:id="rId27"/>
      <p:bold r:id="rId28"/>
    </p:embeddedFont>
    <p:embeddedFont>
      <p:font typeface="HK Modular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83F2A-5343-79CD-B045-87E6A60A27CD}" v="35" dt="2025-06-09T07:43:09.257"/>
    <p1510:client id="{48913760-2B4B-40AB-BAB1-5B833250FBCA}" v="14" dt="2025-06-09T08:04:28.557"/>
    <p1510:client id="{6217F43D-2A94-46AF-90C1-C85748EC6597}" v="381" dt="2025-06-07T10:14:44.837"/>
    <p1510:client id="{8F40484E-1A4A-44C5-A2E8-9A80D22FC275}" v="109" dt="2025-06-09T08:00:11.245"/>
    <p1510:client id="{C229F99B-91FC-4CCB-AA17-9B031DDDE57D}" v="63" dt="2025-06-07T10:24:52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2136" autoAdjust="0"/>
  </p:normalViewPr>
  <p:slideViewPr>
    <p:cSldViewPr snapToGrid="0">
      <p:cViewPr varScale="1">
        <p:scale>
          <a:sx n="32" d="100"/>
          <a:sy n="32" d="100"/>
        </p:scale>
        <p:origin x="115" y="6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learn.microsoft.com/en-us/aspnet/core/mvc/models/model-binding" TargetMode="External"/><Relationship Id="rId4" Type="http://schemas.openxmlformats.org/officeDocument/2006/relationships/hyperlink" Target="https://learn.microsoft.com/en-us/aspnet/core/razor-pages/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14575" y="3668501"/>
            <a:ext cx="13820413" cy="3496605"/>
            <a:chOff x="-1827648" y="-311515"/>
            <a:chExt cx="18427217" cy="4662141"/>
          </a:xfrm>
        </p:grpSpPr>
        <p:sp>
          <p:nvSpPr>
            <p:cNvPr id="3" name="TextBox 3"/>
            <p:cNvSpPr txBox="1"/>
            <p:nvPr/>
          </p:nvSpPr>
          <p:spPr>
            <a:xfrm>
              <a:off x="-1827648" y="-311515"/>
              <a:ext cx="18427217" cy="22287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sz="9600" dirty="0">
                  <a:solidFill>
                    <a:schemeClr val="bg1"/>
                  </a:solidFill>
                  <a:latin typeface="+mj-lt"/>
                  <a:ea typeface="+mn-lt"/>
                  <a:cs typeface="+mn-lt"/>
                </a:rPr>
                <a:t>Razor Pages Basics + Forms</a:t>
              </a:r>
              <a:endParaRPr lang="en-US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solidFill>
                  <a:srgbClr val="FFFFFF"/>
                </a:solidFill>
                <a:latin typeface="+mj-lt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208994" y="8302454"/>
            <a:ext cx="422394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 dirty="0">
                <a:solidFill>
                  <a:srgbClr val="FFFFFF"/>
                </a:solidFill>
                <a:latin typeface="+mj-lt"/>
                <a:ea typeface="Agrandir Bold"/>
                <a:cs typeface="Agrandir Bold"/>
                <a:sym typeface="Agrandir Bold"/>
              </a:rPr>
              <a:t>By : Mr. Shivam Supekar</a:t>
            </a:r>
            <a:endParaRPr lang="en-US" sz="3200" b="1" dirty="0">
              <a:solidFill>
                <a:srgbClr val="FFFFFF"/>
              </a:solidFill>
              <a:latin typeface="+mj-lt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048" y="954760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latin typeface="+mj-lt"/>
              </a:rPr>
              <a:pPr/>
              <a:t>1</a:t>
            </a:fld>
            <a:endParaRPr lang="en-GB" sz="2000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317BE6-C01E-CF59-618A-67FA9503F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8" b="18525"/>
          <a:stretch>
            <a:fillRect/>
          </a:stretch>
        </p:blipFill>
        <p:spPr>
          <a:xfrm>
            <a:off x="5174037" y="1233772"/>
            <a:ext cx="7507705" cy="24347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657725" y="1104900"/>
            <a:ext cx="11068050" cy="1291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+mj-lt"/>
                <a:ea typeface="Heebo Black"/>
                <a:cs typeface="Heebo Black"/>
                <a:sym typeface="Heebo Black"/>
              </a:rPr>
              <a:t>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775098" y="2912245"/>
            <a:ext cx="5548532" cy="932518"/>
            <a:chOff x="0" y="0"/>
            <a:chExt cx="7398043" cy="1243356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7" y="335404"/>
              <a:ext cx="442528" cy="456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0123" y="270697"/>
              <a:ext cx="5587920" cy="972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What are Razor pages?</a:t>
              </a:r>
              <a:endParaRPr lang="en-US" sz="2400" dirty="0">
                <a:latin typeface="+mj-lt"/>
                <a:ea typeface="Calibri"/>
                <a:cs typeface="Calibri"/>
              </a:endParaRPr>
            </a:p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endParaRPr lang="en-US" sz="2400" u="none" dirty="0">
                <a:solidFill>
                  <a:srgbClr val="33123B"/>
                </a:solidFill>
                <a:latin typeface="+mj-lt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7501" y="2912245"/>
            <a:ext cx="5548532" cy="881343"/>
            <a:chOff x="0" y="0"/>
            <a:chExt cx="7398043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Routing and navigation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75098" y="4284467"/>
            <a:ext cx="5548532" cy="881343"/>
            <a:chOff x="0" y="0"/>
            <a:chExt cx="7398044" cy="1175123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0123" y="270697"/>
              <a:ext cx="5587921" cy="4924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/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Working with HTML forms</a:t>
              </a:r>
              <a:endParaRPr lang="en-US" dirty="0">
                <a:latin typeface="+mj-lt"/>
                <a:sym typeface="Agrandir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74355" y="5911681"/>
            <a:ext cx="5548532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Horizon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Use Cases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17501" y="4284467"/>
            <a:ext cx="5548532" cy="935083"/>
            <a:chOff x="0" y="0"/>
            <a:chExt cx="7398043" cy="1246776"/>
          </a:xfrm>
        </p:grpSpPr>
        <p:grpSp>
          <p:nvGrpSpPr>
            <p:cNvPr id="35" name="Group 3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10123" y="270697"/>
              <a:ext cx="5587920" cy="976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Form Tag helpers and Model Binding</a:t>
              </a:r>
              <a:endParaRPr lang="en-US" dirty="0">
                <a:latin typeface="+mj-lt"/>
                <a:ea typeface="+mn-lt"/>
                <a:cs typeface="+mn-lt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017501" y="5854850"/>
            <a:ext cx="5548532" cy="881343"/>
            <a:chOff x="0" y="0"/>
            <a:chExt cx="7398043" cy="1175123"/>
          </a:xfrm>
        </p:grpSpPr>
        <p:grpSp>
          <p:nvGrpSpPr>
            <p:cNvPr id="45" name="Group 4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Horizon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Assignment</a:t>
              </a: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3296" y="966647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latin typeface="+mj-lt"/>
              </a:rPr>
              <a:pPr/>
              <a:t>2</a:t>
            </a:fld>
            <a:endParaRPr lang="en-GB" sz="2000">
              <a:latin typeface="+mj-lt"/>
              <a:ea typeface="Calibri"/>
              <a:cs typeface="Calibri"/>
            </a:endParaRPr>
          </a:p>
        </p:txBody>
      </p:sp>
      <p:grpSp>
        <p:nvGrpSpPr>
          <p:cNvPr id="59" name="Group 44">
            <a:extLst>
              <a:ext uri="{FF2B5EF4-FFF2-40B4-BE49-F238E27FC236}">
                <a16:creationId xmlns:a16="http://schemas.microsoft.com/office/drawing/2014/main" id="{2BD9318D-F62C-595C-ED79-4644ED29D06A}"/>
              </a:ext>
            </a:extLst>
          </p:cNvPr>
          <p:cNvGrpSpPr/>
          <p:nvPr/>
        </p:nvGrpSpPr>
        <p:grpSpPr>
          <a:xfrm>
            <a:off x="4774356" y="7435751"/>
            <a:ext cx="5548531" cy="881343"/>
            <a:chOff x="0" y="0"/>
            <a:chExt cx="7398043" cy="1175123"/>
          </a:xfrm>
        </p:grpSpPr>
        <p:grpSp>
          <p:nvGrpSpPr>
            <p:cNvPr id="60" name="Group 45">
              <a:extLst>
                <a:ext uri="{FF2B5EF4-FFF2-40B4-BE49-F238E27FC236}">
                  <a16:creationId xmlns:a16="http://schemas.microsoft.com/office/drawing/2014/main" id="{EE1B6938-CC03-20D3-D3CF-6BA95C211E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63" name="Freeform 46">
                <a:extLst>
                  <a:ext uri="{FF2B5EF4-FFF2-40B4-BE49-F238E27FC236}">
                    <a16:creationId xmlns:a16="http://schemas.microsoft.com/office/drawing/2014/main" id="{B67049FF-7DAB-AF7E-2735-870039FFAB5F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61" name="TextBox 47">
              <a:extLst>
                <a:ext uri="{FF2B5EF4-FFF2-40B4-BE49-F238E27FC236}">
                  <a16:creationId xmlns:a16="http://schemas.microsoft.com/office/drawing/2014/main" id="{E0385902-10FC-9EF6-50F9-248B3E78AC66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+mj-lt"/>
                  <a:ea typeface="Calibri"/>
                  <a:cs typeface="Calibri"/>
                </a:rPr>
                <a:t>7</a:t>
              </a:r>
            </a:p>
          </p:txBody>
        </p:sp>
        <p:sp>
          <p:nvSpPr>
            <p:cNvPr id="62" name="TextBox 48">
              <a:extLst>
                <a:ext uri="{FF2B5EF4-FFF2-40B4-BE49-F238E27FC236}">
                  <a16:creationId xmlns:a16="http://schemas.microsoft.com/office/drawing/2014/main" id="{2504A983-3E7A-EFD5-8F19-5F30731E9222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Debrief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400918" y="1470814"/>
            <a:ext cx="15687677" cy="9325630"/>
            <a:chOff x="-1991713" y="-4221609"/>
            <a:chExt cx="19426653" cy="12434167"/>
          </a:xfrm>
        </p:grpSpPr>
        <p:sp>
          <p:nvSpPr>
            <p:cNvPr id="5" name="TextBox 5"/>
            <p:cNvSpPr txBox="1"/>
            <p:nvPr/>
          </p:nvSpPr>
          <p:spPr>
            <a:xfrm>
              <a:off x="-1991713" y="-4221609"/>
              <a:ext cx="19426653" cy="1243416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v"/>
              </a:pP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What are Razor Pages?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Razor Pages is a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web application framework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 in ASP.NET Core.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Focuses on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page-based architecture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 rather than controller-based.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Introduced in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ASP.NET Core 2.0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.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Each page contains its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HTML view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 (.cshtml) and its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code-behind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 (.cshtml.cs).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Ideal for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simple CRUD apps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 and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page-centric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 applications.</a:t>
              </a:r>
            </a:p>
            <a:p>
              <a:pPr marL="457200" indent="-457200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en-IN" sz="3200" b="1" dirty="0">
                  <a:solidFill>
                    <a:schemeClr val="bg1"/>
                  </a:solidFill>
                  <a:latin typeface="+mj-lt"/>
                </a:rPr>
                <a:t>Key Features</a:t>
              </a:r>
            </a:p>
            <a:p>
              <a:pPr marL="1371600" lvl="2" indent="-4572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IN" sz="3200" dirty="0">
                  <a:solidFill>
                    <a:schemeClr val="bg1"/>
                  </a:solidFill>
                  <a:latin typeface="+mj-lt"/>
                </a:rPr>
                <a:t>Built on </a:t>
              </a:r>
              <a:r>
                <a:rPr lang="en-IN" sz="3200" b="1" dirty="0">
                  <a:solidFill>
                    <a:schemeClr val="bg1"/>
                  </a:solidFill>
                  <a:latin typeface="+mj-lt"/>
                </a:rPr>
                <a:t>ASP.NET Core MVC</a:t>
              </a:r>
              <a:r>
                <a:rPr lang="en-IN" sz="3200" dirty="0">
                  <a:solidFill>
                    <a:schemeClr val="bg1"/>
                  </a:solidFill>
                  <a:latin typeface="+mj-lt"/>
                </a:rPr>
                <a:t>.</a:t>
              </a:r>
            </a:p>
            <a:p>
              <a:pPr marL="1371600" lvl="2" indent="-4572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IN" sz="3200" dirty="0">
                  <a:solidFill>
                    <a:schemeClr val="bg1"/>
                  </a:solidFill>
                  <a:latin typeface="+mj-lt"/>
                </a:rPr>
                <a:t>Encourages </a:t>
              </a:r>
              <a:r>
                <a:rPr lang="en-IN" sz="3200" b="1" dirty="0">
                  <a:solidFill>
                    <a:schemeClr val="bg1"/>
                  </a:solidFill>
                  <a:latin typeface="+mj-lt"/>
                </a:rPr>
                <a:t>cleaner, more maintainable</a:t>
              </a:r>
              <a:r>
                <a:rPr lang="en-IN" sz="3200" dirty="0">
                  <a:solidFill>
                    <a:schemeClr val="bg1"/>
                  </a:solidFill>
                  <a:latin typeface="+mj-lt"/>
                </a:rPr>
                <a:t> page-level code.</a:t>
              </a:r>
            </a:p>
            <a:p>
              <a:pPr marL="1371600" lvl="2" indent="-4572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IN" sz="3200" dirty="0">
                  <a:solidFill>
                    <a:schemeClr val="bg1"/>
                  </a:solidFill>
                  <a:latin typeface="+mj-lt"/>
                </a:rPr>
                <a:t>Uses </a:t>
              </a:r>
              <a:r>
                <a:rPr lang="en-IN" sz="3200" b="1" dirty="0">
                  <a:solidFill>
                    <a:schemeClr val="bg1"/>
                  </a:solidFill>
                  <a:latin typeface="+mj-lt"/>
                </a:rPr>
                <a:t>PageModel</a:t>
              </a:r>
              <a:r>
                <a:rPr lang="en-IN" sz="3200" dirty="0">
                  <a:solidFill>
                    <a:schemeClr val="bg1"/>
                  </a:solidFill>
                  <a:latin typeface="+mj-lt"/>
                </a:rPr>
                <a:t> for page logic (like a mini-controller).</a:t>
              </a:r>
            </a:p>
            <a:p>
              <a:pPr marL="1371600" lvl="2" indent="-4572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IN" sz="3200" b="1" dirty="0">
                  <a:solidFill>
                    <a:schemeClr val="bg1"/>
                  </a:solidFill>
                  <a:latin typeface="+mj-lt"/>
                </a:rPr>
                <a:t>Convention-based routing</a:t>
              </a:r>
              <a:r>
                <a:rPr lang="en-IN" sz="3200" dirty="0">
                  <a:solidFill>
                    <a:schemeClr val="bg1"/>
                  </a:solidFill>
                  <a:latin typeface="+mj-lt"/>
                </a:rPr>
                <a:t> using folder structure.</a:t>
              </a:r>
            </a:p>
            <a:p>
              <a:pPr marL="1371600" lvl="2" indent="-4572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IN" sz="3200" dirty="0">
                  <a:solidFill>
                    <a:schemeClr val="bg1"/>
                  </a:solidFill>
                  <a:latin typeface="+mj-lt"/>
                </a:rPr>
                <a:t>Easier for </a:t>
              </a:r>
              <a:r>
                <a:rPr lang="en-IN" sz="3200" b="1" dirty="0">
                  <a:solidFill>
                    <a:schemeClr val="bg1"/>
                  </a:solidFill>
                  <a:latin typeface="+mj-lt"/>
                </a:rPr>
                <a:t>beginners</a:t>
              </a:r>
              <a:r>
                <a:rPr lang="en-IN" sz="3200" dirty="0">
                  <a:solidFill>
                    <a:schemeClr val="bg1"/>
                  </a:solidFill>
                  <a:latin typeface="+mj-lt"/>
                </a:rPr>
                <a:t> or smaller apps.</a:t>
              </a: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968289" y="302888"/>
            <a:ext cx="17319711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Razor Pages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38AB3A-734E-28AD-106B-E6DC74EB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</a:t>
            </a:fld>
            <a:endParaRPr lang="en-GB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9D084-D444-304F-D565-A7B7AD68F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BC34FD-FAA2-5F07-1142-A91C4DF094B6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E4AEF7D-D09C-7167-2FB0-48F2BAFF840E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25B2AF3-95B4-9D09-40AB-F3192C763DFC}"/>
              </a:ext>
            </a:extLst>
          </p:cNvPr>
          <p:cNvGrpSpPr/>
          <p:nvPr/>
        </p:nvGrpSpPr>
        <p:grpSpPr>
          <a:xfrm>
            <a:off x="1400918" y="1470814"/>
            <a:ext cx="15687677" cy="8309967"/>
            <a:chOff x="-1991713" y="-4221609"/>
            <a:chExt cx="19426653" cy="1107995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2F6DC90-604D-C666-3CF8-D10DC686A91F}"/>
                </a:ext>
              </a:extLst>
            </p:cNvPr>
            <p:cNvSpPr txBox="1"/>
            <p:nvPr/>
          </p:nvSpPr>
          <p:spPr>
            <a:xfrm>
              <a:off x="-1991713" y="-4221609"/>
              <a:ext cx="19426653" cy="110799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r>
                <a:rPr lang="en-US" sz="3200" dirty="0">
                  <a:solidFill>
                    <a:schemeClr val="bg1"/>
                  </a:solidFill>
                  <a:latin typeface="+mj-lt"/>
                </a:rPr>
                <a:t>Razor Pages vs MVC (Overview) :</a:t>
              </a: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DC9DC00-5E11-792C-2722-289066D45E26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A935AEF-A198-7B7E-F4A7-30E45DD11020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711989D-7FEA-8809-7321-7A96E3AEAD2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0F679AE-B182-C360-564D-86593E098BBC}"/>
              </a:ext>
            </a:extLst>
          </p:cNvPr>
          <p:cNvSpPr txBox="1"/>
          <p:nvPr/>
        </p:nvSpPr>
        <p:spPr>
          <a:xfrm>
            <a:off x="968289" y="302888"/>
            <a:ext cx="17319711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Razor Pages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DE19BF8-5E00-3F58-42B0-942ACA879BAC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88D2543-3340-97F7-5B8C-A1347EB49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4</a:t>
            </a:fld>
            <a:endParaRPr lang="en-GB" sz="20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4B6A1CD-BEA3-638B-EA11-2A9D4C489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869613"/>
              </p:ext>
            </p:extLst>
          </p:nvPr>
        </p:nvGraphicFramePr>
        <p:xfrm>
          <a:off x="1680905" y="2400163"/>
          <a:ext cx="15127701" cy="7551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2567">
                  <a:extLst>
                    <a:ext uri="{9D8B030D-6E8A-4147-A177-3AD203B41FA5}">
                      <a16:colId xmlns:a16="http://schemas.microsoft.com/office/drawing/2014/main" val="1663985472"/>
                    </a:ext>
                  </a:extLst>
                </a:gridCol>
                <a:gridCol w="5042567">
                  <a:extLst>
                    <a:ext uri="{9D8B030D-6E8A-4147-A177-3AD203B41FA5}">
                      <a16:colId xmlns:a16="http://schemas.microsoft.com/office/drawing/2014/main" val="3584608131"/>
                    </a:ext>
                  </a:extLst>
                </a:gridCol>
                <a:gridCol w="5042567">
                  <a:extLst>
                    <a:ext uri="{9D8B030D-6E8A-4147-A177-3AD203B41FA5}">
                      <a16:colId xmlns:a16="http://schemas.microsoft.com/office/drawing/2014/main" val="3632078268"/>
                    </a:ext>
                  </a:extLst>
                </a:gridCol>
              </a:tblGrid>
              <a:tr h="1258664">
                <a:tc>
                  <a:txBody>
                    <a:bodyPr/>
                    <a:lstStyle/>
                    <a:p>
                      <a:r>
                        <a:rPr lang="en-US" sz="3200" dirty="0"/>
                        <a:t>Feature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Razor Pages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MVC Framework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817256"/>
                  </a:ext>
                </a:extLst>
              </a:tr>
              <a:tr h="1258664">
                <a:tc>
                  <a:txBody>
                    <a:bodyPr/>
                    <a:lstStyle/>
                    <a:p>
                      <a:r>
                        <a:rPr lang="en-US" sz="3200" dirty="0"/>
                        <a:t>Structure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Page-Based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Controller-based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660697"/>
                  </a:ext>
                </a:extLst>
              </a:tr>
              <a:tr h="1258664">
                <a:tc>
                  <a:txBody>
                    <a:bodyPr/>
                    <a:lstStyle/>
                    <a:p>
                      <a:r>
                        <a:rPr lang="en-US" sz="3200" dirty="0"/>
                        <a:t>Logic Location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PageModel(.cshtml.cs)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Controllers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039632"/>
                  </a:ext>
                </a:extLst>
              </a:tr>
              <a:tr h="1258664">
                <a:tc>
                  <a:txBody>
                    <a:bodyPr/>
                    <a:lstStyle/>
                    <a:p>
                      <a:r>
                        <a:rPr lang="en-US" sz="3200" dirty="0"/>
                        <a:t>Routing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Folder-based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Attribute or convention-based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57526"/>
                  </a:ext>
                </a:extLst>
              </a:tr>
              <a:tr h="1258664">
                <a:tc>
                  <a:txBody>
                    <a:bodyPr/>
                    <a:lstStyle/>
                    <a:p>
                      <a:r>
                        <a:rPr lang="en-US" sz="3200" dirty="0"/>
                        <a:t>Use Cases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Simpler , CRUD-focused apps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Large , complex applications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424164"/>
                  </a:ext>
                </a:extLst>
              </a:tr>
              <a:tr h="1258664">
                <a:tc>
                  <a:txBody>
                    <a:bodyPr/>
                    <a:lstStyle/>
                    <a:p>
                      <a:r>
                        <a:rPr lang="en-US" sz="3200" dirty="0"/>
                        <a:t>Separation of Concerns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Moderate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Strong separation(M-V-C)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89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944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46BBC-AF90-500E-C77D-A6C0E221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87BE63-EA7F-FBE4-55AF-B7AA4EC8BEE3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C1C182-11D9-7918-235F-A5FC67EDC05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E41DB0-645C-3418-C82B-CDA12E42FFFE}"/>
              </a:ext>
            </a:extLst>
          </p:cNvPr>
          <p:cNvGrpSpPr/>
          <p:nvPr/>
        </p:nvGrpSpPr>
        <p:grpSpPr>
          <a:xfrm>
            <a:off x="1995613" y="2533826"/>
            <a:ext cx="15132853" cy="7310335"/>
            <a:chOff x="-1239435" y="-1670886"/>
            <a:chExt cx="20177139" cy="518886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7E9DEE-4E73-2FED-9AB6-E8FC4B11D8AD}"/>
                </a:ext>
              </a:extLst>
            </p:cNvPr>
            <p:cNvSpPr txBox="1"/>
            <p:nvPr/>
          </p:nvSpPr>
          <p:spPr>
            <a:xfrm>
              <a:off x="-1239435" y="-1670886"/>
              <a:ext cx="20177139" cy="51888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D258AD-64A0-BDAC-16E0-FB8021C5291D}"/>
                </a:ext>
              </a:extLst>
            </p:cNvPr>
            <p:cNvSpPr txBox="1"/>
            <p:nvPr/>
          </p:nvSpPr>
          <p:spPr>
            <a:xfrm>
              <a:off x="570133" y="-141796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099C091-E739-FFDA-7819-185F7F35E29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CD762A-A552-1B4D-D466-6ABF6A40459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BF6FCB-1B82-2758-1A6E-D4A02EC55439}"/>
              </a:ext>
            </a:extLst>
          </p:cNvPr>
          <p:cNvSpPr txBox="1"/>
          <p:nvPr/>
        </p:nvSpPr>
        <p:spPr>
          <a:xfrm>
            <a:off x="1995614" y="226810"/>
            <a:ext cx="1513285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Folder Structure Overview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2C6E55-23D9-406D-BC3D-A2931A20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5</a:t>
            </a:fld>
            <a:endParaRPr lang="en-GB" sz="2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F3294C-8F0B-DDD0-44DD-8C7A9D72E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351" y="2533826"/>
            <a:ext cx="6325500" cy="69930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06A111B-CF7C-CE62-0355-C7A8ACA5C114}"/>
              </a:ext>
            </a:extLst>
          </p:cNvPr>
          <p:cNvSpPr txBox="1"/>
          <p:nvPr/>
        </p:nvSpPr>
        <p:spPr>
          <a:xfrm>
            <a:off x="9365403" y="2243277"/>
            <a:ext cx="7828480" cy="7248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Explanation of Folder Components</a:t>
            </a:r>
          </a:p>
          <a:p>
            <a:endParaRPr lang="en-IN" sz="40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500" b="1" dirty="0">
                <a:solidFill>
                  <a:schemeClr val="bg1"/>
                </a:solidFill>
              </a:rPr>
              <a:t>Pages/</a:t>
            </a:r>
            <a:r>
              <a:rPr lang="en-IN" sz="3500" dirty="0">
                <a:solidFill>
                  <a:schemeClr val="bg1"/>
                </a:solidFill>
              </a:rPr>
              <a:t> – Main folder for all Razor Pages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500" b="1" dirty="0">
                <a:solidFill>
                  <a:schemeClr val="bg1"/>
                </a:solidFill>
              </a:rPr>
              <a:t>.cshtml</a:t>
            </a:r>
            <a:r>
              <a:rPr lang="en-IN" sz="3500" dirty="0">
                <a:solidFill>
                  <a:schemeClr val="bg1"/>
                </a:solidFill>
              </a:rPr>
              <a:t> – The HTML view with embedded Razor syntax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500" b="1" dirty="0">
                <a:solidFill>
                  <a:schemeClr val="bg1"/>
                </a:solidFill>
              </a:rPr>
              <a:t>.cshtml.cs</a:t>
            </a:r>
            <a:r>
              <a:rPr lang="en-IN" sz="3500" dirty="0">
                <a:solidFill>
                  <a:schemeClr val="bg1"/>
                </a:solidFill>
              </a:rPr>
              <a:t> – Code-behind file, also called </a:t>
            </a:r>
            <a:r>
              <a:rPr lang="en-IN" sz="3500" b="1" dirty="0">
                <a:solidFill>
                  <a:schemeClr val="bg1"/>
                </a:solidFill>
              </a:rPr>
              <a:t>PageModel</a:t>
            </a:r>
            <a:endParaRPr lang="en-IN" sz="35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500" b="1" dirty="0">
                <a:solidFill>
                  <a:schemeClr val="bg1"/>
                </a:solidFill>
              </a:rPr>
              <a:t>Shared/</a:t>
            </a:r>
            <a:r>
              <a:rPr lang="en-IN" sz="3500" dirty="0">
                <a:solidFill>
                  <a:schemeClr val="bg1"/>
                </a:solidFill>
              </a:rPr>
              <a:t> – Layouts, partial views (reused across pages)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500" b="1" dirty="0">
                <a:solidFill>
                  <a:schemeClr val="bg1"/>
                </a:solidFill>
              </a:rPr>
              <a:t>wwwroot/</a:t>
            </a:r>
            <a:r>
              <a:rPr lang="en-IN" sz="3500" dirty="0">
                <a:solidFill>
                  <a:schemeClr val="bg1"/>
                </a:solidFill>
              </a:rPr>
              <a:t> – Static files (JS, CSS, images)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500" b="1" dirty="0">
                <a:solidFill>
                  <a:schemeClr val="bg1"/>
                </a:solidFill>
              </a:rPr>
              <a:t>Program.cs</a:t>
            </a:r>
            <a:r>
              <a:rPr lang="en-IN" sz="3500" dirty="0">
                <a:solidFill>
                  <a:schemeClr val="bg1"/>
                </a:solidFill>
              </a:rPr>
              <a:t> – App startup/configuration</a:t>
            </a:r>
          </a:p>
          <a:p>
            <a:endParaRPr lang="en-IN" sz="3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255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81D647-F83D-50C8-D5EE-DED4565C9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365B86AF-5036-5B41-88EE-2772E72DCBE2}"/>
              </a:ext>
            </a:extLst>
          </p:cNvPr>
          <p:cNvGrpSpPr/>
          <p:nvPr/>
        </p:nvGrpSpPr>
        <p:grpSpPr>
          <a:xfrm>
            <a:off x="932448" y="1234337"/>
            <a:ext cx="17620247" cy="9034396"/>
            <a:chOff x="-1054657" y="-3454544"/>
            <a:chExt cx="20166808" cy="1204585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4E31968-E6A1-D7D3-FBE1-14093731D2BD}"/>
                </a:ext>
              </a:extLst>
            </p:cNvPr>
            <p:cNvSpPr txBox="1"/>
            <p:nvPr/>
          </p:nvSpPr>
          <p:spPr>
            <a:xfrm>
              <a:off x="-1054657" y="-3454544"/>
              <a:ext cx="20166808" cy="120458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b="1" dirty="0">
                  <a:solidFill>
                    <a:schemeClr val="bg1"/>
                  </a:solidFill>
                  <a:latin typeface="+mj-lt"/>
                </a:rPr>
                <a:t>What is a PageModel Class?</a:t>
              </a:r>
            </a:p>
            <a:p>
              <a:pPr marL="1828800" lvl="3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500" dirty="0">
                  <a:solidFill>
                    <a:schemeClr val="bg1"/>
                  </a:solidFill>
                  <a:latin typeface="+mj-lt"/>
                </a:rPr>
                <a:t>A </a:t>
              </a:r>
              <a:r>
                <a:rPr lang="en-US" altLang="en-US" sz="3500" b="1" dirty="0">
                  <a:solidFill>
                    <a:schemeClr val="bg1"/>
                  </a:solidFill>
                  <a:latin typeface="+mj-lt"/>
                </a:rPr>
                <a:t>PageModel</a:t>
              </a:r>
              <a:r>
                <a:rPr lang="en-US" altLang="en-US" sz="3500" dirty="0">
                  <a:solidFill>
                    <a:schemeClr val="bg1"/>
                  </a:solidFill>
                  <a:latin typeface="+mj-lt"/>
                </a:rPr>
                <a:t> is the </a:t>
              </a:r>
              <a:r>
                <a:rPr lang="en-US" altLang="en-US" sz="3500" b="1" dirty="0">
                  <a:solidFill>
                    <a:schemeClr val="bg1"/>
                  </a:solidFill>
                  <a:latin typeface="+mj-lt"/>
                </a:rPr>
                <a:t>code-behind class</a:t>
              </a:r>
              <a:r>
                <a:rPr lang="en-US" altLang="en-US" sz="3500" dirty="0">
                  <a:solidFill>
                    <a:schemeClr val="bg1"/>
                  </a:solidFill>
                  <a:latin typeface="+mj-lt"/>
                </a:rPr>
                <a:t> for a Razor Page (.cshtml file).</a:t>
              </a:r>
            </a:p>
            <a:p>
              <a:pPr marL="1828800" lvl="3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500" dirty="0">
                  <a:solidFill>
                    <a:schemeClr val="bg1"/>
                  </a:solidFill>
                  <a:latin typeface="+mj-lt"/>
                </a:rPr>
                <a:t>It handles the </a:t>
              </a:r>
              <a:r>
                <a:rPr lang="en-US" altLang="en-US" sz="3500" b="1" dirty="0">
                  <a:solidFill>
                    <a:schemeClr val="bg1"/>
                  </a:solidFill>
                  <a:latin typeface="+mj-lt"/>
                </a:rPr>
                <a:t>logic and data</a:t>
              </a:r>
              <a:r>
                <a:rPr lang="en-US" altLang="en-US" sz="3500" dirty="0">
                  <a:solidFill>
                    <a:schemeClr val="bg1"/>
                  </a:solidFill>
                  <a:latin typeface="+mj-lt"/>
                </a:rPr>
                <a:t> for the page (similar to a controller in MVC).</a:t>
              </a:r>
            </a:p>
            <a:p>
              <a:pPr marL="1828800" lvl="3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500" dirty="0">
                  <a:solidFill>
                    <a:schemeClr val="bg1"/>
                  </a:solidFill>
                  <a:latin typeface="+mj-lt"/>
                </a:rPr>
                <a:t>Located in a file with the </a:t>
              </a:r>
              <a:r>
                <a:rPr lang="en-US" altLang="en-US" sz="3500" b="1" dirty="0">
                  <a:solidFill>
                    <a:schemeClr val="bg1"/>
                  </a:solidFill>
                  <a:latin typeface="+mj-lt"/>
                </a:rPr>
                <a:t>same name</a:t>
              </a:r>
              <a:r>
                <a:rPr lang="en-US" altLang="en-US" sz="3500" dirty="0">
                  <a:solidFill>
                    <a:schemeClr val="bg1"/>
                  </a:solidFill>
                  <a:latin typeface="+mj-lt"/>
                </a:rPr>
                <a:t> as the .cshtml, but with .cshtml.cs extension.</a:t>
              </a:r>
            </a:p>
            <a:p>
              <a:pPr marL="1828800" lvl="3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500" dirty="0">
                  <a:solidFill>
                    <a:schemeClr val="bg1"/>
                  </a:solidFill>
                  <a:latin typeface="+mj-lt"/>
                </a:rPr>
                <a:t>Inherits from PageModel base class in Microsoft.AspNetCore.Mvc.RazorPages.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b="1" dirty="0">
                  <a:solidFill>
                    <a:schemeClr val="bg1"/>
                  </a:solidFill>
                  <a:latin typeface="+mj-lt"/>
                </a:rPr>
                <a:t>Purpose of PageModel</a:t>
              </a:r>
            </a:p>
            <a:p>
              <a:pPr marL="914400" lvl="1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500" dirty="0">
                  <a:solidFill>
                    <a:schemeClr val="bg1"/>
                  </a:solidFill>
                  <a:latin typeface="+mj-lt"/>
                </a:rPr>
                <a:t>Encapsulates the pages:</a:t>
              </a:r>
            </a:p>
            <a:p>
              <a:pPr marL="2286000" lvl="4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3500" b="1" dirty="0">
                  <a:solidFill>
                    <a:schemeClr val="bg1"/>
                  </a:solidFill>
                  <a:latin typeface="+mj-lt"/>
                </a:rPr>
                <a:t>Handlers</a:t>
              </a:r>
              <a:r>
                <a:rPr lang="en-US" altLang="en-US" sz="3500" dirty="0">
                  <a:solidFill>
                    <a:schemeClr val="bg1"/>
                  </a:solidFill>
                  <a:latin typeface="+mj-lt"/>
                </a:rPr>
                <a:t> (e.g., OnGet(), OnPost())</a:t>
              </a:r>
            </a:p>
            <a:p>
              <a:pPr marL="2286000" lvl="4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3500" b="1" dirty="0">
                  <a:solidFill>
                    <a:schemeClr val="bg1"/>
                  </a:solidFill>
                  <a:latin typeface="+mj-lt"/>
                </a:rPr>
                <a:t>Properties</a:t>
              </a:r>
              <a:r>
                <a:rPr lang="en-US" altLang="en-US" sz="3500" dirty="0">
                  <a:solidFill>
                    <a:schemeClr val="bg1"/>
                  </a:solidFill>
                  <a:latin typeface="+mj-lt"/>
                </a:rPr>
                <a:t> for binding data</a:t>
              </a:r>
            </a:p>
            <a:p>
              <a:pPr marL="2286000" lvl="4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3500" b="1" dirty="0">
                  <a:solidFill>
                    <a:schemeClr val="bg1"/>
                  </a:solidFill>
                  <a:latin typeface="+mj-lt"/>
                </a:rPr>
                <a:t>Dependency injection</a:t>
              </a:r>
            </a:p>
            <a:p>
              <a:pPr marL="914400" lvl="1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500" dirty="0">
                  <a:solidFill>
                    <a:schemeClr val="bg1"/>
                  </a:solidFill>
                  <a:latin typeface="+mj-lt"/>
                </a:rPr>
                <a:t>Improves </a:t>
              </a:r>
              <a:r>
                <a:rPr lang="en-US" altLang="en-US" sz="3500" b="1" dirty="0">
                  <a:solidFill>
                    <a:schemeClr val="bg1"/>
                  </a:solidFill>
                  <a:latin typeface="+mj-lt"/>
                </a:rPr>
                <a:t>code organization</a:t>
              </a:r>
              <a:r>
                <a:rPr lang="en-US" altLang="en-US" sz="3500" dirty="0">
                  <a:solidFill>
                    <a:schemeClr val="bg1"/>
                  </a:solidFill>
                  <a:latin typeface="+mj-lt"/>
                </a:rPr>
                <a:t> and separation of concerns.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1B08BB0-3B03-F4FD-296D-26FF777B344E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309A747-A853-0239-3611-E29B3CFBBFE5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F1F3D88-7CEF-1234-52BA-181275945728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C0CF9E0-637E-7CF4-C264-DC24E0F885EC}"/>
              </a:ext>
            </a:extLst>
          </p:cNvPr>
          <p:cNvSpPr txBox="1"/>
          <p:nvPr/>
        </p:nvSpPr>
        <p:spPr>
          <a:xfrm>
            <a:off x="932448" y="46331"/>
            <a:ext cx="1601861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PageModel 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09728E3-6ECE-8B63-AE20-A41A0A2BB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6</a:t>
            </a:fld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1608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D3722-B6F5-25D1-F6B1-D389394F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F708C79A-F57D-8072-FA54-AC20DB8F31EA}"/>
              </a:ext>
            </a:extLst>
          </p:cNvPr>
          <p:cNvGrpSpPr/>
          <p:nvPr/>
        </p:nvGrpSpPr>
        <p:grpSpPr>
          <a:xfrm>
            <a:off x="477648" y="1416212"/>
            <a:ext cx="17681602" cy="8388578"/>
            <a:chOff x="-1587075" y="-3212044"/>
            <a:chExt cx="20699227" cy="1118476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90E1FE2-CB8F-BB33-CD1A-08344740DFB6}"/>
                </a:ext>
              </a:extLst>
            </p:cNvPr>
            <p:cNvSpPr txBox="1"/>
            <p:nvPr/>
          </p:nvSpPr>
          <p:spPr>
            <a:xfrm>
              <a:off x="-1587075" y="-3212044"/>
              <a:ext cx="20699227" cy="111847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71500" lvl="0" indent="-5715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IN" sz="3800" b="1" dirty="0">
                  <a:solidFill>
                    <a:schemeClr val="bg1"/>
                  </a:solidFill>
                  <a:latin typeface="+mj-lt"/>
                </a:rPr>
                <a:t>Lifecycle Methods – OnGet &amp; OnPost</a:t>
              </a:r>
              <a:endParaRPr lang="en-US" altLang="en-US" sz="3800" b="1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3800" dirty="0">
                  <a:solidFill>
                    <a:schemeClr val="bg1"/>
                  </a:solidFill>
                  <a:latin typeface="+mj-lt"/>
                </a:rPr>
                <a:t>		Razor Pages use </a:t>
              </a:r>
              <a:r>
                <a:rPr lang="en-US" sz="3800" b="1" dirty="0">
                  <a:solidFill>
                    <a:schemeClr val="bg1"/>
                  </a:solidFill>
                  <a:latin typeface="+mj-lt"/>
                </a:rPr>
                <a:t>handler methods</a:t>
              </a:r>
              <a:r>
                <a:rPr lang="en-US" sz="3800" dirty="0">
                  <a:solidFill>
                    <a:schemeClr val="bg1"/>
                  </a:solidFill>
                  <a:latin typeface="+mj-lt"/>
                </a:rPr>
                <a:t> to respond to HTTP requests.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8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8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8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8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8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8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8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800" dirty="0">
                <a:solidFill>
                  <a:schemeClr val="bg1"/>
                </a:solidFill>
                <a:latin typeface="+mj-lt"/>
              </a:endParaRPr>
            </a:p>
            <a:p>
              <a:pPr marL="571500" lvl="0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800" dirty="0">
                  <a:solidFill>
                    <a:schemeClr val="bg1"/>
                  </a:solidFill>
                  <a:latin typeface="+mj-lt"/>
                </a:rPr>
                <a:t>You can also use other handlers: OnGetAsync(), OnPostDelete(), OnPostAsync(), etc.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800" dirty="0">
                <a:solidFill>
                  <a:schemeClr val="bg1"/>
                </a:solidFill>
                <a:latin typeface="+mj-lt"/>
              </a:endParaRPr>
            </a:p>
            <a:p>
              <a:pPr>
                <a:lnSpc>
                  <a:spcPct val="150000"/>
                </a:lnSpc>
              </a:pPr>
              <a:endParaRPr lang="en-US" sz="380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0CEC1-D0A5-43EA-4DF9-68CF0F763ACB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4D9D643-AF5E-E5C6-1ED7-B09891D1568F}"/>
              </a:ext>
            </a:extLst>
          </p:cNvPr>
          <p:cNvSpPr/>
          <p:nvPr/>
        </p:nvSpPr>
        <p:spPr>
          <a:xfrm>
            <a:off x="16890098" y="269910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865A7A-F242-25DC-102E-DE83F5392C93}"/>
              </a:ext>
            </a:extLst>
          </p:cNvPr>
          <p:cNvSpPr/>
          <p:nvPr/>
        </p:nvSpPr>
        <p:spPr>
          <a:xfrm>
            <a:off x="16890098" y="1484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F9A1B4-6165-C413-E6F6-4635CEDB7E87}"/>
              </a:ext>
            </a:extLst>
          </p:cNvPr>
          <p:cNvSpPr txBox="1"/>
          <p:nvPr/>
        </p:nvSpPr>
        <p:spPr>
          <a:xfrm>
            <a:off x="932448" y="46331"/>
            <a:ext cx="1601861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PageModel 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00E04CF-1204-0996-9016-3ADAB124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7</a:t>
            </a:fld>
            <a:endParaRPr lang="en-GB" sz="2000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0F156C1-0B8C-FE7F-DF66-FA770571D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619039"/>
              </p:ext>
            </p:extLst>
          </p:nvPr>
        </p:nvGraphicFramePr>
        <p:xfrm>
          <a:off x="2558348" y="3425369"/>
          <a:ext cx="12766810" cy="3436261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3894403">
                  <a:extLst>
                    <a:ext uri="{9D8B030D-6E8A-4147-A177-3AD203B41FA5}">
                      <a16:colId xmlns:a16="http://schemas.microsoft.com/office/drawing/2014/main" val="696711488"/>
                    </a:ext>
                  </a:extLst>
                </a:gridCol>
                <a:gridCol w="8872407">
                  <a:extLst>
                    <a:ext uri="{9D8B030D-6E8A-4147-A177-3AD203B41FA5}">
                      <a16:colId xmlns:a16="http://schemas.microsoft.com/office/drawing/2014/main" val="565749350"/>
                    </a:ext>
                  </a:extLst>
                </a:gridCol>
              </a:tblGrid>
              <a:tr h="1089334">
                <a:tc>
                  <a:txBody>
                    <a:bodyPr/>
                    <a:lstStyle/>
                    <a:p>
                      <a:r>
                        <a:rPr lang="en-US" sz="3200" dirty="0"/>
                        <a:t>Method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Description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129391"/>
                  </a:ext>
                </a:extLst>
              </a:tr>
              <a:tr h="1089334">
                <a:tc>
                  <a:txBody>
                    <a:bodyPr/>
                    <a:lstStyle/>
                    <a:p>
                      <a:r>
                        <a:rPr lang="en-US" sz="3200" dirty="0"/>
                        <a:t>OnGet()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Runs on </a:t>
                      </a:r>
                      <a:r>
                        <a:rPr lang="en-US" sz="3200" b="1" dirty="0"/>
                        <a:t>HTTP GET</a:t>
                      </a:r>
                      <a:r>
                        <a:rPr lang="en-US" sz="3200" dirty="0"/>
                        <a:t> request (default)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8304744"/>
                  </a:ext>
                </a:extLst>
              </a:tr>
              <a:tr h="1257593">
                <a:tc>
                  <a:txBody>
                    <a:bodyPr/>
                    <a:lstStyle/>
                    <a:p>
                      <a:r>
                        <a:rPr lang="en-IN" sz="3200" dirty="0"/>
                        <a:t>OnPost()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Runs on </a:t>
                      </a:r>
                      <a:r>
                        <a:rPr lang="en-IN" sz="3200" b="1" dirty="0"/>
                        <a:t>HTTP POST</a:t>
                      </a:r>
                      <a:r>
                        <a:rPr lang="en-IN" sz="3200" dirty="0"/>
                        <a:t> request (form submissions, etc.)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494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0091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592D5-5CFF-CACD-1AD8-C3ECC1011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36DD6F8-9966-2BE4-0595-2E1535D52A23}"/>
              </a:ext>
            </a:extLst>
          </p:cNvPr>
          <p:cNvSpPr/>
          <p:nvPr/>
        </p:nvSpPr>
        <p:spPr>
          <a:xfrm>
            <a:off x="-1526984" y="-85594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99BB25B-0E18-7E4E-501D-D74AB0EA2BE1}"/>
              </a:ext>
            </a:extLst>
          </p:cNvPr>
          <p:cNvSpPr/>
          <p:nvPr/>
        </p:nvSpPr>
        <p:spPr>
          <a:xfrm>
            <a:off x="-1526984" y="1712173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89BE049-BE6C-8ECF-1888-4A063B456BFC}"/>
              </a:ext>
            </a:extLst>
          </p:cNvPr>
          <p:cNvGrpSpPr/>
          <p:nvPr/>
        </p:nvGrpSpPr>
        <p:grpSpPr>
          <a:xfrm>
            <a:off x="1240690" y="1431326"/>
            <a:ext cx="16018610" cy="8617744"/>
            <a:chOff x="-1140534" y="-2546162"/>
            <a:chExt cx="21358149" cy="1149032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F56AD05-2159-3BE6-3BA0-550E8869372C}"/>
                </a:ext>
              </a:extLst>
            </p:cNvPr>
            <p:cNvSpPr txBox="1"/>
            <p:nvPr/>
          </p:nvSpPr>
          <p:spPr>
            <a:xfrm>
              <a:off x="-1140534" y="-2546162"/>
              <a:ext cx="21358149" cy="114903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71500" lvl="0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4000" b="1" dirty="0">
                  <a:solidFill>
                    <a:srgbClr val="FFFF00"/>
                  </a:solidFill>
                  <a:latin typeface="+mj-lt"/>
                </a:rPr>
                <a:t>Razor Pages Routing Basics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Razor Pages use a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convention-based routing system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.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Routes are automatically derived from the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folder and file name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 of the .cshtml page.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Example: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Pages/About.cshtml → Route: /About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No need to define routes manually for most pages.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lvl="0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4000" b="1" dirty="0">
                  <a:solidFill>
                    <a:srgbClr val="FFFF00"/>
                  </a:solidFill>
                  <a:latin typeface="+mj-lt"/>
                </a:rPr>
                <a:t>The @page Directive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Every Razor Page must start with the @page directive.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It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turns a .cshtml file into an endpoint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 that can handle requests.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	@page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This directive enables the page to:</a:t>
              </a:r>
            </a:p>
            <a:p>
              <a:pPr marL="1885950" lvl="3" indent="-514350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alphaLcPeriod"/>
              </a:pPr>
              <a:r>
                <a:rPr lang="en-US" altLang="en-US" sz="3200" dirty="0">
                  <a:solidFill>
                    <a:schemeClr val="bg1"/>
                  </a:solidFill>
                </a:rPr>
                <a:t>Respond to direct requests</a:t>
              </a:r>
            </a:p>
            <a:p>
              <a:pPr marL="1885950" lvl="3" indent="-514350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alphaLcPeriod"/>
              </a:pPr>
              <a:r>
                <a:rPr lang="en-US" altLang="en-US" sz="3200" dirty="0">
                  <a:solidFill>
                    <a:schemeClr val="bg1"/>
                  </a:solidFill>
                </a:rPr>
                <a:t>Participate in routing</a:t>
              </a:r>
            </a:p>
            <a:p>
              <a:pPr marL="1885950" lvl="3" indent="-514350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alphaLcPeriod"/>
              </a:pPr>
              <a:r>
                <a:rPr lang="en-US" altLang="en-US" sz="3200" dirty="0">
                  <a:solidFill>
                    <a:schemeClr val="bg1"/>
                  </a:solidFill>
                </a:rPr>
                <a:t>Support route parameters (e.g., @page "{id}")</a:t>
              </a: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Custom routes with parameters :e.g., - @page "product/{name}"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D94DF1C-C14D-6C85-96AC-0500F6C89DC1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DD1A674-11D0-449B-8EE9-2F4022064C9D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F556B12-E666-7920-B67A-0A03E0F016CE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8E75E57-9F2A-CEC3-A3D9-61360693CD31}"/>
              </a:ext>
            </a:extLst>
          </p:cNvPr>
          <p:cNvSpPr txBox="1"/>
          <p:nvPr/>
        </p:nvSpPr>
        <p:spPr>
          <a:xfrm>
            <a:off x="932448" y="46331"/>
            <a:ext cx="1601861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Routing And Navigation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DC60F0E-0317-E4A2-9218-70AC509CE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8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429738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DD2A27-19FD-1C9D-D3B3-31C624AAE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1313823-F4DA-1D78-85CB-AB50AA2CD742}"/>
              </a:ext>
            </a:extLst>
          </p:cNvPr>
          <p:cNvSpPr/>
          <p:nvPr/>
        </p:nvSpPr>
        <p:spPr>
          <a:xfrm>
            <a:off x="-1526984" y="-85594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8DE0127-10E9-05E2-AB6D-A16F4B31E616}"/>
              </a:ext>
            </a:extLst>
          </p:cNvPr>
          <p:cNvSpPr/>
          <p:nvPr/>
        </p:nvSpPr>
        <p:spPr>
          <a:xfrm>
            <a:off x="-1526984" y="1712173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E47F372-A184-CB7A-7816-1AA7FCDE8EB5}"/>
              </a:ext>
            </a:extLst>
          </p:cNvPr>
          <p:cNvGrpSpPr/>
          <p:nvPr/>
        </p:nvGrpSpPr>
        <p:grpSpPr>
          <a:xfrm>
            <a:off x="1240690" y="1431326"/>
            <a:ext cx="16018610" cy="8771632"/>
            <a:chOff x="-1140534" y="-2546162"/>
            <a:chExt cx="21358149" cy="1169550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54EFDF4-004F-7E91-00D9-B8F8B2903B00}"/>
                </a:ext>
              </a:extLst>
            </p:cNvPr>
            <p:cNvSpPr txBox="1"/>
            <p:nvPr/>
          </p:nvSpPr>
          <p:spPr>
            <a:xfrm>
              <a:off x="-1140534" y="-2546162"/>
              <a:ext cx="21358149" cy="116955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71500" lvl="0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50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Navigation using asp-page :</a:t>
              </a:r>
            </a:p>
            <a:p>
              <a:pPr marL="1485900" lvl="2" indent="-5715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Courier New" panose="02070309020205020404" pitchFamily="49" charset="0"/>
                <a:buChar char="o"/>
              </a:pPr>
              <a:r>
                <a:rPr lang="en-US" altLang="en-US" sz="400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Razor Pages use </a:t>
              </a:r>
              <a:r>
                <a:rPr lang="en-US" altLang="en-US" sz="40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tag helpers</a:t>
              </a:r>
              <a:r>
                <a:rPr lang="en-US" altLang="en-US" sz="400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for navigation.</a:t>
              </a:r>
            </a:p>
            <a:p>
              <a:pPr marL="1485900" lvl="2" indent="-5715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Courier New" panose="02070309020205020404" pitchFamily="49" charset="0"/>
                <a:buChar char="o"/>
              </a:pPr>
              <a:r>
                <a:rPr lang="en-US" altLang="en-US" sz="400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asp-page generates URLs to Razor Pages.</a:t>
              </a:r>
            </a:p>
            <a:p>
              <a:pPr marL="1485900" lvl="2" indent="-5715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Courier New" panose="02070309020205020404" pitchFamily="49" charset="0"/>
                <a:buChar char="o"/>
              </a:pPr>
              <a:endParaRPr lang="en-US" altLang="en-US" sz="40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2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2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marL="1485900" lvl="2" indent="-5715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Courier New" panose="02070309020205020404" pitchFamily="49" charset="0"/>
                <a:buChar char="o"/>
              </a:pPr>
              <a:r>
                <a:rPr lang="en-US" altLang="en-US" sz="400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You can also pass parameters using asp-route.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0EE9F70-6F0A-5EE4-C534-371DC07E5197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71F5A23-5326-8AC4-91D4-87FD28479319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F7FB259-E61B-EC7B-60CD-1C9045DE363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E8EC9B7-B5BB-50D5-8103-588249AB3B9B}"/>
              </a:ext>
            </a:extLst>
          </p:cNvPr>
          <p:cNvSpPr txBox="1"/>
          <p:nvPr/>
        </p:nvSpPr>
        <p:spPr>
          <a:xfrm>
            <a:off x="932448" y="46331"/>
            <a:ext cx="1601861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Routing And Navigation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91C7799-4C91-1856-3653-983A9BA6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9</a:t>
            </a:fld>
            <a:endParaRPr lang="en-GB" sz="200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3AD0B43-626B-AD58-37A4-5B3C508E6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594" y="4676902"/>
            <a:ext cx="9504947" cy="1413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73939C4-17F5-3C74-580C-6030EBCA5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9595" y="8113836"/>
            <a:ext cx="9504946" cy="14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866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FDFFE-4245-7225-0A07-A2F037BEC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7668F3B-E191-5309-F68F-878A0709E545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A1B177D-665A-223E-BF37-3ABE52BDBEF5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D78E4CD-DAC4-9F7C-69EB-4ABE82C69940}"/>
              </a:ext>
            </a:extLst>
          </p:cNvPr>
          <p:cNvGrpSpPr/>
          <p:nvPr/>
        </p:nvGrpSpPr>
        <p:grpSpPr>
          <a:xfrm>
            <a:off x="1924611" y="1431326"/>
            <a:ext cx="15763236" cy="8925520"/>
            <a:chOff x="125985" y="-2702633"/>
            <a:chExt cx="21017650" cy="1190069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CB5FA45-47D0-3FA6-C257-FCD41AB63D4B}"/>
                </a:ext>
              </a:extLst>
            </p:cNvPr>
            <p:cNvSpPr txBox="1"/>
            <p:nvPr/>
          </p:nvSpPr>
          <p:spPr>
            <a:xfrm>
              <a:off x="125985" y="-2702633"/>
              <a:ext cx="21017650" cy="119006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4000" b="1" dirty="0">
                  <a:solidFill>
                    <a:srgbClr val="FFFF00"/>
                  </a:solidFill>
                  <a:latin typeface="+mj-lt"/>
                </a:rPr>
                <a:t>The Role of Forms Web Apps</a:t>
              </a: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HTML forms are essential for:</a:t>
              </a:r>
            </a:p>
            <a:p>
              <a:pPr marL="914400" lvl="1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User input</a:t>
              </a:r>
              <a:r>
                <a:rPr lang="en-US" altLang="en-US" sz="320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(e.g., login, registration, search)</a:t>
              </a:r>
            </a:p>
            <a:p>
              <a:pPr marL="914400" lvl="1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Data submission</a:t>
              </a:r>
              <a:r>
                <a:rPr lang="en-US" altLang="en-US" sz="320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(to the server)</a:t>
              </a:r>
            </a:p>
            <a:p>
              <a:pPr marL="914400" lvl="1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Interactive features</a:t>
              </a:r>
              <a:r>
                <a:rPr lang="en-US" altLang="en-US" sz="320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in dynamic web apps</a:t>
              </a: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In Razor Pages, form data is processed using </a:t>
              </a:r>
              <a:r>
                <a:rPr lang="en-US" altLang="en-US" sz="32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PageModel handlers</a:t>
              </a:r>
              <a:r>
                <a:rPr lang="en-US" altLang="en-US" sz="320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(OnPost()).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lang="en-US" altLang="en-US" sz="32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4000" b="1" dirty="0">
                  <a:solidFill>
                    <a:srgbClr val="FFFF00"/>
                  </a:solidFill>
                  <a:latin typeface="+mj-lt"/>
                </a:rPr>
                <a:t>Basic Form Elements in Razor</a:t>
              </a: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Standard HTML form elements work in Razor:</a:t>
              </a:r>
            </a:p>
            <a:p>
              <a:pPr marL="914400" lvl="1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&lt;input&gt;, &lt;textarea&gt;, &lt;select&gt;, &lt;button&gt;, etc.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lang="en-US" altLang="en-US" sz="32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9D3A4DB-1A22-BCEF-5F3A-6AA319E338DE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D6E9FE3-BAC5-29AA-71C4-D1649DBB2FA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081E36C-9974-C242-CB2B-87D7EF4AA270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30E7D30-5A70-CD18-171C-230A353083E8}"/>
              </a:ext>
            </a:extLst>
          </p:cNvPr>
          <p:cNvSpPr txBox="1"/>
          <p:nvPr/>
        </p:nvSpPr>
        <p:spPr>
          <a:xfrm>
            <a:off x="932448" y="46331"/>
            <a:ext cx="1601861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HTML Forms in Razor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4219B47-B610-2172-F2E2-2928A12CB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10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073940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E1F8CF-84F8-447D-4BAD-7DF844963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79AC82E-29A4-B6C9-C884-F8254451389B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BA991B9-AC09-9BD8-E69A-02B9658F4C69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1524B08-66B4-D5BC-1CB3-3C58006ACBF3}"/>
              </a:ext>
            </a:extLst>
          </p:cNvPr>
          <p:cNvGrpSpPr/>
          <p:nvPr/>
        </p:nvGrpSpPr>
        <p:grpSpPr>
          <a:xfrm>
            <a:off x="1710337" y="1985619"/>
            <a:ext cx="15763236" cy="8002191"/>
            <a:chOff x="-159714" y="-1963576"/>
            <a:chExt cx="21017650" cy="1066958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92A0DAF-2AC4-148A-EBA0-509B34F79775}"/>
                </a:ext>
              </a:extLst>
            </p:cNvPr>
            <p:cNvSpPr txBox="1"/>
            <p:nvPr/>
          </p:nvSpPr>
          <p:spPr>
            <a:xfrm>
              <a:off x="-159714" y="-1963576"/>
              <a:ext cx="21017650" cy="106695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Razor Syntax Integration</a:t>
              </a:r>
            </a:p>
            <a:p>
              <a:pPr lvl="2"/>
              <a:r>
                <a:rPr lang="en-US" sz="400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Razor allows seamless mixing of C# and HTML:</a:t>
              </a:r>
              <a:endParaRPr lang="en-US" altLang="en-US" sz="40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1EEE760-AC85-4E7E-2FAB-8E81A244C999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F53415E-100E-8099-C3CB-757E2657BF9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836F8D2-8C46-130F-4DAB-254BAD7E697A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CAFC40A-BF5A-9F9C-6231-F14D1F57C6D9}"/>
              </a:ext>
            </a:extLst>
          </p:cNvPr>
          <p:cNvSpPr txBox="1"/>
          <p:nvPr/>
        </p:nvSpPr>
        <p:spPr>
          <a:xfrm>
            <a:off x="932448" y="46331"/>
            <a:ext cx="1601861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HTML Forms in Razor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B2747C5-5980-1B0B-1530-1B45AB39E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11</a:t>
            </a:fld>
            <a:endParaRPr lang="en-GB" sz="200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CD31CA6-B8D2-E433-7939-17EA21750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311513"/>
              </p:ext>
            </p:extLst>
          </p:nvPr>
        </p:nvGraphicFramePr>
        <p:xfrm>
          <a:off x="1924611" y="3595739"/>
          <a:ext cx="15334689" cy="367336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314511">
                  <a:extLst>
                    <a:ext uri="{9D8B030D-6E8A-4147-A177-3AD203B41FA5}">
                      <a16:colId xmlns:a16="http://schemas.microsoft.com/office/drawing/2014/main" val="2886352229"/>
                    </a:ext>
                  </a:extLst>
                </a:gridCol>
                <a:gridCol w="8020178">
                  <a:extLst>
                    <a:ext uri="{9D8B030D-6E8A-4147-A177-3AD203B41FA5}">
                      <a16:colId xmlns:a16="http://schemas.microsoft.com/office/drawing/2014/main" val="3475398982"/>
                    </a:ext>
                  </a:extLst>
                </a:gridCol>
              </a:tblGrid>
              <a:tr h="912808">
                <a:tc>
                  <a:txBody>
                    <a:bodyPr/>
                    <a:lstStyle/>
                    <a:p>
                      <a:r>
                        <a:rPr lang="en-IN" sz="4000" dirty="0"/>
                        <a:t>Syntax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Purpose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281398"/>
                  </a:ext>
                </a:extLst>
              </a:tr>
              <a:tr h="912808">
                <a:tc>
                  <a:txBody>
                    <a:bodyPr/>
                    <a:lstStyle/>
                    <a:p>
                      <a:r>
                        <a:rPr lang="en-IN" sz="4000" dirty="0"/>
                        <a:t>@{}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Inline C# code block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102035"/>
                  </a:ext>
                </a:extLst>
              </a:tr>
              <a:tr h="934941">
                <a:tc>
                  <a:txBody>
                    <a:bodyPr/>
                    <a:lstStyle/>
                    <a:p>
                      <a:r>
                        <a:rPr lang="en-IN" sz="4000" dirty="0"/>
                        <a:t>@model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Declare the Pagemodel for the 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380427"/>
                  </a:ext>
                </a:extLst>
              </a:tr>
              <a:tr h="912808">
                <a:tc>
                  <a:txBody>
                    <a:bodyPr/>
                    <a:lstStyle/>
                    <a:p>
                      <a:r>
                        <a:rPr lang="en-IN" sz="4000" dirty="0"/>
                        <a:t>@Html.*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Legacy Helpers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7647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85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59824-B3A5-2D4B-0E48-CA34B95AD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B4E624-E02D-EF8A-D933-0C728A380284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93EA1B8-6D60-E6A4-554E-E9C60B58EC67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A43F5B0-1F47-B6B3-D975-68184BD41872}"/>
              </a:ext>
            </a:extLst>
          </p:cNvPr>
          <p:cNvGrpSpPr/>
          <p:nvPr/>
        </p:nvGrpSpPr>
        <p:grpSpPr>
          <a:xfrm>
            <a:off x="1496064" y="1659925"/>
            <a:ext cx="15763236" cy="8728708"/>
            <a:chOff x="-856400" y="-3713558"/>
            <a:chExt cx="21017650" cy="1163827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FF0E041-E4F0-2C05-7ADB-C653CD99ADAC}"/>
                </a:ext>
              </a:extLst>
            </p:cNvPr>
            <p:cNvSpPr txBox="1"/>
            <p:nvPr/>
          </p:nvSpPr>
          <p:spPr>
            <a:xfrm>
              <a:off x="-856400" y="-3713558"/>
              <a:ext cx="21017650" cy="112244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71500" lvl="0" indent="-5715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IN" sz="4000" b="1" dirty="0">
                  <a:solidFill>
                    <a:schemeClr val="bg1"/>
                  </a:solidFill>
                  <a:latin typeface="+mj-lt"/>
                </a:rPr>
                <a:t>What are Tag Helpers?</a:t>
              </a:r>
              <a:endParaRPr lang="en-US" altLang="en-US" sz="4000" b="1" dirty="0">
                <a:solidFill>
                  <a:schemeClr val="bg1"/>
                </a:solidFill>
                <a:latin typeface="+mj-lt"/>
              </a:endParaRPr>
            </a:p>
            <a:p>
              <a:pPr marL="1828800" lvl="3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Courier New" panose="02070309020205020404" pitchFamily="49" charset="0"/>
                <a:buChar char="o"/>
              </a:pP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Tag Helpers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 are Razor syntax features that:</a:t>
              </a:r>
            </a:p>
            <a:p>
              <a:pPr marL="1828800" lvl="3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Courier New" panose="02070309020205020404" pitchFamily="49" charset="0"/>
                <a:buChar char="o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Enable server-side code to participate in HTML generation.</a:t>
              </a:r>
            </a:p>
            <a:p>
              <a:pPr marL="1828800" lvl="3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Courier New" panose="02070309020205020404" pitchFamily="49" charset="0"/>
                <a:buChar char="o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Look like regular HTML attributes but execute C# logic.</a:t>
              </a:r>
            </a:p>
            <a:p>
              <a:pPr marL="1828800" lvl="3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Courier New" panose="02070309020205020404" pitchFamily="49" charset="0"/>
                <a:buChar char="o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Used to simplify and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bind HTML elements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 to C# models and actions.</a:t>
              </a:r>
            </a:p>
            <a:p>
              <a:pPr marL="1828800" lvl="3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Courier New" panose="02070309020205020404" pitchFamily="49" charset="0"/>
                <a:buChar char="o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Tag Helpers are compiled and strongly typed, giving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IntelliSense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 support.</a:t>
              </a:r>
            </a:p>
            <a:p>
              <a:pPr marL="457200" indent="-4572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IN" sz="4000" b="1" dirty="0">
                  <a:solidFill>
                    <a:schemeClr val="bg1"/>
                  </a:solidFill>
                  <a:latin typeface="+mj-lt"/>
                </a:rPr>
                <a:t>Common Form Tag Helpers</a:t>
              </a:r>
            </a:p>
            <a:p>
              <a:pPr>
                <a:lnSpc>
                  <a:spcPct val="150000"/>
                </a:lnSpc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>
                <a:lnSpc>
                  <a:spcPct val="150000"/>
                </a:lnSpc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>
                <a:lnSpc>
                  <a:spcPct val="150000"/>
                </a:lnSpc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>
                <a:lnSpc>
                  <a:spcPct val="150000"/>
                </a:lnSpc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1036963-A7DC-8B11-E471-55D0E4F98D69}"/>
                </a:ext>
              </a:extLst>
            </p:cNvPr>
            <p:cNvSpPr txBox="1"/>
            <p:nvPr/>
          </p:nvSpPr>
          <p:spPr>
            <a:xfrm>
              <a:off x="165316" y="-594710"/>
              <a:ext cx="18577724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2654E5C-6771-96C8-81D5-58042EC3ED81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D9AC22E-2E15-14E8-B28B-846E7418356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1D9B92A-CEB4-FB29-7823-351CCE06C5A5}"/>
              </a:ext>
            </a:extLst>
          </p:cNvPr>
          <p:cNvSpPr txBox="1"/>
          <p:nvPr/>
        </p:nvSpPr>
        <p:spPr>
          <a:xfrm>
            <a:off x="932448" y="46331"/>
            <a:ext cx="1601861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Tag Helpers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64624B5-35D3-53CB-03C0-6B4E0647B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12</a:t>
            </a:fld>
            <a:endParaRPr lang="en-GB" sz="200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E5B4717-9544-BA8E-6966-2553DE43A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419600"/>
              </p:ext>
            </p:extLst>
          </p:nvPr>
        </p:nvGraphicFramePr>
        <p:xfrm>
          <a:off x="1886997" y="7340905"/>
          <a:ext cx="14981369" cy="275803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19825">
                  <a:extLst>
                    <a:ext uri="{9D8B030D-6E8A-4147-A177-3AD203B41FA5}">
                      <a16:colId xmlns:a16="http://schemas.microsoft.com/office/drawing/2014/main" val="2738515225"/>
                    </a:ext>
                  </a:extLst>
                </a:gridCol>
                <a:gridCol w="12161544">
                  <a:extLst>
                    <a:ext uri="{9D8B030D-6E8A-4147-A177-3AD203B41FA5}">
                      <a16:colId xmlns:a16="http://schemas.microsoft.com/office/drawing/2014/main" val="2212263167"/>
                    </a:ext>
                  </a:extLst>
                </a:gridCol>
              </a:tblGrid>
              <a:tr h="689508">
                <a:tc>
                  <a:txBody>
                    <a:bodyPr/>
                    <a:lstStyle/>
                    <a:p>
                      <a:r>
                        <a:rPr lang="en-IN" sz="3000" dirty="0"/>
                        <a:t>Tag Helper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dirty="0"/>
                        <a:t>Purpose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1387281"/>
                  </a:ext>
                </a:extLst>
              </a:tr>
              <a:tr h="689508">
                <a:tc>
                  <a:txBody>
                    <a:bodyPr/>
                    <a:lstStyle/>
                    <a:p>
                      <a:r>
                        <a:rPr lang="en-IN" sz="3000" dirty="0"/>
                        <a:t>asp-for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Binds an input element to a PageModel property</a:t>
                      </a:r>
                      <a:endParaRPr lang="en-IN" sz="3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077959"/>
                  </a:ext>
                </a:extLst>
              </a:tr>
              <a:tr h="689508">
                <a:tc>
                  <a:txBody>
                    <a:bodyPr/>
                    <a:lstStyle/>
                    <a:p>
                      <a:r>
                        <a:rPr lang="en-IN" sz="3000" dirty="0"/>
                        <a:t>asp-page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Specifies the Razor Page to post to</a:t>
                      </a:r>
                      <a:endParaRPr lang="en-IN" sz="3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380803"/>
                  </a:ext>
                </a:extLst>
              </a:tr>
              <a:tr h="689508">
                <a:tc>
                  <a:txBody>
                    <a:bodyPr/>
                    <a:lstStyle/>
                    <a:p>
                      <a:r>
                        <a:rPr lang="en-IN" sz="3000" dirty="0"/>
                        <a:t>asp-action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dirty="0"/>
                        <a:t>(</a:t>
                      </a:r>
                      <a:r>
                        <a:rPr lang="en-US" sz="3000" dirty="0"/>
                        <a:t>MVC) Specifies an action method on a controller (less common in Razor)</a:t>
                      </a:r>
                      <a:endParaRPr lang="en-IN" sz="3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921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371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13E11-91D7-51BB-393F-8CDAE739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26088BBC-A15C-E4D7-B2EC-7C0FAD141D52}"/>
              </a:ext>
            </a:extLst>
          </p:cNvPr>
          <p:cNvSpPr/>
          <p:nvPr/>
        </p:nvSpPr>
        <p:spPr>
          <a:xfrm>
            <a:off x="-981601" y="-2636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8993745-DDC5-CC72-B03D-2854EC25AD54}"/>
              </a:ext>
            </a:extLst>
          </p:cNvPr>
          <p:cNvGrpSpPr/>
          <p:nvPr/>
        </p:nvGrpSpPr>
        <p:grpSpPr>
          <a:xfrm>
            <a:off x="1477831" y="1596611"/>
            <a:ext cx="16459200" cy="8740854"/>
            <a:chOff x="-1937606" y="-4215962"/>
            <a:chExt cx="21311939" cy="149720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87B441D-7DC7-F2A6-CF16-65CA67C9F758}"/>
                </a:ext>
              </a:extLst>
            </p:cNvPr>
            <p:cNvSpPr txBox="1"/>
            <p:nvPr/>
          </p:nvSpPr>
          <p:spPr>
            <a:xfrm>
              <a:off x="-1937606" y="-4215962"/>
              <a:ext cx="21311939" cy="149720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71500" lvl="0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4000" b="1" dirty="0">
                  <a:solidFill>
                    <a:srgbClr val="FFFF00"/>
                  </a:solidFill>
                  <a:latin typeface="+mj-lt"/>
                </a:rPr>
                <a:t>What is Model Binding?</a:t>
              </a:r>
            </a:p>
            <a:p>
              <a:pPr marL="1371600" lvl="2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Model Binding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 is the process where Razor Pages:</a:t>
              </a:r>
            </a:p>
            <a:p>
              <a:pPr marL="1828800" lvl="3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Automatically map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form inputs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 to </a:t>
              </a: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C# properties</a:t>
              </a: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 in the PageModel class.</a:t>
              </a:r>
            </a:p>
            <a:p>
              <a:pPr marL="1371600" lvl="2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It allows you to easily access form data using strongly typed properties.</a:t>
              </a:r>
            </a:p>
            <a:p>
              <a:pPr marL="1371600" lvl="2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Reduces the need for manually parsing Request.Form.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lvl="0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4000" b="1" dirty="0">
                  <a:solidFill>
                    <a:srgbClr val="FFFF00"/>
                  </a:solidFill>
                  <a:latin typeface="+mj-lt"/>
                </a:rPr>
                <a:t>How Model Binding Works in Razor Pages</a:t>
              </a:r>
            </a:p>
            <a:p>
              <a:pPr marL="1371600" lvl="2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When a form is submitted:</a:t>
              </a:r>
            </a:p>
            <a:p>
              <a:pPr marL="1828800" lvl="3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Razor reads form fields (e.g., name="Email")</a:t>
              </a:r>
            </a:p>
            <a:p>
              <a:pPr marL="1828800" lvl="3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Matches them to public properties in the PageModel</a:t>
              </a:r>
            </a:p>
            <a:p>
              <a:pPr marL="1828800" lvl="3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Assigns submitted values automatically</a:t>
              </a:r>
            </a:p>
            <a:p>
              <a:pPr marL="1371600" lvl="2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Works with query strings, form fields, and route data.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marL="571500" lvl="0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4000" b="1" dirty="0">
                  <a:solidFill>
                    <a:srgbClr val="FFFF00"/>
                  </a:solidFill>
                  <a:latin typeface="+mj-lt"/>
                </a:rPr>
                <a:t>Role of [BindProperty]</a:t>
              </a:r>
            </a:p>
            <a:p>
              <a:pPr marL="1371600" lvl="2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[BindProperty] attribute enables model binding on a property.</a:t>
              </a:r>
            </a:p>
            <a:p>
              <a:pPr marL="1371600" lvl="2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Required for binding form data during POST requests (especially in Razor Pages).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CF1CAED-5D16-9199-0B16-CD7CD2A2A57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5D83F16-E3A3-E4AC-C172-3897C3756A3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97B3155-9CC7-7E95-EA14-5A726F8570E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368CFA-B0D8-314E-B6FB-1538CBA04A86}"/>
              </a:ext>
            </a:extLst>
          </p:cNvPr>
          <p:cNvSpPr txBox="1"/>
          <p:nvPr/>
        </p:nvSpPr>
        <p:spPr>
          <a:xfrm>
            <a:off x="1938520" y="152290"/>
            <a:ext cx="1513285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Model Binding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D46DB02-7BCC-B5B4-E2D3-40EA12F9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13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315145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EFA93-C7C0-290A-B8CC-30EDD6C5F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F952ED-FF07-D856-7D9C-3C3CA1F3338C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3FA41F5-2EB7-5769-C0E0-5ED6B6ADCB39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63F986B-B9D7-2639-6F98-2E2E38CB01C2}"/>
              </a:ext>
            </a:extLst>
          </p:cNvPr>
          <p:cNvGrpSpPr/>
          <p:nvPr/>
        </p:nvGrpSpPr>
        <p:grpSpPr>
          <a:xfrm>
            <a:off x="1828800" y="1765245"/>
            <a:ext cx="16242017" cy="9848850"/>
            <a:chOff x="-1352646" y="-3363939"/>
            <a:chExt cx="20113114" cy="1313179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00B059D-4176-217A-FB63-9A2AE647E6BA}"/>
                </a:ext>
              </a:extLst>
            </p:cNvPr>
            <p:cNvSpPr txBox="1"/>
            <p:nvPr/>
          </p:nvSpPr>
          <p:spPr>
            <a:xfrm>
              <a:off x="-1352646" y="-3363939"/>
              <a:ext cx="20113114" cy="131317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sz="3200" b="1" dirty="0">
                  <a:solidFill>
                    <a:srgbClr val="FFFF00"/>
                  </a:solidFill>
                  <a:latin typeface="+mj-lt"/>
                </a:rPr>
                <a:t>Why Validation Matters</a:t>
              </a:r>
            </a:p>
            <a:p>
              <a:pPr marL="1371600" lvl="2" indent="-457200">
                <a:buFont typeface="Wingdings" panose="05000000000000000000" pitchFamily="2" charset="2"/>
                <a:buChar char="§"/>
              </a:pPr>
              <a:r>
                <a:rPr lang="en-US" sz="3200" dirty="0">
                  <a:solidFill>
                    <a:schemeClr val="bg1"/>
                  </a:solidFill>
                  <a:latin typeface="+mj-lt"/>
                </a:rPr>
                <a:t>Prevents </a:t>
              </a:r>
              <a:r>
                <a:rPr lang="en-US" sz="3200" b="1" dirty="0">
                  <a:solidFill>
                    <a:schemeClr val="bg1"/>
                  </a:solidFill>
                  <a:latin typeface="+mj-lt"/>
                </a:rPr>
                <a:t>invalid or malicious data</a:t>
              </a:r>
              <a:r>
                <a:rPr lang="en-US" sz="3200" dirty="0">
                  <a:solidFill>
                    <a:schemeClr val="bg1"/>
                  </a:solidFill>
                  <a:latin typeface="+mj-lt"/>
                </a:rPr>
                <a:t> from being processed</a:t>
              </a:r>
            </a:p>
            <a:p>
              <a:pPr marL="1371600" lvl="2" indent="-457200">
                <a:buFont typeface="Wingdings" panose="05000000000000000000" pitchFamily="2" charset="2"/>
                <a:buChar char="§"/>
              </a:pPr>
              <a:r>
                <a:rPr lang="en-US" sz="3200" dirty="0">
                  <a:solidFill>
                    <a:schemeClr val="bg1"/>
                  </a:solidFill>
                  <a:latin typeface="+mj-lt"/>
                </a:rPr>
                <a:t>Ensures </a:t>
              </a:r>
              <a:r>
                <a:rPr lang="en-US" sz="3200" b="1" dirty="0">
                  <a:solidFill>
                    <a:schemeClr val="bg1"/>
                  </a:solidFill>
                  <a:latin typeface="+mj-lt"/>
                </a:rPr>
                <a:t>data integrity</a:t>
              </a:r>
              <a:r>
                <a:rPr lang="en-US" sz="3200" dirty="0">
                  <a:solidFill>
                    <a:schemeClr val="bg1"/>
                  </a:solidFill>
                  <a:latin typeface="+mj-lt"/>
                </a:rPr>
                <a:t> and improves user experience</a:t>
              </a:r>
            </a:p>
            <a:p>
              <a:pPr marL="1371600" lvl="2" indent="-457200">
                <a:buFont typeface="Wingdings" panose="05000000000000000000" pitchFamily="2" charset="2"/>
                <a:buChar char="§"/>
              </a:pPr>
              <a:r>
                <a:rPr lang="en-US" sz="3200" dirty="0">
                  <a:solidFill>
                    <a:schemeClr val="bg1"/>
                  </a:solidFill>
                  <a:latin typeface="+mj-lt"/>
                </a:rPr>
                <a:t>Validation in Razor Pages is typically done using </a:t>
              </a:r>
              <a:r>
                <a:rPr lang="en-US" sz="3200" b="1" dirty="0">
                  <a:solidFill>
                    <a:schemeClr val="bg1"/>
                  </a:solidFill>
                  <a:latin typeface="+mj-lt"/>
                </a:rPr>
                <a:t>Data Annotations</a:t>
              </a:r>
              <a:r>
                <a:rPr lang="en-US" sz="3200" dirty="0">
                  <a:solidFill>
                    <a:schemeClr val="bg1"/>
                  </a:solidFill>
                  <a:latin typeface="+mj-lt"/>
                </a:rPr>
                <a:t> on model properties</a:t>
              </a:r>
              <a:endParaRPr lang="en-GB" sz="3200" b="1" dirty="0">
                <a:solidFill>
                  <a:schemeClr val="bg1"/>
                </a:solidFill>
                <a:latin typeface="+mj-lt"/>
                <a:ea typeface="Calibri"/>
                <a:cs typeface="Calibri"/>
              </a:endParaRPr>
            </a:p>
            <a:p>
              <a:endParaRPr lang="en-GB" sz="3200" b="1" dirty="0">
                <a:solidFill>
                  <a:srgbClr val="FFFF00"/>
                </a:solidFill>
                <a:latin typeface="+mj-lt"/>
                <a:ea typeface="Calibri"/>
                <a:cs typeface="Calibri"/>
              </a:endParaRP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3200" b="1" dirty="0">
                  <a:solidFill>
                    <a:srgbClr val="FFFF00"/>
                  </a:solidFill>
                  <a:latin typeface="+mj-lt"/>
                </a:rPr>
                <a:t>Server-Side Validation with Data Annotations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Add attributes to properties in your PageModel or DTO class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Common attributes:</a:t>
              </a:r>
            </a:p>
            <a:p>
              <a:pPr marL="1943100" lvl="3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romanLcPeriod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[Required]</a:t>
              </a:r>
            </a:p>
            <a:p>
              <a:pPr marL="1943100" lvl="3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romanLcPeriod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[StringLength]</a:t>
              </a:r>
            </a:p>
            <a:p>
              <a:pPr marL="1943100" lvl="3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romanLcPeriod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[EmailAddress]</a:t>
              </a:r>
            </a:p>
            <a:p>
              <a:pPr marL="1943100" lvl="3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romanLcPeriod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[Range]</a:t>
              </a:r>
            </a:p>
            <a:p>
              <a:pPr marL="1943100" lvl="3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romanLcPeriod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[Compare]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3200" b="1" dirty="0">
                  <a:solidFill>
                    <a:srgbClr val="FFFF00"/>
                  </a:solidFill>
                  <a:latin typeface="+mj-lt"/>
                </a:rPr>
                <a:t>The Role of ModelState.IsValid</a:t>
              </a:r>
            </a:p>
            <a:p>
              <a:pPr marL="1371600" lvl="2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Checks if all validation rules have passed before processing form data</a:t>
              </a:r>
            </a:p>
            <a:p>
              <a:pPr marL="1371600" lvl="2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Returns false if any validation attributes fail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endParaRPr lang="en-US" sz="3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24E6E84-98C5-DBD2-7B68-668EB2157A64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9AD13DA-7A8E-BE84-9266-410D963419D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9F666ED-E6CC-CBEA-AC9A-15194D97D44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031F41E-A525-2A45-5ED0-D6AD9902663F}"/>
              </a:ext>
            </a:extLst>
          </p:cNvPr>
          <p:cNvSpPr txBox="1"/>
          <p:nvPr/>
        </p:nvSpPr>
        <p:spPr>
          <a:xfrm>
            <a:off x="1034010" y="162788"/>
            <a:ext cx="1725398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Validation in Razor Forms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5CA1941-B8D8-7446-3E13-652C097F375C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E08257F-B16F-6FA6-C66D-218A5FD8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14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349127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A51E34-EA59-9786-6780-C235253DD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B9C1009-9588-318B-27DC-99B675C48014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3E4C4EC-663F-5B3D-948A-42E000D608B3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206E64B-9741-461F-2F2C-9FCE3DD71B4A}"/>
              </a:ext>
            </a:extLst>
          </p:cNvPr>
          <p:cNvGrpSpPr/>
          <p:nvPr/>
        </p:nvGrpSpPr>
        <p:grpSpPr>
          <a:xfrm>
            <a:off x="1828800" y="1765245"/>
            <a:ext cx="16242017" cy="8214556"/>
            <a:chOff x="-1352646" y="-3363939"/>
            <a:chExt cx="20113114" cy="1095273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3B2CDCF-8B84-3615-8EE5-1B286C78BD33}"/>
                </a:ext>
              </a:extLst>
            </p:cNvPr>
            <p:cNvSpPr txBox="1"/>
            <p:nvPr/>
          </p:nvSpPr>
          <p:spPr>
            <a:xfrm>
              <a:off x="-1352646" y="-3363939"/>
              <a:ext cx="20113114" cy="109527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4000" b="1" dirty="0">
                  <a:solidFill>
                    <a:srgbClr val="FFFF00"/>
                  </a:solidFill>
                </a:rPr>
                <a:t>Razor Pages Use Cases </a:t>
              </a:r>
            </a:p>
            <a:p>
              <a:pPr marL="857250" indent="-857250">
                <a:lnSpc>
                  <a:spcPct val="150000"/>
                </a:lnSpc>
                <a:buFont typeface="+mj-lt"/>
                <a:buAutoNum type="romanLcPeriod"/>
              </a:pPr>
              <a:r>
                <a:rPr lang="en-IN" sz="4000" b="1" u="sng" dirty="0">
                  <a:solidFill>
                    <a:schemeClr val="bg1"/>
                  </a:solidFill>
                </a:rPr>
                <a:t>Simple CRUD apps</a:t>
              </a:r>
              <a:r>
                <a:rPr lang="en-IN" sz="4000" b="1" dirty="0">
                  <a:solidFill>
                    <a:schemeClr val="bg1"/>
                  </a:solidFill>
                </a:rPr>
                <a:t>:</a:t>
              </a:r>
              <a:r>
                <a:rPr lang="en-IN" sz="4000" dirty="0">
                  <a:solidFill>
                    <a:schemeClr val="bg1"/>
                  </a:solidFill>
                </a:rPr>
                <a:t>   Fast create/read/update/delete pages</a:t>
              </a:r>
            </a:p>
            <a:p>
              <a:pPr marL="857250" indent="-857250">
                <a:lnSpc>
                  <a:spcPct val="150000"/>
                </a:lnSpc>
                <a:buFont typeface="+mj-lt"/>
                <a:buAutoNum type="romanLcPeriod"/>
              </a:pPr>
              <a:r>
                <a:rPr lang="en-IN" sz="4000" b="1" u="sng" dirty="0">
                  <a:solidFill>
                    <a:schemeClr val="bg1"/>
                  </a:solidFill>
                </a:rPr>
                <a:t>Forms and data entry</a:t>
              </a:r>
              <a:r>
                <a:rPr lang="en-IN" sz="4000" b="1" dirty="0">
                  <a:solidFill>
                    <a:schemeClr val="bg1"/>
                  </a:solidFill>
                </a:rPr>
                <a:t>:</a:t>
              </a:r>
              <a:r>
                <a:rPr lang="en-IN" sz="4000" dirty="0">
                  <a:solidFill>
                    <a:schemeClr val="bg1"/>
                  </a:solidFill>
                </a:rPr>
                <a:t>   User input with server-side validation</a:t>
              </a:r>
            </a:p>
            <a:p>
              <a:pPr marL="857250" indent="-857250">
                <a:lnSpc>
                  <a:spcPct val="150000"/>
                </a:lnSpc>
                <a:buFont typeface="+mj-lt"/>
                <a:buAutoNum type="romanLcPeriod"/>
              </a:pPr>
              <a:r>
                <a:rPr lang="en-IN" sz="4000" b="1" u="sng" dirty="0">
                  <a:solidFill>
                    <a:schemeClr val="bg1"/>
                  </a:solidFill>
                </a:rPr>
                <a:t>Lightweight page features</a:t>
              </a:r>
              <a:r>
                <a:rPr lang="en-IN" sz="4000" b="1" dirty="0">
                  <a:solidFill>
                    <a:schemeClr val="bg1"/>
                  </a:solidFill>
                </a:rPr>
                <a:t>:  </a:t>
              </a:r>
              <a:r>
                <a:rPr lang="en-IN" sz="4000" dirty="0">
                  <a:solidFill>
                    <a:schemeClr val="bg1"/>
                  </a:solidFill>
                </a:rPr>
                <a:t> Login, profile updates, dashboards</a:t>
              </a:r>
            </a:p>
            <a:p>
              <a:pPr marL="857250" indent="-857250">
                <a:lnSpc>
                  <a:spcPct val="150000"/>
                </a:lnSpc>
                <a:buFont typeface="+mj-lt"/>
                <a:buAutoNum type="romanLcPeriod"/>
              </a:pPr>
              <a:r>
                <a:rPr lang="en-IN" sz="4000" b="1" u="sng" dirty="0">
                  <a:solidFill>
                    <a:schemeClr val="bg1"/>
                  </a:solidFill>
                </a:rPr>
                <a:t>Page-centric apps</a:t>
              </a:r>
              <a:r>
                <a:rPr lang="en-IN" sz="4000" b="1" dirty="0">
                  <a:solidFill>
                    <a:schemeClr val="bg1"/>
                  </a:solidFill>
                </a:rPr>
                <a:t>:</a:t>
              </a:r>
              <a:r>
                <a:rPr lang="en-IN" sz="4000" dirty="0">
                  <a:solidFill>
                    <a:schemeClr val="bg1"/>
                  </a:solidFill>
                </a:rPr>
                <a:t>     Self-contained pages with minimal logic</a:t>
              </a:r>
            </a:p>
            <a:p>
              <a:pPr marL="857250" indent="-857250">
                <a:lnSpc>
                  <a:spcPct val="150000"/>
                </a:lnSpc>
                <a:buFont typeface="+mj-lt"/>
                <a:buAutoNum type="romanLcPeriod"/>
              </a:pPr>
              <a:r>
                <a:rPr lang="en-IN" sz="4000" b="1" u="sng" dirty="0">
                  <a:solidFill>
                    <a:schemeClr val="bg1"/>
                  </a:solidFill>
                </a:rPr>
                <a:t>Prototyping/MVPs</a:t>
              </a:r>
              <a:r>
                <a:rPr lang="en-IN" sz="4000" b="1" dirty="0">
                  <a:solidFill>
                    <a:schemeClr val="bg1"/>
                  </a:solidFill>
                </a:rPr>
                <a:t>:</a:t>
              </a:r>
              <a:r>
                <a:rPr lang="en-IN" sz="4000" dirty="0">
                  <a:solidFill>
                    <a:schemeClr val="bg1"/>
                  </a:solidFill>
                </a:rPr>
                <a:t>   Quick development with less setup</a:t>
              </a:r>
            </a:p>
            <a:p>
              <a:pPr marL="857250" indent="-857250">
                <a:lnSpc>
                  <a:spcPct val="150000"/>
                </a:lnSpc>
                <a:buFont typeface="+mj-lt"/>
                <a:buAutoNum type="romanLcPeriod"/>
              </a:pPr>
              <a:r>
                <a:rPr lang="en-IN" sz="4000" b="1" u="sng" dirty="0">
                  <a:solidFill>
                    <a:schemeClr val="bg1"/>
                  </a:solidFill>
                </a:rPr>
                <a:t>Admin interfaces</a:t>
              </a:r>
              <a:r>
                <a:rPr lang="en-IN" sz="4000" b="1" dirty="0">
                  <a:solidFill>
                    <a:schemeClr val="bg1"/>
                  </a:solidFill>
                </a:rPr>
                <a:t>:</a:t>
              </a:r>
              <a:r>
                <a:rPr lang="en-IN" sz="4000" dirty="0">
                  <a:solidFill>
                    <a:schemeClr val="bg1"/>
                  </a:solidFill>
                </a:rPr>
                <a:t>      Data management with validation</a:t>
              </a:r>
            </a:p>
            <a:p>
              <a:pPr marL="857250" indent="-857250">
                <a:lnSpc>
                  <a:spcPct val="150000"/>
                </a:lnSpc>
                <a:buFont typeface="+mj-lt"/>
                <a:buAutoNum type="romanLcPeriod"/>
              </a:pPr>
              <a:r>
                <a:rPr lang="en-IN" sz="4000" b="1" u="sng" dirty="0">
                  <a:solidFill>
                    <a:schemeClr val="bg1"/>
                  </a:solidFill>
                </a:rPr>
                <a:t>Data display &amp; filtering</a:t>
              </a:r>
              <a:r>
                <a:rPr lang="en-IN" sz="4000" b="1" dirty="0">
                  <a:solidFill>
                    <a:schemeClr val="bg1"/>
                  </a:solidFill>
                </a:rPr>
                <a:t>:</a:t>
              </a:r>
              <a:r>
                <a:rPr lang="en-IN" sz="4000" dirty="0">
                  <a:solidFill>
                    <a:schemeClr val="bg1"/>
                  </a:solidFill>
                </a:rPr>
                <a:t>   Searchable lists and reports</a:t>
              </a:r>
            </a:p>
            <a:p>
              <a:pPr>
                <a:lnSpc>
                  <a:spcPct val="150000"/>
                </a:lnSpc>
              </a:pPr>
              <a:endParaRPr lang="en-US" sz="4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91732F0-F959-BD80-8691-33C1AC96B95A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0913A6D-2AC2-E4D9-FC95-C1F5E5D0D24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6CED3B6-7937-923F-D230-CBA3C22C228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8AA5428-92D9-D6F9-5F01-0E56573944B5}"/>
              </a:ext>
            </a:extLst>
          </p:cNvPr>
          <p:cNvSpPr txBox="1"/>
          <p:nvPr/>
        </p:nvSpPr>
        <p:spPr>
          <a:xfrm>
            <a:off x="1034010" y="162788"/>
            <a:ext cx="1725398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Use Cases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02128A2-764F-844D-DF27-D4EF6955589E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BE60E0C-FDE2-E109-9D76-59BF4D19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15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885876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32434" y="952255"/>
            <a:ext cx="16483263" cy="7018973"/>
            <a:chOff x="-265908" y="-5751"/>
            <a:chExt cx="14163549" cy="9358625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265908" y="-5751"/>
              <a:ext cx="14163549" cy="93586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23850" lvl="1">
                <a:lnSpc>
                  <a:spcPct val="150000"/>
                </a:lnSpc>
              </a:pPr>
              <a:r>
                <a:rPr lang="en-US" sz="3800" dirty="0">
                  <a:latin typeface="+mj-lt"/>
                </a:rPr>
                <a:t>🔧 </a:t>
              </a:r>
              <a:r>
                <a:rPr lang="en-US" sz="4000" b="1" dirty="0">
                  <a:latin typeface="+mj-lt"/>
                </a:rPr>
                <a:t>Advanced Assignment 1: </a:t>
              </a:r>
              <a:r>
                <a:rPr lang="en-US" sz="4000" b="1" dirty="0"/>
                <a:t>Form with Multiple Fields and Validation</a:t>
              </a:r>
              <a:endParaRPr lang="en-IN" sz="3800" b="1" dirty="0">
                <a:latin typeface="+mj-lt"/>
              </a:endParaRPr>
            </a:p>
            <a:p>
              <a:pPr marL="323850" lvl="1">
                <a:lnSpc>
                  <a:spcPct val="150000"/>
                </a:lnSpc>
              </a:pPr>
              <a:r>
                <a:rPr lang="en-US" sz="3800" b="1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Task:</a:t>
              </a:r>
            </a:p>
            <a:p>
              <a:pPr marL="1828800" lvl="3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Create a Razor Page form to accept:</a:t>
              </a:r>
            </a:p>
            <a:p>
              <a:pPr marL="1828800" lvl="3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Serial Number (required, exactly 8 characters)</a:t>
              </a:r>
            </a:p>
            <a:p>
              <a:pPr marL="1828800" lvl="3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Location (required, minimum 3 characters)</a:t>
              </a:r>
            </a:p>
            <a:p>
              <a:pPr marL="1828800" lvl="3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Status (dropdown: Active, Inactive)</a:t>
              </a:r>
            </a:p>
            <a:p>
              <a:pPr marL="1828800" lvl="3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Use data annotations for validation</a:t>
              </a:r>
            </a:p>
            <a:p>
              <a:pPr marL="1828800" lvl="3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Display validation messages next to each field using tag helpers.</a:t>
              </a:r>
              <a:endParaRPr lang="en-US" sz="3800" dirty="0">
                <a:solidFill>
                  <a:srgbClr val="33123B"/>
                </a:solidFill>
                <a:latin typeface="+mj-lt"/>
                <a:cs typeface="Assistant Regular"/>
              </a:endParaRPr>
            </a:p>
            <a:p>
              <a:pPr>
                <a:lnSpc>
                  <a:spcPct val="150000"/>
                </a:lnSpc>
              </a:pPr>
              <a:r>
                <a:rPr lang="en-US" sz="3800" b="1" dirty="0">
                  <a:latin typeface="+mj-lt"/>
                </a:rPr>
                <a:t>     </a:t>
              </a:r>
              <a:endParaRPr lang="en-US" sz="3800" dirty="0">
                <a:latin typeface="+mj-lt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116936" y="-65184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4005393" y="4799597"/>
            <a:ext cx="6412683" cy="6120663"/>
            <a:chOff x="-366471" y="-11891"/>
            <a:chExt cx="15572971" cy="14863810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4" cy="14462404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5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FB55547-605D-EDB9-41FF-CD3D51DA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16</a:t>
            </a:fld>
            <a:endParaRPr lang="en-GB" sz="2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AC9B4-2093-DFC3-8F08-7FF79B0B7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66AE003-BF0D-EEA9-8B60-1C7A9337BAEE}"/>
              </a:ext>
            </a:extLst>
          </p:cNvPr>
          <p:cNvGrpSpPr/>
          <p:nvPr/>
        </p:nvGrpSpPr>
        <p:grpSpPr>
          <a:xfrm>
            <a:off x="332434" y="537467"/>
            <a:ext cx="17955566" cy="8624704"/>
            <a:chOff x="-265908" y="-5751"/>
            <a:chExt cx="14877094" cy="1149959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06EC3E2-6A67-D667-2DB8-ADD78704E030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BC0EE07-8646-A4F0-5E86-46F49CA8A360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123AEC1-CADE-8A87-653C-5533EC9F15D4}"/>
                </a:ext>
              </a:extLst>
            </p:cNvPr>
            <p:cNvSpPr txBox="1"/>
            <p:nvPr/>
          </p:nvSpPr>
          <p:spPr>
            <a:xfrm>
              <a:off x="-265908" y="787332"/>
              <a:ext cx="14877094" cy="1070651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4000" dirty="0">
                  <a:latin typeface="+mj-lt"/>
                </a:rPr>
                <a:t>🔧 </a:t>
              </a:r>
              <a:r>
                <a:rPr lang="en-US" altLang="en-US" sz="4000" b="1" dirty="0">
                  <a:latin typeface="+mj-lt"/>
                </a:rPr>
                <a:t>Advanced Assignment 2: </a:t>
              </a:r>
              <a:r>
                <a:rPr lang="en-IN" sz="4000" b="1" dirty="0"/>
                <a:t>Strongly-Typed Model &amp; Validation Summary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b="1" dirty="0">
                  <a:latin typeface="+mj-lt"/>
                </a:rPr>
                <a:t>Task: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Create a separate model class (DeviceInfo) with: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Serial Number (required, fixed length 8)</a:t>
              </a:r>
            </a:p>
            <a:p>
              <a:pPr marL="2743200" lvl="5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Courier New" panose="02070309020205020404" pitchFamily="49" charset="0"/>
                <a:buChar char="o"/>
              </a:pPr>
              <a:r>
                <a:rPr lang="en-US" altLang="en-US" sz="3200" dirty="0">
                  <a:latin typeface="+mj-lt"/>
                </a:rPr>
                <a:t>Location (required)</a:t>
              </a:r>
            </a:p>
            <a:p>
              <a:pPr marL="2743200" lvl="5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Courier New" panose="02070309020205020404" pitchFamily="49" charset="0"/>
                <a:buChar char="o"/>
              </a:pPr>
              <a:r>
                <a:rPr lang="en-US" altLang="en-US" sz="3200" dirty="0">
                  <a:latin typeface="+mj-lt"/>
                </a:rPr>
                <a:t>Status (dropdown)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Use the model in your Razor Page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Show validation summary listing all errors at the top of the form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4000" b="1" dirty="0"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4000" b="1" dirty="0">
                <a:latin typeface="+mj-lt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8221CF7-6B74-AB63-27BD-2B1C8527E730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A13E909D-516E-78DA-C7D0-7B4082CF865E}"/>
              </a:ext>
            </a:extLst>
          </p:cNvPr>
          <p:cNvSpPr txBox="1"/>
          <p:nvPr/>
        </p:nvSpPr>
        <p:spPr>
          <a:xfrm>
            <a:off x="8335841" y="293940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A6E5507-92D0-22A4-6BF4-C131D04C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442" y="974953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17</a:t>
            </a:fld>
            <a:endParaRPr lang="en-GB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9987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D8876-10CC-A9E3-57F2-29BF3C45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7DEA085-71EE-1614-E459-8F6E2CCC6EFA}"/>
              </a:ext>
            </a:extLst>
          </p:cNvPr>
          <p:cNvGrpSpPr/>
          <p:nvPr/>
        </p:nvGrpSpPr>
        <p:grpSpPr>
          <a:xfrm>
            <a:off x="332434" y="536569"/>
            <a:ext cx="17955566" cy="6342473"/>
            <a:chOff x="-265908" y="-6948"/>
            <a:chExt cx="14877094" cy="845662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1046013-9CEA-A12A-300B-72D4C9C03F3A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A7E58FC-E9F6-F3B1-2096-6BA5F7F5BE3C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2E927E5-E3B6-7822-E082-27B8FF7CF341}"/>
                </a:ext>
              </a:extLst>
            </p:cNvPr>
            <p:cNvSpPr txBox="1"/>
            <p:nvPr/>
          </p:nvSpPr>
          <p:spPr>
            <a:xfrm>
              <a:off x="-265908" y="-6948"/>
              <a:ext cx="14877094" cy="8831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latin typeface="+mj-lt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AA3A785-002A-A178-8EC6-E0E97A60EF39}"/>
                </a:ext>
              </a:extLst>
            </p:cNvPr>
            <p:cNvSpPr txBox="1"/>
            <p:nvPr/>
          </p:nvSpPr>
          <p:spPr>
            <a:xfrm>
              <a:off x="-265908" y="1060822"/>
              <a:ext cx="14601656" cy="73888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🔧 </a:t>
              </a:r>
              <a:r>
                <a:rPr lang="en-US" altLang="en-US" sz="4000" b="1" dirty="0">
                  <a:latin typeface="+mj-lt"/>
                </a:rPr>
                <a:t>Advanced Assignment 3: </a:t>
              </a:r>
              <a:r>
                <a:rPr lang="en-US" sz="4000" b="1" dirty="0">
                  <a:latin typeface="+mj-lt"/>
                </a:rPr>
                <a:t>Route Parameter Binding and Data Loading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Tasks: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Create a Razor Page with a route: /Devices/Edit/{id}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Bind id parameter in OnGet(int id) and load sample data into form fields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Allow editing Serial Number, Location, Status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Validate all inputs and display errors inline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3800" b="1" dirty="0">
                <a:latin typeface="+mj-lt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C1248BAB-F673-54C5-E53D-D0F2C70F4523}"/>
              </a:ext>
            </a:extLst>
          </p:cNvPr>
          <p:cNvSpPr txBox="1"/>
          <p:nvPr/>
        </p:nvSpPr>
        <p:spPr>
          <a:xfrm>
            <a:off x="8335841" y="31677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F087B7C-A32B-5042-F287-5C719D17B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442" y="974953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18</a:t>
            </a:fld>
            <a:endParaRPr lang="en-GB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573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3F53-0DCB-0126-DCBB-20A031DA3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2BAE32C1-75BA-C154-AEC7-A6B3450BEBD5}"/>
              </a:ext>
            </a:extLst>
          </p:cNvPr>
          <p:cNvGrpSpPr/>
          <p:nvPr/>
        </p:nvGrpSpPr>
        <p:grpSpPr>
          <a:xfrm>
            <a:off x="161932" y="451496"/>
            <a:ext cx="17574729" cy="5628107"/>
            <a:chOff x="-412415" y="-5751"/>
            <a:chExt cx="15101412" cy="635511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7458A49-04E6-2EFA-6170-0E0748F7563F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2AD3601-B23E-FE7F-02F2-1C7FD56CE085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B2D2978-C351-583F-5107-7C1722540F1C}"/>
                </a:ext>
              </a:extLst>
            </p:cNvPr>
            <p:cNvSpPr txBox="1"/>
            <p:nvPr/>
          </p:nvSpPr>
          <p:spPr>
            <a:xfrm>
              <a:off x="-412415" y="1066131"/>
              <a:ext cx="15101412" cy="52832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🔧 </a:t>
              </a:r>
              <a:r>
                <a:rPr lang="en-US" altLang="en-US" sz="4000" b="1" dirty="0">
                  <a:latin typeface="+mj-lt"/>
                </a:rPr>
                <a:t>Advanced Assignment 4: </a:t>
              </a:r>
              <a:r>
                <a:rPr lang="en-US" sz="4000" b="1" dirty="0">
                  <a:latin typeface="+mj-lt"/>
                </a:rPr>
                <a:t>Conditional Validation and Custom Errors</a:t>
              </a:r>
              <a:endParaRPr lang="en-US" sz="3800" dirty="0">
                <a:latin typeface="+mj-lt"/>
              </a:endParaRPr>
            </a:p>
            <a:p>
              <a:pPr lvl="1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Tasks: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latin typeface="+mj-lt"/>
                </a:rPr>
                <a:t>Extend the /Devices/Edit/{id} page: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latin typeface="+mj-lt"/>
                </a:rPr>
                <a:t>Add a Notes field, required </a:t>
              </a:r>
              <a:r>
                <a:rPr lang="en-US" altLang="en-US" sz="3200" b="1" dirty="0">
                  <a:latin typeface="+mj-lt"/>
                </a:rPr>
                <a:t>only if</a:t>
              </a:r>
              <a:r>
                <a:rPr lang="en-US" altLang="en-US" sz="3200" dirty="0">
                  <a:latin typeface="+mj-lt"/>
                </a:rPr>
                <a:t> Status is "Inactive"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latin typeface="+mj-lt"/>
                </a:rPr>
                <a:t>Implement conditional validation in OnPost() using ModelState.AddModelError()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latin typeface="+mj-lt"/>
                </a:rPr>
                <a:t>Show validation messages for all fields, including custom errors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9A1F7AB-DA9F-FEEE-E9A0-57DDF06342D5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D574C42D-54B6-C16E-8E5A-6266CDFA9171}"/>
              </a:ext>
            </a:extLst>
          </p:cNvPr>
          <p:cNvSpPr txBox="1"/>
          <p:nvPr/>
        </p:nvSpPr>
        <p:spPr>
          <a:xfrm>
            <a:off x="8116936" y="22346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901DBE1-CEDF-6C9D-7D29-AB258013125D}"/>
              </a:ext>
            </a:extLst>
          </p:cNvPr>
          <p:cNvGrpSpPr>
            <a:grpSpLocks noChangeAspect="1"/>
          </p:cNvGrpSpPr>
          <p:nvPr/>
        </p:nvGrpSpPr>
        <p:grpSpPr>
          <a:xfrm>
            <a:off x="14504093" y="5621602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8A7C113-24A9-B921-12B7-0707E62AA906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EFC7D70-A520-E917-A6C2-2DCE4962F371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42C1E5B1-40C7-741D-41BB-0FF2D1854B72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AC3C7AC-F3F7-777C-8A22-30629B05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19</a:t>
            </a:fld>
            <a:endParaRPr lang="en-GB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1424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462747" y="533743"/>
            <a:ext cx="6368927" cy="225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 dirty="0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 dirty="0">
              <a:solidFill>
                <a:srgbClr val="FFFFFF"/>
              </a:solidFill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5020" y="434632"/>
            <a:ext cx="2025393" cy="1188136"/>
            <a:chOff x="0" y="0"/>
            <a:chExt cx="2700524" cy="15841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503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solidFill>
                    <a:srgbClr val="3168D8"/>
                  </a:solidFill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907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solidFill>
                    <a:srgbClr val="7900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44" y="962075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20</a:t>
            </a:fld>
            <a:endParaRPr lang="en-GB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02335" y="4865952"/>
            <a:ext cx="3466514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200" b="1" dirty="0">
                <a:solidFill>
                  <a:srgbClr val="33123B"/>
                </a:solidFill>
                <a:latin typeface="Assistant Regular Bold" panose="020B0604020202020204" charset="-79"/>
                <a:ea typeface="+mn-lt"/>
                <a:cs typeface="Assistant Regular Bold" panose="020B0604020202020204" charset="-79"/>
                <a:sym typeface="Agrandir"/>
              </a:rPr>
              <a:t>Razor Pages</a:t>
            </a:r>
            <a:endParaRPr lang="en-US" sz="3000" b="1" dirty="0">
              <a:solidFill>
                <a:srgbClr val="33123B"/>
              </a:solidFill>
              <a:latin typeface="Assistant Regular Bold" panose="020B0604020202020204" charset="-79"/>
              <a:ea typeface="Assistant Regular Bold"/>
              <a:cs typeface="Assistant Regular Bold" panose="020B0604020202020204" charset="-79"/>
              <a:sym typeface="Assistant Regular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419151" y="4865952"/>
            <a:ext cx="393590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Routing and Navigation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19151" y="5923227"/>
            <a:ext cx="393590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Form tag helpers and Model binding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81763" y="7261192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02335" y="5822547"/>
            <a:ext cx="3466514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HTML Forms</a:t>
            </a: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744" y="960247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21</a:t>
            </a:fld>
            <a:endParaRPr lang="en-GB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960917" y="4609225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 dirty="0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240" y="1548652"/>
            <a:ext cx="16642080" cy="2640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GB" sz="3000" dirty="0">
                <a:solidFill>
                  <a:srgbClr val="000000"/>
                </a:solidFill>
                <a:ea typeface="+mn-lt"/>
                <a:cs typeface="+mn-lt"/>
                <a:sym typeface="Assistant Regular"/>
                <a:hlinkClick r:id="rId4"/>
              </a:rPr>
              <a:t>https://learn.microsoft.com/en-us/aspnet/core/razor-pages/</a:t>
            </a:r>
            <a:endParaRPr lang="en-GB" sz="3000" dirty="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GB" sz="3000" dirty="0">
                <a:solidFill>
                  <a:srgbClr val="000000"/>
                </a:solidFill>
                <a:ea typeface="+mn-lt"/>
                <a:cs typeface="+mn-lt"/>
                <a:sym typeface="Assistant Regular"/>
                <a:hlinkClick r:id="rId5"/>
              </a:rPr>
              <a:t>https://learn.microsoft.com/en-us/aspnet/core/mvc/models/model-binding</a:t>
            </a:r>
            <a:endParaRPr lang="en-GB" sz="3000" dirty="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endParaRPr lang="en-US" sz="3000" dirty="0">
              <a:latin typeface="Assistant Regular"/>
              <a:cs typeface="Assistant Regular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8432" y="941959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22</a:t>
            </a:fld>
            <a:endParaRPr lang="en-GB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Q&amp;A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4436" y="938767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23</a:t>
            </a:fld>
            <a:endParaRPr lang="en-GB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1444</Words>
  <Application>Microsoft Office PowerPoint</Application>
  <PresentationFormat>Custom</PresentationFormat>
  <Paragraphs>382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Assistant Regular Bold</vt:lpstr>
      <vt:lpstr>Courier New</vt:lpstr>
      <vt:lpstr>HK Modular</vt:lpstr>
      <vt:lpstr>Calibri</vt:lpstr>
      <vt:lpstr>Arial</vt:lpstr>
      <vt:lpstr>Wingdings</vt:lpstr>
      <vt:lpstr>Assistant Regular</vt:lpstr>
      <vt:lpstr>Heebo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cp:lastModifiedBy>Sierra Learning</cp:lastModifiedBy>
  <cp:revision>91</cp:revision>
  <dcterms:created xsi:type="dcterms:W3CDTF">2006-08-16T00:00:00Z</dcterms:created>
  <dcterms:modified xsi:type="dcterms:W3CDTF">2025-08-05T09:39:09Z</dcterms:modified>
  <dc:identifier>DAGpXxrSFgM</dc:identifier>
</cp:coreProperties>
</file>