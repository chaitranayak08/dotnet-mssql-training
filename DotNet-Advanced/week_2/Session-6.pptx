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256" r:id="rId2"/>
    <p:sldId id="257" r:id="rId3"/>
    <p:sldId id="299" r:id="rId4"/>
    <p:sldId id="300" r:id="rId5"/>
    <p:sldId id="301" r:id="rId6"/>
    <p:sldId id="294" r:id="rId7"/>
    <p:sldId id="275" r:id="rId8"/>
    <p:sldId id="302" r:id="rId9"/>
    <p:sldId id="303" r:id="rId10"/>
    <p:sldId id="295" r:id="rId11"/>
    <p:sldId id="276" r:id="rId12"/>
    <p:sldId id="296" r:id="rId13"/>
    <p:sldId id="304" r:id="rId14"/>
    <p:sldId id="291" r:id="rId15"/>
    <p:sldId id="305" r:id="rId16"/>
    <p:sldId id="306" r:id="rId17"/>
    <p:sldId id="298" r:id="rId18"/>
    <p:sldId id="265" r:id="rId19"/>
    <p:sldId id="266" r:id="rId20"/>
    <p:sldId id="267" r:id="rId21"/>
    <p:sldId id="268" r:id="rId22"/>
    <p:sldId id="269" r:id="rId23"/>
  </p:sldIdLst>
  <p:sldSz cx="18288000" cy="10287000"/>
  <p:notesSz cx="6858000" cy="9144000"/>
  <p:embeddedFontLst>
    <p:embeddedFont>
      <p:font typeface="Assistant Regular" panose="020B0604020202020204" charset="-79"/>
      <p:regular r:id="rId24"/>
    </p:embeddedFont>
    <p:embeddedFont>
      <p:font typeface="Assistant Regular Bold" panose="020B0604020202020204" charset="-79"/>
      <p:regular r:id="rId25"/>
    </p:embeddedFont>
    <p:embeddedFont>
      <p:font typeface="Heebo Black" pitchFamily="2" charset="-79"/>
      <p:regular r:id="rId26"/>
      <p:bold r:id="rId27"/>
    </p:embeddedFont>
    <p:embeddedFont>
      <p:font typeface="HK Modular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83F2A-5343-79CD-B045-87E6A60A27CD}" v="35" dt="2025-06-09T07:43:09.257"/>
    <p1510:client id="{48913760-2B4B-40AB-BAB1-5B833250FBCA}" v="14" dt="2025-06-09T08:04:28.557"/>
    <p1510:client id="{6217F43D-2A94-46AF-90C1-C85748EC6597}" v="381" dt="2025-06-07T10:14:44.837"/>
    <p1510:client id="{8F40484E-1A4A-44C5-A2E8-9A80D22FC275}" v="109" dt="2025-06-09T08:00:11.245"/>
    <p1510:client id="{C229F99B-91FC-4CCB-AA17-9B031DDDE57D}" v="63" dt="2025-06-07T10:24:5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2136" autoAdjust="0"/>
  </p:normalViewPr>
  <p:slideViewPr>
    <p:cSldViewPr snapToGrid="0">
      <p:cViewPr>
        <p:scale>
          <a:sx n="33" d="100"/>
          <a:sy n="33" d="100"/>
        </p:scale>
        <p:origin x="19" y="5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eveloper.mozilla.org/en-US/docs/Web/API/Fetch_API" TargetMode="External"/><Relationship Id="rId4" Type="http://schemas.openxmlformats.org/officeDocument/2006/relationships/hyperlink" Target="https://learn.microsoft.com/en-us/aspnet/core/razor-pages/ui-enhancements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4649951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46225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600" dirty="0">
                  <a:solidFill>
                    <a:schemeClr val="bg1"/>
                  </a:solidFill>
                  <a:latin typeface="+mj-lt"/>
                  <a:ea typeface="+mn-lt"/>
                  <a:cs typeface="+mn-lt"/>
                </a:rPr>
                <a:t>Razor and API Integration(AJAZ/Fetch)</a:t>
              </a:r>
              <a:endParaRPr lang="en-US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solidFill>
                  <a:srgbClr val="FFFFFF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solidFill>
                <a:srgbClr val="FFFFFF"/>
              </a:solidFill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1</a:t>
            </a:fld>
            <a:endParaRPr lang="en-GB" sz="20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+mj-lt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2518"/>
            <a:chOff x="0" y="0"/>
            <a:chExt cx="7398043" cy="1243356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7" y="335404"/>
              <a:ext cx="442528" cy="45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2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JavaScript fetch from Razor Pages</a:t>
              </a:r>
              <a:endParaRPr lang="en-US" sz="2400" dirty="0">
                <a:latin typeface="+mj-lt"/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Handling API responses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4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1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AJAX form submission</a:t>
              </a:r>
              <a:endParaRPr lang="en-US" dirty="0">
                <a:latin typeface="+mj-lt"/>
                <a:sym typeface="Agrandi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4355" y="5911681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881343"/>
            <a:chOff x="0" y="0"/>
            <a:chExt cx="7398043" cy="1175123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Live DOM updates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5854850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2</a:t>
            </a:fld>
            <a:endParaRPr lang="en-GB" sz="2000">
              <a:latin typeface="+mj-lt"/>
              <a:ea typeface="Calibri"/>
              <a:cs typeface="Calibri"/>
            </a:endParaRPr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774356" y="7435751"/>
            <a:ext cx="5548531" cy="881343"/>
            <a:chOff x="0" y="0"/>
            <a:chExt cx="7398043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</a:rPr>
                <a:t>7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A5632-777C-0140-BE7B-48652957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0D7324-01EB-3B40-C4A6-C0C0287560F0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3222CD4-F7D1-BEB0-09C1-A1C233DF845C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F1F4ED2-571E-BE20-99F4-CE132B506442}"/>
              </a:ext>
            </a:extLst>
          </p:cNvPr>
          <p:cNvGrpSpPr/>
          <p:nvPr/>
        </p:nvGrpSpPr>
        <p:grpSpPr>
          <a:xfrm>
            <a:off x="1034010" y="1470814"/>
            <a:ext cx="17855569" cy="8787662"/>
            <a:chOff x="-1991713" y="-4221609"/>
            <a:chExt cx="19426653" cy="1171687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9C7F2F-7EB5-9FFC-29A1-586971931B3F}"/>
                </a:ext>
              </a:extLst>
            </p:cNvPr>
            <p:cNvSpPr txBox="1"/>
            <p:nvPr/>
          </p:nvSpPr>
          <p:spPr>
            <a:xfrm>
              <a:off x="-1991713" y="-4221609"/>
              <a:ext cx="19426653" cy="117168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8E09121-45D0-C0DA-295B-0179C5D655A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FDC67C3-CB0D-A0C7-119C-D2D29A92620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4DCAAB8-0A2F-B976-823E-315AEB9F0FC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5FC86EC-AA00-EA0F-53C3-3C5555544D00}"/>
              </a:ext>
            </a:extLst>
          </p:cNvPr>
          <p:cNvSpPr txBox="1"/>
          <p:nvPr/>
        </p:nvSpPr>
        <p:spPr>
          <a:xfrm>
            <a:off x="968289" y="302888"/>
            <a:ext cx="17319711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chemeClr val="bg1"/>
                </a:solidFill>
              </a:rPr>
              <a:t>Why Integrate Razor with APIs?</a:t>
            </a:r>
            <a:endParaRPr lang="en-US" sz="90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A90C99D-3ACA-F793-DC3B-40EF96E26DDD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2ED4639-AF47-4BDA-5043-B7AA9C87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</a:t>
            </a:fld>
            <a:endParaRPr lang="en-GB" sz="200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55B5DBC7-C94E-AFE0-7F7F-5F42ACF8157D}"/>
              </a:ext>
            </a:extLst>
          </p:cNvPr>
          <p:cNvSpPr/>
          <p:nvPr/>
        </p:nvSpPr>
        <p:spPr>
          <a:xfrm>
            <a:off x="1441001" y="3176337"/>
            <a:ext cx="5116346" cy="5871410"/>
          </a:xfrm>
          <a:prstGeom prst="homePlate">
            <a:avLst>
              <a:gd name="adj" fmla="val 1792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11A747D2-604A-6AAC-F6B1-D9CD470B045C}"/>
              </a:ext>
            </a:extLst>
          </p:cNvPr>
          <p:cNvSpPr/>
          <p:nvPr/>
        </p:nvSpPr>
        <p:spPr>
          <a:xfrm>
            <a:off x="6990096" y="3176337"/>
            <a:ext cx="5116346" cy="5871410"/>
          </a:xfrm>
          <a:prstGeom prst="homePlate">
            <a:avLst>
              <a:gd name="adj" fmla="val 2090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BBDFABCF-6E23-BD50-3A7E-0FF8ED8811A2}"/>
              </a:ext>
            </a:extLst>
          </p:cNvPr>
          <p:cNvSpPr/>
          <p:nvPr/>
        </p:nvSpPr>
        <p:spPr>
          <a:xfrm>
            <a:off x="12539191" y="3351258"/>
            <a:ext cx="5248862" cy="5871410"/>
          </a:xfrm>
          <a:prstGeom prst="homePlate">
            <a:avLst>
              <a:gd name="adj" fmla="val 2319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64675E-6155-C4B3-09DB-3DE72464D1A4}"/>
              </a:ext>
            </a:extLst>
          </p:cNvPr>
          <p:cNvSpPr txBox="1"/>
          <p:nvPr/>
        </p:nvSpPr>
        <p:spPr>
          <a:xfrm>
            <a:off x="1570858" y="3351258"/>
            <a:ext cx="384516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✅ </a:t>
            </a:r>
            <a:r>
              <a:rPr lang="en-IN" sz="3000" b="1" dirty="0">
                <a:latin typeface="+mj-lt"/>
              </a:rPr>
              <a:t>Avoid Full Page Reloads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000" dirty="0">
              <a:latin typeface="+mj-lt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+mj-lt"/>
              </a:rPr>
              <a:t>Use APIs with JavaScript (e.g., fetch) to update parts of the page.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000" dirty="0">
              <a:latin typeface="+mj-lt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+mj-lt"/>
              </a:rPr>
              <a:t>Faster interactions without reloading the entire 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62AF62-A11A-5C78-079B-3103038BCA05}"/>
              </a:ext>
            </a:extLst>
          </p:cNvPr>
          <p:cNvSpPr txBox="1"/>
          <p:nvPr/>
        </p:nvSpPr>
        <p:spPr>
          <a:xfrm>
            <a:off x="7111687" y="3380873"/>
            <a:ext cx="395399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✅ Improve UX &amp; Responsiveness</a:t>
            </a:r>
          </a:p>
          <a:p>
            <a:endParaRPr lang="en-US" sz="3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Real-time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Smoother, more dynamic user experience</a:t>
            </a:r>
          </a:p>
          <a:p>
            <a:endParaRPr lang="en-IN" sz="3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59A921-DC10-F59D-9A10-4402B4D2A643}"/>
              </a:ext>
            </a:extLst>
          </p:cNvPr>
          <p:cNvSpPr txBox="1"/>
          <p:nvPr/>
        </p:nvSpPr>
        <p:spPr>
          <a:xfrm>
            <a:off x="12722806" y="3470807"/>
            <a:ext cx="39645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✅ Decouple Frontend &amp; Backend</a:t>
            </a:r>
          </a:p>
          <a:p>
            <a:endParaRPr lang="en-US" sz="3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Razor handles layout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APIs handle data and logic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Makes backend reusable across apps and easier to maintain</a:t>
            </a:r>
          </a:p>
        </p:txBody>
      </p:sp>
    </p:spTree>
    <p:extLst>
      <p:ext uri="{BB962C8B-B14F-4D97-AF65-F5344CB8AC3E}">
        <p14:creationId xmlns:p14="http://schemas.microsoft.com/office/powerpoint/2010/main" val="2597007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12C85-2AB8-748A-38F3-41666A77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60A5FE-3796-1555-218F-A086D6E265AF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FA011AC-135A-6133-824E-40C13523724D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77CFCC1-D6D9-C88E-7352-6D808E21F4DD}"/>
              </a:ext>
            </a:extLst>
          </p:cNvPr>
          <p:cNvGrpSpPr/>
          <p:nvPr/>
        </p:nvGrpSpPr>
        <p:grpSpPr>
          <a:xfrm>
            <a:off x="1034010" y="1470814"/>
            <a:ext cx="17855569" cy="8787662"/>
            <a:chOff x="-1991713" y="-4221609"/>
            <a:chExt cx="19426653" cy="1171687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00B8907-9048-5FF6-8FC7-A23E815052C0}"/>
                </a:ext>
              </a:extLst>
            </p:cNvPr>
            <p:cNvSpPr txBox="1"/>
            <p:nvPr/>
          </p:nvSpPr>
          <p:spPr>
            <a:xfrm>
              <a:off x="-1991713" y="-4221609"/>
              <a:ext cx="19426653" cy="117168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BEC6724-4443-CF3A-DDA4-6FD96626AB85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F095038-1CED-B76B-E18B-9ACB947792F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2530F8E-0E98-A5BF-462A-2D974BAE7E66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7540CE-F884-988C-D2E0-7EEBAA4FD308}"/>
              </a:ext>
            </a:extLst>
          </p:cNvPr>
          <p:cNvSpPr txBox="1"/>
          <p:nvPr/>
        </p:nvSpPr>
        <p:spPr>
          <a:xfrm>
            <a:off x="968289" y="302888"/>
            <a:ext cx="17319711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chemeClr val="bg1"/>
                </a:solidFill>
              </a:rPr>
              <a:t>Overview of fetch API</a:t>
            </a:r>
            <a:endParaRPr lang="en-US" sz="90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11DC15C-6799-AFAC-F4B5-5C0AC7B80314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6D86D0A-4C13-2A83-EB1B-31A52977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4</a:t>
            </a:fld>
            <a:endParaRPr lang="en-GB" sz="2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5411E8-C172-C5A6-6819-C5A8005ADA1B}"/>
              </a:ext>
            </a:extLst>
          </p:cNvPr>
          <p:cNvSpPr txBox="1"/>
          <p:nvPr/>
        </p:nvSpPr>
        <p:spPr>
          <a:xfrm>
            <a:off x="1564105" y="1930894"/>
            <a:ext cx="15123219" cy="877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✅ </a:t>
            </a:r>
            <a:r>
              <a:rPr lang="en-US" altLang="en-US" sz="4000" b="1" dirty="0">
                <a:solidFill>
                  <a:schemeClr val="bg1"/>
                </a:solidFill>
                <a:latin typeface="+mj-lt"/>
              </a:rPr>
              <a:t>What is fetch() in JavaScript?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A modern, built-in JavaScript API for making </a:t>
            </a: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HTTP requests</a:t>
            </a: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Used to </a:t>
            </a: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get or send data</a:t>
            </a: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 from/to a server asynchronously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Fully </a:t>
            </a: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promise-based</a:t>
            </a: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 (no need for external libraries)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3200" dirty="0">
                <a:solidFill>
                  <a:schemeClr val="bg1"/>
                </a:solidFill>
                <a:latin typeface="+mj-lt"/>
              </a:rPr>
              <a:t>✅ </a:t>
            </a:r>
            <a:r>
              <a:rPr lang="en-IN" sz="4000" b="1" dirty="0">
                <a:solidFill>
                  <a:schemeClr val="bg1"/>
                </a:solidFill>
                <a:latin typeface="+mj-lt"/>
              </a:rPr>
              <a:t>Basic Syntax</a:t>
            </a: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											</a:t>
            </a:r>
          </a:p>
          <a:p>
            <a:pPr lvl="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				</a:t>
            </a:r>
            <a:r>
              <a:rPr lang="en-IN" sz="3200" dirty="0"/>
              <a:t>🔸</a:t>
            </a: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Returns a </a:t>
            </a: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Promise</a:t>
            </a: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				</a:t>
            </a:r>
            <a:r>
              <a:rPr lang="en-IN" sz="3200" dirty="0"/>
              <a:t>🔸</a:t>
            </a: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.then() handles the response</a:t>
            </a:r>
          </a:p>
          <a:p>
            <a:pPr lvl="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				</a:t>
            </a:r>
            <a:r>
              <a:rPr lang="en-IN" sz="3200" dirty="0"/>
              <a:t>🔸</a:t>
            </a: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.catch() handles errors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C247E91-5F0D-70B7-BF8D-25232B74B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5783" y="6545179"/>
            <a:ext cx="6256006" cy="324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1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5DD53-DEC2-26A5-EF14-965C6F350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3A1D51-9EA5-8C71-4C83-3752F7A0F79B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F618D7-D3C9-710B-1C11-142F34CE880F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809D9EE-3933-FDF8-5976-6FD256621C38}"/>
              </a:ext>
            </a:extLst>
          </p:cNvPr>
          <p:cNvGrpSpPr/>
          <p:nvPr/>
        </p:nvGrpSpPr>
        <p:grpSpPr>
          <a:xfrm>
            <a:off x="1034010" y="1470814"/>
            <a:ext cx="17855569" cy="8787662"/>
            <a:chOff x="-1991713" y="-4221609"/>
            <a:chExt cx="19426653" cy="1171687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0CC8E5-4EFF-70B0-110C-8B38E5742B9F}"/>
                </a:ext>
              </a:extLst>
            </p:cNvPr>
            <p:cNvSpPr txBox="1"/>
            <p:nvPr/>
          </p:nvSpPr>
          <p:spPr>
            <a:xfrm>
              <a:off x="-1991713" y="-4221609"/>
              <a:ext cx="19426653" cy="117168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B6884E2-0AEA-FC95-F630-63C8CF3E695A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A3D1DBF-2026-04D2-8F78-D7C6141F0D2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885C055-0A74-3804-0672-FD0B74C30B9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070B0A2-6B20-328A-91B0-21DBB53F163F}"/>
              </a:ext>
            </a:extLst>
          </p:cNvPr>
          <p:cNvSpPr txBox="1"/>
          <p:nvPr/>
        </p:nvSpPr>
        <p:spPr>
          <a:xfrm>
            <a:off x="968289" y="302888"/>
            <a:ext cx="17319711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chemeClr val="bg1"/>
                </a:solidFill>
              </a:rPr>
              <a:t>Overview of fetch API</a:t>
            </a:r>
            <a:endParaRPr lang="en-US" sz="90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628B561-CAC2-6B49-975D-086CF77ED879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445CB2B-6C1E-48E5-9E0E-4A9CA7A6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5</a:t>
            </a:fld>
            <a:endParaRPr lang="en-GB" sz="2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FD558B-EBF8-790B-83CB-41D559887CD6}"/>
              </a:ext>
            </a:extLst>
          </p:cNvPr>
          <p:cNvSpPr txBox="1"/>
          <p:nvPr/>
        </p:nvSpPr>
        <p:spPr>
          <a:xfrm>
            <a:off x="1564105" y="1930894"/>
            <a:ext cx="15123219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🔄 </a:t>
            </a:r>
            <a:r>
              <a:rPr lang="en-US" sz="4000" b="1" dirty="0">
                <a:solidFill>
                  <a:schemeClr val="bg1"/>
                </a:solidFill>
                <a:latin typeface="+mj-lt"/>
              </a:rPr>
              <a:t>How It Compares to jQuery AJAX</a:t>
            </a: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4E4FCD8-A17E-483B-E2A4-3228CD3CF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880969"/>
              </p:ext>
            </p:extLst>
          </p:nvPr>
        </p:nvGraphicFramePr>
        <p:xfrm>
          <a:off x="1939268" y="3522118"/>
          <a:ext cx="14748054" cy="549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018">
                  <a:extLst>
                    <a:ext uri="{9D8B030D-6E8A-4147-A177-3AD203B41FA5}">
                      <a16:colId xmlns:a16="http://schemas.microsoft.com/office/drawing/2014/main" val="2224411672"/>
                    </a:ext>
                  </a:extLst>
                </a:gridCol>
                <a:gridCol w="4916018">
                  <a:extLst>
                    <a:ext uri="{9D8B030D-6E8A-4147-A177-3AD203B41FA5}">
                      <a16:colId xmlns:a16="http://schemas.microsoft.com/office/drawing/2014/main" val="1258769623"/>
                    </a:ext>
                  </a:extLst>
                </a:gridCol>
                <a:gridCol w="4916018">
                  <a:extLst>
                    <a:ext uri="{9D8B030D-6E8A-4147-A177-3AD203B41FA5}">
                      <a16:colId xmlns:a16="http://schemas.microsoft.com/office/drawing/2014/main" val="3977159805"/>
                    </a:ext>
                  </a:extLst>
                </a:gridCol>
              </a:tblGrid>
              <a:tr h="1374970">
                <a:tc>
                  <a:txBody>
                    <a:bodyPr/>
                    <a:lstStyle/>
                    <a:p>
                      <a:r>
                        <a:rPr lang="en-IN" sz="3200" dirty="0"/>
                        <a:t>Feature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fetch()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$.ajax() (jQuery)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16579"/>
                  </a:ext>
                </a:extLst>
              </a:tr>
              <a:tr h="1374970">
                <a:tc>
                  <a:txBody>
                    <a:bodyPr/>
                    <a:lstStyle/>
                    <a:p>
                      <a:r>
                        <a:rPr lang="en-IN" sz="3200" dirty="0"/>
                        <a:t>Built-in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✅ 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❌ No( requires jQuery)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243485"/>
                  </a:ext>
                </a:extLst>
              </a:tr>
              <a:tr h="1374970">
                <a:tc>
                  <a:txBody>
                    <a:bodyPr/>
                    <a:lstStyle/>
                    <a:p>
                      <a:r>
                        <a:rPr lang="en-IN" sz="3200" dirty="0"/>
                        <a:t>Promise-based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✅ Native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❌Callback –based (unless using Promises manually)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362032"/>
                  </a:ext>
                </a:extLst>
              </a:tr>
              <a:tr h="1374970">
                <a:tc>
                  <a:txBody>
                    <a:bodyPr/>
                    <a:lstStyle/>
                    <a:p>
                      <a:r>
                        <a:rPr lang="en-IN" sz="3200" dirty="0"/>
                        <a:t>Modern standard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✅ 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🚫Legacy for modern apps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444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64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9D084-D444-304F-D565-A7B7AD68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BC34FD-FAA2-5F07-1142-A91C4DF094B6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E4AEF7D-D09C-7167-2FB0-48F2BAFF840E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25B2AF3-95B4-9D09-40AB-F3192C763DFC}"/>
              </a:ext>
            </a:extLst>
          </p:cNvPr>
          <p:cNvGrpSpPr/>
          <p:nvPr/>
        </p:nvGrpSpPr>
        <p:grpSpPr>
          <a:xfrm>
            <a:off x="1235026" y="2337061"/>
            <a:ext cx="17253990" cy="8099910"/>
            <a:chOff x="-2210943" y="-3066615"/>
            <a:chExt cx="20181794" cy="1079987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2F6DC90-604D-C666-3CF8-D10DC686A91F}"/>
                </a:ext>
              </a:extLst>
            </p:cNvPr>
            <p:cNvSpPr txBox="1"/>
            <p:nvPr/>
          </p:nvSpPr>
          <p:spPr>
            <a:xfrm>
              <a:off x="-2210943" y="-3066615"/>
              <a:ext cx="20181794" cy="10799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✅ </a:t>
              </a: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Adding JavaScript in Razor Page (.cshtml)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You can include &lt;script&gt; tags directly in your .cshtml file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Use the </a:t>
              </a: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fetch()</a:t>
              </a: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 API to make calls to backend endpoints (e.g., Web API)</a:t>
              </a:r>
            </a:p>
            <a:p>
              <a:pPr algn="just">
                <a:lnSpc>
                  <a:spcPct val="150000"/>
                </a:lnSpc>
              </a:pPr>
              <a:endParaRPr lang="en-US" sz="1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🔍 </a:t>
              </a: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Where to Place the Script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Place &lt;script&gt; at the </a:t>
              </a: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bottom of the page</a:t>
              </a: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 or use defer/DOMContentLoaded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You can use @Url.Page() or hardcoded endpoints as needed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1200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150000"/>
                </a:lnSpc>
              </a:pPr>
              <a:r>
                <a:rPr lang="en-IN" sz="3000" dirty="0"/>
                <a:t>⚡ </a:t>
              </a:r>
              <a:r>
                <a:rPr lang="en-US" sz="4000" b="1" dirty="0">
                  <a:solidFill>
                    <a:schemeClr val="bg1"/>
                  </a:solidFill>
                  <a:latin typeface="+mj-lt"/>
                </a:rPr>
                <a:t>Use Cases</a:t>
              </a:r>
            </a:p>
            <a:p>
              <a:pPr marL="2286000" lvl="4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chemeClr val="bg1"/>
                  </a:solidFill>
                  <a:latin typeface="+mj-lt"/>
                </a:rPr>
                <a:t>Load product lists</a:t>
              </a:r>
            </a:p>
            <a:p>
              <a:pPr marL="2286000" lvl="4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chemeClr val="bg1"/>
                  </a:solidFill>
                  <a:latin typeface="+mj-lt"/>
                </a:rPr>
                <a:t>Submit form data without page reload</a:t>
              </a:r>
            </a:p>
            <a:p>
              <a:pPr marL="2286000" lvl="4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chemeClr val="bg1"/>
                  </a:solidFill>
                  <a:latin typeface="+mj-lt"/>
                </a:rPr>
                <a:t>Build interactive components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DC9DC00-5E11-792C-2722-289066D45E26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A935AEF-A198-7B7E-F4A7-30E45DD1102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711989D-7FEA-8809-7321-7A96E3AEAD2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0F679AE-B182-C360-564D-86593E098BBC}"/>
              </a:ext>
            </a:extLst>
          </p:cNvPr>
          <p:cNvSpPr txBox="1"/>
          <p:nvPr/>
        </p:nvSpPr>
        <p:spPr>
          <a:xfrm>
            <a:off x="1169305" y="16063"/>
            <a:ext cx="16901512" cy="2546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b="1" dirty="0">
                <a:solidFill>
                  <a:schemeClr val="bg1"/>
                </a:solidFill>
              </a:rPr>
              <a:t>Calling an API from a Razor Page (Frontend)</a:t>
            </a:r>
            <a:endParaRPr lang="en-US" sz="80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DE19BF8-5E00-3F58-42B0-942ACA879BAC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88D2543-3340-97F7-5B8C-A1347EB4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6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07694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995613" y="2533826"/>
            <a:ext cx="15132853" cy="7310335"/>
            <a:chOff x="-1239435" y="-1670886"/>
            <a:chExt cx="20177139" cy="518886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1239435" y="-1670886"/>
              <a:ext cx="20177139" cy="51888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570133" y="-141796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864779" y="85819"/>
            <a:ext cx="16086337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9000" b="1" dirty="0">
                <a:solidFill>
                  <a:schemeClr val="bg1"/>
                </a:solidFill>
              </a:rPr>
              <a:t>Handling API Response on the UI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7</a:t>
            </a:fld>
            <a:endParaRPr lang="en-GB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6A111B-CF7C-CE62-0355-C7A8ACA5C114}"/>
              </a:ext>
            </a:extLst>
          </p:cNvPr>
          <p:cNvSpPr txBox="1"/>
          <p:nvPr/>
        </p:nvSpPr>
        <p:spPr>
          <a:xfrm>
            <a:off x="2216379" y="1470814"/>
            <a:ext cx="14691315" cy="911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chemeClr val="bg1"/>
                </a:solidFill>
                <a:latin typeface="+mj-lt"/>
              </a:rPr>
              <a:t>✅ 1. Updating the DOM Dynamically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Use JavaScript to insert data directly into the HTML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Allows live updates without reloading the page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Common methods: innerHTML, createElement(), or frameworks (optional)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✅ </a:t>
            </a:r>
            <a:r>
              <a:rPr lang="en-US" altLang="en-US" sz="4000" b="1" dirty="0">
                <a:solidFill>
                  <a:schemeClr val="bg1"/>
                </a:solidFill>
                <a:latin typeface="+mj-lt"/>
              </a:rPr>
              <a:t>2. Looping Through API Data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Example: Rendering a list of products returned from an API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endParaRPr lang="en-IN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39C6D8-0FF4-185D-5800-78E92402E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212" y="6791714"/>
            <a:ext cx="9755229" cy="334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68857-01F9-099B-3A00-C64E4B31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46B92F-7DE4-EBAE-AC0B-A89476E361C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B4BDC49-7B75-92D1-C616-3B062B34F067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D702DCB-D66A-B5DE-5452-10C2E7299D11}"/>
              </a:ext>
            </a:extLst>
          </p:cNvPr>
          <p:cNvGrpSpPr/>
          <p:nvPr/>
        </p:nvGrpSpPr>
        <p:grpSpPr>
          <a:xfrm>
            <a:off x="1995613" y="2533826"/>
            <a:ext cx="15132853" cy="7310335"/>
            <a:chOff x="-1239435" y="-1670886"/>
            <a:chExt cx="20177139" cy="518886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8BD3A2-0135-CAA5-6E53-2909DAE4BAAC}"/>
                </a:ext>
              </a:extLst>
            </p:cNvPr>
            <p:cNvSpPr txBox="1"/>
            <p:nvPr/>
          </p:nvSpPr>
          <p:spPr>
            <a:xfrm>
              <a:off x="-1239435" y="-1670886"/>
              <a:ext cx="20177139" cy="51888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1B1C467-4CA1-13F8-0FD3-0CD73DF84ACD}"/>
                </a:ext>
              </a:extLst>
            </p:cNvPr>
            <p:cNvSpPr txBox="1"/>
            <p:nvPr/>
          </p:nvSpPr>
          <p:spPr>
            <a:xfrm>
              <a:off x="570133" y="-141796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DD7B8A4-E735-2512-5348-A82050BF34E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E19B18C-3313-0AE4-77CB-AD05B7EB5A96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A03192A-1826-E3EE-ABDC-384D96DE17C2}"/>
              </a:ext>
            </a:extLst>
          </p:cNvPr>
          <p:cNvSpPr txBox="1"/>
          <p:nvPr/>
        </p:nvSpPr>
        <p:spPr>
          <a:xfrm>
            <a:off x="1864779" y="85819"/>
            <a:ext cx="16086337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9000" b="1" dirty="0">
                <a:solidFill>
                  <a:schemeClr val="bg1"/>
                </a:solidFill>
              </a:rPr>
              <a:t>Handling API Response on the UI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4173E3D-9EE7-B86B-2CA0-FD4144C7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8</a:t>
            </a:fld>
            <a:endParaRPr lang="en-GB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4851B7-111F-B250-19AE-C9DB533BABD5}"/>
              </a:ext>
            </a:extLst>
          </p:cNvPr>
          <p:cNvSpPr txBox="1"/>
          <p:nvPr/>
        </p:nvSpPr>
        <p:spPr>
          <a:xfrm>
            <a:off x="2216379" y="1470814"/>
            <a:ext cx="14691315" cy="8202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✅ </a:t>
            </a:r>
            <a:r>
              <a:rPr lang="en-US" sz="4000" b="1" dirty="0">
                <a:solidFill>
                  <a:schemeClr val="bg1"/>
                </a:solidFill>
                <a:latin typeface="+mj-lt"/>
              </a:rPr>
              <a:t>3. Show Success Message (e.g., after POST)</a:t>
            </a: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💡 Tips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Always check for errors using .catch()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Sanitize data before injecting into DOM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Use innerHTML with caution to avoid XSS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93BCA8-3552-459A-77B7-12FBF4BC4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326" y="2644049"/>
            <a:ext cx="10419347" cy="383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9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0C857-932C-B5E6-9E3E-D6EBE09AB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4C8CB1E7-58C7-C632-E6ED-B26BE66CAF2D}"/>
              </a:ext>
            </a:extLst>
          </p:cNvPr>
          <p:cNvGrpSpPr/>
          <p:nvPr/>
        </p:nvGrpSpPr>
        <p:grpSpPr>
          <a:xfrm>
            <a:off x="868769" y="1536814"/>
            <a:ext cx="17620247" cy="9033883"/>
            <a:chOff x="-1127539" y="-3051241"/>
            <a:chExt cx="20166808" cy="1204517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DE8F1B7-E9A6-6AF0-7977-03EE96638D12}"/>
                </a:ext>
              </a:extLst>
            </p:cNvPr>
            <p:cNvSpPr txBox="1"/>
            <p:nvPr/>
          </p:nvSpPr>
          <p:spPr>
            <a:xfrm>
              <a:off x="-1127539" y="-3051241"/>
              <a:ext cx="20166808" cy="120451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✅ 1. Prevent Default Form Submit</a:t>
              </a:r>
            </a:p>
            <a:p>
              <a:pPr marL="1828800" lvl="3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Use JavaScript to stop the page from reloading</a:t>
              </a:r>
            </a:p>
            <a:p>
              <a:pPr marL="1828800" lvl="3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Allows smoother UX and dynamic handling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✅ 2. Serialize Form Data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Convert form fields into a JS object: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B588A29-4251-BBD8-E766-98D3047080D7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6F53187-9D8A-8F0A-4E9F-923BFC36B2F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C162CC4-D69E-06F5-8FCA-1C9EAF8D10F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3293598-BB83-DB3F-927F-554CAEAF25C1}"/>
              </a:ext>
            </a:extLst>
          </p:cNvPr>
          <p:cNvSpPr txBox="1"/>
          <p:nvPr/>
        </p:nvSpPr>
        <p:spPr>
          <a:xfrm>
            <a:off x="719233" y="46331"/>
            <a:ext cx="17620247" cy="1261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200" b="1" dirty="0">
                <a:solidFill>
                  <a:schemeClr val="bg1"/>
                </a:solidFill>
              </a:rPr>
              <a:t>AJAX Form Submission from Razor Page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CC0B07C-FFDA-6311-16D6-4B63D0F20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9</a:t>
            </a:fld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A155C6-9089-A2E8-9223-23467CFD4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063" y="3151416"/>
            <a:ext cx="8590548" cy="2635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DFD08A-30DB-13AD-35CC-82F7EE5D0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063" y="7133810"/>
            <a:ext cx="8590548" cy="263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07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1D647-F83D-50C8-D5EE-DED4565C9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65B86AF-5036-5B41-88EE-2772E72DCBE2}"/>
              </a:ext>
            </a:extLst>
          </p:cNvPr>
          <p:cNvGrpSpPr/>
          <p:nvPr/>
        </p:nvGrpSpPr>
        <p:grpSpPr>
          <a:xfrm>
            <a:off x="868769" y="1536814"/>
            <a:ext cx="17620247" cy="8371523"/>
            <a:chOff x="-1127539" y="-3051241"/>
            <a:chExt cx="20166808" cy="1116202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4E31968-E6A1-D7D3-FBE1-14093731D2BD}"/>
                </a:ext>
              </a:extLst>
            </p:cNvPr>
            <p:cNvSpPr txBox="1"/>
            <p:nvPr/>
          </p:nvSpPr>
          <p:spPr>
            <a:xfrm>
              <a:off x="-1127539" y="-3051241"/>
              <a:ext cx="20166808" cy="111620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✅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3. POST Using fetch()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150000"/>
                </a:lnSpc>
              </a:pPr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💡 Benefits</a:t>
              </a: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No page reload</a:t>
              </a: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Smoother and faster form interactions</a:t>
              </a: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Works well with APIs and modern UI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1B08BB0-3B03-F4FD-296D-26FF777B344E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309A747-A853-0239-3611-E29B3CFBBFE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F1F3D88-7CEF-1234-52BA-18127594572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C0CF9E0-637E-7CF4-C264-DC24E0F885EC}"/>
              </a:ext>
            </a:extLst>
          </p:cNvPr>
          <p:cNvSpPr txBox="1"/>
          <p:nvPr/>
        </p:nvSpPr>
        <p:spPr>
          <a:xfrm>
            <a:off x="719233" y="46331"/>
            <a:ext cx="17620247" cy="1261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200" b="1" dirty="0">
                <a:solidFill>
                  <a:schemeClr val="bg1"/>
                </a:solidFill>
              </a:rPr>
              <a:t>AJAX Form Submission from Razor Page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09728E3-6ECE-8B63-AE20-A41A0A2B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10</a:t>
            </a:fld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A23D61-49E5-6C68-5B8D-5337B2A92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758" y="2585146"/>
            <a:ext cx="6424863" cy="295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8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975569" y="1675166"/>
            <a:ext cx="16336862" cy="8973354"/>
            <a:chOff x="-1447211" y="-2886924"/>
            <a:chExt cx="20150921" cy="1196446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1447211" y="-2886924"/>
              <a:ext cx="18577725" cy="119644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+mj-lt"/>
                </a:rPr>
                <a:t>✅ 1. Show Success / Failure Messages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bg1"/>
                  </a:solidFill>
                  <a:latin typeface="+mj-lt"/>
                </a:rPr>
                <a:t>Use JavaScript to display feedback </a:t>
              </a:r>
              <a:r>
                <a:rPr lang="en-US" sz="4000" b="1" dirty="0">
                  <a:solidFill>
                    <a:schemeClr val="bg1"/>
                  </a:solidFill>
                  <a:latin typeface="+mj-lt"/>
                </a:rPr>
                <a:t>without reloading the page</a:t>
              </a:r>
              <a:endParaRPr lang="en-US" sz="40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bg1"/>
                  </a:solidFill>
                  <a:latin typeface="+mj-lt"/>
                </a:rPr>
                <a:t>Commonly used after API calls or form submissions</a:t>
              </a:r>
            </a:p>
            <a:p>
              <a:pPr>
                <a:lnSpc>
                  <a:spcPct val="150000"/>
                </a:lnSpc>
              </a:pPr>
              <a:endParaRPr lang="en-US" sz="3800" b="1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✅ 2. Update Part of the Page</a:t>
              </a:r>
            </a:p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Use document.getElementById() to target a specific element</a:t>
              </a:r>
            </a:p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Inject content using .textContent or .innerHTML</a:t>
              </a:r>
            </a:p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1200" dirty="0">
                <a:solidFill>
                  <a:schemeClr val="bg1"/>
                </a:solidFill>
                <a:latin typeface="+mj-lt"/>
              </a:endParaRPr>
            </a:p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1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dirty="0">
                  <a:solidFill>
                    <a:schemeClr val="bg1"/>
                  </a:solidFill>
                  <a:latin typeface="+mj-lt"/>
                </a:rPr>
                <a:t>  Example</a:t>
              </a:r>
            </a:p>
            <a:p>
              <a:pPr>
                <a:lnSpc>
                  <a:spcPct val="150000"/>
                </a:lnSpc>
              </a:pPr>
              <a:endParaRPr lang="en-US" sz="3800" b="1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150000"/>
                </a:lnSpc>
              </a:pPr>
              <a:endParaRPr lang="en-US" sz="3800" b="1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150000"/>
                </a:lnSpc>
              </a:pPr>
              <a:endParaRPr lang="en-US" sz="3800" b="1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150000"/>
                </a:lnSpc>
              </a:pPr>
              <a:endParaRPr lang="en-US" sz="38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6890098" y="269910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6890098" y="1484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Dynamic DOM Updates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677691-3126-A22B-4EC3-19CF34F1E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421" y="6899797"/>
            <a:ext cx="9845040" cy="323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592D5-5CFF-CACD-1AD8-C3ECC1011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6DD6F8-9966-2BE4-0595-2E1535D52A23}"/>
              </a:ext>
            </a:extLst>
          </p:cNvPr>
          <p:cNvSpPr/>
          <p:nvPr/>
        </p:nvSpPr>
        <p:spPr>
          <a:xfrm>
            <a:off x="-1526984" y="-85594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99BB25B-0E18-7E4E-501D-D74AB0EA2BE1}"/>
              </a:ext>
            </a:extLst>
          </p:cNvPr>
          <p:cNvSpPr/>
          <p:nvPr/>
        </p:nvSpPr>
        <p:spPr>
          <a:xfrm>
            <a:off x="-1526984" y="1712173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89BE049-BE6C-8ECF-1888-4A063B456BFC}"/>
              </a:ext>
            </a:extLst>
          </p:cNvPr>
          <p:cNvGrpSpPr/>
          <p:nvPr/>
        </p:nvGrpSpPr>
        <p:grpSpPr>
          <a:xfrm>
            <a:off x="1240690" y="1431326"/>
            <a:ext cx="16018610" cy="9048631"/>
            <a:chOff x="-1140534" y="-2546162"/>
            <a:chExt cx="21358149" cy="120648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56AD05-2159-3BE6-3BA0-550E8869372C}"/>
                </a:ext>
              </a:extLst>
            </p:cNvPr>
            <p:cNvSpPr txBox="1"/>
            <p:nvPr/>
          </p:nvSpPr>
          <p:spPr>
            <a:xfrm>
              <a:off x="-1140534" y="-2546162"/>
              <a:ext cx="21358149" cy="120648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✅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1. Use try/catch with async/await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marL="2286000" lvl="4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Catches both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network errors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and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failed responses</a:t>
              </a: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marL="2286000" lvl="4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res.ok ensures only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2xx responses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are treated as success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✅ </a:t>
              </a:r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2. Gracefully Display API Errors</a:t>
              </a: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200" b="1" dirty="0">
                <a:solidFill>
                  <a:schemeClr val="bg1"/>
                </a:solidFill>
                <a:latin typeface="+mj-lt"/>
              </a:endParaRPr>
            </a:p>
            <a:p>
              <a:pPr marL="2286000" lvl="4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Avoid showing raw errors to users</a:t>
              </a:r>
            </a:p>
            <a:p>
              <a:pPr marL="2286000" lvl="4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Provide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clear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,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non-technical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messages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D94DF1C-C14D-6C85-96AC-0500F6C89DC1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DD1A674-11D0-449B-8EE9-2F4022064C9D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F556B12-E666-7920-B67A-0A03E0F016C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8E75E57-9F2A-CEC3-A3D9-61360693CD31}"/>
              </a:ext>
            </a:extLst>
          </p:cNvPr>
          <p:cNvSpPr txBox="1"/>
          <p:nvPr/>
        </p:nvSpPr>
        <p:spPr>
          <a:xfrm>
            <a:off x="1779950" y="46331"/>
            <a:ext cx="13933292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Error Handling in fetch()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DC60F0E-0317-E4A2-9218-70AC509C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12</a:t>
            </a:fld>
            <a:endParaRPr lang="en-GB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2946E0-86D7-F321-5D58-4875B5012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757" y="2293866"/>
            <a:ext cx="6352675" cy="26631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913627-B99F-5C4A-8C4F-5ED00E249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697" y="7453795"/>
            <a:ext cx="12214282" cy="107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38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B900B-1D31-10BD-1157-C6255ECA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4404D0-65FA-1FB5-2893-FDDD5C6A308A}"/>
              </a:ext>
            </a:extLst>
          </p:cNvPr>
          <p:cNvSpPr/>
          <p:nvPr/>
        </p:nvSpPr>
        <p:spPr>
          <a:xfrm>
            <a:off x="-1526984" y="-85594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E3284A7-2B84-9B3E-25ED-C55F51F17116}"/>
              </a:ext>
            </a:extLst>
          </p:cNvPr>
          <p:cNvSpPr/>
          <p:nvPr/>
        </p:nvSpPr>
        <p:spPr>
          <a:xfrm>
            <a:off x="-1526984" y="1712173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10B7F35-4319-751B-1B46-ED8B020E55DC}"/>
              </a:ext>
            </a:extLst>
          </p:cNvPr>
          <p:cNvGrpSpPr/>
          <p:nvPr/>
        </p:nvGrpSpPr>
        <p:grpSpPr>
          <a:xfrm>
            <a:off x="1240690" y="1431326"/>
            <a:ext cx="16018610" cy="10587514"/>
            <a:chOff x="-1140534" y="-2546162"/>
            <a:chExt cx="21358149" cy="1411668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CA0C878-7A07-5A04-E132-8E6C9F142691}"/>
                </a:ext>
              </a:extLst>
            </p:cNvPr>
            <p:cNvSpPr txBox="1"/>
            <p:nvPr/>
          </p:nvSpPr>
          <p:spPr>
            <a:xfrm>
              <a:off x="-1140534" y="-2546162"/>
              <a:ext cx="21358149" cy="141166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b="1" dirty="0">
                  <a:solidFill>
                    <a:schemeClr val="bg1"/>
                  </a:solidFill>
                </a:rPr>
                <a:t>✅ 3. Handle Network / Server Failures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>
                  <a:solidFill>
                    <a:schemeClr val="bg1"/>
                  </a:solidFill>
                </a:rPr>
                <a:t>Examples: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Internet disconnected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Server not responding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JSON parsing errors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200" b="1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💡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Best Practices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Always check response.ok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Handle all .catch() or wrap in try/catch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Use loading indicators + error fallback UI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6D7842B-8A29-3B3E-34C2-705FA48D4D91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B5074E2-4F08-998C-6641-24784C3F3E4D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A18F1BA-5D90-CF8F-BE45-037796B18166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973A964-EC58-F250-D7B7-AA7CC564DA74}"/>
              </a:ext>
            </a:extLst>
          </p:cNvPr>
          <p:cNvSpPr txBox="1"/>
          <p:nvPr/>
        </p:nvSpPr>
        <p:spPr>
          <a:xfrm>
            <a:off x="1779950" y="46331"/>
            <a:ext cx="13933292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Error Handling in fetch()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5CE7AE9-65ED-E416-E8CA-F1A84CC1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13</a:t>
            </a:fld>
            <a:endParaRPr lang="en-GB" sz="20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D9BCBC-CEA4-9033-B886-29E9C0590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221" y="5143500"/>
            <a:ext cx="10467474" cy="214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6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FDFFE-4245-7225-0A07-A2F037BE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D78E4CD-DAC4-9F7C-69EB-4ABE82C69940}"/>
              </a:ext>
            </a:extLst>
          </p:cNvPr>
          <p:cNvGrpSpPr/>
          <p:nvPr/>
        </p:nvGrpSpPr>
        <p:grpSpPr>
          <a:xfrm>
            <a:off x="795366" y="3013070"/>
            <a:ext cx="15763236" cy="6389570"/>
            <a:chOff x="-1379675" y="-593641"/>
            <a:chExt cx="21017650" cy="851942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CB5FA45-47D0-3FA6-C257-FCD41AB63D4B}"/>
                </a:ext>
              </a:extLst>
            </p:cNvPr>
            <p:cNvSpPr txBox="1"/>
            <p:nvPr/>
          </p:nvSpPr>
          <p:spPr>
            <a:xfrm>
              <a:off x="-1379675" y="-533604"/>
              <a:ext cx="21017650" cy="13131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9D3A4DB-1A22-BCEF-5F3A-6AA319E338DE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D30E7D30-5A70-CD18-171C-230A353083E8}"/>
              </a:ext>
            </a:extLst>
          </p:cNvPr>
          <p:cNvSpPr txBox="1"/>
          <p:nvPr/>
        </p:nvSpPr>
        <p:spPr>
          <a:xfrm>
            <a:off x="932448" y="46331"/>
            <a:ext cx="1601861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</a:rPr>
              <a:t>Security Considerations with AJAX in Razor Pages</a:t>
            </a:r>
            <a:endParaRPr lang="en-US" sz="80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4219B47-B610-2172-F2E2-2928A12C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14</a:t>
            </a:fld>
            <a:endParaRPr lang="en-GB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4321D-1CA9-DA04-E3E7-6EA09DCACC7F}"/>
              </a:ext>
            </a:extLst>
          </p:cNvPr>
          <p:cNvSpPr txBox="1"/>
          <p:nvPr/>
        </p:nvSpPr>
        <p:spPr>
          <a:xfrm>
            <a:off x="1195551" y="2738294"/>
            <a:ext cx="1629708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✅ </a:t>
            </a:r>
            <a:r>
              <a:rPr lang="en-US" altLang="en-US" sz="4000" b="1" dirty="0">
                <a:solidFill>
                  <a:schemeClr val="bg1"/>
                </a:solidFill>
                <a:latin typeface="+mj-lt"/>
              </a:rPr>
              <a:t>1. CSRF Protection with AJAX</a:t>
            </a:r>
          </a:p>
          <a:p>
            <a:pPr marL="1828800" lvl="3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bg1"/>
                </a:solidFill>
                <a:latin typeface="+mj-lt"/>
              </a:rPr>
              <a:t>Razor Pages use </a:t>
            </a:r>
            <a:r>
              <a:rPr lang="en-US" altLang="en-US" sz="4000" b="1" dirty="0">
                <a:solidFill>
                  <a:schemeClr val="bg1"/>
                </a:solidFill>
                <a:latin typeface="+mj-lt"/>
              </a:rPr>
              <a:t>[AntiForgeryToken]</a:t>
            </a:r>
            <a:r>
              <a:rPr lang="en-US" altLang="en-US" sz="4000" dirty="0">
                <a:solidFill>
                  <a:schemeClr val="bg1"/>
                </a:solidFill>
                <a:latin typeface="+mj-lt"/>
              </a:rPr>
              <a:t> to prevent CSRF (Cross-Site Request Forgery)</a:t>
            </a:r>
          </a:p>
          <a:p>
            <a:pPr marL="1828800" lvl="3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bg1"/>
                </a:solidFill>
                <a:latin typeface="+mj-lt"/>
              </a:rPr>
              <a:t>Tokens are automatically added in forms via: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		</a:t>
            </a:r>
            <a:endParaRPr lang="en-US" altLang="en-US" sz="3200" b="1" dirty="0">
              <a:solidFill>
                <a:schemeClr val="bg1"/>
              </a:solidFill>
              <a:latin typeface="+mj-lt"/>
            </a:endParaRP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b="1" dirty="0">
              <a:solidFill>
                <a:schemeClr val="bg1"/>
              </a:solidFill>
              <a:latin typeface="+mj-lt"/>
            </a:endParaRP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b="1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D286F30-EE1A-18FA-1AD5-D812403C6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415" y="6847111"/>
            <a:ext cx="7995138" cy="162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40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2F828-D1A6-3A79-87A9-3C54280D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98A53AB-2873-7DD1-67F1-4F02C4ADF99E}"/>
              </a:ext>
            </a:extLst>
          </p:cNvPr>
          <p:cNvGrpSpPr/>
          <p:nvPr/>
        </p:nvGrpSpPr>
        <p:grpSpPr>
          <a:xfrm>
            <a:off x="795366" y="3013070"/>
            <a:ext cx="15763236" cy="6389570"/>
            <a:chOff x="-1379675" y="-593641"/>
            <a:chExt cx="21017650" cy="851942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040FE0-3E10-EFAA-8A5B-D3367A3AA7BE}"/>
                </a:ext>
              </a:extLst>
            </p:cNvPr>
            <p:cNvSpPr txBox="1"/>
            <p:nvPr/>
          </p:nvSpPr>
          <p:spPr>
            <a:xfrm>
              <a:off x="-1379675" y="-533604"/>
              <a:ext cx="21017650" cy="13131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ECD1009-9447-34E0-FA35-742E4D9A2E53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FF5E992-9C31-3F4F-E95B-9294C74FC753}"/>
              </a:ext>
            </a:extLst>
          </p:cNvPr>
          <p:cNvSpPr txBox="1"/>
          <p:nvPr/>
        </p:nvSpPr>
        <p:spPr>
          <a:xfrm>
            <a:off x="932448" y="46331"/>
            <a:ext cx="1601861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</a:rPr>
              <a:t>Security Considerations with AJAX in Razor Pages</a:t>
            </a:r>
            <a:endParaRPr lang="en-US" sz="80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8E82D4-FF2E-DED3-85AF-415306DA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15</a:t>
            </a:fld>
            <a:endParaRPr lang="en-GB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3AA88-3FE4-40C8-5914-AADF9C7057BE}"/>
              </a:ext>
            </a:extLst>
          </p:cNvPr>
          <p:cNvSpPr txBox="1"/>
          <p:nvPr/>
        </p:nvSpPr>
        <p:spPr>
          <a:xfrm>
            <a:off x="528628" y="2508544"/>
            <a:ext cx="17343119" cy="803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chemeClr val="bg1"/>
                </a:solidFill>
                <a:latin typeface="+mj-lt"/>
              </a:rPr>
              <a:t>✅ 2. Using AntiForgeryToken with fetch()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		When making AJAX POST requests, you must send the token manually: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✅ </a:t>
            </a:r>
            <a:r>
              <a:rPr lang="en-US" altLang="en-US" sz="4000" b="1" dirty="0">
                <a:solidFill>
                  <a:schemeClr val="bg1"/>
                </a:solidFill>
                <a:latin typeface="+mj-lt"/>
              </a:rPr>
              <a:t>Steps:</a:t>
            </a:r>
            <a:endParaRPr lang="en-US" altLang="en-US" sz="1200" b="1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solidFill>
                <a:schemeClr val="bg1"/>
              </a:solidFill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Add token to page (hidden field or meta tag):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bg1"/>
              </a:solidFill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Read it in JS and send with fetch:</a:t>
            </a: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b="1" dirty="0">
              <a:solidFill>
                <a:schemeClr val="bg1"/>
              </a:solidFill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547905-0081-2FDB-44DC-5528FB765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7844060"/>
            <a:ext cx="11643359" cy="229065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A64727-9207-8F9B-7207-796EE9420C5E}"/>
              </a:ext>
            </a:extLst>
          </p:cNvPr>
          <p:cNvSpPr/>
          <p:nvPr/>
        </p:nvSpPr>
        <p:spPr>
          <a:xfrm>
            <a:off x="1097279" y="5252521"/>
            <a:ext cx="16560185" cy="203972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5EB6E-CCAE-F3C5-033A-285A96AEFD8B}"/>
              </a:ext>
            </a:extLst>
          </p:cNvPr>
          <p:cNvSpPr txBox="1"/>
          <p:nvPr/>
        </p:nvSpPr>
        <p:spPr>
          <a:xfrm>
            <a:off x="1501100" y="5649136"/>
            <a:ext cx="16258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highlight>
                  <a:srgbClr val="FFFF00"/>
                </a:highlight>
              </a:rPr>
              <a:t>&lt;input type="hidden" name="__RequestVerificationToken" value="@Antiforgery.GetTokens(HttpContext).RequestToken" /&gt;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								</a:t>
            </a:r>
            <a:r>
              <a:rPr lang="en-US" altLang="en-US" sz="3000" dirty="0"/>
              <a:t>OR</a:t>
            </a:r>
            <a:r>
              <a:rPr lang="en-US" altLang="en-US" sz="25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highlight>
                  <a:srgbClr val="FFFF00"/>
                </a:highlight>
              </a:rPr>
              <a:t>&lt;meta name="csrf-token" content="@Antiforgery.GetTokens(HttpContext).RequestToken" /&gt;</a:t>
            </a:r>
          </a:p>
        </p:txBody>
      </p:sp>
    </p:spTree>
    <p:extLst>
      <p:ext uri="{BB962C8B-B14F-4D97-AF65-F5344CB8AC3E}">
        <p14:creationId xmlns:p14="http://schemas.microsoft.com/office/powerpoint/2010/main" val="826016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2FA8D-81DF-A05C-E7AD-10F8D616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E0E24F03-695A-4603-8295-15928A8355B9}"/>
              </a:ext>
            </a:extLst>
          </p:cNvPr>
          <p:cNvGrpSpPr/>
          <p:nvPr/>
        </p:nvGrpSpPr>
        <p:grpSpPr>
          <a:xfrm>
            <a:off x="795366" y="3013070"/>
            <a:ext cx="15763236" cy="6389570"/>
            <a:chOff x="-1379675" y="-593641"/>
            <a:chExt cx="21017650" cy="851942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71E270-735A-5716-027A-33CEB24D2EC5}"/>
                </a:ext>
              </a:extLst>
            </p:cNvPr>
            <p:cNvSpPr txBox="1"/>
            <p:nvPr/>
          </p:nvSpPr>
          <p:spPr>
            <a:xfrm>
              <a:off x="-1379675" y="-533604"/>
              <a:ext cx="21017650" cy="13131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F6CFD01-F2A6-9D50-9917-B30D16F9F0F8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A080FE6-6A74-FD4D-E84C-DAD8E6465581}"/>
              </a:ext>
            </a:extLst>
          </p:cNvPr>
          <p:cNvSpPr txBox="1"/>
          <p:nvPr/>
        </p:nvSpPr>
        <p:spPr>
          <a:xfrm>
            <a:off x="932448" y="46331"/>
            <a:ext cx="1601861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</a:rPr>
              <a:t>Security Considerations with AJAX in Razor Pages</a:t>
            </a:r>
            <a:endParaRPr lang="en-US" sz="80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124A436-141B-C979-87F7-511B37E1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16</a:t>
            </a:fld>
            <a:endParaRPr lang="en-GB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F7B9C-8335-92C5-0452-FB919DB3152D}"/>
              </a:ext>
            </a:extLst>
          </p:cNvPr>
          <p:cNvSpPr txBox="1"/>
          <p:nvPr/>
        </p:nvSpPr>
        <p:spPr>
          <a:xfrm>
            <a:off x="932448" y="2304368"/>
            <a:ext cx="16297083" cy="7956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🌐 3. CORS (Cross-Origin Resource Sharing)</a:t>
            </a: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If you're calling an </a:t>
            </a: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external API</a:t>
            </a: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, CORS must be enabled on that server</a:t>
            </a: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Server must allow:</a:t>
            </a:r>
          </a:p>
          <a:p>
            <a:pPr marL="1828800" lvl="3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Your domain (via Access-Control-Allow-Origin)</a:t>
            </a:r>
          </a:p>
          <a:p>
            <a:pPr marL="1828800" lvl="3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HTTP methods (GET, POST, etc.)</a:t>
            </a:r>
          </a:p>
          <a:p>
            <a:pPr marL="1828800" lvl="3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Custom headers (like RequestVerificationToken)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✅ Best Practices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solidFill>
                <a:schemeClr val="bg1"/>
              </a:solidFill>
              <a:latin typeface="+mj-lt"/>
            </a:endParaRP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Always include </a:t>
            </a: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AntiForgeryToken</a:t>
            </a: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 in POST requests</a:t>
            </a: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Never trust client input — always </a:t>
            </a:r>
            <a:r>
              <a:rPr lang="en-US" altLang="en-US" sz="3200" b="1" dirty="0">
                <a:solidFill>
                  <a:schemeClr val="bg1"/>
                </a:solidFill>
                <a:latin typeface="+mj-lt"/>
              </a:rPr>
              <a:t>validate server-side</a:t>
            </a:r>
            <a:endParaRPr lang="en-US" altLang="en-US" sz="3200" dirty="0">
              <a:solidFill>
                <a:schemeClr val="bg1"/>
              </a:solidFill>
              <a:latin typeface="+mj-lt"/>
            </a:endParaRP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Be cautious with external APIs — check CORS and HTTPS</a:t>
            </a:r>
          </a:p>
        </p:txBody>
      </p:sp>
    </p:spTree>
    <p:extLst>
      <p:ext uri="{BB962C8B-B14F-4D97-AF65-F5344CB8AC3E}">
        <p14:creationId xmlns:p14="http://schemas.microsoft.com/office/powerpoint/2010/main" val="534197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51E34-EA59-9786-6780-C235253D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9C1009-9588-318B-27DC-99B675C48014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3E4C4EC-663F-5B3D-948A-42E000D608B3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206E64B-9741-461F-2F2C-9FCE3DD71B4A}"/>
              </a:ext>
            </a:extLst>
          </p:cNvPr>
          <p:cNvGrpSpPr/>
          <p:nvPr/>
        </p:nvGrpSpPr>
        <p:grpSpPr>
          <a:xfrm>
            <a:off x="1639817" y="1470814"/>
            <a:ext cx="16242017" cy="8894743"/>
            <a:chOff x="-1352646" y="-3726696"/>
            <a:chExt cx="20113114" cy="1185965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3B2CDCF-8B84-3615-8EE5-1B286C78BD33}"/>
                </a:ext>
              </a:extLst>
            </p:cNvPr>
            <p:cNvSpPr txBox="1"/>
            <p:nvPr/>
          </p:nvSpPr>
          <p:spPr>
            <a:xfrm>
              <a:off x="-1352646" y="-3726696"/>
              <a:ext cx="20113114" cy="118596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IN" sz="4000" b="1" dirty="0">
                  <a:solidFill>
                    <a:schemeClr val="bg1"/>
                  </a:solidFill>
                </a:rPr>
                <a:t>🌐 </a:t>
              </a:r>
              <a:r>
                <a:rPr lang="en-IN" sz="5000" b="1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Real-World Use Cases: Razor + API (AJAX/Fetch)</a:t>
              </a:r>
            </a:p>
            <a:p>
              <a:endParaRPr lang="en-IN" sz="1200" b="1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  <a:p>
              <a:endParaRPr lang="en-IN" sz="1200" b="1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  <a:p>
              <a:endParaRPr lang="en-IN" sz="1200" b="1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000" b="1" dirty="0">
                  <a:solidFill>
                    <a:schemeClr val="bg1"/>
                  </a:solidFill>
                </a:rPr>
                <a:t>Form Submissions Without Page Reload</a:t>
              </a:r>
              <a:br>
                <a:rPr lang="en-IN" sz="4000" dirty="0">
                  <a:solidFill>
                    <a:schemeClr val="bg1"/>
                  </a:solidFill>
                </a:rPr>
              </a:br>
              <a:r>
                <a:rPr lang="en-IN" sz="4000" dirty="0">
                  <a:solidFill>
                    <a:schemeClr val="bg1"/>
                  </a:solidFill>
                </a:rPr>
                <a:t>		e.g., Contact forms, feedback, user settings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000" b="1" dirty="0">
                  <a:solidFill>
                    <a:schemeClr val="bg1"/>
                  </a:solidFill>
                </a:rPr>
                <a:t>Dynamic Data Loading</a:t>
              </a:r>
              <a:br>
                <a:rPr lang="en-IN" sz="4000" dirty="0">
                  <a:solidFill>
                    <a:schemeClr val="bg1"/>
                  </a:solidFill>
                </a:rPr>
              </a:br>
              <a:r>
                <a:rPr lang="en-IN" sz="4000" dirty="0">
                  <a:solidFill>
                    <a:schemeClr val="bg1"/>
                  </a:solidFill>
                </a:rPr>
                <a:t>		e.g., Product listings, dashboards, live search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000" b="1" dirty="0">
                  <a:solidFill>
                    <a:schemeClr val="bg1"/>
                  </a:solidFill>
                </a:rPr>
                <a:t>Live Notifications or Updates</a:t>
              </a:r>
              <a:br>
                <a:rPr lang="en-IN" sz="4000" dirty="0">
                  <a:solidFill>
                    <a:schemeClr val="bg1"/>
                  </a:solidFill>
                </a:rPr>
              </a:br>
              <a:r>
                <a:rPr lang="en-IN" sz="4000" dirty="0">
                  <a:solidFill>
                    <a:schemeClr val="bg1"/>
                  </a:solidFill>
                </a:rPr>
                <a:t>		e.g., Chat messages, stock updates, alerts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000" b="1" dirty="0">
                  <a:solidFill>
                    <a:schemeClr val="bg1"/>
                  </a:solidFill>
                </a:rPr>
                <a:t>Partial Page Updates</a:t>
              </a:r>
              <a:br>
                <a:rPr lang="en-IN" sz="4000" dirty="0">
                  <a:solidFill>
                    <a:schemeClr val="bg1"/>
                  </a:solidFill>
                </a:rPr>
              </a:br>
              <a:r>
                <a:rPr lang="en-IN" sz="4000" dirty="0">
                  <a:solidFill>
                    <a:schemeClr val="bg1"/>
                  </a:solidFill>
                </a:rPr>
                <a:t>		e.g., Updating a cart, toggling likes, loading more content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000" b="1" dirty="0">
                  <a:solidFill>
                    <a:schemeClr val="bg1"/>
                  </a:solidFill>
                </a:rPr>
                <a:t>API-Driven UI Components</a:t>
              </a:r>
              <a:br>
                <a:rPr lang="en-IN" sz="4000" dirty="0">
                  <a:solidFill>
                    <a:schemeClr val="bg1"/>
                  </a:solidFill>
                </a:rPr>
              </a:br>
              <a:r>
                <a:rPr lang="en-IN" sz="4000" dirty="0">
                  <a:solidFill>
                    <a:schemeClr val="bg1"/>
                  </a:solidFill>
                </a:rPr>
                <a:t>		e.g., Dropdowns populated from APIs, filters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000" b="1" dirty="0">
                  <a:solidFill>
                    <a:schemeClr val="bg1"/>
                  </a:solidFill>
                </a:rPr>
                <a:t>Error Feedback Without Redirects</a:t>
              </a:r>
              <a:br>
                <a:rPr lang="en-IN" sz="4000" dirty="0">
                  <a:solidFill>
                    <a:schemeClr val="bg1"/>
                  </a:solidFill>
                </a:rPr>
              </a:br>
              <a:r>
                <a:rPr lang="en-IN" sz="4000" dirty="0">
                  <a:solidFill>
                    <a:schemeClr val="bg1"/>
                  </a:solidFill>
                </a:rPr>
                <a:t>		e.g., Showing validation errors or API response messages inline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91732F0-F959-BD80-8691-33C1AC96B95A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0913A6D-2AC2-E4D9-FC95-C1F5E5D0D24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6CED3B6-7937-923F-D230-CBA3C22C228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8AA5428-92D9-D6F9-5F01-0E56573944B5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02128A2-764F-844D-DF27-D4EF6955589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BE60E0C-FDE2-E109-9D76-59BF4D19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17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885876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32434" y="952255"/>
            <a:ext cx="16483263" cy="2124776"/>
            <a:chOff x="-265908" y="-5751"/>
            <a:chExt cx="14163549" cy="2833033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265908" y="-5751"/>
              <a:ext cx="14163549" cy="10486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ct val="150000"/>
                </a:lnSpc>
              </a:pPr>
              <a:endParaRPr lang="en-US" sz="3800" dirty="0">
                <a:latin typeface="+mj-lt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005393" y="4799597"/>
            <a:ext cx="6412683" cy="6120663"/>
            <a:chOff x="-366471" y="-11891"/>
            <a:chExt cx="15572971" cy="14863810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4" cy="14462404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5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18</a:t>
            </a:fld>
            <a:endParaRPr lang="en-GB"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 dirty="0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 dirty="0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59484" y="4865952"/>
            <a:ext cx="4609365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200" b="1" dirty="0">
                <a:solidFill>
                  <a:srgbClr val="33123B"/>
                </a:solidFill>
                <a:latin typeface="Assistant Regular Bold" panose="020B0604020202020204" charset="-79"/>
                <a:ea typeface="+mn-lt"/>
                <a:cs typeface="Assistant Regular Bold" panose="020B0604020202020204" charset="-79"/>
                <a:sym typeface="Agrandir"/>
              </a:rPr>
              <a:t>JavaScript fetch from Razor Pages</a:t>
            </a:r>
            <a:endParaRPr lang="en-US" sz="3000" b="1" dirty="0">
              <a:solidFill>
                <a:srgbClr val="33123B"/>
              </a:solidFill>
              <a:latin typeface="Assistant Regular Bold" panose="020B0604020202020204" charset="-79"/>
              <a:ea typeface="Assistant Regular Bold"/>
              <a:cs typeface="Assistant Regular Bold" panose="020B0604020202020204" charset="-79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373716" y="4865952"/>
            <a:ext cx="393590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Handling API Responses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73716" y="6738851"/>
            <a:ext cx="393590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Live DOM Updates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8285564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30909" y="6532032"/>
            <a:ext cx="34665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AJAX form submissions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20</a:t>
            </a:fld>
            <a:endParaRPr lang="en-GB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1548652"/>
            <a:ext cx="16642080" cy="1717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https://learn.microsoft.com/en-us/aspnet/core/razor-pages/ui-enhancements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5"/>
              </a:rPr>
              <a:t>https://developer.mozilla.org/en-US/docs/Web/API/Fetch_API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21</a:t>
            </a:fld>
            <a:endParaRPr lang="en-GB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22</a:t>
            </a:fld>
            <a:endParaRPr lang="en-GB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1124</Words>
  <Application>Microsoft Office PowerPoint</Application>
  <PresentationFormat>Custom</PresentationFormat>
  <Paragraphs>413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Heebo Black</vt:lpstr>
      <vt:lpstr>Calibri</vt:lpstr>
      <vt:lpstr>HK Modular</vt:lpstr>
      <vt:lpstr>Arial</vt:lpstr>
      <vt:lpstr>Wingdings</vt:lpstr>
      <vt:lpstr>Assistant Regular</vt:lpstr>
      <vt:lpstr>Assistant Regular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Sierra Learning</cp:lastModifiedBy>
  <cp:revision>120</cp:revision>
  <dcterms:created xsi:type="dcterms:W3CDTF">2006-08-16T00:00:00Z</dcterms:created>
  <dcterms:modified xsi:type="dcterms:W3CDTF">2025-08-06T11:51:47Z</dcterms:modified>
  <dc:identifier>DAGpXxrSFgM</dc:identifier>
</cp:coreProperties>
</file>