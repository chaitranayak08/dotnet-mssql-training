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316" r:id="rId2"/>
    <p:sldId id="256" r:id="rId3"/>
    <p:sldId id="257" r:id="rId4"/>
    <p:sldId id="317" r:id="rId5"/>
    <p:sldId id="258" r:id="rId6"/>
    <p:sldId id="275" r:id="rId7"/>
    <p:sldId id="276" r:id="rId8"/>
    <p:sldId id="290" r:id="rId9"/>
    <p:sldId id="291" r:id="rId10"/>
    <p:sldId id="292" r:id="rId11"/>
    <p:sldId id="277" r:id="rId12"/>
    <p:sldId id="278" r:id="rId13"/>
    <p:sldId id="279" r:id="rId14"/>
    <p:sldId id="280" r:id="rId15"/>
    <p:sldId id="293" r:id="rId16"/>
    <p:sldId id="282" r:id="rId17"/>
    <p:sldId id="283" r:id="rId18"/>
    <p:sldId id="274" r:id="rId19"/>
    <p:sldId id="265" r:id="rId20"/>
    <p:sldId id="287" r:id="rId21"/>
    <p:sldId id="289" r:id="rId22"/>
    <p:sldId id="288" r:id="rId23"/>
    <p:sldId id="266" r:id="rId24"/>
    <p:sldId id="267" r:id="rId25"/>
    <p:sldId id="268" r:id="rId26"/>
    <p:sldId id="269" r:id="rId27"/>
  </p:sldIdLst>
  <p:sldSz cx="18288000" cy="10287000"/>
  <p:notesSz cx="6858000" cy="9144000"/>
  <p:embeddedFontLst>
    <p:embeddedFont>
      <p:font typeface="Assistant Regular" panose="020B0604020202020204" charset="-79"/>
      <p:regular r:id="rId28"/>
    </p:embeddedFont>
    <p:embeddedFont>
      <p:font typeface="Assistant Regular Bold" panose="020B0604020202020204" charset="-79"/>
      <p:regular r:id="rId29"/>
    </p:embeddedFont>
    <p:embeddedFont>
      <p:font typeface="Heebo Black" pitchFamily="2" charset="-79"/>
      <p:regular r:id="rId30"/>
      <p:bold r:id="rId31"/>
    </p:embeddedFont>
    <p:embeddedFont>
      <p:font typeface="HK Modular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83F2A-5343-79CD-B045-87E6A60A27CD}" v="35" dt="2025-06-09T07:43:09.257"/>
    <p1510:client id="{48913760-2B4B-40AB-BAB1-5B833250FBCA}" v="14" dt="2025-06-09T08:04:28.557"/>
    <p1510:client id="{6217F43D-2A94-46AF-90C1-C85748EC6597}" v="381" dt="2025-06-07T10:14:44.837"/>
    <p1510:client id="{8F40484E-1A4A-44C5-A2E8-9A80D22FC275}" v="109" dt="2025-06-09T08:00:11.245"/>
    <p1510:client id="{C229F99B-91FC-4CCB-AA17-9B031DDDE57D}" v="63" dt="2025-06-07T10:24:5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36" autoAdjust="0"/>
  </p:normalViewPr>
  <p:slideViewPr>
    <p:cSldViewPr snapToGrid="0">
      <p:cViewPr>
        <p:scale>
          <a:sx n="25" d="100"/>
          <a:sy n="25" d="100"/>
        </p:scale>
        <p:origin x="437" y="8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Bharath Raj" userId="S::bharathraj@devappsys.com::94d9684c-50e3-43a6-bc0f-7d1e94f3ae4e" providerId="AD" clId="Web-{48913760-2B4B-40AB-BAB1-5B833250FBCA}"/>
    <pc:docChg chg="modSld">
      <pc:chgData name="Bharath Raj" userId="S::bharathraj@devappsys.com::94d9684c-50e3-43a6-bc0f-7d1e94f3ae4e" providerId="AD" clId="Web-{48913760-2B4B-40AB-BAB1-5B833250FBCA}" dt="2025-06-09T08:04:28.557" v="13" actId="20577"/>
      <pc:docMkLst>
        <pc:docMk/>
      </pc:docMkLst>
      <pc:sldChg chg="modSp">
        <pc:chgData name="Bharath Raj" userId="S::bharathraj@devappsys.com::94d9684c-50e3-43a6-bc0f-7d1e94f3ae4e" providerId="AD" clId="Web-{48913760-2B4B-40AB-BAB1-5B833250FBCA}" dt="2025-06-09T08:02:05.648" v="0" actId="20577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48913760-2B4B-40AB-BAB1-5B833250FBCA}" dt="2025-06-09T08:02:05.648" v="0" actId="20577"/>
          <ac:spMkLst>
            <pc:docMk/>
            <pc:sldMk cId="0" sldId="256"/>
            <ac:spMk id="14" creationId="{A788A892-53E9-C1D1-8945-E37AAF27FEF5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1.821" v="1" actId="20577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48913760-2B4B-40AB-BAB1-5B833250FBCA}" dt="2025-06-09T08:02:21.821" v="1" actId="20577"/>
          <ac:spMkLst>
            <pc:docMk/>
            <pc:sldMk cId="0" sldId="257"/>
            <ac:spMk id="52" creationId="{F014F566-679C-7B70-6B31-31DC6A6FB9B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8.118" v="2" actId="20577"/>
        <pc:sldMkLst>
          <pc:docMk/>
          <pc:sldMk cId="0" sldId="258"/>
        </pc:sldMkLst>
        <pc:spChg chg="mod">
          <ac:chgData name="Bharath Raj" userId="S::bharathraj@devappsys.com::94d9684c-50e3-43a6-bc0f-7d1e94f3ae4e" providerId="AD" clId="Web-{48913760-2B4B-40AB-BAB1-5B833250FBCA}" dt="2025-06-09T08:02:28.118" v="2" actId="20577"/>
          <ac:spMkLst>
            <pc:docMk/>
            <pc:sldMk cId="0" sldId="258"/>
            <ac:spMk id="19" creationId="{9638AB3A-734E-28AD-106B-E6DC74EB212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09.525" v="5" actId="20577"/>
        <pc:sldMkLst>
          <pc:docMk/>
          <pc:sldMk cId="0" sldId="259"/>
        </pc:sldMkLst>
        <pc:spChg chg="mod">
          <ac:chgData name="Bharath Raj" userId="S::bharathraj@devappsys.com::94d9684c-50e3-43a6-bc0f-7d1e94f3ae4e" providerId="AD" clId="Web-{48913760-2B4B-40AB-BAB1-5B833250FBCA}" dt="2025-06-09T08:03:09.525" v="5" actId="20577"/>
          <ac:spMkLst>
            <pc:docMk/>
            <pc:sldMk cId="0" sldId="259"/>
            <ac:spMk id="3" creationId="{C597A9B1-90A9-775B-5F0B-8D62A6479A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44.369" v="9" actId="20577"/>
        <pc:sldMkLst>
          <pc:docMk/>
          <pc:sldMk cId="0" sldId="265"/>
        </pc:sldMkLst>
        <pc:spChg chg="mod">
          <ac:chgData name="Bharath Raj" userId="S::bharathraj@devappsys.com::94d9684c-50e3-43a6-bc0f-7d1e94f3ae4e" providerId="AD" clId="Web-{48913760-2B4B-40AB-BAB1-5B833250FBCA}" dt="2025-06-09T08:03:44.369" v="9" actId="20577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59.807" v="10" actId="20577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48913760-2B4B-40AB-BAB1-5B833250FBCA}" dt="2025-06-09T08:03:59.807" v="10" actId="20577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09.104" v="11" actId="20577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48913760-2B4B-40AB-BAB1-5B833250FBCA}" dt="2025-06-09T08:04:09.104" v="11" actId="20577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16.010" v="12" actId="20577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48913760-2B4B-40AB-BAB1-5B833250FBCA}" dt="2025-06-09T08:04:16.010" v="12" actId="20577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28.557" v="13" actId="20577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48913760-2B4B-40AB-BAB1-5B833250FBCA}" dt="2025-06-09T08:04:28.557" v="13" actId="20577"/>
          <ac:spMkLst>
            <pc:docMk/>
            <pc:sldMk cId="0" sldId="269"/>
            <ac:spMk id="8" creationId="{EE169540-353F-AA0D-CE5D-9D92894927AE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52.884" v="4" actId="20577"/>
        <pc:sldMkLst>
          <pc:docMk/>
          <pc:sldMk cId="2287379508" sldId="271"/>
        </pc:sldMkLst>
        <pc:spChg chg="mod">
          <ac:chgData name="Bharath Raj" userId="S::bharathraj@devappsys.com::94d9684c-50e3-43a6-bc0f-7d1e94f3ae4e" providerId="AD" clId="Web-{48913760-2B4B-40AB-BAB1-5B833250FBCA}" dt="2025-06-09T08:02:52.884" v="4" actId="20577"/>
          <ac:spMkLst>
            <pc:docMk/>
            <pc:sldMk cId="2287379508" sldId="271"/>
            <ac:spMk id="19" creationId="{A0FBD77A-4FC9-AF33-24F3-5E5B90BDC9D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18.790" v="6" actId="20577"/>
        <pc:sldMkLst>
          <pc:docMk/>
          <pc:sldMk cId="1378273258" sldId="272"/>
        </pc:sldMkLst>
        <pc:spChg chg="mod">
          <ac:chgData name="Bharath Raj" userId="S::bharathraj@devappsys.com::94d9684c-50e3-43a6-bc0f-7d1e94f3ae4e" providerId="AD" clId="Web-{48913760-2B4B-40AB-BAB1-5B833250FBCA}" dt="2025-06-09T08:03:18.790" v="6" actId="20577"/>
          <ac:spMkLst>
            <pc:docMk/>
            <pc:sldMk cId="1378273258" sldId="272"/>
            <ac:spMk id="3" creationId="{05E29320-7793-4496-040B-CE09BE6906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29.681" v="7" actId="20577"/>
        <pc:sldMkLst>
          <pc:docMk/>
          <pc:sldMk cId="3480894903" sldId="273"/>
        </pc:sldMkLst>
        <pc:spChg chg="mod">
          <ac:chgData name="Bharath Raj" userId="S::bharathraj@devappsys.com::94d9684c-50e3-43a6-bc0f-7d1e94f3ae4e" providerId="AD" clId="Web-{48913760-2B4B-40AB-BAB1-5B833250FBCA}" dt="2025-06-09T08:03:29.681" v="7" actId="20577"/>
          <ac:spMkLst>
            <pc:docMk/>
            <pc:sldMk cId="3480894903" sldId="273"/>
            <ac:spMk id="19" creationId="{2EFE2ECD-21FD-8EA8-38F2-18023478F72D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37.775" v="8" actId="20577"/>
        <pc:sldMkLst>
          <pc:docMk/>
          <pc:sldMk cId="4199602133" sldId="274"/>
        </pc:sldMkLst>
        <pc:spChg chg="mod">
          <ac:chgData name="Bharath Raj" userId="S::bharathraj@devappsys.com::94d9684c-50e3-43a6-bc0f-7d1e94f3ae4e" providerId="AD" clId="Web-{48913760-2B4B-40AB-BAB1-5B833250FBCA}" dt="2025-06-09T08:03:37.775" v="8" actId="20577"/>
          <ac:spMkLst>
            <pc:docMk/>
            <pc:sldMk cId="4199602133" sldId="274"/>
            <ac:spMk id="19" creationId="{E8F9574A-83CB-4373-715E-6E0E72CCE48A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34.477" v="3" actId="20577"/>
        <pc:sldMkLst>
          <pc:docMk/>
          <pc:sldMk cId="2783255690" sldId="275"/>
        </pc:sldMkLst>
        <pc:spChg chg="mod">
          <ac:chgData name="Bharath Raj" userId="S::bharathraj@devappsys.com::94d9684c-50e3-43a6-bc0f-7d1e94f3ae4e" providerId="AD" clId="Web-{48913760-2B4B-40AB-BAB1-5B833250FBCA}" dt="2025-06-09T08:02:34.477" v="3" actId="20577"/>
          <ac:spMkLst>
            <pc:docMk/>
            <pc:sldMk cId="2783255690" sldId="275"/>
            <ac:spMk id="19" creationId="{0B2C6E55-23D9-406D-BC3D-A2931A20BA10}"/>
          </ac:spMkLst>
        </pc:spChg>
      </pc:sld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Guest User" userId="S::urn:spo:tenantanon#efda937d-84e0-40c4-9af3-7c13939e1814::" providerId="AD" clId="Web-{1CD83F2A-5343-79CD-B045-87E6A60A27CD}"/>
    <pc:docChg chg="modSld">
      <pc:chgData name="Guest User" userId="S::urn:spo:tenantanon#efda937d-84e0-40c4-9af3-7c13939e1814::" providerId="AD" clId="Web-{1CD83F2A-5343-79CD-B045-87E6A60A27CD}" dt="2025-06-09T07:43:07.523" v="25"/>
      <pc:docMkLst>
        <pc:docMk/>
      </pc:docMkLst>
      <pc:sldChg chg="addSp delSp modSp">
        <pc:chgData name="Guest User" userId="S::urn:spo:tenantanon#efda937d-84e0-40c4-9af3-7c13939e1814::" providerId="AD" clId="Web-{1CD83F2A-5343-79CD-B045-87E6A60A27CD}" dt="2025-06-09T07:43:07.523" v="25"/>
        <pc:sldMkLst>
          <pc:docMk/>
          <pc:sldMk cId="0" sldId="265"/>
        </pc:sldMkLst>
        <pc:spChg chg="add del">
          <ac:chgData name="Guest User" userId="S::urn:spo:tenantanon#efda937d-84e0-40c4-9af3-7c13939e1814::" providerId="AD" clId="Web-{1CD83F2A-5343-79CD-B045-87E6A60A27CD}" dt="2025-06-09T07:43:07.523" v="20"/>
          <ac:spMkLst>
            <pc:docMk/>
            <pc:sldMk cId="0" sldId="265"/>
            <ac:spMk id="9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1"/>
          <ac:spMkLst>
            <pc:docMk/>
            <pc:sldMk cId="0" sldId="265"/>
            <ac:spMk id="10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2"/>
          <ac:spMkLst>
            <pc:docMk/>
            <pc:sldMk cId="0" sldId="265"/>
            <ac:spMk id="11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3"/>
          <ac:spMkLst>
            <pc:docMk/>
            <pc:sldMk cId="0" sldId="265"/>
            <ac:spMk id="12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4"/>
          <ac:spMkLst>
            <pc:docMk/>
            <pc:sldMk cId="0" sldId="265"/>
            <ac:spMk id="13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Guest User" userId="S::urn:spo:tenantanon#efda937d-84e0-40c4-9af3-7c13939e1814::" providerId="AD" clId="Web-{1CD83F2A-5343-79CD-B045-87E6A60A27CD}" dt="2025-06-09T07:43:06.945" v="19" actId="14100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882" v="17" actId="1076"/>
        <pc:sldMkLst>
          <pc:docMk/>
          <pc:sldMk cId="0" sldId="266"/>
        </pc:sldMkLst>
        <pc:spChg chg="mod">
          <ac:chgData name="Guest User" userId="S::urn:spo:tenantanon#efda937d-84e0-40c4-9af3-7c13939e1814::" providerId="AD" clId="Web-{1CD83F2A-5343-79CD-B045-87E6A60A27CD}" dt="2025-06-09T07:43:05.882" v="17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616" v="16" actId="1076"/>
        <pc:sldMkLst>
          <pc:docMk/>
          <pc:sldMk cId="0" sldId="267"/>
        </pc:sldMkLst>
        <pc:spChg chg="mod">
          <ac:chgData name="Guest User" userId="S::urn:spo:tenantanon#efda937d-84e0-40c4-9af3-7c13939e1814::" providerId="AD" clId="Web-{1CD83F2A-5343-79CD-B045-87E6A60A27CD}" dt="2025-06-09T07:43:05.616" v="16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538" v="15" actId="1076"/>
        <pc:sldMkLst>
          <pc:docMk/>
          <pc:sldMk cId="0" sldId="268"/>
        </pc:sldMkLst>
        <pc:spChg chg="mod">
          <ac:chgData name="Guest User" userId="S::urn:spo:tenantanon#efda937d-84e0-40c4-9af3-7c13939e1814::" providerId="AD" clId="Web-{1CD83F2A-5343-79CD-B045-87E6A60A27CD}" dt="2025-06-09T07:43:05.538" v="15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4.710" v="14" actId="1076"/>
        <pc:sldMkLst>
          <pc:docMk/>
          <pc:sldMk cId="0" sldId="269"/>
        </pc:sldMkLst>
        <pc:spChg chg="mod">
          <ac:chgData name="Guest User" userId="S::urn:spo:tenantanon#efda937d-84e0-40c4-9af3-7c13939e1814::" providerId="AD" clId="Web-{1CD83F2A-5343-79CD-B045-87E6A60A27CD}" dt="2025-06-09T07:43:04.710" v="14" actId="1076"/>
          <ac:spMkLst>
            <pc:docMk/>
            <pc:sldMk cId="0" sldId="269"/>
            <ac:spMk id="8" creationId="{EE169540-353F-AA0D-CE5D-9D92894927AE}"/>
          </ac:spMkLst>
        </pc:spChg>
      </pc:sldChg>
    </pc:docChg>
  </pc:docChgLst>
  <pc:docChgLst>
    <pc:chgData name="Bharath Raj" userId="S::bharathraj@devappsys.com::94d9684c-50e3-43a6-bc0f-7d1e94f3ae4e" providerId="AD" clId="Web-{8F40484E-1A4A-44C5-A2E8-9A80D22FC275}"/>
    <pc:docChg chg="modSld">
      <pc:chgData name="Bharath Raj" userId="S::bharathraj@devappsys.com::94d9684c-50e3-43a6-bc0f-7d1e94f3ae4e" providerId="AD" clId="Web-{8F40484E-1A4A-44C5-A2E8-9A80D22FC275}" dt="2025-06-09T08:00:11.230" v="70" actId="1076"/>
      <pc:docMkLst>
        <pc:docMk/>
      </pc:docMkLst>
      <pc:sldChg chg="addSp delSp modSp">
        <pc:chgData name="Bharath Raj" userId="S::bharathraj@devappsys.com::94d9684c-50e3-43a6-bc0f-7d1e94f3ae4e" providerId="AD" clId="Web-{8F40484E-1A4A-44C5-A2E8-9A80D22FC275}" dt="2025-06-09T08:00:01.683" v="69" actId="1076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8F40484E-1A4A-44C5-A2E8-9A80D22FC275}" dt="2025-06-09T07:57:00.227" v="61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Bharath Raj" userId="S::bharathraj@devappsys.com::94d9684c-50e3-43a6-bc0f-7d1e94f3ae4e" providerId="AD" clId="Web-{8F40484E-1A4A-44C5-A2E8-9A80D22FC275}" dt="2025-06-09T07:47:39.032" v="19"/>
          <ac:spMkLst>
            <pc:docMk/>
            <pc:sldMk cId="0" sldId="256"/>
            <ac:spMk id="5" creationId="{B5C836ED-AF4C-772A-E7AC-7D587F4BC8E9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286" v="58" actId="20577"/>
          <ac:spMkLst>
            <pc:docMk/>
            <pc:sldMk cId="0" sldId="256"/>
            <ac:spMk id="6" creationId="{3C32635B-2E2B-E675-29F7-DBC685B729AC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786" v="60" actId="20577"/>
          <ac:spMkLst>
            <pc:docMk/>
            <pc:sldMk cId="0" sldId="256"/>
            <ac:spMk id="9" creationId="{EE1018EE-FD30-B31C-930A-89E29CBD7D15}"/>
          </ac:spMkLst>
        </pc:spChg>
        <pc:spChg chg="mod">
          <ac:chgData name="Bharath Raj" userId="S::bharathraj@devappsys.com::94d9684c-50e3-43a6-bc0f-7d1e94f3ae4e" providerId="AD" clId="Web-{8F40484E-1A4A-44C5-A2E8-9A80D22FC275}" dt="2025-06-09T07:49:51.455" v="24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01.683" v="69" actId="1076"/>
          <ac:spMkLst>
            <pc:docMk/>
            <pc:sldMk cId="0" sldId="256"/>
            <ac:spMk id="14" creationId="{A788A892-53E9-C1D1-8945-E37AAF27FEF5}"/>
          </ac:spMkLst>
        </pc:spChg>
        <pc:grpChg chg="mod">
          <ac:chgData name="Bharath Raj" userId="S::bharathraj@devappsys.com::94d9684c-50e3-43a6-bc0f-7d1e94f3ae4e" providerId="AD" clId="Web-{8F40484E-1A4A-44C5-A2E8-9A80D22FC275}" dt="2025-06-09T07:57:16.977" v="62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modSp">
        <pc:chgData name="Bharath Raj" userId="S::bharathraj@devappsys.com::94d9684c-50e3-43a6-bc0f-7d1e94f3ae4e" providerId="AD" clId="Web-{8F40484E-1A4A-44C5-A2E8-9A80D22FC275}" dt="2025-06-09T08:00:11.230" v="70" actId="1076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8F40484E-1A4A-44C5-A2E8-9A80D22FC275}" dt="2025-06-09T07:58:10.134" v="6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11.230" v="70" actId="1076"/>
          <ac:spMkLst>
            <pc:docMk/>
            <pc:sldMk cId="0" sldId="257"/>
            <ac:spMk id="52" creationId="{F014F566-679C-7B70-6B31-31DC6A6FB9B1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42.060" v="3"/>
        <pc:sldMkLst>
          <pc:docMk/>
          <pc:sldMk cId="0" sldId="259"/>
        </pc:sldMkLst>
        <pc:spChg chg="add">
          <ac:chgData name="Bharath Raj" userId="S::bharathraj@devappsys.com::94d9684c-50e3-43a6-bc0f-7d1e94f3ae4e" providerId="AD" clId="Web-{8F40484E-1A4A-44C5-A2E8-9A80D22FC275}" dt="2025-06-09T07:44:42.060" v="3"/>
          <ac:spMkLst>
            <pc:docMk/>
            <pc:sldMk cId="0" sldId="259"/>
            <ac:spMk id="3" creationId="{C597A9B1-90A9-775B-5F0B-8D62A6479A8C}"/>
          </ac:spMkLst>
        </pc:spChg>
      </pc:sldChg>
      <pc:sldChg chg="delSp modSp">
        <pc:chgData name="Bharath Raj" userId="S::bharathraj@devappsys.com::94d9684c-50e3-43a6-bc0f-7d1e94f3ae4e" providerId="AD" clId="Web-{8F40484E-1A4A-44C5-A2E8-9A80D22FC275}" dt="2025-06-09T07:45:08.514" v="10" actId="1076"/>
        <pc:sldMkLst>
          <pc:docMk/>
          <pc:sldMk cId="0" sldId="265"/>
        </pc:sldMkLst>
        <pc:spChg chg="del">
          <ac:chgData name="Bharath Raj" userId="S::bharathraj@devappsys.com::94d9684c-50e3-43a6-bc0f-7d1e94f3ae4e" providerId="AD" clId="Web-{8F40484E-1A4A-44C5-A2E8-9A80D22FC275}" dt="2025-06-09T07:44:59.889" v="9"/>
          <ac:spMkLst>
            <pc:docMk/>
            <pc:sldMk cId="0" sldId="265"/>
            <ac:spMk id="9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57" v="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11" v="7"/>
          <ac:spMkLst>
            <pc:docMk/>
            <pc:sldMk cId="0" sldId="265"/>
            <ac:spMk id="11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64" v="6"/>
          <ac:spMkLst>
            <pc:docMk/>
            <pc:sldMk cId="0" sldId="265"/>
            <ac:spMk id="12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17" v="5"/>
          <ac:spMkLst>
            <pc:docMk/>
            <pc:sldMk cId="0" sldId="265"/>
            <ac:spMk id="13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654" v="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7:45:08.514" v="10" actId="1076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18.108" v="11" actId="1076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8F40484E-1A4A-44C5-A2E8-9A80D22FC275}" dt="2025-06-09T07:45:18.108" v="11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28.577" v="12" actId="1076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8F40484E-1A4A-44C5-A2E8-9A80D22FC275}" dt="2025-06-09T07:45:28.577" v="12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39.467" v="13" actId="1076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8F40484E-1A4A-44C5-A2E8-9A80D22FC275}" dt="2025-06-09T07:45:39.467" v="13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59:42.839" v="68" actId="1076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8F40484E-1A4A-44C5-A2E8-9A80D22FC275}" dt="2025-06-09T07:59:42.839" v="68" actId="1076"/>
          <ac:spMkLst>
            <pc:docMk/>
            <pc:sldMk cId="0" sldId="269"/>
            <ac:spMk id="8" creationId="{EE169540-353F-AA0D-CE5D-9D92894927AE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36.420" v="2"/>
        <pc:sldMkLst>
          <pc:docMk/>
          <pc:sldMk cId="1378273258" sldId="272"/>
        </pc:sldMkLst>
        <pc:spChg chg="add">
          <ac:chgData name="Bharath Raj" userId="S::bharathraj@devappsys.com::94d9684c-50e3-43a6-bc0f-7d1e94f3ae4e" providerId="AD" clId="Web-{8F40484E-1A4A-44C5-A2E8-9A80D22FC275}" dt="2025-06-09T07:44:36.420" v="2"/>
          <ac:spMkLst>
            <pc:docMk/>
            <pc:sldMk cId="1378273258" sldId="272"/>
            <ac:spMk id="3" creationId="{05E29320-7793-4496-040B-CE09BE69068C}"/>
          </ac:spMkLst>
        </pc:spChg>
      </pc:sldChg>
      <pc:sldChg chg="addSp modSp">
        <pc:chgData name="Bharath Raj" userId="S::bharathraj@devappsys.com::94d9684c-50e3-43a6-bc0f-7d1e94f3ae4e" providerId="AD" clId="Web-{8F40484E-1A4A-44C5-A2E8-9A80D22FC275}" dt="2025-06-09T07:58:37.197" v="67" actId="1076"/>
        <pc:sldMkLst>
          <pc:docMk/>
          <pc:sldMk cId="2783255690" sldId="275"/>
        </pc:sldMkLst>
        <pc:spChg chg="add mod">
          <ac:chgData name="Bharath Raj" userId="S::bharathraj@devappsys.com::94d9684c-50e3-43a6-bc0f-7d1e94f3ae4e" providerId="AD" clId="Web-{8F40484E-1A4A-44C5-A2E8-9A80D22FC275}" dt="2025-06-09T07:58:37.197" v="67" actId="1076"/>
          <ac:spMkLst>
            <pc:docMk/>
            <pc:sldMk cId="2783255690" sldId="275"/>
            <ac:spMk id="11" creationId="{E90389BD-79FA-1FE3-B589-E33CEC2463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.microsoft.com/en-us/aspnet/core/fundamentals/routing?view=aspnetcore-7.0" TargetMode="External"/><Relationship Id="rId4" Type="http://schemas.openxmlformats.org/officeDocument/2006/relationships/hyperlink" Target="https://learn.microsoft.com/en-us/aspnet/core/web-api/?view=aspnetcore-7.0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46225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600" dirty="0"/>
                <a:t>Web API Controllers &amp; CRUD Operations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  <a:latin typeface="+mj-lt"/>
              </a:rPr>
              <a:pPr/>
              <a:t>2</a:t>
            </a:fld>
            <a:endParaRPr lang="en-GB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+mj-lt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1301850"/>
            <a:chOff x="0" y="0"/>
            <a:chExt cx="7398043" cy="1735799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7" y="335404"/>
              <a:ext cx="442528" cy="45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14651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Introduction to Web Api Controllers </a:t>
              </a:r>
              <a:endParaRPr lang="en-US" sz="2400" dirty="0">
                <a:latin typeface="+mj-lt"/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CRUD Operations Overview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4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1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Routing and HTTP Verbs</a:t>
              </a:r>
              <a:endParaRPr lang="en-US" dirty="0">
                <a:latin typeface="+mj-lt"/>
                <a:sym typeface="Agrandir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75098" y="5656690"/>
            <a:ext cx="5548532" cy="881343"/>
            <a:chOff x="0" y="0"/>
            <a:chExt cx="7398043" cy="1175123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Testing the API 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703333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935083"/>
            <a:chOff x="0" y="0"/>
            <a:chExt cx="7398043" cy="1246776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976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Model Binding and JSON responses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5656690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endParaRPr lang="en-US" sz="2400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7033333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3</a:t>
            </a:fld>
            <a:endParaRPr lang="en-GB" sz="2000">
              <a:latin typeface="+mj-lt"/>
              <a:ea typeface="Calibri"/>
              <a:cs typeface="Calibri"/>
            </a:endParaRPr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774356" y="8255160"/>
            <a:ext cx="5548531" cy="881343"/>
            <a:chOff x="0" y="0"/>
            <a:chExt cx="7398043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Calibri"/>
                  <a:cs typeface="Calibri"/>
                </a:rPr>
                <a:t>9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195C63-BE1A-3EA4-90AC-B3216FF8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CA0E87-753D-3C97-0ADF-3D0F9CB9F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60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617762" y="1775988"/>
            <a:ext cx="16898715" cy="8525411"/>
            <a:chOff x="-2961525" y="-3814711"/>
            <a:chExt cx="20926328" cy="11367212"/>
          </a:xfrm>
        </p:grpSpPr>
        <p:sp>
          <p:nvSpPr>
            <p:cNvPr id="5" name="TextBox 5"/>
            <p:cNvSpPr txBox="1"/>
            <p:nvPr/>
          </p:nvSpPr>
          <p:spPr>
            <a:xfrm>
              <a:off x="-2961525" y="-3814711"/>
              <a:ext cx="20926328" cy="113672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GB" sz="3200" b="1" dirty="0">
                  <a:solidFill>
                    <a:schemeClr val="accent6">
                      <a:lumMod val="75000"/>
                    </a:schemeClr>
                  </a:solidFill>
                  <a:ea typeface="+mn-lt"/>
                  <a:cs typeface="+mn-lt"/>
                  <a:sym typeface="Heebo Black"/>
                </a:rPr>
                <a:t>What is a Web API?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ea typeface="+mn-lt"/>
                <a:cs typeface="+mn-lt"/>
              </a:endParaRPr>
            </a:p>
            <a:p>
              <a:pPr marL="914400" lvl="1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/>
                <a:t>A </a:t>
              </a:r>
              <a:r>
                <a:rPr lang="en-US" sz="3200" b="1" dirty="0"/>
                <a:t>Web API (Application Programming Interface)</a:t>
              </a:r>
              <a:r>
                <a:rPr lang="en-US" sz="3200" dirty="0"/>
                <a:t> enables communication between client applications and backend services over </a:t>
              </a:r>
              <a:r>
                <a:rPr lang="en-US" sz="3200" b="1" dirty="0"/>
                <a:t>HTTP/HTTPS</a:t>
              </a:r>
              <a:r>
                <a:rPr lang="en-US" sz="3200" dirty="0"/>
                <a:t>.</a:t>
              </a:r>
            </a:p>
            <a:p>
              <a:pPr marL="914400" lvl="1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/>
                <a:t>Typically used to expose </a:t>
              </a:r>
              <a:r>
                <a:rPr lang="en-US" sz="3200" b="1" dirty="0"/>
                <a:t>data and business logic</a:t>
              </a:r>
              <a:r>
                <a:rPr lang="en-US" sz="3200" dirty="0"/>
                <a:t> to clients like:</a:t>
              </a:r>
            </a:p>
            <a:p>
              <a:pPr marL="2857500" lvl="5" indent="-571500">
                <a:buFont typeface="+mj-lt"/>
                <a:buAutoNum type="romanLcPeriod"/>
              </a:pPr>
              <a:r>
                <a:rPr lang="en-US" sz="3200" dirty="0"/>
                <a:t>Web browsers</a:t>
              </a:r>
            </a:p>
            <a:p>
              <a:pPr marL="2857500" lvl="5" indent="-571500">
                <a:buFont typeface="+mj-lt"/>
                <a:buAutoNum type="romanLcPeriod"/>
              </a:pPr>
              <a:r>
                <a:rPr lang="en-US" sz="3200" dirty="0"/>
                <a:t>Mobile apps</a:t>
              </a:r>
            </a:p>
            <a:p>
              <a:pPr marL="2857500" lvl="5" indent="-571500">
                <a:buFont typeface="+mj-lt"/>
                <a:buAutoNum type="romanLcPeriod"/>
              </a:pPr>
              <a:r>
                <a:rPr lang="en-US" sz="3200" dirty="0"/>
                <a:t>Other servers or services</a:t>
              </a:r>
            </a:p>
            <a:p>
              <a:pPr marL="914400" lvl="1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US" sz="3200" dirty="0"/>
                <a:t>Returns data in formats like </a:t>
              </a:r>
              <a:r>
                <a:rPr lang="en-US" sz="3200" b="1" dirty="0"/>
                <a:t>JSON</a:t>
              </a:r>
              <a:r>
                <a:rPr lang="en-US" sz="3200" dirty="0"/>
                <a:t> or </a:t>
              </a:r>
              <a:r>
                <a:rPr lang="en-US" sz="3200" b="1" dirty="0"/>
                <a:t>XML</a:t>
              </a:r>
              <a:r>
                <a:rPr lang="en-US" sz="3200" dirty="0"/>
                <a:t>.</a:t>
              </a:r>
            </a:p>
            <a:p>
              <a:pPr marL="914400" lvl="1" indent="-457200" algn="just">
                <a:lnSpc>
                  <a:spcPts val="3600"/>
                </a:lnSpc>
                <a:buFont typeface="Arial"/>
                <a:buChar char="•"/>
              </a:pPr>
              <a:endParaRPr lang="en-US" sz="3200" dirty="0">
                <a:ea typeface="Calibri"/>
                <a:cs typeface="Calibri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US" sz="3200" b="1" dirty="0">
                  <a:solidFill>
                    <a:schemeClr val="accent6">
                      <a:lumMod val="75000"/>
                    </a:schemeClr>
                  </a:solidFill>
                </a:rPr>
                <a:t>Role of </a:t>
              </a:r>
              <a:r>
                <a:rPr lang="en-IN" sz="3200" b="1" dirty="0">
                  <a:solidFill>
                    <a:schemeClr val="accent6">
                      <a:lumMod val="75000"/>
                    </a:schemeClr>
                  </a:solidFill>
                </a:rPr>
                <a:t>Controllers in Web APIs</a:t>
              </a:r>
            </a:p>
            <a:p>
              <a:pPr algn="just">
                <a:lnSpc>
                  <a:spcPts val="3600"/>
                </a:lnSpc>
              </a:pPr>
              <a:endParaRPr lang="en-IN" sz="3200" b="1" dirty="0"/>
            </a:p>
            <a:p>
              <a:pPr marL="914400" lvl="1" indent="-457200" algn="just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3200" b="1" dirty="0"/>
                <a:t>Controllers</a:t>
              </a:r>
              <a:r>
                <a:rPr lang="en-US" sz="3200" dirty="0"/>
                <a:t> handle incoming HTTP requests and produce responses.</a:t>
              </a:r>
            </a:p>
            <a:p>
              <a:pPr marL="914400" lvl="1" indent="-457200" algn="just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They serve as the </a:t>
              </a:r>
              <a:r>
                <a:rPr lang="en-US" sz="3200" b="1" dirty="0"/>
                <a:t>entry point</a:t>
              </a:r>
              <a:r>
                <a:rPr lang="en-US" sz="3200" dirty="0"/>
                <a:t> for API requests in ASP.NET Core.</a:t>
              </a:r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200" dirty="0"/>
                <a:t>Responsible for:</a:t>
              </a:r>
            </a:p>
            <a:p>
              <a:pPr marL="1828800" lvl="3" indent="-457200">
                <a:buFont typeface="Wingdings" panose="05000000000000000000" pitchFamily="2" charset="2"/>
                <a:buChar char="ü"/>
              </a:pPr>
              <a:r>
                <a:rPr lang="en-US" sz="3200" dirty="0"/>
                <a:t>Routing logic to appropriate actions</a:t>
              </a:r>
            </a:p>
            <a:p>
              <a:pPr marL="1828800" lvl="3" indent="-457200">
                <a:buFont typeface="Wingdings" panose="05000000000000000000" pitchFamily="2" charset="2"/>
                <a:buChar char="ü"/>
              </a:pPr>
              <a:r>
                <a:rPr lang="en-US" sz="3200" dirty="0"/>
                <a:t>Processing data and calling services</a:t>
              </a:r>
            </a:p>
            <a:p>
              <a:pPr marL="1828800" lvl="3" indent="-457200">
                <a:buFont typeface="Wingdings" panose="05000000000000000000" pitchFamily="2" charset="2"/>
                <a:buChar char="ü"/>
              </a:pPr>
              <a:r>
                <a:rPr lang="en-US" sz="3200" dirty="0"/>
                <a:t>Returning HTTP responses (e.g., 200 OK, 404 Not Found)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617762" y="256530"/>
            <a:ext cx="1725399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Introduction to Web API Controllers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5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E9DFC2-8431-8684-12E4-50C24ACC1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0" y="6035040"/>
            <a:ext cx="4257677" cy="37639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558612-AEFC-A5B3-011A-F8D1E5509F78}"/>
              </a:ext>
            </a:extLst>
          </p:cNvPr>
          <p:cNvSpPr txBox="1"/>
          <p:nvPr/>
        </p:nvSpPr>
        <p:spPr>
          <a:xfrm>
            <a:off x="16143451" y="9190068"/>
            <a:ext cx="1503992" cy="6996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2098623" y="3883750"/>
            <a:ext cx="15132853" cy="4601901"/>
            <a:chOff x="-1239432" y="-1041569"/>
            <a:chExt cx="20177139" cy="326641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1239432" y="-1041569"/>
              <a:ext cx="20177139" cy="32664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endParaRPr lang="en-IN" sz="32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latin typeface="+mj-lt"/>
                <a:ea typeface="+mn-lt"/>
                <a:cs typeface="+mn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Key Components:</a:t>
              </a:r>
              <a:endParaRPr lang="en-US" altLang="en-US" sz="32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+mj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0" y="-9525"/>
              <a:ext cx="15443231" cy="3299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-119921" y="119525"/>
            <a:ext cx="182880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Structure of API Controller in ASP.NET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637536" y="976958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6</a:t>
            </a:fld>
            <a:endParaRPr lang="en-GB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5DF9A6-A46B-0A9E-80DD-1B8268401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230" y="1609576"/>
            <a:ext cx="11773214" cy="4943624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A8D1E9B-A5AA-0000-EF9E-01FC5264C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928109"/>
              </p:ext>
            </p:extLst>
          </p:nvPr>
        </p:nvGraphicFramePr>
        <p:xfrm>
          <a:off x="2098623" y="7350197"/>
          <a:ext cx="14090754" cy="26544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07727">
                  <a:extLst>
                    <a:ext uri="{9D8B030D-6E8A-4147-A177-3AD203B41FA5}">
                      <a16:colId xmlns:a16="http://schemas.microsoft.com/office/drawing/2014/main" val="2648933014"/>
                    </a:ext>
                  </a:extLst>
                </a:gridCol>
                <a:gridCol w="9083027">
                  <a:extLst>
                    <a:ext uri="{9D8B030D-6E8A-4147-A177-3AD203B41FA5}">
                      <a16:colId xmlns:a16="http://schemas.microsoft.com/office/drawing/2014/main" val="1463021075"/>
                    </a:ext>
                  </a:extLst>
                </a:gridCol>
              </a:tblGrid>
              <a:tr h="533277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bg1"/>
                          </a:solidFill>
                        </a:rPr>
                        <a:t>Components</a:t>
                      </a:r>
                      <a:endParaRPr lang="en-IN" sz="2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bg1"/>
                          </a:solidFill>
                        </a:rPr>
                        <a:t>Behavior</a:t>
                      </a:r>
                      <a:endParaRPr lang="en-IN" sz="2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488646"/>
                  </a:ext>
                </a:extLst>
              </a:tr>
              <a:tr h="624560">
                <a:tc>
                  <a:txBody>
                    <a:bodyPr/>
                    <a:lstStyle/>
                    <a:p>
                      <a:pPr lvl="2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en-US" sz="25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en-US" sz="2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ApiController]</a:t>
                      </a:r>
                      <a:r>
                        <a:rPr lang="en-US" altLang="en-US" sz="25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IN" sz="2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5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Enables API-specific behavior like automatic model validation.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011615"/>
                  </a:ext>
                </a:extLst>
              </a:tr>
              <a:tr h="533277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5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en-US" sz="2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Route("api/[controller]")] </a:t>
                      </a:r>
                      <a:endParaRPr lang="en-IN" sz="2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5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Defines routing based on controller name.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026269"/>
                  </a:ext>
                </a:extLst>
              </a:tr>
              <a:tr h="963339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 Methods</a:t>
                      </a:r>
                      <a:endParaRPr lang="en-IN" sz="2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5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Mapped to HTTP verbs like GET, POST, PUT, DELETE.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125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02C8C1-1E0B-E06D-58D1-678792C0C9B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435A2E-F36B-CB1F-DF94-3919EF1205DF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266348" y="1837250"/>
            <a:ext cx="17320612" cy="8137612"/>
            <a:chOff x="-430453" y="-2171699"/>
            <a:chExt cx="19542604" cy="1085014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430453" y="-2171699"/>
              <a:ext cx="19542604" cy="108501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2" algn="just">
                <a:lnSpc>
                  <a:spcPct val="150000"/>
                </a:lnSpc>
              </a:pPr>
              <a:r>
                <a:rPr lang="en-IN" sz="4000" b="1" dirty="0">
                  <a:latin typeface="+mj-lt"/>
                </a:rPr>
                <a:t>📝 </a:t>
              </a:r>
              <a:r>
                <a:rPr lang="en-IN" sz="5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Naming Conventions</a:t>
              </a:r>
            </a:p>
            <a:p>
              <a:pPr marL="2286000" lvl="4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4000" dirty="0">
                  <a:latin typeface="+mj-lt"/>
                  <a:ea typeface="+mn-lt"/>
                  <a:cs typeface="+mn-lt"/>
                </a:rPr>
                <a:t>Controller should end with the Controller suffix.</a:t>
              </a:r>
            </a:p>
            <a:p>
              <a:pPr marL="3714750" lvl="7" indent="-514350" algn="just">
                <a:lnSpc>
                  <a:spcPct val="200000"/>
                </a:lnSpc>
                <a:buFont typeface="+mj-lt"/>
                <a:buAutoNum type="alphaLcPeriod"/>
              </a:pPr>
              <a:r>
                <a:rPr lang="en-IN" sz="4000" dirty="0">
                  <a:latin typeface="+mj-lt"/>
                  <a:ea typeface="+mn-lt"/>
                  <a:cs typeface="+mn-lt"/>
                </a:rPr>
                <a:t>Example : ProductController , UserController</a:t>
              </a:r>
            </a:p>
            <a:p>
              <a:pPr marL="2286000" lvl="4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 dirty="0">
                  <a:latin typeface="+mj-lt"/>
                </a:rPr>
                <a:t>The suffix helps ASP.NET Core identify and register the class as a controller automatically.</a:t>
              </a:r>
            </a:p>
            <a:p>
              <a:pPr marL="2286000" lvl="4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4000" dirty="0">
                  <a:latin typeface="+mj-lt"/>
                </a:rPr>
                <a:t>Conventionally placed in the Controllers folder</a:t>
              </a:r>
              <a:endParaRPr lang="en-IN" sz="4000" b="1" dirty="0">
                <a:latin typeface="+mj-lt"/>
                <a:ea typeface="+mn-lt"/>
                <a:cs typeface="+mn-lt"/>
              </a:endParaRPr>
            </a:p>
            <a:p>
              <a:pPr lvl="2">
                <a:lnSpc>
                  <a:spcPct val="150000"/>
                </a:lnSpc>
              </a:pPr>
              <a:r>
                <a:rPr lang="en-US" sz="4000" b="1" dirty="0">
                  <a:latin typeface="+mj-lt"/>
                </a:rPr>
                <a:t>	</a:t>
              </a:r>
              <a:endParaRPr lang="en-IN" sz="4000" dirty="0"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0" y="46331"/>
            <a:ext cx="18288000" cy="1323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8600" b="1" dirty="0">
                <a:ea typeface="+mn-lt"/>
                <a:cs typeface="+mn-lt"/>
                <a:sym typeface="Heebo Black"/>
              </a:rPr>
              <a:t>Controller Conventions in ASP.NET Core</a:t>
            </a:r>
            <a:endParaRPr lang="en-US" sz="8600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7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2A27-19FD-1C9D-D3B3-31C624AA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313823-F4DA-1D78-85CB-AB50AA2CD742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8DE0127-10E9-05E2-AB6D-A16F4B31E616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E47F372-A184-CB7A-7816-1AA7FCDE8EB5}"/>
              </a:ext>
            </a:extLst>
          </p:cNvPr>
          <p:cNvGrpSpPr/>
          <p:nvPr/>
        </p:nvGrpSpPr>
        <p:grpSpPr>
          <a:xfrm>
            <a:off x="1496064" y="2816320"/>
            <a:ext cx="15763236" cy="7573114"/>
            <a:chOff x="-856400" y="-2171699"/>
            <a:chExt cx="21017650" cy="1009748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54EFDF4-004F-7E91-00D9-B8F8B2903B00}"/>
                </a:ext>
              </a:extLst>
            </p:cNvPr>
            <p:cNvSpPr txBox="1"/>
            <p:nvPr/>
          </p:nvSpPr>
          <p:spPr>
            <a:xfrm>
              <a:off x="-856400" y="-2171699"/>
              <a:ext cx="21017650" cy="90084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b="1" dirty="0"/>
                <a:t> </a:t>
              </a:r>
              <a:r>
                <a:rPr lang="en-IN" sz="3200" dirty="0"/>
                <a:t>🔁 </a:t>
              </a:r>
              <a:r>
                <a:rPr lang="en-IN" sz="4000" b="1" dirty="0">
                  <a:solidFill>
                    <a:schemeClr val="accent6">
                      <a:lumMod val="75000"/>
                    </a:schemeClr>
                  </a:solidFill>
                </a:rPr>
                <a:t>Convention-Based Routing</a:t>
              </a:r>
            </a:p>
            <a:p>
              <a:pPr marL="45720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Prior to attribute routing, ASP.NET Core supported </a:t>
              </a:r>
              <a:r>
                <a:rPr lang="en-US" sz="3200" b="1" dirty="0"/>
                <a:t>convention-based routing</a:t>
              </a:r>
              <a:r>
                <a:rPr lang="en-US" sz="3200" dirty="0"/>
                <a:t>, defined in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/>
                <a:t>      Startup.cs or Program.cs  </a:t>
              </a:r>
            </a:p>
            <a:p>
              <a:pPr>
                <a:lnSpc>
                  <a:spcPct val="150000"/>
                </a:lnSpc>
              </a:pPr>
              <a:endParaRPr lang="en-US" sz="3200" dirty="0"/>
            </a:p>
            <a:p>
              <a:pPr>
                <a:lnSpc>
                  <a:spcPct val="150000"/>
                </a:lnSpc>
              </a:pPr>
              <a:endParaRPr lang="en-US" sz="3200" dirty="0"/>
            </a:p>
            <a:p>
              <a:pPr>
                <a:lnSpc>
                  <a:spcPct val="150000"/>
                </a:lnSpc>
              </a:pPr>
              <a:endParaRPr lang="en-US" sz="3200" dirty="0"/>
            </a:p>
            <a:p>
              <a:pPr marL="45720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Follows a </a:t>
              </a:r>
              <a:r>
                <a:rPr lang="en-US" sz="3200" b="1" dirty="0"/>
                <a:t>URL pattern</a:t>
              </a:r>
              <a:r>
                <a:rPr lang="en-US" sz="3200" dirty="0"/>
                <a:t> based on controller and action names.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		Example URL:  /Product/GetAll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/>
                <a:t>      Now largely replaced by </a:t>
              </a:r>
              <a:r>
                <a:rPr lang="en-US" sz="3200" b="1" dirty="0"/>
                <a:t>attribute routing</a:t>
              </a:r>
              <a:r>
                <a:rPr lang="en-US" sz="3200" dirty="0"/>
                <a:t> for better control and flexibility.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0EE9F70-6F0A-5EE4-C534-371DC07E5197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71F5A23-5326-8AC4-91D4-87FD2847931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F7FB259-E61B-EC7B-60CD-1C9045DE363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E8EC9B7-B5BB-50D5-8103-588249AB3B9B}"/>
              </a:ext>
            </a:extLst>
          </p:cNvPr>
          <p:cNvSpPr txBox="1"/>
          <p:nvPr/>
        </p:nvSpPr>
        <p:spPr>
          <a:xfrm>
            <a:off x="0" y="46331"/>
            <a:ext cx="182880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Controller Conventions in ASP.NET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1C7799-4C91-1856-3653-983A9BA6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8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D194F5-073B-B0A5-5B6B-8C83DF831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479" y="5143500"/>
            <a:ext cx="7724273" cy="195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66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DFFE-4245-7225-0A07-A2F037BE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668F3B-E191-5309-F68F-878A0709E545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A1B177D-665A-223E-BF37-3ABE52BDBEF5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D78E4CD-DAC4-9F7C-69EB-4ABE82C69940}"/>
              </a:ext>
            </a:extLst>
          </p:cNvPr>
          <p:cNvGrpSpPr/>
          <p:nvPr/>
        </p:nvGrpSpPr>
        <p:grpSpPr>
          <a:xfrm>
            <a:off x="1496064" y="2816320"/>
            <a:ext cx="15763236" cy="7573114"/>
            <a:chOff x="-856400" y="-2171699"/>
            <a:chExt cx="21017650" cy="1009748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CB5FA45-47D0-3FA6-C257-FCD41AB63D4B}"/>
                </a:ext>
              </a:extLst>
            </p:cNvPr>
            <p:cNvSpPr txBox="1"/>
            <p:nvPr/>
          </p:nvSpPr>
          <p:spPr>
            <a:xfrm>
              <a:off x="-856400" y="-2171699"/>
              <a:ext cx="21017650" cy="86444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4000" b="1" dirty="0"/>
                <a:t> </a:t>
              </a:r>
              <a:r>
                <a:rPr lang="en-IN" sz="4500" b="1" dirty="0"/>
                <a:t>🔁 </a:t>
              </a:r>
              <a:r>
                <a:rPr lang="en-IN" sz="4500" b="1" dirty="0">
                  <a:solidFill>
                    <a:schemeClr val="accent6">
                      <a:lumMod val="75000"/>
                    </a:schemeClr>
                  </a:solidFill>
                </a:rPr>
                <a:t>[ApiController] Attribute</a:t>
              </a: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4000" b="1" dirty="0"/>
                <a:t> </a:t>
              </a:r>
              <a:r>
                <a:rPr lang="en-US" sz="4000" dirty="0"/>
                <a:t>Applied to API controller classes to:</a:t>
              </a:r>
            </a:p>
            <a:p>
              <a:pPr marL="1943100" lvl="3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Enable </a:t>
              </a:r>
              <a:r>
                <a:rPr lang="en-US" sz="4000" b="1" dirty="0"/>
                <a:t>automatic model validation</a:t>
              </a:r>
              <a:endParaRPr lang="en-US" sz="4000" dirty="0"/>
            </a:p>
            <a:p>
              <a:pPr marL="1943100" lvl="3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Provide </a:t>
              </a:r>
              <a:r>
                <a:rPr lang="en-US" sz="4000" b="1" dirty="0"/>
                <a:t>problem details responses</a:t>
              </a:r>
              <a:r>
                <a:rPr lang="en-US" sz="4000" dirty="0"/>
                <a:t> by default</a:t>
              </a:r>
            </a:p>
            <a:p>
              <a:pPr marL="1943100" lvl="3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4000" dirty="0"/>
                <a:t>Simplify parameter binding (e.g., [FromBody] is inferred)</a:t>
              </a:r>
            </a:p>
            <a:p>
              <a:pPr>
                <a:lnSpc>
                  <a:spcPct val="150000"/>
                </a:lnSpc>
              </a:pPr>
              <a:endParaRPr lang="en-IN" sz="4000" b="1" dirty="0"/>
            </a:p>
            <a:p>
              <a:pPr>
                <a:lnSpc>
                  <a:spcPct val="150000"/>
                </a:lnSpc>
              </a:pPr>
              <a:endParaRPr lang="en-IN" sz="4000" b="1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9D3A4DB-1A22-BCEF-5F3A-6AA319E338DE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D6E9FE3-BAC5-29AA-71C4-D1649DBB2FA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081E36C-9974-C242-CB2B-87D7EF4AA270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30E7D30-5A70-CD18-171C-230A353083E8}"/>
              </a:ext>
            </a:extLst>
          </p:cNvPr>
          <p:cNvSpPr txBox="1"/>
          <p:nvPr/>
        </p:nvSpPr>
        <p:spPr>
          <a:xfrm>
            <a:off x="128751" y="46331"/>
            <a:ext cx="18159249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Controller Conventions in ASP.NET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4219B47-B610-2172-F2E2-2928A12C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9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4CFBA9-091B-6AE1-D9C5-80B3DB5D3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749" y="7622698"/>
            <a:ext cx="9760504" cy="170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4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59824-B3A5-2D4B-0E48-CA34B95A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B4E624-E02D-EF8A-D933-0C728A38028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93EA1B8-6D60-E6A4-554E-E9C60B58EC67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A43F5B0-1F47-B6B3-D975-68184BD41872}"/>
              </a:ext>
            </a:extLst>
          </p:cNvPr>
          <p:cNvGrpSpPr/>
          <p:nvPr/>
        </p:nvGrpSpPr>
        <p:grpSpPr>
          <a:xfrm>
            <a:off x="1262382" y="1635228"/>
            <a:ext cx="15763236" cy="8753405"/>
            <a:chOff x="-1167976" y="-3746488"/>
            <a:chExt cx="21017650" cy="1167120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FF0E041-E4F0-2C05-7ADB-C653CD99ADAC}"/>
                </a:ext>
              </a:extLst>
            </p:cNvPr>
            <p:cNvSpPr txBox="1"/>
            <p:nvPr/>
          </p:nvSpPr>
          <p:spPr>
            <a:xfrm>
              <a:off x="-1167976" y="-3746488"/>
              <a:ext cx="21017650" cy="10584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b="1" dirty="0"/>
                <a:t> </a:t>
              </a:r>
              <a:r>
                <a:rPr lang="en-US" altLang="en-US" sz="3200" dirty="0">
                  <a:latin typeface="Arial" panose="020B0604020202020204" pitchFamily="34" charset="0"/>
                </a:rPr>
                <a:t>🧭 </a:t>
              </a:r>
              <a:r>
                <a:rPr lang="en-US" altLang="en-US" sz="38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Routing with [Route] and HTTP Verb Attributes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Attribute routing defines </a:t>
              </a:r>
              <a:r>
                <a:rPr lang="en-IN" sz="3200" b="1" dirty="0"/>
                <a:t>explicit routes</a:t>
              </a:r>
              <a:r>
                <a:rPr lang="en-IN" sz="3200" dirty="0"/>
                <a:t> on controllers and actions:</a:t>
              </a:r>
            </a:p>
            <a:p>
              <a:pPr>
                <a:lnSpc>
                  <a:spcPct val="150000"/>
                </a:lnSpc>
              </a:pPr>
              <a:endParaRPr lang="en-IN" altLang="en-US" sz="3200" dirty="0"/>
            </a:p>
            <a:p>
              <a:pPr>
                <a:lnSpc>
                  <a:spcPct val="150000"/>
                </a:lnSpc>
              </a:pPr>
              <a:endParaRPr lang="en-IN" altLang="en-US" sz="3200" dirty="0"/>
            </a:p>
            <a:p>
              <a:pPr>
                <a:lnSpc>
                  <a:spcPct val="150000"/>
                </a:lnSpc>
              </a:pPr>
              <a:endParaRPr lang="en-IN" altLang="en-US" sz="3200" dirty="0"/>
            </a:p>
            <a:p>
              <a:pPr>
                <a:lnSpc>
                  <a:spcPct val="150000"/>
                </a:lnSpc>
              </a:pPr>
              <a:endParaRPr lang="en-IN" altLang="en-US" sz="3200" dirty="0"/>
            </a:p>
            <a:p>
              <a:pPr>
                <a:lnSpc>
                  <a:spcPct val="150000"/>
                </a:lnSpc>
              </a:pPr>
              <a:endParaRPr lang="en-IN" altLang="en-US" sz="3200" dirty="0"/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</a:rPr>
                <a:t>Common attributes:</a:t>
              </a: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Arial Unicode MS"/>
                </a:rPr>
                <a:t>[HttpGet]</a:t>
              </a:r>
              <a:r>
                <a:rPr lang="en-US" altLang="en-US" sz="3200" dirty="0"/>
                <a:t>, </a:t>
              </a:r>
              <a:r>
                <a:rPr lang="en-US" altLang="en-US" sz="3200" dirty="0">
                  <a:latin typeface="Arial Unicode MS"/>
                </a:rPr>
                <a:t>[HttpPost]</a:t>
              </a:r>
              <a:r>
                <a:rPr lang="en-US" altLang="en-US" sz="3200" dirty="0"/>
                <a:t>, </a:t>
              </a:r>
              <a:r>
                <a:rPr lang="en-US" altLang="en-US" sz="3200" dirty="0">
                  <a:latin typeface="Arial Unicode MS"/>
                </a:rPr>
                <a:t>[HttpPut]</a:t>
              </a:r>
              <a:r>
                <a:rPr lang="en-US" altLang="en-US" sz="3200" dirty="0"/>
                <a:t>, </a:t>
              </a:r>
              <a:r>
                <a:rPr lang="en-US" altLang="en-US" sz="3200" dirty="0">
                  <a:latin typeface="Arial Unicode MS"/>
                </a:rPr>
                <a:t>[HttpDelete]</a:t>
              </a:r>
              <a:endParaRPr lang="en-US" altLang="en-US" sz="3200" dirty="0"/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Arial Unicode MS"/>
                </a:rPr>
                <a:t>[Route("path")]</a:t>
              </a:r>
              <a:r>
                <a:rPr lang="en-US" altLang="en-US" sz="3200" dirty="0"/>
                <a:t>: Customize route at method or class level</a:t>
              </a:r>
              <a:endParaRPr lang="en-US" altLang="en-US" sz="3200" dirty="0">
                <a:latin typeface="Arial" panose="020B0604020202020204" pitchFamily="34" charset="0"/>
              </a:endParaRP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Arial" panose="020B0604020202020204" pitchFamily="34" charset="0"/>
                </a:rPr>
                <a:t>Supports route parameters like </a:t>
              </a:r>
              <a:r>
                <a:rPr lang="en-US" altLang="en-US" sz="3200" dirty="0">
                  <a:latin typeface="Arial Unicode MS"/>
                </a:rPr>
                <a:t>{id}</a:t>
              </a:r>
              <a:endParaRPr lang="en-US" altLang="en-US" sz="320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1036963-A7DC-8B11-E471-55D0E4F98D69}"/>
                </a:ext>
              </a:extLst>
            </p:cNvPr>
            <p:cNvSpPr txBox="1"/>
            <p:nvPr/>
          </p:nvSpPr>
          <p:spPr>
            <a:xfrm>
              <a:off x="165316" y="-594710"/>
              <a:ext cx="18577724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2654E5C-6771-96C8-81D5-58042EC3ED81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D9AC22E-2E15-14E8-B28B-846E7418356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1D9B92A-CEB4-FB29-7823-351CCE06C5A5}"/>
              </a:ext>
            </a:extLst>
          </p:cNvPr>
          <p:cNvSpPr txBox="1"/>
          <p:nvPr/>
        </p:nvSpPr>
        <p:spPr>
          <a:xfrm>
            <a:off x="-179882" y="46331"/>
            <a:ext cx="18467882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8500" b="1" dirty="0">
                <a:ea typeface="+mn-lt"/>
                <a:cs typeface="+mn-lt"/>
                <a:sym typeface="Heebo Black"/>
              </a:rPr>
              <a:t>Controller Conventions in ASP.NET Core</a:t>
            </a:r>
            <a:endParaRPr lang="en-US" sz="8500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64624B5-35D3-53CB-03C0-6B4E0647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10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30AADD-D406-1433-1178-E74C6F418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434" y="3497835"/>
            <a:ext cx="8373979" cy="329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7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3E11-91D7-51BB-393F-8CDAE739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208DF8-33D0-A911-2D28-D70E5485ED0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088BBC-A15C-E4D7-B2EC-7C0FAD141D52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8993745-DDC5-CC72-B03D-2854EC25AD54}"/>
              </a:ext>
            </a:extLst>
          </p:cNvPr>
          <p:cNvGrpSpPr/>
          <p:nvPr/>
        </p:nvGrpSpPr>
        <p:grpSpPr>
          <a:xfrm>
            <a:off x="1240690" y="1833542"/>
            <a:ext cx="15781469" cy="8309967"/>
            <a:chOff x="-2245998" y="-3810127"/>
            <a:chExt cx="21041960" cy="1423399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7B441D-7DC7-F2A6-CF16-65CA67C9F758}"/>
                </a:ext>
              </a:extLst>
            </p:cNvPr>
            <p:cNvSpPr txBox="1"/>
            <p:nvPr/>
          </p:nvSpPr>
          <p:spPr>
            <a:xfrm>
              <a:off x="-2245998" y="-3810127"/>
              <a:ext cx="21041960" cy="142339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latin typeface="+mj-lt"/>
                </a:rPr>
                <a:t>📥 </a:t>
              </a:r>
              <a:r>
                <a:rPr lang="en-US" altLang="en-US" sz="3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Create – POST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latin typeface="+mj-lt"/>
                </a:rPr>
                <a:t>Used to add a new resource</a:t>
              </a:r>
              <a:endParaRPr lang="en-US" altLang="en-US" sz="3000" dirty="0">
                <a:latin typeface="+mj-lt"/>
              </a:endParaRP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latin typeface="+mj-lt"/>
                </a:rPr>
                <a:t>Accepts data in the request body (usually JSON)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N" sz="3000" dirty="0">
                  <a:latin typeface="+mj-lt"/>
                </a:rPr>
                <a:t>Returns  201 Created with the new resource or location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IN" sz="30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latin typeface="+mj-lt"/>
                </a:rPr>
                <a:t>📤 </a:t>
              </a:r>
              <a:r>
                <a:rPr lang="en-US" altLang="en-US" sz="3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Read – GET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latin typeface="+mj-lt"/>
                </a:rPr>
                <a:t>Used to retrieve resource(s)</a:t>
              </a:r>
              <a:endParaRPr lang="en-US" altLang="en-US" sz="3000" dirty="0">
                <a:latin typeface="+mj-lt"/>
              </a:endParaRP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latin typeface="+mj-lt"/>
                </a:rPr>
                <a:t>Can return a single item or a list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latin typeface="+mj-lt"/>
                </a:rPr>
                <a:t>Returns 200 OK with data or 404 Not Found if missing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0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latin typeface="+mj-lt"/>
                </a:rPr>
                <a:t>🔁 </a:t>
              </a:r>
              <a:r>
                <a:rPr lang="en-US" altLang="en-US" sz="3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Update – PUT or PATCH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latin typeface="+mj-lt"/>
                </a:rPr>
                <a:t>PUT</a:t>
              </a:r>
              <a:r>
                <a:rPr lang="en-US" altLang="en-US" sz="3000" dirty="0">
                  <a:latin typeface="+mj-lt"/>
                </a:rPr>
                <a:t>: Replaces the entire resource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latin typeface="+mj-lt"/>
                </a:rPr>
                <a:t>PATCH</a:t>
              </a:r>
              <a:r>
                <a:rPr lang="en-US" altLang="en-US" sz="3000" dirty="0">
                  <a:latin typeface="+mj-lt"/>
                </a:rPr>
                <a:t>: Partially updates the resource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latin typeface="+mj-lt"/>
                </a:rPr>
                <a:t>Returns 204 No Content or 200 OK on success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0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latin typeface="+mj-lt"/>
                </a:rPr>
                <a:t>🗑️ </a:t>
              </a:r>
              <a:r>
                <a:rPr lang="en-US" altLang="en-US" sz="3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Delete – DELETE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latin typeface="+mj-lt"/>
                </a:rPr>
                <a:t>Used to remove a resource</a:t>
              </a:r>
              <a:endParaRPr lang="en-US" altLang="en-US" sz="3000" dirty="0">
                <a:latin typeface="+mj-lt"/>
              </a:endParaRP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latin typeface="+mj-lt"/>
                </a:rPr>
                <a:t>Returns 204 No Content or 404 Not Found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F1CAED-5D16-9199-0B16-CD7CD2A2A57D}"/>
                </a:ext>
              </a:extLst>
            </p:cNvPr>
            <p:cNvSpPr txBox="1"/>
            <p:nvPr/>
          </p:nvSpPr>
          <p:spPr>
            <a:xfrm>
              <a:off x="-1" y="-9524"/>
              <a:ext cx="15443232" cy="796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D83F16-E3A3-E4AC-C172-3897C3756A3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7B3155-9CC7-7E95-EA14-5A726F8570E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368CFA-B0D8-314E-B6FB-1538CBA04A86}"/>
              </a:ext>
            </a:extLst>
          </p:cNvPr>
          <p:cNvSpPr txBox="1"/>
          <p:nvPr/>
        </p:nvSpPr>
        <p:spPr>
          <a:xfrm>
            <a:off x="1889306" y="85819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CRUD Operations in Web API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46DB02-7BCC-B5B4-E2D3-40EA12F9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11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14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EFA93-C7C0-290A-B8CC-30EDD6C5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F952ED-FF07-D856-7D9C-3C3CA1F3338C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FA41F5-2EB7-5769-C0E0-5ED6B6ADCB3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63F986B-B9D7-2639-6F98-2E2E38CB01C2}"/>
              </a:ext>
            </a:extLst>
          </p:cNvPr>
          <p:cNvGrpSpPr/>
          <p:nvPr/>
        </p:nvGrpSpPr>
        <p:grpSpPr>
          <a:xfrm>
            <a:off x="1571623" y="2316006"/>
            <a:ext cx="15687677" cy="7453579"/>
            <a:chOff x="-1671118" y="-2629591"/>
            <a:chExt cx="19426653" cy="993810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00B059D-4176-217A-FB63-9A2AE647E6BA}"/>
                </a:ext>
              </a:extLst>
            </p:cNvPr>
            <p:cNvSpPr txBox="1"/>
            <p:nvPr/>
          </p:nvSpPr>
          <p:spPr>
            <a:xfrm>
              <a:off x="-1671118" y="-2629591"/>
              <a:ext cx="19426653" cy="99381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3200" b="1" dirty="0">
                  <a:solidFill>
                    <a:schemeClr val="accent2">
                      <a:lumMod val="75000"/>
                    </a:schemeClr>
                  </a:solidFill>
                  <a:latin typeface="+mj-lt"/>
                </a:rPr>
                <a:t>✅</a:t>
              </a:r>
              <a:r>
                <a:rPr lang="fr-FR" sz="3200" b="1" dirty="0">
                  <a:solidFill>
                    <a:schemeClr val="accent2">
                      <a:lumMod val="75000"/>
                    </a:schemeClr>
                  </a:solidFill>
                  <a:latin typeface="+mj-lt"/>
                </a:rPr>
                <a:t>Attribute Routing vs Conventional Routing</a:t>
              </a:r>
            </a:p>
            <a:p>
              <a:pPr>
                <a:lnSpc>
                  <a:spcPct val="150000"/>
                </a:lnSpc>
              </a:pPr>
              <a:r>
                <a:rPr lang="en-US" sz="3200" b="1" dirty="0">
                  <a:latin typeface="+mj-lt"/>
                </a:rPr>
                <a:t>🟢 </a:t>
              </a:r>
              <a:r>
                <a:rPr lang="en-US" sz="32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Attribute Routing</a:t>
              </a:r>
              <a:endParaRPr lang="en-US" sz="3200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+mj-lt"/>
                </a:rPr>
                <a:t>Defined directly on controller and action methods using  [Route] ,[HttpGet], [HttpPost] etc.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+mj-lt"/>
                </a:rPr>
                <a:t>Offers more control and readability</a:t>
              </a:r>
            </a:p>
            <a:p>
              <a:pPr algn="just">
                <a:lnSpc>
                  <a:spcPts val="3600"/>
                </a:lnSpc>
              </a:pPr>
              <a:endParaRPr lang="fr-FR" sz="3200" b="1" dirty="0"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en-US" sz="3200" b="1" dirty="0">
                  <a:latin typeface="+mj-lt"/>
                </a:rPr>
                <a:t>🔵 </a:t>
              </a:r>
              <a:r>
                <a:rPr lang="en-US" altLang="en-US" sz="32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Conventional Routing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Defined globally in  StartUp.cs and Program.cs</a:t>
              </a:r>
              <a:endParaRPr lang="en-US" alt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fr-FR" sz="3200" b="1" dirty="0">
                <a:latin typeface="+mj-lt"/>
              </a:endParaRPr>
            </a:p>
            <a:p>
              <a:pPr lvl="2" algn="just">
                <a:lnSpc>
                  <a:spcPct val="150000"/>
                </a:lnSpc>
              </a:pPr>
              <a:r>
                <a:rPr lang="en-IN" sz="3200" dirty="0"/>
                <a:t>✅ </a:t>
              </a:r>
              <a:r>
                <a:rPr lang="en-US" sz="3200" b="1" dirty="0"/>
                <a:t>Web APIs typically use Attribute Routing</a:t>
              </a:r>
              <a:r>
                <a:rPr lang="en-US" sz="3200" dirty="0"/>
                <a:t> for clarity and RESTful structure</a:t>
              </a:r>
              <a:endParaRPr lang="en-US" sz="3200" b="1" dirty="0">
                <a:latin typeface="+mj-lt"/>
                <a:ea typeface="Calibri"/>
                <a:cs typeface="Calibri"/>
              </a:endParaRP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b="1" dirty="0"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4E6E84-98C5-DBD2-7B68-668EB2157A64}"/>
                </a:ext>
              </a:extLst>
            </p:cNvPr>
            <p:cNvSpPr txBox="1"/>
            <p:nvPr/>
          </p:nvSpPr>
          <p:spPr>
            <a:xfrm>
              <a:off x="0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9AD13DA-7A8E-BE84-9266-410D963419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9F666ED-E6CC-CBEA-AC9A-15194D97D44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31F41E-A525-2A45-5ED0-D6AD9902663F}"/>
              </a:ext>
            </a:extLst>
          </p:cNvPr>
          <p:cNvSpPr txBox="1"/>
          <p:nvPr/>
        </p:nvSpPr>
        <p:spPr>
          <a:xfrm>
            <a:off x="816828" y="586004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API Routing and HTTP Methods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5CA1941-B8D8-7446-3E13-652C097F375C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E08257F-B16F-6FA6-C66D-218A5FD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12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127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D8361-9DC4-A6BB-92BD-4675F965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F7FC23-48D3-274A-2961-EF7C3A3CC837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DE5BD4A-84A4-8CA8-B5E4-ADD592284831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BD42B98-2BEC-8781-DA30-BE3A9C6CDB18}"/>
              </a:ext>
            </a:extLst>
          </p:cNvPr>
          <p:cNvGrpSpPr/>
          <p:nvPr/>
        </p:nvGrpSpPr>
        <p:grpSpPr>
          <a:xfrm>
            <a:off x="1195551" y="1837142"/>
            <a:ext cx="15687677" cy="2090638"/>
            <a:chOff x="-1352646" y="-2177214"/>
            <a:chExt cx="19426653" cy="278751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85C7195-EC8B-61D5-D75A-CF1FDE23742E}"/>
                </a:ext>
              </a:extLst>
            </p:cNvPr>
            <p:cNvSpPr txBox="1"/>
            <p:nvPr/>
          </p:nvSpPr>
          <p:spPr>
            <a:xfrm>
              <a:off x="-1352646" y="-2177214"/>
              <a:ext cx="1942665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US" sz="320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ED56E7B-7AB6-0A34-F8A9-A7D69DB9C0DA}"/>
                </a:ext>
              </a:extLst>
            </p:cNvPr>
            <p:cNvSpPr txBox="1"/>
            <p:nvPr/>
          </p:nvSpPr>
          <p:spPr>
            <a:xfrm>
              <a:off x="0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DC25113-77B9-DC3B-B79F-72CA7738F05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6DB4F4-6B2C-9B07-BE3D-F9DD4654820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B1F4B0E-9F4A-5099-5B2D-9CBB30442A2E}"/>
              </a:ext>
            </a:extLst>
          </p:cNvPr>
          <p:cNvSpPr txBox="1"/>
          <p:nvPr/>
        </p:nvSpPr>
        <p:spPr>
          <a:xfrm>
            <a:off x="1034011" y="201236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Example Rotes(MeterInfo API)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DBF70B5-75D7-373B-3E6B-0E80828DB1C1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F4994CD-F4B6-0F3E-A909-4750750E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13</a:t>
            </a:fld>
            <a:endParaRPr lang="en-GB" sz="200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A771E5-91A4-53C0-06B0-A4D7CBBB2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365859"/>
              </p:ext>
            </p:extLst>
          </p:nvPr>
        </p:nvGraphicFramePr>
        <p:xfrm>
          <a:off x="2287858" y="2362381"/>
          <a:ext cx="14052471" cy="68951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84157">
                  <a:extLst>
                    <a:ext uri="{9D8B030D-6E8A-4147-A177-3AD203B41FA5}">
                      <a16:colId xmlns:a16="http://schemas.microsoft.com/office/drawing/2014/main" val="2785301305"/>
                    </a:ext>
                  </a:extLst>
                </a:gridCol>
                <a:gridCol w="4684157">
                  <a:extLst>
                    <a:ext uri="{9D8B030D-6E8A-4147-A177-3AD203B41FA5}">
                      <a16:colId xmlns:a16="http://schemas.microsoft.com/office/drawing/2014/main" val="923525769"/>
                    </a:ext>
                  </a:extLst>
                </a:gridCol>
                <a:gridCol w="4684157">
                  <a:extLst>
                    <a:ext uri="{9D8B030D-6E8A-4147-A177-3AD203B41FA5}">
                      <a16:colId xmlns:a16="http://schemas.microsoft.com/office/drawing/2014/main" val="3835578948"/>
                    </a:ext>
                  </a:extLst>
                </a:gridCol>
              </a:tblGrid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HTTP 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Endpoint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921352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/api/meterinfo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Get all meter records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226430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/api/meterinfo/{id}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Get a specific meter by ID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588926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POST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/api/meterinfo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Create a new meter record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383944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/api/meterinfo/{id}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Update an existing meter 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36414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Delete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/api/meterinfo/{id}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Delete a meter by ID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006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621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4B21C-103B-D09B-0C36-D9BEE37C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B40D5A-ACE0-349A-3464-74475C843E13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A8A932-1FAD-227C-A00B-4469EC03FECB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4E3313E-71D9-F5F7-A130-E8056F0DF651}"/>
              </a:ext>
            </a:extLst>
          </p:cNvPr>
          <p:cNvSpPr txBox="1"/>
          <p:nvPr/>
        </p:nvSpPr>
        <p:spPr>
          <a:xfrm>
            <a:off x="696039" y="1853890"/>
            <a:ext cx="17253989" cy="8926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dirty="0"/>
              <a:t>🖥️</a:t>
            </a:r>
            <a:r>
              <a:rPr lang="en-IN" sz="4000" b="1" dirty="0"/>
              <a:t>What is Model Binding?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dirty="0"/>
              <a:t>Model Binding automatically maps incoming HTTP request data (e.g., JSON, query strings, route values) to C# objects or parameters.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dirty="0"/>
              <a:t>Simplifies controller logic by handling parsing and conversion.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🎯 </a:t>
            </a:r>
            <a:r>
              <a:rPr lang="en-US" sz="4000" b="1" dirty="0"/>
              <a:t>Binding Data from Requests</a:t>
            </a:r>
          </a:p>
          <a:p>
            <a:pPr algn="just">
              <a:lnSpc>
                <a:spcPts val="3600"/>
              </a:lnSpc>
            </a:pPr>
            <a:endParaRPr lang="en-IN" sz="3200" dirty="0"/>
          </a:p>
          <a:p>
            <a:pPr algn="just">
              <a:lnSpc>
                <a:spcPts val="3600"/>
              </a:lnSpc>
            </a:pPr>
            <a:endParaRPr lang="en-IN" sz="3200" dirty="0"/>
          </a:p>
          <a:p>
            <a:pPr algn="just">
              <a:lnSpc>
                <a:spcPts val="3600"/>
              </a:lnSpc>
            </a:pPr>
            <a:endParaRPr lang="en-IN" sz="3200" dirty="0"/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ea typeface="Calibri"/>
              <a:cs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1277B3E-9901-5B76-7675-9E723C7612C8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8CBFF86-3B62-8914-10AB-8CC97FD16DF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0954D1-BD1A-236B-917F-02E7D9D6E88A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Model Binding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55E730B-6DB3-ED4A-30FA-1409FD601689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56D1CAD-856C-D582-5075-8930F0F0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14</a:t>
            </a:fld>
            <a:endParaRPr lang="en-GB" sz="200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FC9BFF-764B-CBC1-D3D6-F92FE5B32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390838"/>
              </p:ext>
            </p:extLst>
          </p:nvPr>
        </p:nvGraphicFramePr>
        <p:xfrm>
          <a:off x="2803273" y="6650224"/>
          <a:ext cx="14099034" cy="347398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4699678">
                  <a:extLst>
                    <a:ext uri="{9D8B030D-6E8A-4147-A177-3AD203B41FA5}">
                      <a16:colId xmlns:a16="http://schemas.microsoft.com/office/drawing/2014/main" val="3738233272"/>
                    </a:ext>
                  </a:extLst>
                </a:gridCol>
                <a:gridCol w="4699678">
                  <a:extLst>
                    <a:ext uri="{9D8B030D-6E8A-4147-A177-3AD203B41FA5}">
                      <a16:colId xmlns:a16="http://schemas.microsoft.com/office/drawing/2014/main" val="1186061343"/>
                    </a:ext>
                  </a:extLst>
                </a:gridCol>
                <a:gridCol w="4699678">
                  <a:extLst>
                    <a:ext uri="{9D8B030D-6E8A-4147-A177-3AD203B41FA5}">
                      <a16:colId xmlns:a16="http://schemas.microsoft.com/office/drawing/2014/main" val="1109400370"/>
                    </a:ext>
                  </a:extLst>
                </a:gridCol>
              </a:tblGrid>
              <a:tr h="670194">
                <a:tc>
                  <a:txBody>
                    <a:bodyPr/>
                    <a:lstStyle/>
                    <a:p>
                      <a:r>
                        <a:rPr lang="en-IN" sz="3200" dirty="0"/>
                        <a:t>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Attribute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067801"/>
                  </a:ext>
                </a:extLst>
              </a:tr>
              <a:tr h="989699">
                <a:tc>
                  <a:txBody>
                    <a:bodyPr/>
                    <a:lstStyle/>
                    <a:p>
                      <a:r>
                        <a:rPr lang="en-IN" sz="3200" dirty="0"/>
                        <a:t>Request Body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[FromBody]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JSON to object (e.g., POST/PUT)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639679"/>
                  </a:ext>
                </a:extLst>
              </a:tr>
              <a:tr h="989699">
                <a:tc>
                  <a:txBody>
                    <a:bodyPr/>
                    <a:lstStyle/>
                    <a:p>
                      <a:r>
                        <a:rPr lang="en-IN" sz="3200" dirty="0"/>
                        <a:t>Query 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[FromQuery]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/api/products?name=apple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768389"/>
                  </a:ext>
                </a:extLst>
              </a:tr>
              <a:tr h="670194">
                <a:tc>
                  <a:txBody>
                    <a:bodyPr/>
                    <a:lstStyle/>
                    <a:p>
                      <a:r>
                        <a:rPr lang="en-IN" sz="3200" dirty="0"/>
                        <a:t>Route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[FromRoute]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/api/products/5 -&gt;(id=5)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90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344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F031F-4280-A5DF-F72F-6DE74805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4EEB4A-E743-F1BE-2E70-44965CF080AE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542B09F-BFF1-82CD-FE9B-5205C33CEB5F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F8D645E-C826-5EF1-AD57-3F190EE16ADD}"/>
              </a:ext>
            </a:extLst>
          </p:cNvPr>
          <p:cNvSpPr txBox="1"/>
          <p:nvPr/>
        </p:nvSpPr>
        <p:spPr>
          <a:xfrm>
            <a:off x="2262351" y="1853890"/>
            <a:ext cx="15687677" cy="8187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800" dirty="0">
                <a:latin typeface="+mj-lt"/>
              </a:rPr>
              <a:t>✔️ </a:t>
            </a:r>
            <a:r>
              <a:rPr lang="en-IN" sz="3800" b="1" dirty="0">
                <a:latin typeface="+mj-lt"/>
              </a:rPr>
              <a:t>Validation with Data Annotations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Use attributes in your model class to enforce rules.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+mj-lt"/>
              </a:rPr>
              <a:t>Works automatically with [ApiController] for automatic validation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+mj-lt"/>
              </a:rPr>
              <a:t>If validation fails, ASP.NET Core returns 400 Bad Request with details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+mj-lt"/>
            </a:endParaRPr>
          </a:p>
          <a:p>
            <a:pPr algn="just">
              <a:lnSpc>
                <a:spcPct val="150000"/>
              </a:lnSpc>
            </a:pPr>
            <a:endParaRPr lang="en-IN" sz="3200" dirty="0">
              <a:latin typeface="+mj-lt"/>
            </a:endParaRPr>
          </a:p>
          <a:p>
            <a:pPr algn="just">
              <a:lnSpc>
                <a:spcPct val="150000"/>
              </a:lnSpc>
            </a:pPr>
            <a:endParaRPr lang="en-IN" sz="3200" dirty="0">
              <a:latin typeface="+mj-lt"/>
            </a:endParaRPr>
          </a:p>
          <a:p>
            <a:pPr algn="just">
              <a:lnSpc>
                <a:spcPct val="150000"/>
              </a:lnSpc>
            </a:pPr>
            <a:endParaRPr lang="en-IN" sz="3200" dirty="0">
              <a:latin typeface="+mj-lt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+mj-lt"/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+mj-lt"/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+mj-lt"/>
              <a:ea typeface="Calibri"/>
              <a:cs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B27CACE-443F-61F9-4F0B-E889120A530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F31A166-7807-3FBD-2A05-9C82A46743F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5F46DA7-604E-D224-5EF7-52AFF28BC00A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Model Binding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2859004-8769-B2C5-249D-CB48D17AF94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62BCB89-3B18-76A0-46EB-AC7EA7D6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15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505B0C-841D-F2C3-7FF7-6BF112381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2337" y="5143500"/>
            <a:ext cx="6328610" cy="452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44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2600-9FD3-B937-F501-ACACA49A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C23FA7-854F-C69D-7F97-194CE0ABE0C8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EE17274-B7A6-197C-6F67-A480B0469916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8990862-9CCC-9088-74D4-ACE39FE6CC96}"/>
              </a:ext>
            </a:extLst>
          </p:cNvPr>
          <p:cNvSpPr txBox="1"/>
          <p:nvPr/>
        </p:nvSpPr>
        <p:spPr>
          <a:xfrm>
            <a:off x="1291187" y="1470814"/>
            <a:ext cx="16225290" cy="8694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IN" sz="3500" dirty="0">
                <a:latin typeface="+mj-lt"/>
              </a:rPr>
              <a:t>📦 </a:t>
            </a:r>
            <a:r>
              <a:rPr lang="en-IN" sz="35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Default Format :JSON</a:t>
            </a:r>
          </a:p>
          <a:p>
            <a:pPr algn="just">
              <a:lnSpc>
                <a:spcPts val="3600"/>
              </a:lnSpc>
            </a:pPr>
            <a:endParaRPr lang="en-IN" sz="3500" b="1" dirty="0">
              <a:latin typeface="+mj-lt"/>
            </a:endParaRPr>
          </a:p>
          <a:p>
            <a:pPr marL="1371600" lvl="2" indent="-457200" algn="just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+mj-lt"/>
              </a:rPr>
              <a:t>By default, ASP.NET Core Web API returns data in </a:t>
            </a:r>
            <a:r>
              <a:rPr lang="en-US" sz="3500" b="1" dirty="0">
                <a:latin typeface="+mj-lt"/>
              </a:rPr>
              <a:t>JSON</a:t>
            </a:r>
            <a:r>
              <a:rPr lang="en-US" sz="3500" dirty="0">
                <a:latin typeface="+mj-lt"/>
              </a:rPr>
              <a:t> format.</a:t>
            </a:r>
          </a:p>
          <a:p>
            <a:pPr marL="1371600" lvl="2" indent="-457200" algn="just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+mj-lt"/>
              </a:rPr>
              <a:t>Uses </a:t>
            </a:r>
            <a:r>
              <a:rPr lang="en-US" sz="3500" b="1" dirty="0">
                <a:latin typeface="+mj-lt"/>
              </a:rPr>
              <a:t>System.Text.Json</a:t>
            </a:r>
            <a:r>
              <a:rPr lang="en-US" sz="3500" dirty="0">
                <a:latin typeface="+mj-lt"/>
              </a:rPr>
              <a:t> (or optionally </a:t>
            </a:r>
            <a:r>
              <a:rPr lang="en-US" sz="3500" b="1" dirty="0">
                <a:latin typeface="+mj-lt"/>
              </a:rPr>
              <a:t>Newtonsoft.Json</a:t>
            </a:r>
            <a:r>
              <a:rPr lang="en-US" sz="3500" dirty="0">
                <a:latin typeface="+mj-lt"/>
              </a:rPr>
              <a:t>) for serialization.</a:t>
            </a:r>
            <a:endParaRPr lang="en-IN" sz="3500" b="1" dirty="0">
              <a:latin typeface="+mj-lt"/>
            </a:endParaRPr>
          </a:p>
          <a:p>
            <a:pPr marL="1371600" lvl="2" indent="-457200" algn="just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en-US" sz="3500" dirty="0">
                <a:latin typeface="+mj-lt"/>
              </a:rPr>
              <a:t>Automatically sets Content-Type: application/json in the response headers. </a:t>
            </a:r>
          </a:p>
          <a:p>
            <a:pPr algn="just">
              <a:lnSpc>
                <a:spcPts val="3600"/>
              </a:lnSpc>
            </a:pPr>
            <a:endParaRPr lang="en-US" sz="3500" b="1" dirty="0">
              <a:latin typeface="+mj-lt"/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3500" dirty="0">
                <a:latin typeface="+mj-lt"/>
              </a:rPr>
              <a:t>📦 </a:t>
            </a:r>
            <a:r>
              <a:rPr lang="en-US" altLang="en-US" sz="35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Customizing Responses with ActionResult&lt;T&gt;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500" b="1" dirty="0">
              <a:latin typeface="+mj-lt"/>
            </a:endParaRPr>
          </a:p>
          <a:p>
            <a:pPr marL="1371600" lvl="2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latin typeface="+mj-lt"/>
              </a:rPr>
              <a:t>ActionResult&lt;T&gt; allows returning:</a:t>
            </a:r>
          </a:p>
          <a:p>
            <a:pPr marL="2857500" lvl="5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3500" dirty="0">
                <a:latin typeface="+mj-lt"/>
              </a:rPr>
              <a:t>Strongly-typed data</a:t>
            </a:r>
          </a:p>
          <a:p>
            <a:pPr marL="2857500" lvl="5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3500" dirty="0">
                <a:latin typeface="+mj-lt"/>
              </a:rPr>
              <a:t>HTTP status codes</a:t>
            </a:r>
          </a:p>
          <a:p>
            <a:pPr marL="2857500" lvl="5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3500" dirty="0">
                <a:latin typeface="+mj-lt"/>
              </a:rPr>
              <a:t>Error messages or problem details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500" dirty="0">
              <a:latin typeface="+mj-lt"/>
            </a:endParaRPr>
          </a:p>
          <a:p>
            <a:r>
              <a:rPr lang="en-IN" sz="3500" dirty="0">
                <a:latin typeface="+mj-lt"/>
              </a:rPr>
              <a:t>📦 </a:t>
            </a:r>
            <a:r>
              <a:rPr lang="en-US" sz="35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Benefits:</a:t>
            </a:r>
          </a:p>
          <a:p>
            <a:endParaRPr lang="en-US" sz="3500" b="1" dirty="0">
              <a:latin typeface="+mj-lt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+mj-lt"/>
              </a:rPr>
              <a:t>Combines </a:t>
            </a:r>
            <a:r>
              <a:rPr lang="en-US" sz="3500" b="1" dirty="0">
                <a:latin typeface="+mj-lt"/>
              </a:rPr>
              <a:t>flexibility</a:t>
            </a:r>
            <a:r>
              <a:rPr lang="en-US" sz="3500" dirty="0">
                <a:latin typeface="+mj-lt"/>
              </a:rPr>
              <a:t> and </a:t>
            </a:r>
            <a:r>
              <a:rPr lang="en-US" sz="3500" b="1" dirty="0">
                <a:latin typeface="+mj-lt"/>
              </a:rPr>
              <a:t>type-safety</a:t>
            </a:r>
            <a:endParaRPr lang="en-US" sz="3500" dirty="0">
              <a:latin typeface="+mj-lt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+mj-lt"/>
              </a:rPr>
              <a:t>Makes your API </a:t>
            </a:r>
            <a:r>
              <a:rPr lang="en-US" sz="3500" b="1" dirty="0">
                <a:latin typeface="+mj-lt"/>
              </a:rPr>
              <a:t>self-documenting</a:t>
            </a:r>
            <a:endParaRPr lang="en-US" sz="3500" dirty="0">
              <a:latin typeface="+mj-lt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015A1E2-53F7-D4D9-5BE1-9F1EEB5786E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A2098B-E13F-946F-C29A-36EA7BDEEEB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81D3C0B-4D85-763D-BAE5-70A213F95186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Response Formats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6BEE045-F524-F57F-DDD1-B5F6B897B19B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366F703-D15A-D5D3-6A25-3802913E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16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599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EA7A-F9C1-3D80-C6F6-27A1B65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3470B6-9D9E-6E9E-149D-478F500162DA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73B2A97-7C08-56D5-64E8-814B3ED13664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D628C7-EB07-C2EF-8CA6-A8A98C98C8A8}"/>
              </a:ext>
            </a:extLst>
          </p:cNvPr>
          <p:cNvSpPr txBox="1"/>
          <p:nvPr/>
        </p:nvSpPr>
        <p:spPr>
          <a:xfrm>
            <a:off x="1300161" y="1888751"/>
            <a:ext cx="16171011" cy="636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dirty="0">
                <a:solidFill>
                  <a:schemeClr val="accent6">
                    <a:lumMod val="75000"/>
                  </a:schemeClr>
                </a:solidFill>
              </a:rPr>
              <a:t>✅ 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Testing the API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Using </a:t>
            </a:r>
            <a:r>
              <a:rPr lang="en-US" sz="4000" b="1" dirty="0"/>
              <a:t>Postman</a:t>
            </a:r>
            <a:r>
              <a:rPr lang="en-US" sz="4000" dirty="0"/>
              <a:t>: Sending HTTP requests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Using </a:t>
            </a:r>
            <a:r>
              <a:rPr lang="en-US" sz="4000" b="1" dirty="0"/>
              <a:t>Swagger (Swashbuckle)</a:t>
            </a:r>
            <a:r>
              <a:rPr lang="en-US" sz="4000" dirty="0"/>
              <a:t>: Auto-generated UI for API testing</a:t>
            </a:r>
          </a:p>
          <a:p>
            <a:pPr lvl="1">
              <a:lnSpc>
                <a:spcPct val="150000"/>
              </a:lnSpc>
            </a:pPr>
            <a:r>
              <a:rPr lang="en-US" sz="4000" dirty="0"/>
              <a:t>Example:</a:t>
            </a:r>
          </a:p>
          <a:p>
            <a:pPr lvl="1">
              <a:lnSpc>
                <a:spcPct val="150000"/>
              </a:lnSpc>
            </a:pPr>
            <a:r>
              <a:rPr lang="en-IN" sz="4000" dirty="0"/>
              <a:t>http://localhost:5000/api/ControllerName/MethodName/ParameterName</a:t>
            </a:r>
            <a:endParaRPr lang="en-US" sz="4000" dirty="0"/>
          </a:p>
          <a:p>
            <a:pPr algn="just">
              <a:lnSpc>
                <a:spcPct val="150000"/>
              </a:lnSpc>
            </a:pPr>
            <a:endParaRPr lang="en-US" sz="4000" dirty="0"/>
          </a:p>
          <a:p>
            <a:pPr algn="just">
              <a:lnSpc>
                <a:spcPct val="150000"/>
              </a:lnSpc>
            </a:pPr>
            <a:endParaRPr lang="en-IN" sz="4000" b="1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5B4D676-4842-F3DE-F2EC-016D024184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21D39FF-08F5-625D-FD13-1A66DF12BE4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BF274D8-B5B8-FF16-6B80-463D35FCE95B}"/>
              </a:ext>
            </a:extLst>
          </p:cNvPr>
          <p:cNvSpPr txBox="1"/>
          <p:nvPr/>
        </p:nvSpPr>
        <p:spPr>
          <a:xfrm>
            <a:off x="816828" y="619173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Testing the API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04143BA-6F9B-B5DE-929F-F1B017B2095D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3F2A466-48BC-9186-59DE-3E813265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17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883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2193867"/>
            <a:ext cx="14535120" cy="2908441"/>
            <a:chOff x="-2918087" y="-3251127"/>
            <a:chExt cx="21900210" cy="3858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3251127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1515516" y="85400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18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E9BE05-27F6-B269-8F20-46A65CC882DB}"/>
              </a:ext>
            </a:extLst>
          </p:cNvPr>
          <p:cNvSpPr txBox="1"/>
          <p:nvPr/>
        </p:nvSpPr>
        <p:spPr>
          <a:xfrm>
            <a:off x="1515516" y="1262105"/>
            <a:ext cx="16363410" cy="887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Web API Controller Conventions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  🔹 Used in microservices to organize endpoints cleanly.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API Routes &amp; HTTP Actions (GET/POST/PUT/DELETE)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  🔹 Power CRUD operations in apps like e-commerce, HR systems, or inventory tools.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Model Binding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  🔹 Binds client data in form submissions (e.g., signup, order forms).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Response Formats (JSON)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  🔹 Standard for mobile app backends and third-party API responses.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CRUD Web API Assignment (MeterInfoController)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  🔹 Simulates real-world utility or IoT meter data APIs.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Testing with Postman or Swagger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  🔹 Common in QA/testing for APIs in software teams and public API docs.</a:t>
            </a:r>
          </a:p>
        </p:txBody>
      </p:sp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228112"/>
            <a:ext cx="16554641" cy="9558129"/>
            <a:chOff x="-551558" y="-303596"/>
            <a:chExt cx="14224882" cy="12744165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551558" y="-303596"/>
              <a:ext cx="14163549" cy="12744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ct val="150000"/>
                </a:lnSpc>
              </a:pPr>
              <a:r>
                <a:rPr lang="en-US" sz="3800" dirty="0">
                  <a:latin typeface="+mj-lt"/>
                </a:rPr>
                <a:t>🔧 </a:t>
              </a:r>
              <a:r>
                <a:rPr lang="en-US" sz="3800" b="1" dirty="0">
                  <a:latin typeface="+mj-lt"/>
                </a:rPr>
                <a:t>Advanced Assignment 1: </a:t>
              </a:r>
              <a:r>
                <a:rPr lang="en-IN" sz="3800" b="1" dirty="0">
                  <a:latin typeface="+mj-lt"/>
                </a:rPr>
                <a:t>Basic CRUD API 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US" sz="3800" b="1" dirty="0">
                  <a:latin typeface="+mj-lt"/>
                </a:rPr>
                <a:t>Objective:</a:t>
              </a:r>
              <a:r>
                <a:rPr lang="en-US" sz="3800" dirty="0">
                  <a:latin typeface="+mj-lt"/>
                </a:rPr>
                <a:t> Build a simple CRUD Web API for MeterInfo.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US" sz="3800" b="1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Requirements :</a:t>
              </a:r>
            </a:p>
            <a:p>
              <a:pPr marL="169545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8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Create a class MeterInfo with basic properties (e.g., Id, Location , Reading ,Timestamp).</a:t>
              </a:r>
            </a:p>
            <a:p>
              <a:pPr marL="169545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8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Create MeterInfoController with :</a:t>
              </a:r>
            </a:p>
            <a:p>
              <a:pPr marL="2724150" lvl="5" indent="-571500">
                <a:lnSpc>
                  <a:spcPct val="150000"/>
                </a:lnSpc>
                <a:buFont typeface="+mj-lt"/>
                <a:buAutoNum type="romanLcPeriod"/>
              </a:pPr>
              <a:r>
                <a:rPr lang="en-US" sz="38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Get, Get by Id, POST, PUT  and DELETE methods</a:t>
              </a:r>
            </a:p>
            <a:p>
              <a:pPr marL="169545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800" dirty="0">
                  <a:latin typeface="+mj-lt"/>
                </a:rPr>
                <a:t>Use in-memory storage (e.g., a static list) to simulate a database.</a:t>
              </a:r>
            </a:p>
            <a:p>
              <a:pPr marL="169545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800" dirty="0">
                  <a:latin typeface="+mj-lt"/>
                </a:rPr>
                <a:t>Test API endpoints using Postman or Swagger.</a:t>
              </a:r>
              <a:endParaRPr lang="en-US" sz="3800" dirty="0">
                <a:solidFill>
                  <a:srgbClr val="33123B"/>
                </a:solidFill>
                <a:latin typeface="+mj-lt"/>
                <a:cs typeface="Assistant Regular"/>
              </a:endParaRPr>
            </a:p>
            <a:p>
              <a:pPr>
                <a:lnSpc>
                  <a:spcPct val="150000"/>
                </a:lnSpc>
              </a:pPr>
              <a:r>
                <a:rPr lang="en-US" sz="3800" b="1" dirty="0">
                  <a:latin typeface="+mj-lt"/>
                </a:rPr>
                <a:t>     Focus:</a:t>
              </a:r>
            </a:p>
            <a:p>
              <a:pPr lvl="3">
                <a:lnSpc>
                  <a:spcPct val="150000"/>
                </a:lnSpc>
              </a:pPr>
              <a:r>
                <a:rPr lang="en-US" sz="3800" dirty="0">
                  <a:latin typeface="+mj-lt"/>
                </a:rPr>
                <a:t>Understanding controller structure, routing, and basic HTTP verbs.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005393" y="4799597"/>
            <a:ext cx="6412683" cy="6120663"/>
            <a:chOff x="-366471" y="-11891"/>
            <a:chExt cx="15572971" cy="14863810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4" cy="14462404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5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AC9B4-2093-DFC3-8F08-7FF79B0B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66AE003-BF0D-EEA9-8B60-1C7A9337BAEE}"/>
              </a:ext>
            </a:extLst>
          </p:cNvPr>
          <p:cNvGrpSpPr/>
          <p:nvPr/>
        </p:nvGrpSpPr>
        <p:grpSpPr>
          <a:xfrm>
            <a:off x="332434" y="536569"/>
            <a:ext cx="17955566" cy="10984546"/>
            <a:chOff x="-265908" y="-6948"/>
            <a:chExt cx="14877094" cy="1464605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06EC3E2-6A67-D667-2DB8-ADD78704E030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C0EE07-8646-A4F0-5E86-46F49CA8A36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123AEC1-CADE-8A87-653C-5533EC9F15D4}"/>
                </a:ext>
              </a:extLst>
            </p:cNvPr>
            <p:cNvSpPr txBox="1"/>
            <p:nvPr/>
          </p:nvSpPr>
          <p:spPr>
            <a:xfrm>
              <a:off x="-265908" y="-6948"/>
              <a:ext cx="14877094" cy="146460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4000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2: </a:t>
              </a:r>
              <a:r>
                <a:rPr lang="en-IN" sz="4000" b="1" dirty="0"/>
                <a:t>CRUD with EF Core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latin typeface="+mj-lt"/>
                </a:rPr>
                <a:t>Objective:</a:t>
              </a:r>
              <a:r>
                <a:rPr lang="en-US" altLang="en-US" sz="4000" dirty="0">
                  <a:latin typeface="+mj-lt"/>
                </a:rPr>
                <a:t> </a:t>
              </a:r>
              <a:r>
                <a:rPr lang="en-US" sz="4000" dirty="0"/>
                <a:t>Add real data persistence using Entity Framework Core and SQLite or SQL Server DB.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latin typeface="+mj-lt"/>
                </a:rPr>
                <a:t>Requirements: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Set up EF Core and create a MeterInfoContext (DbContext).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Register the DbContext using Dependency Injection.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Store and retrieve MeterInfo data using the database.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Add model validation using Data Annotations (e.g., [Required], [Range]).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latin typeface="+mj-lt"/>
                </a:rPr>
                <a:t>Focus 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000" dirty="0"/>
                <a:t>EF Core integration, data persistence, and validation.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221CF7-6B74-AB63-27BD-2B1C8527E730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13E909D-516E-78DA-C7D0-7B4082CF865E}"/>
              </a:ext>
            </a:extLst>
          </p:cNvPr>
          <p:cNvSpPr txBox="1"/>
          <p:nvPr/>
        </p:nvSpPr>
        <p:spPr>
          <a:xfrm>
            <a:off x="8335841" y="293940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A6E5507-92D0-22A4-6BF4-C131D04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20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9987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8876-10CC-A9E3-57F2-29BF3C45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7DEA085-71EE-1614-E459-8F6E2CCC6EFA}"/>
              </a:ext>
            </a:extLst>
          </p:cNvPr>
          <p:cNvGrpSpPr/>
          <p:nvPr/>
        </p:nvGrpSpPr>
        <p:grpSpPr>
          <a:xfrm>
            <a:off x="332434" y="473371"/>
            <a:ext cx="17955566" cy="9558129"/>
            <a:chOff x="-265908" y="-91212"/>
            <a:chExt cx="14877094" cy="1274416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046013-9CEA-A12A-300B-72D4C9C03F3A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A7E58FC-E9F6-F3B1-2096-6BA5F7F5BE3C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2E927E5-E3B6-7822-E082-27B8FF7CF341}"/>
                </a:ext>
              </a:extLst>
            </p:cNvPr>
            <p:cNvSpPr txBox="1"/>
            <p:nvPr/>
          </p:nvSpPr>
          <p:spPr>
            <a:xfrm>
              <a:off x="-265908" y="-6948"/>
              <a:ext cx="14877094" cy="8831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AA3A785-002A-A178-8EC6-E0E97A60EF39}"/>
                </a:ext>
              </a:extLst>
            </p:cNvPr>
            <p:cNvSpPr txBox="1"/>
            <p:nvPr/>
          </p:nvSpPr>
          <p:spPr>
            <a:xfrm>
              <a:off x="-265908" y="-91212"/>
              <a:ext cx="14601656" cy="12744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🔧 Advanced Assignment 3: </a:t>
              </a:r>
              <a:r>
                <a:rPr lang="en-US" sz="3800" b="1" dirty="0">
                  <a:latin typeface="+mj-lt"/>
                </a:rPr>
                <a:t>CRUD with DTOs and AutoMapper 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Objective:</a:t>
              </a:r>
              <a:r>
                <a:rPr lang="en-US" altLang="en-US" sz="3800" dirty="0">
                  <a:latin typeface="+mj-lt"/>
                </a:rPr>
                <a:t> </a:t>
              </a:r>
              <a:r>
                <a:rPr lang="en-US" sz="3800" dirty="0">
                  <a:latin typeface="+mj-lt"/>
                </a:rPr>
                <a:t>Refactor the API to use DTOs for input/output and AutoMapper for transformation.</a:t>
              </a:r>
              <a:endParaRPr lang="en-US" altLang="en-US" sz="38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Requirements: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800" dirty="0">
                  <a:latin typeface="+mj-lt"/>
                </a:rPr>
                <a:t>Create MeterInfoCreateDto, MeterInfoReadDto, and MeterInfoUpdateDto.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800" dirty="0">
                  <a:latin typeface="+mj-lt"/>
                </a:rPr>
                <a:t>Use AutoMapper to map between DTOs and the domain model.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800" dirty="0">
                  <a:latin typeface="+mj-lt"/>
                </a:rPr>
                <a:t>Return only necessary fields in the API response (no over-posting).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800" dirty="0">
                  <a:latin typeface="+mj-lt"/>
                </a:rPr>
                <a:t>Return proper status codes (e.g., 201 Created, 404 Not Found, 204 No Content).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8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Focus: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sz="3800" dirty="0">
                  <a:latin typeface="+mj-lt"/>
                </a:rPr>
                <a:t>Clean architecture, separation of concerns, and better response shaping.</a:t>
              </a:r>
              <a:endParaRPr lang="en-GB" sz="3800" b="1" dirty="0">
                <a:solidFill>
                  <a:srgbClr val="33123B"/>
                </a:solidFill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C1248BAB-F673-54C5-E53D-D0F2C70F4523}"/>
              </a:ext>
            </a:extLst>
          </p:cNvPr>
          <p:cNvSpPr txBox="1"/>
          <p:nvPr/>
        </p:nvSpPr>
        <p:spPr>
          <a:xfrm>
            <a:off x="8335841" y="31677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F087B7C-A32B-5042-F287-5C719D17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21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573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3F53-0DCB-0126-DCBB-20A031DA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BAE32C1-75BA-C154-AEC7-A6B3450BEBD5}"/>
              </a:ext>
            </a:extLst>
          </p:cNvPr>
          <p:cNvGrpSpPr/>
          <p:nvPr/>
        </p:nvGrpSpPr>
        <p:grpSpPr>
          <a:xfrm>
            <a:off x="161932" y="451496"/>
            <a:ext cx="17574729" cy="9735871"/>
            <a:chOff x="-412415" y="-5751"/>
            <a:chExt cx="15101412" cy="1099350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458A49-04E6-2EFA-6170-0E0748F7563F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AD3601-B23E-FE7F-02F2-1C7FD56CE085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2D2978-C351-583F-5107-7C1722540F1C}"/>
                </a:ext>
              </a:extLst>
            </p:cNvPr>
            <p:cNvSpPr txBox="1"/>
            <p:nvPr/>
          </p:nvSpPr>
          <p:spPr>
            <a:xfrm>
              <a:off x="-412415" y="194950"/>
              <a:ext cx="15101412" cy="107928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🔧 Advanced Assignment 4: </a:t>
              </a:r>
              <a:r>
                <a:rPr lang="en-US" sz="3800" b="1" dirty="0">
                  <a:latin typeface="+mj-lt"/>
                </a:rPr>
                <a:t>Advanced API with Pagination, Search &amp; Error Handling</a:t>
              </a:r>
              <a:endParaRPr lang="en-US" altLang="en-US" sz="3800" b="1" dirty="0">
                <a:latin typeface="+mj-lt"/>
              </a:endParaRP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Objective :</a:t>
              </a:r>
              <a:r>
                <a:rPr lang="en-US" altLang="en-US" sz="3800" dirty="0">
                  <a:latin typeface="+mj-lt"/>
                </a:rPr>
                <a:t> </a:t>
              </a:r>
              <a:r>
                <a:rPr lang="en-US" sz="3800" dirty="0">
                  <a:latin typeface="+mj-lt"/>
                </a:rPr>
                <a:t>Enhance the existing CRUD API with production-grade features.</a:t>
              </a: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Requirements: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Add </a:t>
              </a:r>
              <a:r>
                <a:rPr lang="en-US" altLang="en-US" sz="3800" b="1" dirty="0">
                  <a:latin typeface="+mj-lt"/>
                </a:rPr>
                <a:t>pagination</a:t>
              </a:r>
              <a:r>
                <a:rPr lang="en-US" altLang="en-US" sz="3800" dirty="0">
                  <a:latin typeface="+mj-lt"/>
                </a:rPr>
                <a:t> support to GET /api/meterinfo (query params: pageNumber, pageSize).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Add </a:t>
              </a:r>
              <a:r>
                <a:rPr lang="en-US" altLang="en-US" sz="3800" b="1" dirty="0">
                  <a:latin typeface="+mj-lt"/>
                </a:rPr>
                <a:t>search/filter</a:t>
              </a:r>
              <a:r>
                <a:rPr lang="en-US" altLang="en-US" sz="3800" dirty="0">
                  <a:latin typeface="+mj-lt"/>
                </a:rPr>
                <a:t> support by Location or Reading.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Implement </a:t>
              </a:r>
              <a:r>
                <a:rPr lang="en-US" altLang="en-US" sz="3800" b="1" dirty="0">
                  <a:latin typeface="+mj-lt"/>
                </a:rPr>
                <a:t>global exception handling</a:t>
              </a:r>
              <a:r>
                <a:rPr lang="en-US" altLang="en-US" sz="3800" dirty="0">
                  <a:latin typeface="+mj-lt"/>
                </a:rPr>
                <a:t> using custom middleware or filters.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Add Swagger documentation for all endpoints and models.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(Optional) Secure the API using basic token-based authentication.</a:t>
              </a: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800" b="1" dirty="0">
                <a:latin typeface="+mj-lt"/>
              </a:endParaRP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Focus: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US" sz="3800" dirty="0"/>
                <a:t>API scalability, user experience, maintainability, and robustness.</a:t>
              </a:r>
              <a:endParaRPr lang="en-US" sz="38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9A1F7AB-DA9F-FEEE-E9A0-57DDF06342D5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574C42D-54B6-C16E-8E5A-6266CDFA9171}"/>
              </a:ext>
            </a:extLst>
          </p:cNvPr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901DBE1-CEDF-6C9D-7D29-AB258013125D}"/>
              </a:ext>
            </a:extLst>
          </p:cNvPr>
          <p:cNvGrpSpPr>
            <a:grpSpLocks noChangeAspect="1"/>
          </p:cNvGrpSpPr>
          <p:nvPr/>
        </p:nvGrpSpPr>
        <p:grpSpPr>
          <a:xfrm>
            <a:off x="14504093" y="5621602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8A7C113-24A9-B921-12B7-0707E62AA906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EFC7D70-A520-E917-A6C2-2DCE4962F371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2C1E5B1-40C7-741D-41BB-0FF2D1854B72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AC3C7AC-F3F7-777C-8A22-30629B05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22</a:t>
            </a:fld>
            <a:endParaRPr lang="en-GB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424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 dirty="0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 dirty="0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23</a:t>
            </a:fld>
            <a:endParaRPr lang="en-GB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02335" y="4865952"/>
            <a:ext cx="346651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200" b="1" dirty="0">
                <a:solidFill>
                  <a:srgbClr val="33123B"/>
                </a:solidFill>
                <a:latin typeface="Assistant Regular Bold" panose="020B0604020202020204" charset="-79"/>
                <a:ea typeface="+mn-lt"/>
                <a:cs typeface="Assistant Regular Bold" panose="020B0604020202020204" charset="-79"/>
                <a:sym typeface="Agrandir"/>
              </a:rPr>
              <a:t>Web Api Controllers</a:t>
            </a:r>
            <a:endParaRPr lang="en-US" sz="3000" b="1" dirty="0">
              <a:solidFill>
                <a:srgbClr val="33123B"/>
              </a:solidFill>
              <a:latin typeface="Assistant Regular Bold" panose="020B0604020202020204" charset="-79"/>
              <a:ea typeface="Assistant Regular Bold"/>
              <a:cs typeface="Assistant Regular Bold" panose="020B0604020202020204" charset="-79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19151" y="486595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CRUD Operations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9151" y="59232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Testing API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726119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2335" y="5822547"/>
            <a:ext cx="34665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Routing and Http verbs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24</a:t>
            </a:fld>
            <a:endParaRPr lang="en-GB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1548652"/>
            <a:ext cx="1664208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https://learn.microsoft.com/en-us/aspnet/core/web-api/?view=aspnetcore-7.0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5"/>
              </a:rPr>
              <a:t>https://learn.microsoft.com/en-us/aspnet/core/fundamentals/routing?view=aspnetcore-7.0</a:t>
            </a:r>
            <a:endParaRPr lang="en-US" sz="3000" dirty="0">
              <a:ea typeface="Calibri"/>
              <a:cs typeface="Calibri"/>
              <a:hlinkClick r:id="" action="ppaction://noaction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25</a:t>
            </a:fld>
            <a:endParaRPr lang="en-GB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26</a:t>
            </a:fld>
            <a:endParaRPr lang="en-GB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1552</Words>
  <Application>Microsoft Office PowerPoint</Application>
  <PresentationFormat>Custom</PresentationFormat>
  <Paragraphs>330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Wingdings</vt:lpstr>
      <vt:lpstr>Arial Unicode MS</vt:lpstr>
      <vt:lpstr>Assistant Regular</vt:lpstr>
      <vt:lpstr>Heebo Black</vt:lpstr>
      <vt:lpstr>HK Modular</vt:lpstr>
      <vt:lpstr>Assistant Regular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Sierra Learning</cp:lastModifiedBy>
  <cp:revision>79</cp:revision>
  <dcterms:created xsi:type="dcterms:W3CDTF">2006-08-16T00:00:00Z</dcterms:created>
  <dcterms:modified xsi:type="dcterms:W3CDTF">2025-08-20T06:57:34Z</dcterms:modified>
  <dc:identifier>DAGpXxrSFgM</dc:identifier>
</cp:coreProperties>
</file>