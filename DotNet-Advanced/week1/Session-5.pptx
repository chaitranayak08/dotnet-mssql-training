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7" r:id="rId4"/>
    <p:sldId id="258" r:id="rId5"/>
    <p:sldId id="317" r:id="rId6"/>
    <p:sldId id="290" r:id="rId7"/>
    <p:sldId id="291" r:id="rId8"/>
    <p:sldId id="275" r:id="rId9"/>
    <p:sldId id="292" r:id="rId10"/>
    <p:sldId id="276" r:id="rId11"/>
    <p:sldId id="277" r:id="rId12"/>
    <p:sldId id="293" r:id="rId13"/>
    <p:sldId id="278" r:id="rId14"/>
    <p:sldId id="279" r:id="rId15"/>
    <p:sldId id="295" r:id="rId16"/>
    <p:sldId id="294" r:id="rId17"/>
    <p:sldId id="274" r:id="rId18"/>
    <p:sldId id="265" r:id="rId19"/>
    <p:sldId id="287" r:id="rId20"/>
    <p:sldId id="289" r:id="rId21"/>
    <p:sldId id="288" r:id="rId22"/>
    <p:sldId id="266" r:id="rId23"/>
    <p:sldId id="267" r:id="rId24"/>
    <p:sldId id="268" r:id="rId25"/>
    <p:sldId id="269" r:id="rId26"/>
  </p:sldIdLst>
  <p:sldSz cx="18288000" cy="10287000"/>
  <p:notesSz cx="6858000" cy="9144000"/>
  <p:embeddedFontLst>
    <p:embeddedFont>
      <p:font typeface="Assistant Regular" panose="020B0604020202020204" charset="-79"/>
      <p:regular r:id="rId27"/>
    </p:embeddedFont>
    <p:embeddedFont>
      <p:font typeface="Assistant Regular Bold" panose="020B0604020202020204" charset="-79"/>
      <p:regular r:id="rId28"/>
    </p:embeddedFont>
    <p:embeddedFont>
      <p:font typeface="Heebo Black" pitchFamily="2" charset="-79"/>
      <p:regular r:id="rId29"/>
      <p:bold r:id="rId30"/>
    </p:embeddedFont>
    <p:embeddedFont>
      <p:font typeface="HK Modular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3" y="6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48913760-2B4B-40AB-BAB1-5B833250FBCA}"/>
    <pc:docChg chg="modSld">
      <pc:chgData name="Bharath Raj" userId="S::bharathraj@devappsys.com::94d9684c-50e3-43a6-bc0f-7d1e94f3ae4e" providerId="AD" clId="Web-{48913760-2B4B-40AB-BAB1-5B833250FBCA}" dt="2025-06-09T08:04:28.557" v="13" actId="20577"/>
      <pc:docMkLst>
        <pc:docMk/>
      </pc:docMkLst>
      <pc:sldChg chg="modSp">
        <pc:chgData name="Bharath Raj" userId="S::bharathraj@devappsys.com::94d9684c-50e3-43a6-bc0f-7d1e94f3ae4e" providerId="AD" clId="Web-{48913760-2B4B-40AB-BAB1-5B833250FBCA}" dt="2025-06-09T08:02:05.648" v="0" actId="20577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48913760-2B4B-40AB-BAB1-5B833250FBCA}" dt="2025-06-09T08:02:05.648" v="0" actId="20577"/>
          <ac:spMkLst>
            <pc:docMk/>
            <pc:sldMk cId="0" sldId="256"/>
            <ac:spMk id="14" creationId="{A788A892-53E9-C1D1-8945-E37AAF27FEF5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1.821" v="1" actId="20577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48913760-2B4B-40AB-BAB1-5B833250FBCA}" dt="2025-06-09T08:02:21.821" v="1" actId="20577"/>
          <ac:spMkLst>
            <pc:docMk/>
            <pc:sldMk cId="0" sldId="257"/>
            <ac:spMk id="52" creationId="{F014F566-679C-7B70-6B31-31DC6A6FB9B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8.118" v="2" actId="20577"/>
        <pc:sldMkLst>
          <pc:docMk/>
          <pc:sldMk cId="0" sldId="258"/>
        </pc:sldMkLst>
        <pc:spChg chg="mod">
          <ac:chgData name="Bharath Raj" userId="S::bharathraj@devappsys.com::94d9684c-50e3-43a6-bc0f-7d1e94f3ae4e" providerId="AD" clId="Web-{48913760-2B4B-40AB-BAB1-5B833250FBCA}" dt="2025-06-09T08:02:28.118" v="2" actId="20577"/>
          <ac:spMkLst>
            <pc:docMk/>
            <pc:sldMk cId="0" sldId="258"/>
            <ac:spMk id="19" creationId="{9638AB3A-734E-28AD-106B-E6DC74EB212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09.525" v="5" actId="20577"/>
        <pc:sldMkLst>
          <pc:docMk/>
          <pc:sldMk cId="0" sldId="259"/>
        </pc:sldMkLst>
        <pc:spChg chg="mod">
          <ac:chgData name="Bharath Raj" userId="S::bharathraj@devappsys.com::94d9684c-50e3-43a6-bc0f-7d1e94f3ae4e" providerId="AD" clId="Web-{48913760-2B4B-40AB-BAB1-5B833250FBCA}" dt="2025-06-09T08:03:09.525" v="5" actId="20577"/>
          <ac:spMkLst>
            <pc:docMk/>
            <pc:sldMk cId="0" sldId="259"/>
            <ac:spMk id="3" creationId="{C597A9B1-90A9-775B-5F0B-8D62A6479A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44.369" v="9" actId="20577"/>
        <pc:sldMkLst>
          <pc:docMk/>
          <pc:sldMk cId="0" sldId="265"/>
        </pc:sldMkLst>
        <pc:spChg chg="mod">
          <ac:chgData name="Bharath Raj" userId="S::bharathraj@devappsys.com::94d9684c-50e3-43a6-bc0f-7d1e94f3ae4e" providerId="AD" clId="Web-{48913760-2B4B-40AB-BAB1-5B833250FBCA}" dt="2025-06-09T08:03:44.369" v="9" actId="20577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59.807" v="10" actId="20577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48913760-2B4B-40AB-BAB1-5B833250FBCA}" dt="2025-06-09T08:03:59.807" v="10" actId="20577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09.104" v="11" actId="20577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48913760-2B4B-40AB-BAB1-5B833250FBCA}" dt="2025-06-09T08:04:09.104" v="11" actId="20577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16.010" v="12" actId="20577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48913760-2B4B-40AB-BAB1-5B833250FBCA}" dt="2025-06-09T08:04:16.010" v="12" actId="20577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28.557" v="13" actId="20577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48913760-2B4B-40AB-BAB1-5B833250FBCA}" dt="2025-06-09T08:04:28.557" v="13" actId="20577"/>
          <ac:spMkLst>
            <pc:docMk/>
            <pc:sldMk cId="0" sldId="269"/>
            <ac:spMk id="8" creationId="{EE169540-353F-AA0D-CE5D-9D92894927AE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52.884" v="4" actId="20577"/>
        <pc:sldMkLst>
          <pc:docMk/>
          <pc:sldMk cId="2287379508" sldId="271"/>
        </pc:sldMkLst>
        <pc:spChg chg="mod">
          <ac:chgData name="Bharath Raj" userId="S::bharathraj@devappsys.com::94d9684c-50e3-43a6-bc0f-7d1e94f3ae4e" providerId="AD" clId="Web-{48913760-2B4B-40AB-BAB1-5B833250FBCA}" dt="2025-06-09T08:02:52.884" v="4" actId="20577"/>
          <ac:spMkLst>
            <pc:docMk/>
            <pc:sldMk cId="2287379508" sldId="271"/>
            <ac:spMk id="19" creationId="{A0FBD77A-4FC9-AF33-24F3-5E5B90BDC9D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18.790" v="6" actId="20577"/>
        <pc:sldMkLst>
          <pc:docMk/>
          <pc:sldMk cId="1378273258" sldId="272"/>
        </pc:sldMkLst>
        <pc:spChg chg="mod">
          <ac:chgData name="Bharath Raj" userId="S::bharathraj@devappsys.com::94d9684c-50e3-43a6-bc0f-7d1e94f3ae4e" providerId="AD" clId="Web-{48913760-2B4B-40AB-BAB1-5B833250FBCA}" dt="2025-06-09T08:03:18.790" v="6" actId="20577"/>
          <ac:spMkLst>
            <pc:docMk/>
            <pc:sldMk cId="1378273258" sldId="272"/>
            <ac:spMk id="3" creationId="{05E29320-7793-4496-040B-CE09BE6906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29.681" v="7" actId="20577"/>
        <pc:sldMkLst>
          <pc:docMk/>
          <pc:sldMk cId="3480894903" sldId="273"/>
        </pc:sldMkLst>
        <pc:spChg chg="mod">
          <ac:chgData name="Bharath Raj" userId="S::bharathraj@devappsys.com::94d9684c-50e3-43a6-bc0f-7d1e94f3ae4e" providerId="AD" clId="Web-{48913760-2B4B-40AB-BAB1-5B833250FBCA}" dt="2025-06-09T08:03:29.681" v="7" actId="20577"/>
          <ac:spMkLst>
            <pc:docMk/>
            <pc:sldMk cId="3480894903" sldId="273"/>
            <ac:spMk id="19" creationId="{2EFE2ECD-21FD-8EA8-38F2-18023478F72D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37.775" v="8" actId="20577"/>
        <pc:sldMkLst>
          <pc:docMk/>
          <pc:sldMk cId="4199602133" sldId="274"/>
        </pc:sldMkLst>
        <pc:spChg chg="mod">
          <ac:chgData name="Bharath Raj" userId="S::bharathraj@devappsys.com::94d9684c-50e3-43a6-bc0f-7d1e94f3ae4e" providerId="AD" clId="Web-{48913760-2B4B-40AB-BAB1-5B833250FBCA}" dt="2025-06-09T08:03:37.775" v="8" actId="20577"/>
          <ac:spMkLst>
            <pc:docMk/>
            <pc:sldMk cId="4199602133" sldId="274"/>
            <ac:spMk id="19" creationId="{E8F9574A-83CB-4373-715E-6E0E72CCE48A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34.477" v="3" actId="20577"/>
        <pc:sldMkLst>
          <pc:docMk/>
          <pc:sldMk cId="2783255690" sldId="275"/>
        </pc:sldMkLst>
        <pc:spChg chg="mod">
          <ac:chgData name="Bharath Raj" userId="S::bharathraj@devappsys.com::94d9684c-50e3-43a6-bc0f-7d1e94f3ae4e" providerId="AD" clId="Web-{48913760-2B4B-40AB-BAB1-5B833250FBCA}" dt="2025-06-09T08:02:34.477" v="3" actId="20577"/>
          <ac:spMkLst>
            <pc:docMk/>
            <pc:sldMk cId="2783255690" sldId="275"/>
            <ac:spMk id="19" creationId="{0B2C6E55-23D9-406D-BC3D-A2931A20BA10}"/>
          </ac:spMkLst>
        </pc:spChg>
      </pc:sld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Guest User" userId="S::urn:spo:tenantanon#efda937d-84e0-40c4-9af3-7c13939e1814::" providerId="AD" clId="Web-{1CD83F2A-5343-79CD-B045-87E6A60A27CD}"/>
    <pc:docChg chg="modSld">
      <pc:chgData name="Guest User" userId="S::urn:spo:tenantanon#efda937d-84e0-40c4-9af3-7c13939e1814::" providerId="AD" clId="Web-{1CD83F2A-5343-79CD-B045-87E6A60A27CD}" dt="2025-06-09T07:43:07.523" v="25"/>
      <pc:docMkLst>
        <pc:docMk/>
      </pc:docMkLst>
      <pc:sldChg chg="addSp delSp modSp">
        <pc:chgData name="Guest User" userId="S::urn:spo:tenantanon#efda937d-84e0-40c4-9af3-7c13939e1814::" providerId="AD" clId="Web-{1CD83F2A-5343-79CD-B045-87E6A60A27CD}" dt="2025-06-09T07:43:07.523" v="25"/>
        <pc:sldMkLst>
          <pc:docMk/>
          <pc:sldMk cId="0" sldId="265"/>
        </pc:sldMkLst>
        <pc:spChg chg="add del">
          <ac:chgData name="Guest User" userId="S::urn:spo:tenantanon#efda937d-84e0-40c4-9af3-7c13939e1814::" providerId="AD" clId="Web-{1CD83F2A-5343-79CD-B045-87E6A60A27CD}" dt="2025-06-09T07:43:07.523" v="2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1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2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3"/>
          <ac:spMkLst>
            <pc:docMk/>
            <pc:sldMk cId="0" sldId="265"/>
            <ac:spMk id="12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4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S::urn:spo:tenantanon#efda937d-84e0-40c4-9af3-7c13939e1814::" providerId="AD" clId="Web-{1CD83F2A-5343-79CD-B045-87E6A60A27CD}" dt="2025-06-09T07:43:06.945" v="19" actId="14100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882" v="17" actId="1076"/>
        <pc:sldMkLst>
          <pc:docMk/>
          <pc:sldMk cId="0" sldId="266"/>
        </pc:sldMkLst>
        <pc:spChg chg="mod">
          <ac:chgData name="Guest User" userId="S::urn:spo:tenantanon#efda937d-84e0-40c4-9af3-7c13939e1814::" providerId="AD" clId="Web-{1CD83F2A-5343-79CD-B045-87E6A60A27CD}" dt="2025-06-09T07:43:05.882" v="17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616" v="16" actId="1076"/>
        <pc:sldMkLst>
          <pc:docMk/>
          <pc:sldMk cId="0" sldId="267"/>
        </pc:sldMkLst>
        <pc:spChg chg="mod">
          <ac:chgData name="Guest User" userId="S::urn:spo:tenantanon#efda937d-84e0-40c4-9af3-7c13939e1814::" providerId="AD" clId="Web-{1CD83F2A-5343-79CD-B045-87E6A60A27CD}" dt="2025-06-09T07:43:05.616" v="16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538" v="15" actId="1076"/>
        <pc:sldMkLst>
          <pc:docMk/>
          <pc:sldMk cId="0" sldId="268"/>
        </pc:sldMkLst>
        <pc:spChg chg="mod">
          <ac:chgData name="Guest User" userId="S::urn:spo:tenantanon#efda937d-84e0-40c4-9af3-7c13939e1814::" providerId="AD" clId="Web-{1CD83F2A-5343-79CD-B045-87E6A60A27CD}" dt="2025-06-09T07:43:05.538" v="15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4.710" v="14" actId="1076"/>
        <pc:sldMkLst>
          <pc:docMk/>
          <pc:sldMk cId="0" sldId="269"/>
        </pc:sldMkLst>
        <pc:spChg chg="mod">
          <ac:chgData name="Guest User" userId="S::urn:spo:tenantanon#efda937d-84e0-40c4-9af3-7c13939e1814::" providerId="AD" clId="Web-{1CD83F2A-5343-79CD-B045-87E6A60A27CD}" dt="2025-06-09T07:43:04.710" v="14" actId="1076"/>
          <ac:spMkLst>
            <pc:docMk/>
            <pc:sldMk cId="0" sldId="269"/>
            <ac:spMk id="8" creationId="{EE169540-353F-AA0D-CE5D-9D92894927AE}"/>
          </ac:spMkLst>
        </pc:spChg>
      </pc:sldChg>
    </pc:docChg>
  </pc:docChgLst>
  <pc:docChgLst>
    <pc:chgData name="Bharath Raj" userId="S::bharathraj@devappsys.com::94d9684c-50e3-43a6-bc0f-7d1e94f3ae4e" providerId="AD" clId="Web-{8F40484E-1A4A-44C5-A2E8-9A80D22FC275}"/>
    <pc:docChg chg="modSld">
      <pc:chgData name="Bharath Raj" userId="S::bharathraj@devappsys.com::94d9684c-50e3-43a6-bc0f-7d1e94f3ae4e" providerId="AD" clId="Web-{8F40484E-1A4A-44C5-A2E8-9A80D22FC275}" dt="2025-06-09T08:00:11.230" v="70" actId="1076"/>
      <pc:docMkLst>
        <pc:docMk/>
      </pc:docMkLst>
      <pc:sldChg chg="addSp delSp modSp">
        <pc:chgData name="Bharath Raj" userId="S::bharathraj@devappsys.com::94d9684c-50e3-43a6-bc0f-7d1e94f3ae4e" providerId="AD" clId="Web-{8F40484E-1A4A-44C5-A2E8-9A80D22FC275}" dt="2025-06-09T08:00:01.683" v="69" actId="1076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8F40484E-1A4A-44C5-A2E8-9A80D22FC275}" dt="2025-06-09T07:57:00.227" v="61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harath Raj" userId="S::bharathraj@devappsys.com::94d9684c-50e3-43a6-bc0f-7d1e94f3ae4e" providerId="AD" clId="Web-{8F40484E-1A4A-44C5-A2E8-9A80D22FC275}" dt="2025-06-09T07:47:39.032" v="19"/>
          <ac:spMkLst>
            <pc:docMk/>
            <pc:sldMk cId="0" sldId="256"/>
            <ac:spMk id="5" creationId="{B5C836ED-AF4C-772A-E7AC-7D587F4BC8E9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286" v="58" actId="20577"/>
          <ac:spMkLst>
            <pc:docMk/>
            <pc:sldMk cId="0" sldId="256"/>
            <ac:spMk id="6" creationId="{3C32635B-2E2B-E675-29F7-DBC685B729AC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786" v="60" actId="20577"/>
          <ac:spMkLst>
            <pc:docMk/>
            <pc:sldMk cId="0" sldId="256"/>
            <ac:spMk id="9" creationId="{EE1018EE-FD30-B31C-930A-89E29CBD7D15}"/>
          </ac:spMkLst>
        </pc:spChg>
        <pc:spChg chg="mod">
          <ac:chgData name="Bharath Raj" userId="S::bharathraj@devappsys.com::94d9684c-50e3-43a6-bc0f-7d1e94f3ae4e" providerId="AD" clId="Web-{8F40484E-1A4A-44C5-A2E8-9A80D22FC275}" dt="2025-06-09T07:49:51.455" v="2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01.683" v="69" actId="1076"/>
          <ac:spMkLst>
            <pc:docMk/>
            <pc:sldMk cId="0" sldId="256"/>
            <ac:spMk id="14" creationId="{A788A892-53E9-C1D1-8945-E37AAF27FEF5}"/>
          </ac:spMkLst>
        </pc:spChg>
        <pc:grpChg chg="mod">
          <ac:chgData name="Bharath Raj" userId="S::bharathraj@devappsys.com::94d9684c-50e3-43a6-bc0f-7d1e94f3ae4e" providerId="AD" clId="Web-{8F40484E-1A4A-44C5-A2E8-9A80D22FC275}" dt="2025-06-09T07:57:16.977" v="6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">
        <pc:chgData name="Bharath Raj" userId="S::bharathraj@devappsys.com::94d9684c-50e3-43a6-bc0f-7d1e94f3ae4e" providerId="AD" clId="Web-{8F40484E-1A4A-44C5-A2E8-9A80D22FC275}" dt="2025-06-09T08:00:11.230" v="70" actId="1076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8F40484E-1A4A-44C5-A2E8-9A80D22FC275}" dt="2025-06-09T07:58:10.134" v="6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11.230" v="70" actId="1076"/>
          <ac:spMkLst>
            <pc:docMk/>
            <pc:sldMk cId="0" sldId="257"/>
            <ac:spMk id="52" creationId="{F014F566-679C-7B70-6B31-31DC6A6FB9B1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42.060" v="3"/>
        <pc:sldMkLst>
          <pc:docMk/>
          <pc:sldMk cId="0" sldId="259"/>
        </pc:sldMkLst>
        <pc:spChg chg="add">
          <ac:chgData name="Bharath Raj" userId="S::bharathraj@devappsys.com::94d9684c-50e3-43a6-bc0f-7d1e94f3ae4e" providerId="AD" clId="Web-{8F40484E-1A4A-44C5-A2E8-9A80D22FC275}" dt="2025-06-09T07:44:42.060" v="3"/>
          <ac:spMkLst>
            <pc:docMk/>
            <pc:sldMk cId="0" sldId="259"/>
            <ac:spMk id="3" creationId="{C597A9B1-90A9-775B-5F0B-8D62A6479A8C}"/>
          </ac:spMkLst>
        </pc:spChg>
      </pc:sldChg>
      <pc:sldChg chg="delSp modSp">
        <pc:chgData name="Bharath Raj" userId="S::bharathraj@devappsys.com::94d9684c-50e3-43a6-bc0f-7d1e94f3ae4e" providerId="AD" clId="Web-{8F40484E-1A4A-44C5-A2E8-9A80D22FC275}" dt="2025-06-09T07:45:08.514" v="10" actId="1076"/>
        <pc:sldMkLst>
          <pc:docMk/>
          <pc:sldMk cId="0" sldId="265"/>
        </pc:sldMkLst>
        <pc:spChg chg="del">
          <ac:chgData name="Bharath Raj" userId="S::bharathraj@devappsys.com::94d9684c-50e3-43a6-bc0f-7d1e94f3ae4e" providerId="AD" clId="Web-{8F40484E-1A4A-44C5-A2E8-9A80D22FC275}" dt="2025-06-09T07:44:59.889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57" v="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11" v="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64" v="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17" v="5"/>
          <ac:spMkLst>
            <pc:docMk/>
            <pc:sldMk cId="0" sldId="265"/>
            <ac:spMk id="13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654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7:45:08.514" v="10" actId="1076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18.108" v="11" actId="1076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8F40484E-1A4A-44C5-A2E8-9A80D22FC275}" dt="2025-06-09T07:45:18.108" v="11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28.577" v="12" actId="1076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8F40484E-1A4A-44C5-A2E8-9A80D22FC275}" dt="2025-06-09T07:45:28.577" v="12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39.467" v="13" actId="1076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8F40484E-1A4A-44C5-A2E8-9A80D22FC275}" dt="2025-06-09T07:45:39.467" v="13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59:42.839" v="68" actId="1076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8F40484E-1A4A-44C5-A2E8-9A80D22FC275}" dt="2025-06-09T07:59:42.839" v="68" actId="1076"/>
          <ac:spMkLst>
            <pc:docMk/>
            <pc:sldMk cId="0" sldId="269"/>
            <ac:spMk id="8" creationId="{EE169540-353F-AA0D-CE5D-9D92894927AE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36.420" v="2"/>
        <pc:sldMkLst>
          <pc:docMk/>
          <pc:sldMk cId="1378273258" sldId="272"/>
        </pc:sldMkLst>
        <pc:spChg chg="add">
          <ac:chgData name="Bharath Raj" userId="S::bharathraj@devappsys.com::94d9684c-50e3-43a6-bc0f-7d1e94f3ae4e" providerId="AD" clId="Web-{8F40484E-1A4A-44C5-A2E8-9A80D22FC275}" dt="2025-06-09T07:44:36.420" v="2"/>
          <ac:spMkLst>
            <pc:docMk/>
            <pc:sldMk cId="1378273258" sldId="272"/>
            <ac:spMk id="3" creationId="{05E29320-7793-4496-040B-CE09BE69068C}"/>
          </ac:spMkLst>
        </pc:spChg>
      </pc:sldChg>
      <pc:sldChg chg="addSp modSp">
        <pc:chgData name="Bharath Raj" userId="S::bharathraj@devappsys.com::94d9684c-50e3-43a6-bc0f-7d1e94f3ae4e" providerId="AD" clId="Web-{8F40484E-1A4A-44C5-A2E8-9A80D22FC275}" dt="2025-06-09T07:58:37.197" v="67" actId="1076"/>
        <pc:sldMkLst>
          <pc:docMk/>
          <pc:sldMk cId="2783255690" sldId="275"/>
        </pc:sldMkLst>
        <pc:spChg chg="add mod">
          <ac:chgData name="Bharath Raj" userId="S::bharathraj@devappsys.com::94d9684c-50e3-43a6-bc0f-7d1e94f3ae4e" providerId="AD" clId="Web-{8F40484E-1A4A-44C5-A2E8-9A80D22FC275}" dt="2025-06-09T07:58:37.197" v="67" actId="1076"/>
          <ac:spMkLst>
            <pc:docMk/>
            <pc:sldMk cId="2783255690" sldId="275"/>
            <ac:spMk id="11" creationId="{E90389BD-79FA-1FE3-B589-E33CEC2463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fundamentals/dependency-injection#service-lifetimes" TargetMode="External"/><Relationship Id="rId4" Type="http://schemas.openxmlformats.org/officeDocument/2006/relationships/hyperlink" Target="https://learn.microsoft.com/en-us/aspnet/core/fundamentals/dependency-injection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4622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latin typeface="+mj-lt"/>
                  <a:ea typeface="+mn-lt"/>
                  <a:cs typeface="+mn-lt"/>
                  <a:sym typeface="Heebo Black"/>
                </a:rPr>
                <a:t>Dependency Injection and Configuration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IN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Dependency Injection (DI) Basics 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Configuration in .NET core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Working with appsettings.json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5656689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 configuration  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656689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3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5099" y="7224239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68289" y="2040200"/>
            <a:ext cx="16548188" cy="7560531"/>
            <a:chOff x="-2527455" y="-3462429"/>
            <a:chExt cx="20492257" cy="10080707"/>
          </a:xfrm>
        </p:grpSpPr>
        <p:sp>
          <p:nvSpPr>
            <p:cNvPr id="5" name="TextBox 5"/>
            <p:cNvSpPr txBox="1"/>
            <p:nvPr/>
          </p:nvSpPr>
          <p:spPr>
            <a:xfrm>
              <a:off x="-2527455" y="-3462429"/>
              <a:ext cx="20492257" cy="100807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  <a:ea typeface="+mn-lt"/>
                  <a:cs typeface="+mn-lt"/>
                </a:rPr>
                <a:t>Dependency Injection </a:t>
              </a:r>
              <a:r>
                <a:rPr lang="en-US" sz="4000" b="1" dirty="0">
                  <a:latin typeface="+mj-lt"/>
                  <a:ea typeface="+mn-lt"/>
                  <a:cs typeface="+mn-lt"/>
                </a:rPr>
                <a:t>: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b="1" dirty="0">
                  <a:latin typeface="+mj-lt"/>
                </a:rPr>
                <a:t>Dependency Injection (DI)</a:t>
              </a:r>
              <a:r>
                <a:rPr lang="en-US" altLang="en-US" sz="4000" dirty="0">
                  <a:latin typeface="+mj-lt"/>
                </a:rPr>
                <a:t> is a </a:t>
              </a:r>
              <a:r>
                <a:rPr lang="en-US" altLang="en-US" sz="4000" b="1" dirty="0">
                  <a:latin typeface="+mj-lt"/>
                </a:rPr>
                <a:t>design pattern</a:t>
              </a:r>
              <a:r>
                <a:rPr lang="en-US" altLang="en-US" sz="4000" dirty="0">
                  <a:latin typeface="+mj-lt"/>
                </a:rPr>
                <a:t> used to supply a class with its </a:t>
              </a:r>
              <a:r>
                <a:rPr lang="en-US" altLang="en-US" sz="4000" b="1" dirty="0">
                  <a:latin typeface="+mj-lt"/>
                </a:rPr>
                <a:t>required dependencies</a:t>
              </a:r>
              <a:r>
                <a:rPr lang="en-US" altLang="en-US" sz="4000" dirty="0">
                  <a:latin typeface="+mj-lt"/>
                </a:rPr>
                <a:t> from the outside rather than creating them internally.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In simpler terms: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latin typeface="+mj-lt"/>
                </a:rPr>
                <a:t>"</a:t>
              </a:r>
              <a:r>
                <a:rPr lang="en-US" altLang="en-US" sz="4000" b="1" u="sng" dirty="0">
                  <a:latin typeface="+mj-lt"/>
                </a:rPr>
                <a:t>Instead of a class creating its own tools, they're handed to it when needed</a:t>
              </a:r>
              <a:r>
                <a:rPr lang="en-US" altLang="en-US" sz="4000" b="1" dirty="0">
                  <a:latin typeface="+mj-lt"/>
                </a:rPr>
                <a:t>.“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40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Dependency Injection(DI)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07BFA-72E5-26C4-A976-117A845B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 descr="Dependency Injection(DI) Design Pattern - GeeksforGeeks">
            <a:extLst>
              <a:ext uri="{FF2B5EF4-FFF2-40B4-BE49-F238E27FC236}">
                <a16:creationId xmlns:a16="http://schemas.microsoft.com/office/drawing/2014/main" id="{561594FB-41B6-79C2-96ED-8F0504BCF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968" y="1251284"/>
            <a:ext cx="15641053" cy="8349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A76264-75A5-C4D9-6611-F4E04A2B4416}"/>
              </a:ext>
            </a:extLst>
          </p:cNvPr>
          <p:cNvSpPr txBox="1"/>
          <p:nvPr/>
        </p:nvSpPr>
        <p:spPr>
          <a:xfrm>
            <a:off x="15448547" y="8951494"/>
            <a:ext cx="1010653" cy="649706"/>
          </a:xfrm>
          <a:prstGeom prst="rect">
            <a:avLst/>
          </a:prstGeom>
          <a:solidFill>
            <a:srgbClr val="DDE6E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56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F332-729A-ACF4-60AB-AFE9D68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79862-9887-46DB-31A3-560084163F8D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8A6522-B362-568A-8206-71B10B28ED4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82A940-42FA-1D13-573A-712683F25E3F}"/>
              </a:ext>
            </a:extLst>
          </p:cNvPr>
          <p:cNvGrpSpPr/>
          <p:nvPr/>
        </p:nvGrpSpPr>
        <p:grpSpPr>
          <a:xfrm>
            <a:off x="1360608" y="1266477"/>
            <a:ext cx="16109708" cy="9233297"/>
            <a:chOff x="-2041631" y="-4494059"/>
            <a:chExt cx="19949270" cy="1231105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AAB0A5-E9BF-0473-A0DC-7F639E42DD17}"/>
                </a:ext>
              </a:extLst>
            </p:cNvPr>
            <p:cNvSpPr txBox="1"/>
            <p:nvPr/>
          </p:nvSpPr>
          <p:spPr>
            <a:xfrm>
              <a:off x="-2041631" y="-4494059"/>
              <a:ext cx="19949270" cy="123110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r>
                <a:rPr 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Why is DI Important?</a:t>
              </a:r>
            </a:p>
            <a:p>
              <a:r>
                <a:rPr lang="en-US" sz="4000" dirty="0">
                  <a:latin typeface="+mj-lt"/>
                </a:rPr>
                <a:t>	Hard-coding dependencies makes code:</a:t>
              </a:r>
            </a:p>
            <a:p>
              <a:pPr marL="2686050" lvl="4" indent="-857250">
                <a:buFont typeface="+mj-lt"/>
                <a:buAutoNum type="romanLcPeriod"/>
              </a:pPr>
              <a:r>
                <a:rPr lang="en-US" sz="4000" dirty="0">
                  <a:latin typeface="+mj-lt"/>
                </a:rPr>
                <a:t>Rigid</a:t>
              </a:r>
            </a:p>
            <a:p>
              <a:pPr marL="2686050" lvl="4" indent="-857250">
                <a:buFont typeface="+mj-lt"/>
                <a:buAutoNum type="romanLcPeriod"/>
              </a:pPr>
              <a:r>
                <a:rPr lang="en-US" sz="4000" dirty="0">
                  <a:latin typeface="+mj-lt"/>
                </a:rPr>
                <a:t>Hard to test</a:t>
              </a:r>
            </a:p>
            <a:p>
              <a:pPr marL="2686050" lvl="4" indent="-857250">
                <a:buFont typeface="+mj-lt"/>
                <a:buAutoNum type="romanLcPeriod"/>
              </a:pPr>
              <a:r>
                <a:rPr lang="en-US" sz="4000" dirty="0">
                  <a:latin typeface="+mj-lt"/>
                </a:rPr>
                <a:t>Difficult to maintain</a:t>
              </a:r>
            </a:p>
            <a:p>
              <a:r>
                <a:rPr lang="en-US" sz="4000" dirty="0">
                  <a:latin typeface="+mj-lt"/>
                </a:rPr>
                <a:t>	DI promotes </a:t>
              </a:r>
              <a:r>
                <a:rPr lang="en-US" sz="4000" b="1" dirty="0">
                  <a:latin typeface="+mj-lt"/>
                </a:rPr>
                <a:t>loose coupling</a:t>
              </a:r>
              <a:r>
                <a:rPr lang="en-US" sz="4000" dirty="0">
                  <a:latin typeface="+mj-lt"/>
                </a:rPr>
                <a:t> and </a:t>
              </a:r>
              <a:r>
                <a:rPr lang="en-US" sz="4000" b="1" dirty="0">
                  <a:latin typeface="+mj-lt"/>
                </a:rPr>
                <a:t>code reuse</a:t>
              </a:r>
              <a:endParaRPr lang="en-US" sz="4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Common Real-Life Analogy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dirty="0">
                  <a:latin typeface="+mj-lt"/>
                </a:rPr>
                <a:t>"A coffee machine shouldn't grow its own beans — it should be </a:t>
              </a:r>
              <a:r>
                <a:rPr lang="en-US" altLang="en-US" sz="4000" i="1" dirty="0">
                  <a:latin typeface="+mj-lt"/>
                </a:rPr>
                <a:t>given</a:t>
              </a:r>
              <a:r>
                <a:rPr lang="en-US" altLang="en-US" sz="4000" dirty="0">
                  <a:latin typeface="+mj-lt"/>
                </a:rPr>
                <a:t> beans to work with."</a:t>
              </a:r>
              <a:br>
                <a:rPr lang="en-US" altLang="en-US" sz="4000" dirty="0">
                  <a:latin typeface="+mj-lt"/>
                </a:rPr>
              </a:br>
              <a:r>
                <a:rPr lang="en-US" altLang="en-US" sz="4000" dirty="0">
                  <a:latin typeface="+mj-lt"/>
                </a:rPr>
                <a:t>→ The beans = </a:t>
              </a:r>
              <a:r>
                <a:rPr lang="en-US" altLang="en-US" sz="4000" b="1" dirty="0">
                  <a:latin typeface="+mj-lt"/>
                </a:rPr>
                <a:t>dependency</a:t>
              </a:r>
              <a:br>
                <a:rPr lang="en-US" altLang="en-US" sz="4000" dirty="0">
                  <a:latin typeface="+mj-lt"/>
                </a:rPr>
              </a:br>
              <a:r>
                <a:rPr lang="en-US" altLang="en-US" sz="4000" dirty="0">
                  <a:latin typeface="+mj-lt"/>
                </a:rPr>
                <a:t>→ Giving them to the machine = </a:t>
              </a:r>
              <a:r>
                <a:rPr lang="en-US" altLang="en-US" sz="4000" b="1" dirty="0">
                  <a:latin typeface="+mj-lt"/>
                </a:rPr>
                <a:t>injection</a:t>
              </a:r>
              <a:endParaRPr lang="en-US" altLang="en-US" sz="4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E5CAE2-BC53-0B9A-90BC-7BF1476FD61F}"/>
                </a:ext>
              </a:extLst>
            </p:cNvPr>
            <p:cNvSpPr txBox="1"/>
            <p:nvPr/>
          </p:nvSpPr>
          <p:spPr>
            <a:xfrm>
              <a:off x="0" y="-9524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CB846C-9A71-2ECA-1025-61F3DC1C7A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ADAF42-87EB-2B1E-A460-3E2EA113F1A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C49FF7-2D43-D882-1DE8-8CA8D4C15152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Dependency Injection(DI)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8A67F4-F85C-64E2-B2EE-FA56246C81F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0F73F07-3384-2C3D-7DF9-40900911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F1A1C4-6972-9C18-0EBC-D064B9002555}"/>
              </a:ext>
            </a:extLst>
          </p:cNvPr>
          <p:cNvSpPr/>
          <p:nvPr/>
        </p:nvSpPr>
        <p:spPr>
          <a:xfrm>
            <a:off x="12560244" y="2372821"/>
            <a:ext cx="4845496" cy="4106241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4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139D-249C-9171-9CDB-BD5CDA0E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6DC434-1095-592C-1CFE-B7567CED6BF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2044EF-831A-FDB7-005C-AEA43CEBDF1A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296A83-D9CA-3298-A45B-491149602AEC}"/>
              </a:ext>
            </a:extLst>
          </p:cNvPr>
          <p:cNvGrpSpPr/>
          <p:nvPr/>
        </p:nvGrpSpPr>
        <p:grpSpPr>
          <a:xfrm>
            <a:off x="217183" y="1266477"/>
            <a:ext cx="17253133" cy="8617744"/>
            <a:chOff x="-3457578" y="-4494059"/>
            <a:chExt cx="21365217" cy="114903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3AD09A-633A-D64F-341E-AF0A453010D1}"/>
                </a:ext>
              </a:extLst>
            </p:cNvPr>
            <p:cNvSpPr txBox="1"/>
            <p:nvPr/>
          </p:nvSpPr>
          <p:spPr>
            <a:xfrm>
              <a:off x="-3457578" y="-4494059"/>
              <a:ext cx="21365217" cy="114903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r>
                <a:rPr lang="en-US" sz="4000" b="1" dirty="0">
                  <a:solidFill>
                    <a:srgbClr val="FF0000"/>
                  </a:solidFill>
                  <a:latin typeface="+mj-lt"/>
                </a:rPr>
                <a:t>  </a:t>
              </a:r>
              <a:r>
                <a:rPr lang="en-IN" sz="4000" dirty="0">
                  <a:solidFill>
                    <a:srgbClr val="FF0000"/>
                  </a:solidFill>
                </a:rPr>
                <a:t>🗝️ </a:t>
              </a:r>
              <a:r>
                <a:rPr lang="en-US" sz="4000" b="1" dirty="0">
                  <a:solidFill>
                    <a:srgbClr val="FF0000"/>
                  </a:solidFill>
                  <a:latin typeface="+mj-lt"/>
                </a:rPr>
                <a:t>Key Benefits of Dependency Injection</a:t>
              </a: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CBBCDE-116A-DBCD-9AB8-5194800160B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5EBF85D-514F-60F7-4E0A-8B87C7C2965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600208-35D9-4AA5-130B-BF2ED408780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17F7E4-E682-2594-B592-905034B9C922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Dependency Injection(DI)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E478E87-0041-BBE2-D5E0-4A5D0C91B31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916841-88F5-7DD0-9DD2-D77F7057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31B7CC9-9461-68DD-8C70-4C0D9DB4C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85266"/>
              </p:ext>
            </p:extLst>
          </p:nvPr>
        </p:nvGraphicFramePr>
        <p:xfrm>
          <a:off x="1371600" y="2856228"/>
          <a:ext cx="15207916" cy="6425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05088">
                  <a:extLst>
                    <a:ext uri="{9D8B030D-6E8A-4147-A177-3AD203B41FA5}">
                      <a16:colId xmlns:a16="http://schemas.microsoft.com/office/drawing/2014/main" val="1165587836"/>
                    </a:ext>
                  </a:extLst>
                </a:gridCol>
                <a:gridCol w="10302828">
                  <a:extLst>
                    <a:ext uri="{9D8B030D-6E8A-4147-A177-3AD203B41FA5}">
                      <a16:colId xmlns:a16="http://schemas.microsoft.com/office/drawing/2014/main" val="2693069420"/>
                    </a:ext>
                  </a:extLst>
                </a:gridCol>
              </a:tblGrid>
              <a:tr h="1285136">
                <a:tc>
                  <a:txBody>
                    <a:bodyPr/>
                    <a:lstStyle/>
                    <a:p>
                      <a:r>
                        <a:rPr lang="en-IN" sz="3200" dirty="0"/>
                        <a:t>Benefit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824919"/>
                  </a:ext>
                </a:extLst>
              </a:tr>
              <a:tr h="1285136">
                <a:tc>
                  <a:txBody>
                    <a:bodyPr/>
                    <a:lstStyle/>
                    <a:p>
                      <a:r>
                        <a:rPr lang="en-IN" sz="3200" b="1" dirty="0"/>
                        <a:t>Testability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Easier to inject </a:t>
                      </a:r>
                      <a:r>
                        <a:rPr lang="en-US" sz="3200" b="1"/>
                        <a:t>mock services</a:t>
                      </a:r>
                      <a:r>
                        <a:rPr lang="en-US" sz="3200"/>
                        <a:t> during unit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354016"/>
                  </a:ext>
                </a:extLst>
              </a:tr>
              <a:tr h="1285136">
                <a:tc>
                  <a:txBody>
                    <a:bodyPr/>
                    <a:lstStyle/>
                    <a:p>
                      <a:r>
                        <a:rPr lang="en-IN" sz="3200" b="1" dirty="0"/>
                        <a:t> Decoupling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Reduces tight connection between classes and their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492498"/>
                  </a:ext>
                </a:extLst>
              </a:tr>
              <a:tr h="1285136">
                <a:tc>
                  <a:txBody>
                    <a:bodyPr/>
                    <a:lstStyle/>
                    <a:p>
                      <a:r>
                        <a:rPr lang="en-IN" sz="3200" b="1" dirty="0"/>
                        <a:t> Maintainability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Easier to swap or upgrade components without changing core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62626"/>
                  </a:ext>
                </a:extLst>
              </a:tr>
              <a:tr h="1285136">
                <a:tc>
                  <a:txBody>
                    <a:bodyPr/>
                    <a:lstStyle/>
                    <a:p>
                      <a:r>
                        <a:rPr lang="en-IN" sz="3200" b="1" dirty="0"/>
                        <a:t> Reusability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Services can be reused across multiple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9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27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127959" y="1956196"/>
            <a:ext cx="16705847" cy="7845225"/>
            <a:chOff x="-2396306" y="-3574434"/>
            <a:chExt cx="22274464" cy="1046030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2396306" y="-3574434"/>
              <a:ext cx="22274464" cy="104603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Built-in DI Container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4000" dirty="0">
                  <a:latin typeface="+mj-lt"/>
                </a:rPr>
                <a:t>Lightweight, integrated in ASP.NET Core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romanLcPeriod"/>
              </a:pPr>
              <a:r>
                <a:rPr lang="en-US" altLang="en-US" sz="4000" dirty="0">
                  <a:latin typeface="+mj-lt"/>
                </a:rPr>
                <a:t>Register services in Program.cs or Startup.cs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1200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1200" dirty="0">
                <a:latin typeface="+mj-lt"/>
              </a:endParaRPr>
            </a:p>
            <a:p>
              <a:pPr marL="571500" lvl="0" indent="-5715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Service Lifetimes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40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40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40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40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1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DI in 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224A2E-20D3-B711-4A1C-53A3DF476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830580"/>
              </p:ext>
            </p:extLst>
          </p:nvPr>
        </p:nvGraphicFramePr>
        <p:xfrm>
          <a:off x="1477831" y="5937218"/>
          <a:ext cx="15569478" cy="393165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189826">
                  <a:extLst>
                    <a:ext uri="{9D8B030D-6E8A-4147-A177-3AD203B41FA5}">
                      <a16:colId xmlns:a16="http://schemas.microsoft.com/office/drawing/2014/main" val="3353541368"/>
                    </a:ext>
                  </a:extLst>
                </a:gridCol>
                <a:gridCol w="5189826">
                  <a:extLst>
                    <a:ext uri="{9D8B030D-6E8A-4147-A177-3AD203B41FA5}">
                      <a16:colId xmlns:a16="http://schemas.microsoft.com/office/drawing/2014/main" val="3768069117"/>
                    </a:ext>
                  </a:extLst>
                </a:gridCol>
                <a:gridCol w="5189826">
                  <a:extLst>
                    <a:ext uri="{9D8B030D-6E8A-4147-A177-3AD203B41FA5}">
                      <a16:colId xmlns:a16="http://schemas.microsoft.com/office/drawing/2014/main" val="4273185700"/>
                    </a:ext>
                  </a:extLst>
                </a:gridCol>
              </a:tblGrid>
              <a:tr h="731250">
                <a:tc>
                  <a:txBody>
                    <a:bodyPr/>
                    <a:lstStyle/>
                    <a:p>
                      <a:r>
                        <a:rPr lang="en-IN" sz="3200" dirty="0"/>
                        <a:t>Lifetime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Use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296866"/>
                  </a:ext>
                </a:extLst>
              </a:tr>
              <a:tr h="1016090">
                <a:tc>
                  <a:txBody>
                    <a:bodyPr/>
                    <a:lstStyle/>
                    <a:p>
                      <a:r>
                        <a:rPr lang="en-IN" sz="3200" b="1" dirty="0"/>
                        <a:t>Transient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New instance every time requested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Stateless, lightweight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76296"/>
                  </a:ext>
                </a:extLst>
              </a:tr>
              <a:tr h="1016090">
                <a:tc>
                  <a:txBody>
                    <a:bodyPr/>
                    <a:lstStyle/>
                    <a:p>
                      <a:r>
                        <a:rPr lang="en-IN" sz="3200" b="1" dirty="0"/>
                        <a:t>Scoped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One instance per HTTP request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Share data during request lifecycle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801682"/>
                  </a:ext>
                </a:extLst>
              </a:tr>
              <a:tr h="1016090">
                <a:tc>
                  <a:txBody>
                    <a:bodyPr/>
                    <a:lstStyle/>
                    <a:p>
                      <a:r>
                        <a:rPr lang="en-IN" sz="3200" b="1" dirty="0"/>
                        <a:t>Singleton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Single instance for app lifetime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Shared resources ,caches, configs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53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6F9-75B8-AD64-9ECD-353BE30B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6C2582-60F8-0D59-6694-5E90FBAD864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447D6D-45D9-16A5-652A-9F3F94620A4D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AD73123-4691-C9FE-086B-993944F4BE35}"/>
              </a:ext>
            </a:extLst>
          </p:cNvPr>
          <p:cNvGrpSpPr/>
          <p:nvPr/>
        </p:nvGrpSpPr>
        <p:grpSpPr>
          <a:xfrm>
            <a:off x="1477831" y="2042791"/>
            <a:ext cx="15569479" cy="9587881"/>
            <a:chOff x="-1647157" y="-3484505"/>
            <a:chExt cx="20759307" cy="154818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E8D430-D661-9232-3433-7D9D1D361DE0}"/>
                </a:ext>
              </a:extLst>
            </p:cNvPr>
            <p:cNvSpPr txBox="1"/>
            <p:nvPr/>
          </p:nvSpPr>
          <p:spPr>
            <a:xfrm>
              <a:off x="-1647157" y="-3484505"/>
              <a:ext cx="20759307" cy="154818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485900" lvl="2" indent="-5715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  <a:ea typeface="+mn-lt"/>
                  <a:cs typeface="+mn-lt"/>
                </a:rPr>
                <a:t>Syntax Examples :</a:t>
              </a:r>
            </a:p>
            <a:p>
              <a:pPr lvl="2" algn="just">
                <a:lnSpc>
                  <a:spcPct val="150000"/>
                </a:lnSpc>
              </a:pPr>
              <a:endParaRPr lang="en-GB" sz="3200" b="1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Why Choose the Right Lifetime?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>
                  <a:latin typeface="+mj-lt"/>
                </a:rPr>
                <a:t>Performance:</a:t>
              </a:r>
              <a:r>
                <a:rPr lang="en-US" sz="3200" dirty="0">
                  <a:latin typeface="+mj-lt"/>
                </a:rPr>
                <a:t> Avoid unnecessary object creation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>
                  <a:latin typeface="+mj-lt"/>
                </a:rPr>
                <a:t>Data Consistency:</a:t>
              </a:r>
              <a:r>
                <a:rPr lang="en-US" sz="3200" dirty="0">
                  <a:latin typeface="+mj-lt"/>
                </a:rPr>
                <a:t> Scoped shares data during a request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>
                  <a:latin typeface="+mj-lt"/>
                </a:rPr>
                <a:t>Thread Safety:</a:t>
              </a:r>
              <a:r>
                <a:rPr lang="en-US" sz="3200" dirty="0">
                  <a:latin typeface="+mj-lt"/>
                </a:rPr>
                <a:t> Singletons must be thread-safe</a:t>
              </a: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2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98C48D-A36C-F3A4-D0A1-0B935EB8F101}"/>
                </a:ext>
              </a:extLst>
            </p:cNvPr>
            <p:cNvSpPr txBox="1"/>
            <p:nvPr/>
          </p:nvSpPr>
          <p:spPr>
            <a:xfrm>
              <a:off x="0" y="-9526"/>
              <a:ext cx="15443231" cy="750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C3080C1-FD97-469A-7835-AF63404B8B2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94161C-3012-3A80-74BF-B6797312A72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46525D-5E26-11C9-9D29-B5AE75CAE18A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DI in 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A5E8F38-E6F6-7F25-B10D-A85F3134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B6F9D-1AEB-2FEE-B402-4F1EA702A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404" y="3168406"/>
            <a:ext cx="8352009" cy="216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9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613277" y="1654736"/>
            <a:ext cx="14656952" cy="8734698"/>
            <a:chOff x="-700116" y="-3720476"/>
            <a:chExt cx="19542604" cy="1164625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700116" y="-3720476"/>
              <a:ext cx="19542604" cy="109782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 algn="just">
                <a:lnSpc>
                  <a:spcPct val="150000"/>
                </a:lnSpc>
              </a:pPr>
              <a:r>
                <a:rPr lang="en-IN" sz="40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Constructor Injection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Services are provided to a class </a:t>
              </a:r>
              <a:r>
                <a:rPr lang="en-US" altLang="en-US" sz="3200" b="1" dirty="0">
                  <a:latin typeface="+mj-lt"/>
                </a:rPr>
                <a:t>through its constructor parameters</a:t>
              </a:r>
              <a:r>
                <a:rPr lang="en-US" altLang="en-US" sz="3200" dirty="0">
                  <a:latin typeface="+mj-lt"/>
                </a:rPr>
                <a:t>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The DI container automatically </a:t>
              </a:r>
              <a:r>
                <a:rPr lang="en-US" altLang="en-US" sz="3200" b="1" dirty="0">
                  <a:latin typeface="+mj-lt"/>
                </a:rPr>
                <a:t>injects required dependencies</a:t>
              </a:r>
              <a:r>
                <a:rPr lang="en-US" altLang="en-US" sz="3200" dirty="0">
                  <a:latin typeface="+mj-lt"/>
                </a:rPr>
                <a:t> when creating instances.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Promotes </a:t>
              </a:r>
              <a:r>
                <a:rPr lang="en-US" altLang="en-US" sz="3200" b="1" dirty="0">
                  <a:latin typeface="+mj-lt"/>
                </a:rPr>
                <a:t>clear dependencies</a:t>
              </a:r>
              <a:r>
                <a:rPr lang="en-US" altLang="en-US" sz="3200" dirty="0">
                  <a:latin typeface="+mj-lt"/>
                </a:rPr>
                <a:t> and </a:t>
              </a:r>
              <a:r>
                <a:rPr lang="en-US" altLang="en-US" sz="3200" b="1" dirty="0">
                  <a:latin typeface="+mj-lt"/>
                </a:rPr>
                <a:t>easier testing</a:t>
              </a:r>
              <a:r>
                <a:rPr lang="en-US" altLang="en-US" sz="3200" dirty="0"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Constructor Injection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073F94-BF86-345A-33C7-DFA27E9E4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831" y="5813627"/>
            <a:ext cx="6846278" cy="353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3"/>
            <a:ext cx="15781469" cy="7995650"/>
            <a:chOff x="-1929810" y="-3484505"/>
            <a:chExt cx="21041960" cy="1066086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106608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500" b="1" dirty="0">
                  <a:latin typeface="+mj-lt"/>
                </a:rPr>
                <a:t>🛠️ </a:t>
              </a:r>
              <a:r>
                <a:rPr lang="en-US" sz="4000" b="1" dirty="0">
                  <a:latin typeface="+mj-lt"/>
                </a:rPr>
                <a:t>Structure of appsettings.json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500" dirty="0">
                  <a:latin typeface="+mj-lt"/>
                </a:rPr>
                <a:t>JSON format configuration file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500" dirty="0">
                  <a:latin typeface="+mj-lt"/>
                </a:rPr>
                <a:t>Stores key-value pairs and nested sections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500" dirty="0">
                  <a:latin typeface="+mj-lt"/>
                </a:rPr>
                <a:t>Example:</a:t>
              </a:r>
            </a:p>
            <a:p>
              <a:endParaRPr lang="en-US" sz="3500" b="1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endParaRPr lang="en-GB" sz="35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Appsettings.json Overview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B438AE-6D4E-3CC2-C187-F6D7E3DF1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183" y="5143500"/>
            <a:ext cx="10480431" cy="460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C1A5-8068-A6C2-BA44-9A72CEF7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3707A5-1E0C-E7E0-F5F5-4EE86529EF7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0729E6-E5C8-0E16-8E3A-32B885BBBAA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D81315D-4D92-A304-E727-AA7317E841BD}"/>
              </a:ext>
            </a:extLst>
          </p:cNvPr>
          <p:cNvGrpSpPr/>
          <p:nvPr/>
        </p:nvGrpSpPr>
        <p:grpSpPr>
          <a:xfrm>
            <a:off x="1477831" y="2023643"/>
            <a:ext cx="15781469" cy="9503756"/>
            <a:chOff x="-1929810" y="-3484505"/>
            <a:chExt cx="21041960" cy="1267167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B10663C-4898-A6F3-8978-878688CC401B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12671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5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🛠️ </a:t>
              </a:r>
              <a:r>
                <a:rPr 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Default loading in Program.cs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ASP.NET Core </a:t>
              </a:r>
              <a:r>
                <a:rPr lang="en-US" altLang="en-US" sz="3200" b="1" dirty="0">
                  <a:latin typeface="+mj-lt"/>
                </a:rPr>
                <a:t>automatically loads</a:t>
              </a:r>
              <a:r>
                <a:rPr lang="en-US" altLang="en-US" sz="3200" dirty="0">
                  <a:latin typeface="+mj-lt"/>
                </a:rPr>
                <a:t> appsettings.json at startup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Configuration is accessible via IConfiguration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Example:</a:t>
              </a:r>
            </a:p>
            <a:p>
              <a:endParaRPr lang="en-US" sz="3500" b="1" dirty="0">
                <a:latin typeface="+mj-lt"/>
              </a:endParaRPr>
            </a:p>
            <a:p>
              <a:endParaRPr lang="en-IN" sz="3500" dirty="0">
                <a:latin typeface="+mj-lt"/>
              </a:endParaRPr>
            </a:p>
            <a:p>
              <a:endParaRPr lang="en-IN" sz="4000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b="1" dirty="0"/>
                <a:t>🛠️ </a:t>
              </a:r>
              <a:r>
                <a:rPr lang="en-US" alt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Environment-Specific Configs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Override settings per environment (e.g., Development, Production)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Files like appsettings.Development.json load automatically when environment matches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</a:pPr>
              <a:r>
                <a:rPr lang="en-US" altLang="en-US" sz="3200" dirty="0">
                  <a:latin typeface="+mj-lt"/>
                </a:rPr>
                <a:t>Supports safe, environment-specific customization</a:t>
              </a:r>
            </a:p>
            <a:p>
              <a:pPr lvl="2" algn="just">
                <a:lnSpc>
                  <a:spcPct val="150000"/>
                </a:lnSpc>
              </a:pPr>
              <a:endParaRPr lang="en-GB" sz="35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GB" sz="35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E825B1-D1B3-CA2A-D6DB-5680B49021E5}"/>
                </a:ext>
              </a:extLst>
            </p:cNvPr>
            <p:cNvSpPr txBox="1"/>
            <p:nvPr/>
          </p:nvSpPr>
          <p:spPr>
            <a:xfrm>
              <a:off x="-1" y="-9525"/>
              <a:ext cx="15443232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D09ED-D6D4-56C9-7D9F-944E271FB06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B66731-5960-FE73-38C6-D50A8F065A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76DFF8-894D-3BB5-0D05-CB4C3D08D1D4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Appsettings.json Overview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C6B4948-A207-00A5-CCE5-3E7DE719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14E85C-912E-3B9F-83F9-8B2DA2C3B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206" y="5356834"/>
            <a:ext cx="8583170" cy="120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FA93-C7C0-290A-B8CC-30EDD6C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952ED-FF07-D856-7D9C-3C3CA1F3338C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FA41F5-2EB7-5769-C0E0-5ED6B6ADCB3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3F986B-B9D7-2639-6F98-2E2E38CB01C2}"/>
              </a:ext>
            </a:extLst>
          </p:cNvPr>
          <p:cNvGrpSpPr/>
          <p:nvPr/>
        </p:nvGrpSpPr>
        <p:grpSpPr>
          <a:xfrm>
            <a:off x="1700211" y="1838533"/>
            <a:ext cx="15687677" cy="8448467"/>
            <a:chOff x="-1511883" y="-3266222"/>
            <a:chExt cx="19426653" cy="1126461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0B059D-4176-217A-FB63-9A2AE647E6BA}"/>
                </a:ext>
              </a:extLst>
            </p:cNvPr>
            <p:cNvSpPr txBox="1"/>
            <p:nvPr/>
          </p:nvSpPr>
          <p:spPr>
            <a:xfrm>
              <a:off x="-1511883" y="-3266222"/>
              <a:ext cx="19426653" cy="112646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 b="1" dirty="0">
                  <a:latin typeface="+mj-lt"/>
                </a:rPr>
                <a:t>✅</a:t>
              </a:r>
              <a:r>
                <a:rPr lang="en-IN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Using IConfiguration Interface 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+mj-lt"/>
              </a:endParaRP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IConfiguration is the main interface used to read values from appsettings.json and other sources.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It's automatically available in Program.cs, Startup.cs, and can be injected into services or PageModels</a:t>
              </a:r>
              <a:r>
                <a:rPr lang="en-US" altLang="en-US" sz="1200" dirty="0"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1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1200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200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b="1" dirty="0"/>
                <a:t>✅ </a:t>
              </a:r>
              <a:r>
                <a:rPr lang="en-US" altLang="en-US" sz="40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Key Points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Inject IConfiguration into constructors for access.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Values come from appsettings.json, environment variables, etc.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Supports binding to custom classes for structured config access.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4E6E84-98C5-DBD2-7B68-668EB2157A64}"/>
                </a:ext>
              </a:extLst>
            </p:cNvPr>
            <p:cNvSpPr txBox="1"/>
            <p:nvPr/>
          </p:nvSpPr>
          <p:spPr>
            <a:xfrm>
              <a:off x="-1" y="-9524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9AD13DA-7A8E-BE84-9266-410D96341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F666ED-E6CC-CBEA-AC9A-15194D97D4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31F41E-A525-2A45-5ED0-D6AD9902663F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Accessing Configuration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A1941-B8D8-7446-3E13-652C097F375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08257F-B16F-6FA6-C66D-218A5FD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12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8361-9DC4-A6BB-92BD-4675F965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F7FC23-48D3-274A-2961-EF7C3A3CC83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E5BD4A-84A4-8CA8-B5E4-ADD592284831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D42B98-2BEC-8781-DA30-BE3A9C6CDB18}"/>
              </a:ext>
            </a:extLst>
          </p:cNvPr>
          <p:cNvGrpSpPr/>
          <p:nvPr/>
        </p:nvGrpSpPr>
        <p:grpSpPr>
          <a:xfrm>
            <a:off x="1300161" y="2614450"/>
            <a:ext cx="15687677" cy="7848302"/>
            <a:chOff x="-1341533" y="-2815974"/>
            <a:chExt cx="19426653" cy="104643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5C7195-EC8B-61D5-D75A-CF1FDE23742E}"/>
                </a:ext>
              </a:extLst>
            </p:cNvPr>
            <p:cNvSpPr txBox="1"/>
            <p:nvPr/>
          </p:nvSpPr>
          <p:spPr>
            <a:xfrm>
              <a:off x="-1341533" y="-2815974"/>
              <a:ext cx="19426653" cy="10464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What is Configuration Binding?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Binds values from appsettings.json to </a:t>
              </a:r>
              <a:r>
                <a:rPr lang="en-US" altLang="en-US" sz="3200" b="1" dirty="0">
                  <a:latin typeface="+mj-lt"/>
                </a:rPr>
                <a:t>C# classes</a:t>
              </a: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Enables </a:t>
              </a:r>
              <a:r>
                <a:rPr lang="en-US" altLang="en-US" sz="3200" b="1" dirty="0">
                  <a:latin typeface="+mj-lt"/>
                </a:rPr>
                <a:t>type-safe</a:t>
              </a:r>
              <a:r>
                <a:rPr lang="en-US" altLang="en-US" sz="3200" dirty="0">
                  <a:latin typeface="+mj-lt"/>
                </a:rPr>
                <a:t> and </a:t>
              </a:r>
              <a:r>
                <a:rPr lang="en-US" altLang="en-US" sz="3200" b="1" dirty="0">
                  <a:latin typeface="+mj-lt"/>
                </a:rPr>
                <a:t>structured</a:t>
              </a:r>
              <a:r>
                <a:rPr lang="en-US" altLang="en-US" sz="3200" dirty="0">
                  <a:latin typeface="+mj-lt"/>
                </a:rPr>
                <a:t> access to config data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Makes configuration easier to maintain and test</a:t>
              </a:r>
              <a:endParaRPr lang="en-US" sz="3200" dirty="0"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endParaRPr lang="en-US" sz="3200" dirty="0">
                <a:latin typeface="+mj-lt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latin typeface="+mj-lt"/>
                </a:rPr>
                <a:t>Why Use Configuration Binding?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✅ Type-safe access to settings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✅ Centralized config logic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✅ Works seamlessly with DI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latin typeface="+mj-lt"/>
                </a:rPr>
                <a:t>✅ Supports multiple environments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D56E7B-7AB6-0A34-F8A9-A7D69DB9C0DA}"/>
                </a:ext>
              </a:extLst>
            </p:cNvPr>
            <p:cNvSpPr txBox="1"/>
            <p:nvPr/>
          </p:nvSpPr>
          <p:spPr>
            <a:xfrm>
              <a:off x="0" y="-9526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C25113-77B9-DC3B-B79F-72CA7738F0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6DB4F4-6B2C-9B07-BE3D-F9DD465482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1F4B0E-9F4A-5099-5B2D-9CBB30442A2E}"/>
              </a:ext>
            </a:extLst>
          </p:cNvPr>
          <p:cNvSpPr txBox="1"/>
          <p:nvPr/>
        </p:nvSpPr>
        <p:spPr>
          <a:xfrm>
            <a:off x="773723" y="201236"/>
            <a:ext cx="17514277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Configuration Binding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BF70B5-75D7-373B-3E6B-0E80828DB1C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4994CD-F4B6-0F3E-A909-4750750E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14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62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F4C7-CF27-232D-0286-FE10A7AF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5DA2B9-F528-0443-0EA1-4FAAAFC44BFB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4D9865-2244-56F9-E2B5-A49F2127975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8AE7E2F-9D21-564A-C099-3B51CB826A56}"/>
              </a:ext>
            </a:extLst>
          </p:cNvPr>
          <p:cNvGrpSpPr/>
          <p:nvPr/>
        </p:nvGrpSpPr>
        <p:grpSpPr>
          <a:xfrm>
            <a:off x="968289" y="2699126"/>
            <a:ext cx="16950681" cy="7848302"/>
            <a:chOff x="-1752503" y="-2703073"/>
            <a:chExt cx="20990680" cy="104643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6EE944B-E34B-41CB-BB1B-9FA90B19E844}"/>
                </a:ext>
              </a:extLst>
            </p:cNvPr>
            <p:cNvSpPr txBox="1"/>
            <p:nvPr/>
          </p:nvSpPr>
          <p:spPr>
            <a:xfrm>
              <a:off x="-1752503" y="-2703073"/>
              <a:ext cx="20990680" cy="10464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r>
                <a:rPr lang="en-US" sz="4000" b="1" dirty="0">
                  <a:latin typeface="+mj-lt"/>
                </a:rPr>
                <a:t>Example-JSON configuration</a:t>
              </a:r>
              <a:endParaRPr lang="en-US" sz="3200" dirty="0">
                <a:latin typeface="+mj-lt"/>
              </a:endParaRPr>
            </a:p>
            <a:p>
              <a:pPr lvl="3" algn="just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                </a:t>
              </a:r>
            </a:p>
            <a:p>
              <a:pPr lvl="3" algn="just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  </a:t>
              </a:r>
              <a:r>
                <a:rPr lang="en-IN" sz="3200" dirty="0">
                  <a:latin typeface="+mj-lt"/>
                </a:rPr>
                <a:t>✅ </a:t>
              </a:r>
              <a:r>
                <a:rPr lang="en-US" sz="3200" dirty="0">
                  <a:latin typeface="+mj-lt"/>
                </a:rPr>
                <a:t>Stored in appsettings.json		</a:t>
              </a:r>
            </a:p>
            <a:p>
              <a:pPr lvl="3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							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r>
                <a:rPr lang="en-IN" sz="4000" b="1" dirty="0">
                  <a:latin typeface="+mj-lt"/>
                </a:rPr>
                <a:t>Strongly Types class</a:t>
              </a:r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endParaRPr lang="en-US" sz="3200" b="1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		     </a:t>
              </a:r>
            </a:p>
            <a:p>
              <a:pPr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  </a:t>
              </a:r>
              <a:r>
                <a:rPr lang="en-IN" sz="3200" dirty="0">
                  <a:latin typeface="+mj-lt"/>
                </a:rPr>
                <a:t>✅ </a:t>
              </a:r>
              <a:r>
                <a:rPr lang="en-US" sz="3200" dirty="0">
                  <a:latin typeface="+mj-lt"/>
                </a:rPr>
                <a:t>Property names must match JSON keys (case-insensitive)</a:t>
              </a:r>
            </a:p>
            <a:p>
              <a:pPr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36D533C-1DBD-3BF1-FCF9-0AAE4A311B91}"/>
                </a:ext>
              </a:extLst>
            </p:cNvPr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949A97E-E28F-C40F-44CA-7E901B64B658}"/>
              </a:ext>
            </a:extLst>
          </p:cNvPr>
          <p:cNvSpPr/>
          <p:nvPr/>
        </p:nvSpPr>
        <p:spPr>
          <a:xfrm>
            <a:off x="17306192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FBEF31D-83B5-0A4E-718D-D1B820F0BB87}"/>
              </a:ext>
            </a:extLst>
          </p:cNvPr>
          <p:cNvSpPr/>
          <p:nvPr/>
        </p:nvSpPr>
        <p:spPr>
          <a:xfrm>
            <a:off x="17306192" y="425174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10BA131-0028-0477-AF7E-1A2253DDE841}"/>
              </a:ext>
            </a:extLst>
          </p:cNvPr>
          <p:cNvSpPr txBox="1"/>
          <p:nvPr/>
        </p:nvSpPr>
        <p:spPr>
          <a:xfrm>
            <a:off x="773723" y="201236"/>
            <a:ext cx="17514277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Configuration Binding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31F1A77-4569-A29B-7F7C-C697F774FDA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8D66F2-8583-368C-999F-15424DCB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5D4477-D626-A3A8-86E9-5FFC8D423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678" y="3298360"/>
            <a:ext cx="5889396" cy="2287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79AF2C-EA64-7967-5617-B9C4F9327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678" y="7006560"/>
            <a:ext cx="5889396" cy="287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85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7C143-DA5A-EA19-7DC5-0A8F1A1E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74FE38-45B8-614F-AEEF-35AAB7331CFD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7B5D663-1FEC-04F6-5225-17265161BF5A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AE6A13C-2090-83B4-52B6-D339861272C9}"/>
              </a:ext>
            </a:extLst>
          </p:cNvPr>
          <p:cNvGrpSpPr/>
          <p:nvPr/>
        </p:nvGrpSpPr>
        <p:grpSpPr>
          <a:xfrm>
            <a:off x="968289" y="2699126"/>
            <a:ext cx="16950681" cy="7848302"/>
            <a:chOff x="-1752503" y="-2703073"/>
            <a:chExt cx="20990680" cy="104643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BBA233-40CA-1314-D6BA-215C6387B1AB}"/>
                </a:ext>
              </a:extLst>
            </p:cNvPr>
            <p:cNvSpPr txBox="1"/>
            <p:nvPr/>
          </p:nvSpPr>
          <p:spPr>
            <a:xfrm>
              <a:off x="-1752503" y="-2703073"/>
              <a:ext cx="20990680" cy="10464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r>
                <a:rPr lang="en-US" sz="4000" b="1" dirty="0">
                  <a:latin typeface="+mj-lt"/>
                </a:rPr>
                <a:t>Registering with DI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lvl="3" algn="just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                       </a:t>
              </a:r>
              <a:r>
                <a:rPr lang="en-IN" sz="3200" dirty="0">
                  <a:latin typeface="+mj-lt"/>
                </a:rPr>
                <a:t>✅ </a:t>
              </a:r>
              <a:r>
                <a:rPr lang="en-US" sz="3200" dirty="0">
                  <a:latin typeface="+mj-lt"/>
                </a:rPr>
                <a:t>Registers the section with the DI container		</a:t>
              </a:r>
            </a:p>
            <a:p>
              <a:pPr lvl="3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	   </a:t>
              </a:r>
              <a:r>
                <a:rPr lang="en-IN" sz="3200" dirty="0"/>
                <a:t>✅ </a:t>
              </a:r>
              <a:r>
                <a:rPr lang="en-US" sz="3200" dirty="0"/>
                <a:t>Enables injection via IOptions&lt;PingSettings&gt;</a:t>
              </a:r>
              <a:r>
                <a:rPr lang="en-US" sz="3200" dirty="0">
                  <a:latin typeface="+mj-lt"/>
                </a:rPr>
                <a:t>	</a:t>
              </a:r>
              <a:r>
                <a:rPr lang="en-IN" sz="3200" dirty="0"/>
                <a:t> </a:t>
              </a:r>
              <a:r>
                <a:rPr lang="en-US" sz="3200" dirty="0">
                  <a:latin typeface="+mj-lt"/>
                </a:rPr>
                <a:t>						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r>
                <a:rPr lang="en-IN" sz="4000" b="1" dirty="0">
                  <a:latin typeface="+mj-lt"/>
                </a:rPr>
                <a:t>Injection Using IOptions &lt;T&gt;</a:t>
              </a:r>
            </a:p>
            <a:p>
              <a:pPr marL="457200" indent="-457200" algn="just">
                <a:lnSpc>
                  <a:spcPts val="3600"/>
                </a:lnSpc>
                <a:buFont typeface="Wingdings" panose="05000000000000000000" pitchFamily="2" charset="2"/>
                <a:buChar char="Ø"/>
              </a:pPr>
              <a:endParaRPr lang="en-US" sz="3200" b="1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		     </a:t>
              </a:r>
              <a:r>
                <a:rPr lang="en-IN" sz="3200" dirty="0"/>
                <a:t>✅ </a:t>
              </a:r>
              <a:r>
                <a:rPr lang="en-US" sz="3200" dirty="0"/>
                <a:t>Use .Value to access the bound configuration</a:t>
              </a:r>
              <a:endParaRPr lang="en-US" sz="3200" dirty="0">
                <a:latin typeface="+mj-lt"/>
              </a:endParaRPr>
            </a:p>
            <a:p>
              <a:pPr>
                <a:lnSpc>
                  <a:spcPts val="3600"/>
                </a:lnSpc>
              </a:pPr>
              <a:r>
                <a:rPr lang="en-US" sz="3200" dirty="0">
                  <a:latin typeface="+mj-lt"/>
                </a:rPr>
                <a:t>							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E03FAD-3B62-5683-114B-F8A894860970}"/>
                </a:ext>
              </a:extLst>
            </p:cNvPr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3073BE3-E74F-154F-8308-CB34A20DCCDC}"/>
              </a:ext>
            </a:extLst>
          </p:cNvPr>
          <p:cNvSpPr/>
          <p:nvPr/>
        </p:nvSpPr>
        <p:spPr>
          <a:xfrm>
            <a:off x="17306192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6480818-27FD-ABC0-16A3-5E42184AC3F0}"/>
              </a:ext>
            </a:extLst>
          </p:cNvPr>
          <p:cNvSpPr/>
          <p:nvPr/>
        </p:nvSpPr>
        <p:spPr>
          <a:xfrm>
            <a:off x="17306192" y="425174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43CC63-00AE-3BE9-6372-80D1FBB16A04}"/>
              </a:ext>
            </a:extLst>
          </p:cNvPr>
          <p:cNvSpPr txBox="1"/>
          <p:nvPr/>
        </p:nvSpPr>
        <p:spPr>
          <a:xfrm>
            <a:off x="773723" y="201236"/>
            <a:ext cx="17514277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Configuration Binding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D4EB474-4C84-46E4-804A-278292C5F0B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72F218-9965-B888-EFC9-3986B7F6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FE04B7-236C-DF01-1CBB-24B32F5EA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215" y="3449710"/>
            <a:ext cx="7713785" cy="25391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D6BE5B-7962-5D83-7CAE-C726B4101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215" y="6933240"/>
            <a:ext cx="8088923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9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093495" y="1808856"/>
            <a:ext cx="15026156" cy="8309967"/>
            <a:chOff x="-3593227" y="-3761877"/>
            <a:chExt cx="22640059" cy="1102387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3593227" y="-3761877"/>
              <a:ext cx="22640059" cy="110238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🔧 </a:t>
              </a:r>
              <a:r>
                <a:rPr lang="en-US" altLang="en-US" sz="4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Real-World Use Cases of Dependency Injection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Logging Services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ILogger&lt;T&gt; to log application events.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Database Access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DbContext for data operations using EF Core.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Configuration Access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IOptions&lt;T&gt; to access app settings.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Third-Party APIs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HTTP clients using IHttpClientFactory.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Authentication &amp; Authorization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services for user identity and role checks.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Background Services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dependencies into IHostedService implementations.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b="1" u="sng" dirty="0">
                  <a:latin typeface="+mj-lt"/>
                </a:rPr>
                <a:t>Custom Business Logic Services</a:t>
              </a:r>
              <a:br>
                <a:rPr lang="en-US" altLang="en-US" sz="3200" dirty="0">
                  <a:latin typeface="+mj-lt"/>
                </a:rPr>
              </a:br>
              <a:r>
                <a:rPr lang="en-US" altLang="en-US" sz="3200" dirty="0">
                  <a:latin typeface="+mj-lt"/>
                </a:rPr>
                <a:t>		Inject domain-specific services (e.g., billing, notifications).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2262351" y="201236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1378" y="451496"/>
            <a:ext cx="16483263" cy="10123472"/>
            <a:chOff x="-490225" y="-5751"/>
            <a:chExt cx="14163549" cy="13497955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490225" y="688706"/>
              <a:ext cx="14163549" cy="12803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/>
              <a:r>
                <a:rPr lang="en-US" sz="4000" dirty="0">
                  <a:latin typeface="+mj-lt"/>
                </a:rPr>
                <a:t>🔧 </a:t>
              </a:r>
              <a:r>
                <a:rPr lang="en-US" sz="4000" b="1" dirty="0">
                  <a:latin typeface="+mj-lt"/>
                </a:rPr>
                <a:t>Advanced Assignment 1: </a:t>
              </a:r>
              <a:r>
                <a:rPr lang="en-US" sz="4000" dirty="0"/>
                <a:t>Custom Configuration Section with Nested Settings</a:t>
              </a:r>
              <a:endParaRPr lang="en-US" sz="40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r>
                <a:rPr lang="en-US" sz="3200" b="1" dirty="0">
                  <a:latin typeface="+mj-lt"/>
                </a:rPr>
                <a:t>Goal:</a:t>
              </a:r>
              <a:r>
                <a:rPr lang="en-US" sz="3200" dirty="0">
                  <a:latin typeface="+mj-lt"/>
                </a:rPr>
                <a:t> Bind a complex, nested configuration section to a strongly typed class and inject it into a service.</a:t>
              </a:r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r>
                <a:rPr lang="en-US" sz="32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Tasks :</a:t>
              </a: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	</a:t>
              </a: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1238250" lvl="3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class structure with nested classes for binding</a:t>
              </a: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Register the configuration using Configure&lt;EmailSettings&gt;()</a:t>
              </a:r>
            </a:p>
            <a:p>
              <a:pPr marL="2286000" lvl="4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Inject into a service and log Host, Port, and Sender at startup</a:t>
              </a:r>
            </a:p>
            <a:p>
              <a:pPr marL="323850" lvl="1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838200" lvl="1" indent="-514350">
                <a:buAutoNum type="arabicPeriod"/>
              </a:pPr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6D2EF-8FAE-F017-AF3F-A858AEE2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99" y="3716201"/>
            <a:ext cx="9475751" cy="36165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332434" y="536569"/>
            <a:ext cx="17955566" cy="6941003"/>
            <a:chOff x="-265908" y="-6948"/>
            <a:chExt cx="14877094" cy="92546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9254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2: </a:t>
              </a:r>
              <a:r>
                <a:rPr lang="en-US" sz="4000" b="1" dirty="0">
                  <a:latin typeface="+mj-lt"/>
                </a:rPr>
                <a:t>Using IOptionsMonitor&lt;T&gt; for Live Config Reload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Goal:</a:t>
              </a:r>
              <a:r>
                <a:rPr lang="en-US" altLang="en-US" sz="3200" dirty="0">
                  <a:latin typeface="+mj-lt"/>
                </a:rPr>
                <a:t> Use IOptionsMonitor&lt;T&gt; to watch for config changes without restarting the application. 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marL="1828800" lvl="3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Create a FeatureToggleSettings class with a property like IsFeatureXEnabled</a:t>
              </a:r>
            </a:p>
            <a:p>
              <a:pPr marL="1828800" lvl="3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Bind it to "FeatureToggleSettings" in appsettings.json</a:t>
              </a:r>
            </a:p>
            <a:p>
              <a:pPr marL="1828800" lvl="3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Register it using services.Configure&lt;T&gt;()</a:t>
              </a:r>
            </a:p>
            <a:p>
              <a:pPr marL="1828800" lvl="3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Inject IOptionsMonitor&lt;FeatureToggleSettings&gt; into a singleton service</a:t>
              </a:r>
            </a:p>
            <a:p>
              <a:pPr marL="1828800" lvl="3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lang="en-US" altLang="en-US" sz="3200" dirty="0">
                  <a:latin typeface="+mj-lt"/>
                </a:rPr>
                <a:t>Log any changes to the setting using the OnChange() callback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-40512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F419C84-DCA4-BD2B-27D2-9FF7F01B8CB0}"/>
              </a:ext>
            </a:extLst>
          </p:cNvPr>
          <p:cNvGrpSpPr>
            <a:grpSpLocks noChangeAspect="1"/>
          </p:cNvGrpSpPr>
          <p:nvPr/>
        </p:nvGrpSpPr>
        <p:grpSpPr>
          <a:xfrm>
            <a:off x="14090216" y="51852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FB1E988-D406-7EAB-CEC4-CE6C5E03163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6A7ECD-43AC-16B4-AE20-BC8A2A369157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B49FD0A-4ABC-23AD-57AF-EE76B695AB2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8876-10CC-A9E3-57F2-29BF3C4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7DEA085-71EE-1614-E459-8F6E2CCC6EFA}"/>
              </a:ext>
            </a:extLst>
          </p:cNvPr>
          <p:cNvGrpSpPr/>
          <p:nvPr/>
        </p:nvGrpSpPr>
        <p:grpSpPr>
          <a:xfrm>
            <a:off x="332434" y="536569"/>
            <a:ext cx="17955566" cy="9487854"/>
            <a:chOff x="-265908" y="-6948"/>
            <a:chExt cx="14877094" cy="1265046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046013-9CEA-A12A-300B-72D4C9C03F3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7E58FC-E9F6-F3B1-2096-6BA5F7F5BE3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2E927E5-E3B6-7822-E082-27B8FF7CF341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883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AA3A785-002A-A178-8EC6-E0E97A60EF39}"/>
                </a:ext>
              </a:extLst>
            </p:cNvPr>
            <p:cNvSpPr txBox="1"/>
            <p:nvPr/>
          </p:nvSpPr>
          <p:spPr>
            <a:xfrm>
              <a:off x="-265908" y="762493"/>
              <a:ext cx="14601656" cy="118810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3: </a:t>
              </a:r>
              <a:r>
                <a:rPr lang="en-US" sz="4000" b="1" dirty="0">
                  <a:latin typeface="+mj-lt"/>
                </a:rPr>
                <a:t>Named Options for Multiple Config Sections</a:t>
              </a: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Goal:</a:t>
              </a:r>
              <a:r>
                <a:rPr lang="en-US" altLang="en-US" sz="3200" dirty="0">
                  <a:latin typeface="+mj-lt"/>
                </a:rPr>
                <a:t> </a:t>
              </a:r>
              <a:r>
                <a:rPr lang="en-US" sz="3200" dirty="0"/>
                <a:t>Use named options to bind and inject multiple configuration sections of the same type.</a:t>
              </a:r>
              <a:endParaRPr lang="en-US" altLang="en-US" sz="3200" b="1" dirty="0">
                <a:latin typeface="+mj-lt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  <a:endParaRPr lang="en-GB" altLang="en-US" sz="3200" b="1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GB" altLang="en-US" sz="3200" dirty="0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Define two sections in appsettings.json</a:t>
              </a:r>
            </a:p>
            <a:p>
              <a:pPr marL="1371600" lvl="2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GB" altLang="en-US" sz="3200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en-US" sz="3200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en-US" sz="3200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single class TimeoutSettings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Register both using named options: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en-US" sz="3200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en-US" sz="3200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Inject IOptionsSnapshot&lt;TimeoutSettings&gt; with name resolution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Log different timeout values for each service</a:t>
              </a: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248BAB-F673-54C5-E53D-D0F2C70F4523}"/>
              </a:ext>
            </a:extLst>
          </p:cNvPr>
          <p:cNvSpPr txBox="1"/>
          <p:nvPr/>
        </p:nvSpPr>
        <p:spPr>
          <a:xfrm>
            <a:off x="8335841" y="31677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5B39AB1-CD6E-F7BD-D651-0CC067830724}"/>
              </a:ext>
            </a:extLst>
          </p:cNvPr>
          <p:cNvGrpSpPr>
            <a:grpSpLocks noChangeAspect="1"/>
          </p:cNvGrpSpPr>
          <p:nvPr/>
        </p:nvGrpSpPr>
        <p:grpSpPr>
          <a:xfrm>
            <a:off x="14090216" y="51852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F6385F1-B6B9-903B-8881-BF186158BF29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611A423-2C76-516D-7EE0-4318DDC1A4C8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68770DB-28C3-569E-8A05-9DA5A001F71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F087B7C-A32B-5042-F287-5C719D1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4E655-F825-C8DF-93C2-F13AD7FD6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842" y="3827272"/>
            <a:ext cx="8081998" cy="1316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DB49DB-3A9A-4429-A293-D6FC6CEF2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990" y="6924409"/>
            <a:ext cx="9800444" cy="131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3F53-0DCB-0126-DCBB-20A031DA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BAE32C1-75BA-C154-AEC7-A6B3450BEBD5}"/>
              </a:ext>
            </a:extLst>
          </p:cNvPr>
          <p:cNvGrpSpPr/>
          <p:nvPr/>
        </p:nvGrpSpPr>
        <p:grpSpPr>
          <a:xfrm>
            <a:off x="71378" y="451496"/>
            <a:ext cx="16483263" cy="10340752"/>
            <a:chOff x="-490225" y="-5751"/>
            <a:chExt cx="14163549" cy="1167651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58A49-04E6-2EFA-6170-0E0748F7563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AD3601-B23E-FE7F-02F2-1C7FD56CE08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2D2978-C351-583F-5107-7C1722540F1C}"/>
                </a:ext>
              </a:extLst>
            </p:cNvPr>
            <p:cNvSpPr txBox="1"/>
            <p:nvPr/>
          </p:nvSpPr>
          <p:spPr>
            <a:xfrm>
              <a:off x="-490225" y="688706"/>
              <a:ext cx="14121960" cy="109820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4: </a:t>
              </a:r>
              <a:r>
                <a:rPr lang="en-US" sz="4000" b="1" dirty="0">
                  <a:latin typeface="+mj-lt"/>
                </a:rPr>
                <a:t>Binding Config to a Background Hosted Service</a:t>
              </a:r>
              <a:endParaRPr lang="en-US" altLang="en-US" sz="4000" b="1" dirty="0"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Goal :</a:t>
              </a:r>
              <a:r>
                <a:rPr lang="en-US" altLang="en-US" sz="3200" dirty="0">
                  <a:latin typeface="+mj-lt"/>
                </a:rPr>
                <a:t> </a:t>
              </a:r>
              <a:r>
                <a:rPr lang="en-US" sz="3200" dirty="0">
                  <a:latin typeface="+mj-lt"/>
                </a:rPr>
                <a:t>Bind configuration to a hosted background service (e.g., timer-based worker).</a:t>
              </a:r>
              <a:endParaRPr lang="en-US" altLang="en-US" sz="3200" b="1" dirty="0"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latin typeface="+mj-lt"/>
              </a:endParaRP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IN" sz="3200" dirty="0">
                  <a:latin typeface="+mj-lt"/>
                </a:rPr>
                <a:t>Create a section:</a:t>
              </a: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lvl="4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IN" sz="3200" dirty="0">
                <a:latin typeface="+mj-lt"/>
              </a:endParaRP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Bind to a PingWorkerSettings class and register it with DI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Create a BackgroundService that: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Injects IOptions&lt;PingWorkerSettings&gt;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Runs a timer loop that logs every X seconds based on the setting</a:t>
              </a:r>
            </a:p>
            <a:p>
              <a:pPr marL="2286000" lvl="4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latin typeface="+mj-lt"/>
                </a:rPr>
                <a:t>Log at each interval using ILogger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A1F7AB-DA9F-FEEE-E9A0-57DDF06342D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574C42D-54B6-C16E-8E5A-6266CDFA9171}"/>
              </a:ext>
            </a:extLst>
          </p:cNvPr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901DBE1-CEDF-6C9D-7D29-AB258013125D}"/>
              </a:ext>
            </a:extLst>
          </p:cNvPr>
          <p:cNvGrpSpPr>
            <a:grpSpLocks noChangeAspect="1"/>
          </p:cNvGrpSpPr>
          <p:nvPr/>
        </p:nvGrpSpPr>
        <p:grpSpPr>
          <a:xfrm>
            <a:off x="14504093" y="56216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A7C113-24A9-B921-12B7-0707E62AA9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FC7D70-A520-E917-A6C2-2DCE4962F371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2C1E5B1-40C7-741D-41BB-0FF2D1854B7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C3C7AC-F3F7-777C-8A22-30629B0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7B1656-A109-1199-8155-5969C879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68" y="3633537"/>
            <a:ext cx="5943600" cy="252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24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92316" y="4865952"/>
            <a:ext cx="417653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Dependency Injection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80097" y="4912667"/>
            <a:ext cx="451341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Configuration in .NET Core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2689" y="597500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IOptions Pattern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68757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81073" y="5813392"/>
            <a:ext cx="359901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Configuration Binding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640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https://learn.microsoft.com/en-us/aspnet/core/fundamentals/dependency-injection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https://learn.microsoft.com/en-us/aspnet/core/fundamentals/dependency-injection#service-lifetimes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>
              <a:lnSpc>
                <a:spcPct val="200000"/>
              </a:lnSpc>
            </a:pP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24</a:t>
            </a:fld>
            <a:endParaRPr lang="en-GB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25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1234</Words>
  <Application>Microsoft Office PowerPoint</Application>
  <PresentationFormat>Custom</PresentationFormat>
  <Paragraphs>302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Calibri</vt:lpstr>
      <vt:lpstr>Arial</vt:lpstr>
      <vt:lpstr>HK Modular</vt:lpstr>
      <vt:lpstr>Heebo Black</vt:lpstr>
      <vt:lpstr>Wingdings</vt:lpstr>
      <vt:lpstr>Assistant Regular Bold</vt:lpstr>
      <vt:lpstr>Assistant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75</cp:revision>
  <dcterms:created xsi:type="dcterms:W3CDTF">2006-08-16T00:00:00Z</dcterms:created>
  <dcterms:modified xsi:type="dcterms:W3CDTF">2025-08-14T05:37:54Z</dcterms:modified>
  <dc:identifier>DAGpXxrSFgM</dc:identifier>
</cp:coreProperties>
</file>