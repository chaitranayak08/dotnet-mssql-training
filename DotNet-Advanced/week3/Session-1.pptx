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316" r:id="rId2"/>
    <p:sldId id="256" r:id="rId3"/>
    <p:sldId id="257" r:id="rId4"/>
    <p:sldId id="258" r:id="rId5"/>
    <p:sldId id="275" r:id="rId6"/>
    <p:sldId id="276" r:id="rId7"/>
    <p:sldId id="277" r:id="rId8"/>
    <p:sldId id="278" r:id="rId9"/>
    <p:sldId id="279" r:id="rId10"/>
    <p:sldId id="280" r:id="rId11"/>
    <p:sldId id="282" r:id="rId12"/>
    <p:sldId id="283" r:id="rId13"/>
    <p:sldId id="271" r:id="rId14"/>
    <p:sldId id="284" r:id="rId15"/>
    <p:sldId id="285" r:id="rId16"/>
    <p:sldId id="286" r:id="rId17"/>
    <p:sldId id="274" r:id="rId18"/>
    <p:sldId id="265" r:id="rId19"/>
    <p:sldId id="287" r:id="rId20"/>
    <p:sldId id="289" r:id="rId21"/>
    <p:sldId id="288" r:id="rId22"/>
    <p:sldId id="266" r:id="rId23"/>
    <p:sldId id="267" r:id="rId24"/>
    <p:sldId id="268" r:id="rId25"/>
    <p:sldId id="269" r:id="rId26"/>
  </p:sldIdLst>
  <p:sldSz cx="18288000" cy="10287000"/>
  <p:notesSz cx="6858000" cy="9144000"/>
  <p:embeddedFontLst>
    <p:embeddedFont>
      <p:font typeface="Assistant Regular" panose="020B0604020202020204" charset="-79"/>
      <p:regular r:id="rId27"/>
    </p:embeddedFont>
    <p:embeddedFont>
      <p:font typeface="Assistant Regular Bold" panose="020B0604020202020204" charset="-79"/>
      <p:regular r:id="rId28"/>
    </p:embeddedFont>
    <p:embeddedFont>
      <p:font typeface="Heebo Black" pitchFamily="2" charset="-79"/>
      <p:regular r:id="rId29"/>
      <p:bold r:id="rId30"/>
    </p:embeddedFont>
    <p:embeddedFont>
      <p:font typeface="HK Modular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83F2A-5343-79CD-B045-87E6A60A27CD}" v="35" dt="2025-06-09T07:43:09.257"/>
    <p1510:client id="{48913760-2B4B-40AB-BAB1-5B833250FBCA}" v="14" dt="2025-06-09T08:04:28.557"/>
    <p1510:client id="{6217F43D-2A94-46AF-90C1-C85748EC6597}" v="381" dt="2025-06-07T10:14:44.837"/>
    <p1510:client id="{8F40484E-1A4A-44C5-A2E8-9A80D22FC275}" v="109" dt="2025-06-09T08:00:11.245"/>
    <p1510:client id="{C229F99B-91FC-4CCB-AA17-9B031DDDE57D}" v="63" dt="2025-06-07T10:24:5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Bharath Raj" userId="S::bharathraj@devappsys.com::94d9684c-50e3-43a6-bc0f-7d1e94f3ae4e" providerId="AD" clId="Web-{48913760-2B4B-40AB-BAB1-5B833250FBCA}"/>
    <pc:docChg chg="modSld">
      <pc:chgData name="Bharath Raj" userId="S::bharathraj@devappsys.com::94d9684c-50e3-43a6-bc0f-7d1e94f3ae4e" providerId="AD" clId="Web-{48913760-2B4B-40AB-BAB1-5B833250FBCA}" dt="2025-06-09T08:04:28.557" v="13" actId="20577"/>
      <pc:docMkLst>
        <pc:docMk/>
      </pc:docMkLst>
      <pc:sldChg chg="modSp">
        <pc:chgData name="Bharath Raj" userId="S::bharathraj@devappsys.com::94d9684c-50e3-43a6-bc0f-7d1e94f3ae4e" providerId="AD" clId="Web-{48913760-2B4B-40AB-BAB1-5B833250FBCA}" dt="2025-06-09T08:02:05.648" v="0" actId="20577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48913760-2B4B-40AB-BAB1-5B833250FBCA}" dt="2025-06-09T08:02:05.648" v="0" actId="20577"/>
          <ac:spMkLst>
            <pc:docMk/>
            <pc:sldMk cId="0" sldId="256"/>
            <ac:spMk id="14" creationId="{A788A892-53E9-C1D1-8945-E37AAF27FEF5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1.821" v="1" actId="20577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48913760-2B4B-40AB-BAB1-5B833250FBCA}" dt="2025-06-09T08:02:21.821" v="1" actId="20577"/>
          <ac:spMkLst>
            <pc:docMk/>
            <pc:sldMk cId="0" sldId="257"/>
            <ac:spMk id="52" creationId="{F014F566-679C-7B70-6B31-31DC6A6FB9B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8.118" v="2" actId="20577"/>
        <pc:sldMkLst>
          <pc:docMk/>
          <pc:sldMk cId="0" sldId="258"/>
        </pc:sldMkLst>
        <pc:spChg chg="mod">
          <ac:chgData name="Bharath Raj" userId="S::bharathraj@devappsys.com::94d9684c-50e3-43a6-bc0f-7d1e94f3ae4e" providerId="AD" clId="Web-{48913760-2B4B-40AB-BAB1-5B833250FBCA}" dt="2025-06-09T08:02:28.118" v="2" actId="20577"/>
          <ac:spMkLst>
            <pc:docMk/>
            <pc:sldMk cId="0" sldId="258"/>
            <ac:spMk id="19" creationId="{9638AB3A-734E-28AD-106B-E6DC74EB212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09.525" v="5" actId="20577"/>
        <pc:sldMkLst>
          <pc:docMk/>
          <pc:sldMk cId="0" sldId="259"/>
        </pc:sldMkLst>
        <pc:spChg chg="mod">
          <ac:chgData name="Bharath Raj" userId="S::bharathraj@devappsys.com::94d9684c-50e3-43a6-bc0f-7d1e94f3ae4e" providerId="AD" clId="Web-{48913760-2B4B-40AB-BAB1-5B833250FBCA}" dt="2025-06-09T08:03:09.525" v="5" actId="20577"/>
          <ac:spMkLst>
            <pc:docMk/>
            <pc:sldMk cId="0" sldId="259"/>
            <ac:spMk id="3" creationId="{C597A9B1-90A9-775B-5F0B-8D62A6479A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44.369" v="9" actId="20577"/>
        <pc:sldMkLst>
          <pc:docMk/>
          <pc:sldMk cId="0" sldId="265"/>
        </pc:sldMkLst>
        <pc:spChg chg="mod">
          <ac:chgData name="Bharath Raj" userId="S::bharathraj@devappsys.com::94d9684c-50e3-43a6-bc0f-7d1e94f3ae4e" providerId="AD" clId="Web-{48913760-2B4B-40AB-BAB1-5B833250FBCA}" dt="2025-06-09T08:03:44.369" v="9" actId="20577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59.807" v="10" actId="20577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48913760-2B4B-40AB-BAB1-5B833250FBCA}" dt="2025-06-09T08:03:59.807" v="10" actId="20577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09.104" v="11" actId="20577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48913760-2B4B-40AB-BAB1-5B833250FBCA}" dt="2025-06-09T08:04:09.104" v="11" actId="20577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16.010" v="12" actId="20577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48913760-2B4B-40AB-BAB1-5B833250FBCA}" dt="2025-06-09T08:04:16.010" v="12" actId="20577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28.557" v="13" actId="20577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48913760-2B4B-40AB-BAB1-5B833250FBCA}" dt="2025-06-09T08:04:28.557" v="13" actId="20577"/>
          <ac:spMkLst>
            <pc:docMk/>
            <pc:sldMk cId="0" sldId="269"/>
            <ac:spMk id="8" creationId="{EE169540-353F-AA0D-CE5D-9D92894927AE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52.884" v="4" actId="20577"/>
        <pc:sldMkLst>
          <pc:docMk/>
          <pc:sldMk cId="2287379508" sldId="271"/>
        </pc:sldMkLst>
        <pc:spChg chg="mod">
          <ac:chgData name="Bharath Raj" userId="S::bharathraj@devappsys.com::94d9684c-50e3-43a6-bc0f-7d1e94f3ae4e" providerId="AD" clId="Web-{48913760-2B4B-40AB-BAB1-5B833250FBCA}" dt="2025-06-09T08:02:52.884" v="4" actId="20577"/>
          <ac:spMkLst>
            <pc:docMk/>
            <pc:sldMk cId="2287379508" sldId="271"/>
            <ac:spMk id="19" creationId="{A0FBD77A-4FC9-AF33-24F3-5E5B90BDC9D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18.790" v="6" actId="20577"/>
        <pc:sldMkLst>
          <pc:docMk/>
          <pc:sldMk cId="1378273258" sldId="272"/>
        </pc:sldMkLst>
        <pc:spChg chg="mod">
          <ac:chgData name="Bharath Raj" userId="S::bharathraj@devappsys.com::94d9684c-50e3-43a6-bc0f-7d1e94f3ae4e" providerId="AD" clId="Web-{48913760-2B4B-40AB-BAB1-5B833250FBCA}" dt="2025-06-09T08:03:18.790" v="6" actId="20577"/>
          <ac:spMkLst>
            <pc:docMk/>
            <pc:sldMk cId="1378273258" sldId="272"/>
            <ac:spMk id="3" creationId="{05E29320-7793-4496-040B-CE09BE6906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29.681" v="7" actId="20577"/>
        <pc:sldMkLst>
          <pc:docMk/>
          <pc:sldMk cId="3480894903" sldId="273"/>
        </pc:sldMkLst>
        <pc:spChg chg="mod">
          <ac:chgData name="Bharath Raj" userId="S::bharathraj@devappsys.com::94d9684c-50e3-43a6-bc0f-7d1e94f3ae4e" providerId="AD" clId="Web-{48913760-2B4B-40AB-BAB1-5B833250FBCA}" dt="2025-06-09T08:03:29.681" v="7" actId="20577"/>
          <ac:spMkLst>
            <pc:docMk/>
            <pc:sldMk cId="3480894903" sldId="273"/>
            <ac:spMk id="19" creationId="{2EFE2ECD-21FD-8EA8-38F2-18023478F72D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37.775" v="8" actId="20577"/>
        <pc:sldMkLst>
          <pc:docMk/>
          <pc:sldMk cId="4199602133" sldId="274"/>
        </pc:sldMkLst>
        <pc:spChg chg="mod">
          <ac:chgData name="Bharath Raj" userId="S::bharathraj@devappsys.com::94d9684c-50e3-43a6-bc0f-7d1e94f3ae4e" providerId="AD" clId="Web-{48913760-2B4B-40AB-BAB1-5B833250FBCA}" dt="2025-06-09T08:03:37.775" v="8" actId="20577"/>
          <ac:spMkLst>
            <pc:docMk/>
            <pc:sldMk cId="4199602133" sldId="274"/>
            <ac:spMk id="19" creationId="{E8F9574A-83CB-4373-715E-6E0E72CCE48A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34.477" v="3" actId="20577"/>
        <pc:sldMkLst>
          <pc:docMk/>
          <pc:sldMk cId="2783255690" sldId="275"/>
        </pc:sldMkLst>
        <pc:spChg chg="mod">
          <ac:chgData name="Bharath Raj" userId="S::bharathraj@devappsys.com::94d9684c-50e3-43a6-bc0f-7d1e94f3ae4e" providerId="AD" clId="Web-{48913760-2B4B-40AB-BAB1-5B833250FBCA}" dt="2025-06-09T08:02:34.477" v="3" actId="20577"/>
          <ac:spMkLst>
            <pc:docMk/>
            <pc:sldMk cId="2783255690" sldId="275"/>
            <ac:spMk id="19" creationId="{0B2C6E55-23D9-406D-BC3D-A2931A20BA10}"/>
          </ac:spMkLst>
        </pc:spChg>
      </pc:sld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Guest User" userId="S::urn:spo:tenantanon#efda937d-84e0-40c4-9af3-7c13939e1814::" providerId="AD" clId="Web-{1CD83F2A-5343-79CD-B045-87E6A60A27CD}"/>
    <pc:docChg chg="modSld">
      <pc:chgData name="Guest User" userId="S::urn:spo:tenantanon#efda937d-84e0-40c4-9af3-7c13939e1814::" providerId="AD" clId="Web-{1CD83F2A-5343-79CD-B045-87E6A60A27CD}" dt="2025-06-09T07:43:07.523" v="25"/>
      <pc:docMkLst>
        <pc:docMk/>
      </pc:docMkLst>
      <pc:sldChg chg="addSp delSp modSp">
        <pc:chgData name="Guest User" userId="S::urn:spo:tenantanon#efda937d-84e0-40c4-9af3-7c13939e1814::" providerId="AD" clId="Web-{1CD83F2A-5343-79CD-B045-87E6A60A27CD}" dt="2025-06-09T07:43:07.523" v="25"/>
        <pc:sldMkLst>
          <pc:docMk/>
          <pc:sldMk cId="0" sldId="265"/>
        </pc:sldMkLst>
        <pc:spChg chg="add del">
          <ac:chgData name="Guest User" userId="S::urn:spo:tenantanon#efda937d-84e0-40c4-9af3-7c13939e1814::" providerId="AD" clId="Web-{1CD83F2A-5343-79CD-B045-87E6A60A27CD}" dt="2025-06-09T07:43:07.523" v="20"/>
          <ac:spMkLst>
            <pc:docMk/>
            <pc:sldMk cId="0" sldId="265"/>
            <ac:spMk id="9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1"/>
          <ac:spMkLst>
            <pc:docMk/>
            <pc:sldMk cId="0" sldId="265"/>
            <ac:spMk id="10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2"/>
          <ac:spMkLst>
            <pc:docMk/>
            <pc:sldMk cId="0" sldId="265"/>
            <ac:spMk id="11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3"/>
          <ac:spMkLst>
            <pc:docMk/>
            <pc:sldMk cId="0" sldId="265"/>
            <ac:spMk id="12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4"/>
          <ac:spMkLst>
            <pc:docMk/>
            <pc:sldMk cId="0" sldId="265"/>
            <ac:spMk id="13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Guest User" userId="S::urn:spo:tenantanon#efda937d-84e0-40c4-9af3-7c13939e1814::" providerId="AD" clId="Web-{1CD83F2A-5343-79CD-B045-87E6A60A27CD}" dt="2025-06-09T07:43:06.945" v="19" actId="14100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882" v="17" actId="1076"/>
        <pc:sldMkLst>
          <pc:docMk/>
          <pc:sldMk cId="0" sldId="266"/>
        </pc:sldMkLst>
        <pc:spChg chg="mod">
          <ac:chgData name="Guest User" userId="S::urn:spo:tenantanon#efda937d-84e0-40c4-9af3-7c13939e1814::" providerId="AD" clId="Web-{1CD83F2A-5343-79CD-B045-87E6A60A27CD}" dt="2025-06-09T07:43:05.882" v="17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616" v="16" actId="1076"/>
        <pc:sldMkLst>
          <pc:docMk/>
          <pc:sldMk cId="0" sldId="267"/>
        </pc:sldMkLst>
        <pc:spChg chg="mod">
          <ac:chgData name="Guest User" userId="S::urn:spo:tenantanon#efda937d-84e0-40c4-9af3-7c13939e1814::" providerId="AD" clId="Web-{1CD83F2A-5343-79CD-B045-87E6A60A27CD}" dt="2025-06-09T07:43:05.616" v="16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538" v="15" actId="1076"/>
        <pc:sldMkLst>
          <pc:docMk/>
          <pc:sldMk cId="0" sldId="268"/>
        </pc:sldMkLst>
        <pc:spChg chg="mod">
          <ac:chgData name="Guest User" userId="S::urn:spo:tenantanon#efda937d-84e0-40c4-9af3-7c13939e1814::" providerId="AD" clId="Web-{1CD83F2A-5343-79CD-B045-87E6A60A27CD}" dt="2025-06-09T07:43:05.538" v="15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4.710" v="14" actId="1076"/>
        <pc:sldMkLst>
          <pc:docMk/>
          <pc:sldMk cId="0" sldId="269"/>
        </pc:sldMkLst>
        <pc:spChg chg="mod">
          <ac:chgData name="Guest User" userId="S::urn:spo:tenantanon#efda937d-84e0-40c4-9af3-7c13939e1814::" providerId="AD" clId="Web-{1CD83F2A-5343-79CD-B045-87E6A60A27CD}" dt="2025-06-09T07:43:04.710" v="14" actId="1076"/>
          <ac:spMkLst>
            <pc:docMk/>
            <pc:sldMk cId="0" sldId="269"/>
            <ac:spMk id="8" creationId="{EE169540-353F-AA0D-CE5D-9D92894927AE}"/>
          </ac:spMkLst>
        </pc:spChg>
      </pc:sldChg>
    </pc:docChg>
  </pc:docChgLst>
  <pc:docChgLst>
    <pc:chgData name="Bharath Raj" userId="S::bharathraj@devappsys.com::94d9684c-50e3-43a6-bc0f-7d1e94f3ae4e" providerId="AD" clId="Web-{8F40484E-1A4A-44C5-A2E8-9A80D22FC275}"/>
    <pc:docChg chg="modSld">
      <pc:chgData name="Bharath Raj" userId="S::bharathraj@devappsys.com::94d9684c-50e3-43a6-bc0f-7d1e94f3ae4e" providerId="AD" clId="Web-{8F40484E-1A4A-44C5-A2E8-9A80D22FC275}" dt="2025-06-09T08:00:11.230" v="70" actId="1076"/>
      <pc:docMkLst>
        <pc:docMk/>
      </pc:docMkLst>
      <pc:sldChg chg="addSp delSp modSp">
        <pc:chgData name="Bharath Raj" userId="S::bharathraj@devappsys.com::94d9684c-50e3-43a6-bc0f-7d1e94f3ae4e" providerId="AD" clId="Web-{8F40484E-1A4A-44C5-A2E8-9A80D22FC275}" dt="2025-06-09T08:00:01.683" v="69" actId="1076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8F40484E-1A4A-44C5-A2E8-9A80D22FC275}" dt="2025-06-09T07:57:00.227" v="61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Bharath Raj" userId="S::bharathraj@devappsys.com::94d9684c-50e3-43a6-bc0f-7d1e94f3ae4e" providerId="AD" clId="Web-{8F40484E-1A4A-44C5-A2E8-9A80D22FC275}" dt="2025-06-09T07:47:39.032" v="19"/>
          <ac:spMkLst>
            <pc:docMk/>
            <pc:sldMk cId="0" sldId="256"/>
            <ac:spMk id="5" creationId="{B5C836ED-AF4C-772A-E7AC-7D587F4BC8E9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286" v="58" actId="20577"/>
          <ac:spMkLst>
            <pc:docMk/>
            <pc:sldMk cId="0" sldId="256"/>
            <ac:spMk id="6" creationId="{3C32635B-2E2B-E675-29F7-DBC685B729AC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786" v="60" actId="20577"/>
          <ac:spMkLst>
            <pc:docMk/>
            <pc:sldMk cId="0" sldId="256"/>
            <ac:spMk id="9" creationId="{EE1018EE-FD30-B31C-930A-89E29CBD7D15}"/>
          </ac:spMkLst>
        </pc:spChg>
        <pc:spChg chg="mod">
          <ac:chgData name="Bharath Raj" userId="S::bharathraj@devappsys.com::94d9684c-50e3-43a6-bc0f-7d1e94f3ae4e" providerId="AD" clId="Web-{8F40484E-1A4A-44C5-A2E8-9A80D22FC275}" dt="2025-06-09T07:49:51.455" v="24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01.683" v="69" actId="1076"/>
          <ac:spMkLst>
            <pc:docMk/>
            <pc:sldMk cId="0" sldId="256"/>
            <ac:spMk id="14" creationId="{A788A892-53E9-C1D1-8945-E37AAF27FEF5}"/>
          </ac:spMkLst>
        </pc:spChg>
        <pc:grpChg chg="mod">
          <ac:chgData name="Bharath Raj" userId="S::bharathraj@devappsys.com::94d9684c-50e3-43a6-bc0f-7d1e94f3ae4e" providerId="AD" clId="Web-{8F40484E-1A4A-44C5-A2E8-9A80D22FC275}" dt="2025-06-09T07:57:16.977" v="62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modSp">
        <pc:chgData name="Bharath Raj" userId="S::bharathraj@devappsys.com::94d9684c-50e3-43a6-bc0f-7d1e94f3ae4e" providerId="AD" clId="Web-{8F40484E-1A4A-44C5-A2E8-9A80D22FC275}" dt="2025-06-09T08:00:11.230" v="70" actId="1076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8F40484E-1A4A-44C5-A2E8-9A80D22FC275}" dt="2025-06-09T07:58:10.134" v="6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11.230" v="70" actId="1076"/>
          <ac:spMkLst>
            <pc:docMk/>
            <pc:sldMk cId="0" sldId="257"/>
            <ac:spMk id="52" creationId="{F014F566-679C-7B70-6B31-31DC6A6FB9B1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42.060" v="3"/>
        <pc:sldMkLst>
          <pc:docMk/>
          <pc:sldMk cId="0" sldId="259"/>
        </pc:sldMkLst>
        <pc:spChg chg="add">
          <ac:chgData name="Bharath Raj" userId="S::bharathraj@devappsys.com::94d9684c-50e3-43a6-bc0f-7d1e94f3ae4e" providerId="AD" clId="Web-{8F40484E-1A4A-44C5-A2E8-9A80D22FC275}" dt="2025-06-09T07:44:42.060" v="3"/>
          <ac:spMkLst>
            <pc:docMk/>
            <pc:sldMk cId="0" sldId="259"/>
            <ac:spMk id="3" creationId="{C597A9B1-90A9-775B-5F0B-8D62A6479A8C}"/>
          </ac:spMkLst>
        </pc:spChg>
      </pc:sldChg>
      <pc:sldChg chg="delSp modSp">
        <pc:chgData name="Bharath Raj" userId="S::bharathraj@devappsys.com::94d9684c-50e3-43a6-bc0f-7d1e94f3ae4e" providerId="AD" clId="Web-{8F40484E-1A4A-44C5-A2E8-9A80D22FC275}" dt="2025-06-09T07:45:08.514" v="10" actId="1076"/>
        <pc:sldMkLst>
          <pc:docMk/>
          <pc:sldMk cId="0" sldId="265"/>
        </pc:sldMkLst>
        <pc:spChg chg="del">
          <ac:chgData name="Bharath Raj" userId="S::bharathraj@devappsys.com::94d9684c-50e3-43a6-bc0f-7d1e94f3ae4e" providerId="AD" clId="Web-{8F40484E-1A4A-44C5-A2E8-9A80D22FC275}" dt="2025-06-09T07:44:59.889" v="9"/>
          <ac:spMkLst>
            <pc:docMk/>
            <pc:sldMk cId="0" sldId="265"/>
            <ac:spMk id="9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57" v="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11" v="7"/>
          <ac:spMkLst>
            <pc:docMk/>
            <pc:sldMk cId="0" sldId="265"/>
            <ac:spMk id="11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64" v="6"/>
          <ac:spMkLst>
            <pc:docMk/>
            <pc:sldMk cId="0" sldId="265"/>
            <ac:spMk id="12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17" v="5"/>
          <ac:spMkLst>
            <pc:docMk/>
            <pc:sldMk cId="0" sldId="265"/>
            <ac:spMk id="13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654" v="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7:45:08.514" v="10" actId="1076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18.108" v="11" actId="1076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8F40484E-1A4A-44C5-A2E8-9A80D22FC275}" dt="2025-06-09T07:45:18.108" v="11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28.577" v="12" actId="1076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8F40484E-1A4A-44C5-A2E8-9A80D22FC275}" dt="2025-06-09T07:45:28.577" v="12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39.467" v="13" actId="1076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8F40484E-1A4A-44C5-A2E8-9A80D22FC275}" dt="2025-06-09T07:45:39.467" v="13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59:42.839" v="68" actId="1076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8F40484E-1A4A-44C5-A2E8-9A80D22FC275}" dt="2025-06-09T07:59:42.839" v="68" actId="1076"/>
          <ac:spMkLst>
            <pc:docMk/>
            <pc:sldMk cId="0" sldId="269"/>
            <ac:spMk id="8" creationId="{EE169540-353F-AA0D-CE5D-9D92894927AE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36.420" v="2"/>
        <pc:sldMkLst>
          <pc:docMk/>
          <pc:sldMk cId="1378273258" sldId="272"/>
        </pc:sldMkLst>
        <pc:spChg chg="add">
          <ac:chgData name="Bharath Raj" userId="S::bharathraj@devappsys.com::94d9684c-50e3-43a6-bc0f-7d1e94f3ae4e" providerId="AD" clId="Web-{8F40484E-1A4A-44C5-A2E8-9A80D22FC275}" dt="2025-06-09T07:44:36.420" v="2"/>
          <ac:spMkLst>
            <pc:docMk/>
            <pc:sldMk cId="1378273258" sldId="272"/>
            <ac:spMk id="3" creationId="{05E29320-7793-4496-040B-CE09BE69068C}"/>
          </ac:spMkLst>
        </pc:spChg>
      </pc:sldChg>
      <pc:sldChg chg="addSp modSp">
        <pc:chgData name="Bharath Raj" userId="S::bharathraj@devappsys.com::94d9684c-50e3-43a6-bc0f-7d1e94f3ae4e" providerId="AD" clId="Web-{8F40484E-1A4A-44C5-A2E8-9A80D22FC275}" dt="2025-06-09T07:58:37.197" v="67" actId="1076"/>
        <pc:sldMkLst>
          <pc:docMk/>
          <pc:sldMk cId="2783255690" sldId="275"/>
        </pc:sldMkLst>
        <pc:spChg chg="add mod">
          <ac:chgData name="Bharath Raj" userId="S::bharathraj@devappsys.com::94d9684c-50e3-43a6-bc0f-7d1e94f3ae4e" providerId="AD" clId="Web-{8F40484E-1A4A-44C5-A2E8-9A80D22FC275}" dt="2025-06-09T07:58:37.197" v="67" actId="1076"/>
          <ac:spMkLst>
            <pc:docMk/>
            <pc:sldMk cId="2783255690" sldId="275"/>
            <ac:spMk id="11" creationId="{E90389BD-79FA-1FE3-B589-E33CEC2463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arn.microsoft.com/en-us/dotnet/api/system.componentmodel.dataannotations?view=net-8.0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46225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 dirty="0">
                  <a:latin typeface="+mj-lt"/>
                  <a:ea typeface="+mn-lt"/>
                  <a:cs typeface="+mn-lt"/>
                  <a:sym typeface="Heebo Black"/>
                </a:rPr>
                <a:t>PostgreSQL Setup and Schema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  <a:latin typeface="+mj-lt"/>
              </a:rPr>
              <a:pPr/>
              <a:t>2</a:t>
            </a:fld>
            <a:endParaRPr lang="en-GB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+mj-lt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3992"/>
            <a:chOff x="0" y="0"/>
            <a:chExt cx="7398043" cy="12453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7" y="335404"/>
              <a:ext cx="442528" cy="45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Introduction to </a:t>
              </a:r>
              <a:r>
                <a:rPr lang="en-GB" sz="2400" dirty="0" err="1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postgresSql</a:t>
              </a: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 </a:t>
              </a:r>
              <a:endParaRPr lang="en-US" sz="2400" dirty="0">
                <a:latin typeface="+mj-lt"/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941687"/>
            <a:chOff x="0" y="0"/>
            <a:chExt cx="7398043" cy="1255581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984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Installing </a:t>
              </a:r>
              <a:r>
                <a:rPr lang="en-GB" sz="2400" dirty="0" err="1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PostgresSql</a:t>
              </a: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 and </a:t>
              </a:r>
              <a:r>
                <a:rPr lang="en-GB" sz="2400" dirty="0" err="1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pgAdmin</a:t>
              </a:r>
              <a:endParaRPr lang="en-GB" sz="2400" dirty="0">
                <a:solidFill>
                  <a:srgbClr val="33123B"/>
                </a:solidFill>
                <a:latin typeface="+mj-lt"/>
                <a:ea typeface="+mn-lt"/>
                <a:cs typeface="+mn-lt"/>
                <a:sym typeface="Agrandir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4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1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Creating and managing Databases</a:t>
              </a:r>
              <a:endParaRPr lang="en-US" dirty="0">
                <a:latin typeface="+mj-lt"/>
                <a:sym typeface="Agrandir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75098" y="5656690"/>
            <a:ext cx="5548532" cy="935083"/>
            <a:chOff x="0" y="0"/>
            <a:chExt cx="7398043" cy="1246776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10123" y="270697"/>
              <a:ext cx="5587920" cy="976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Naming Conventions and Best practices 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703333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881343"/>
            <a:chOff x="0" y="0"/>
            <a:chExt cx="7398043" cy="1175123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Write SQL for Tables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5656690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Agrandir"/>
                  <a:cs typeface="Agrandir"/>
                </a:rPr>
                <a:t>Developer-Focused Table Design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7033333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3</a:t>
            </a:fld>
            <a:endParaRPr lang="en-GB" sz="2000">
              <a:latin typeface="+mj-lt"/>
              <a:ea typeface="Calibri"/>
              <a:cs typeface="Calibri"/>
            </a:endParaRPr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774356" y="8255160"/>
            <a:ext cx="5548531" cy="881343"/>
            <a:chOff x="0" y="0"/>
            <a:chExt cx="7398043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Calibri"/>
                  <a:cs typeface="Calibri"/>
                </a:rPr>
                <a:t>9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491916" y="2321554"/>
            <a:ext cx="16024561" cy="8309967"/>
            <a:chOff x="-1879027" y="-3087290"/>
            <a:chExt cx="19843829" cy="11079954"/>
          </a:xfrm>
        </p:grpSpPr>
        <p:sp>
          <p:nvSpPr>
            <p:cNvPr id="5" name="TextBox 5"/>
            <p:cNvSpPr txBox="1"/>
            <p:nvPr/>
          </p:nvSpPr>
          <p:spPr>
            <a:xfrm>
              <a:off x="-1879027" y="-3087290"/>
              <a:ext cx="19843829" cy="110799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GB" sz="3200" b="1" dirty="0">
                  <a:latin typeface="+mj-lt"/>
                  <a:ea typeface="+mn-lt"/>
                  <a:cs typeface="Times New Roman" panose="02020603050405020304" pitchFamily="18" charset="0"/>
                  <a:sym typeface="Heebo Black"/>
                </a:rPr>
                <a:t>What is PostgreSQL?</a:t>
              </a:r>
              <a:endParaRPr lang="en-US" sz="3200" dirty="0">
                <a:latin typeface="+mj-lt"/>
                <a:ea typeface="+mn-lt"/>
                <a:cs typeface="Times New Roman" panose="02020603050405020304" pitchFamily="18" charset="0"/>
              </a:endParaRPr>
            </a:p>
            <a:p>
              <a:pPr marL="514350" indent="-514350">
                <a:buFont typeface="+mj-lt"/>
                <a:buAutoNum type="arabicPeriod"/>
              </a:pPr>
              <a:r>
                <a:rPr lang="en-IN" sz="3200" b="1" dirty="0">
                  <a:latin typeface="+mj-lt"/>
                  <a:cs typeface="Times New Roman" panose="02020603050405020304" pitchFamily="18" charset="0"/>
                </a:rPr>
                <a:t>Open-source RDBMS</a:t>
              </a:r>
              <a:endParaRPr lang="en-IN" sz="3200" dirty="0">
                <a:latin typeface="+mj-lt"/>
                <a:cs typeface="Times New Roman" panose="02020603050405020304" pitchFamily="18" charset="0"/>
              </a:endParaRPr>
            </a:p>
            <a:p>
              <a:pPr marL="2343150" lvl="4" indent="-514350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Advanced, open-source relational database system</a:t>
              </a:r>
            </a:p>
            <a:p>
              <a:pPr marL="2343150" lvl="4" indent="-514350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SQL-compliant, supports complex data types</a:t>
              </a:r>
            </a:p>
            <a:p>
              <a:pPr marL="2343150" lvl="4" indent="-514350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Backed by a strong global community</a:t>
              </a:r>
            </a:p>
            <a:p>
              <a:pPr marL="514350" indent="-514350">
                <a:buFont typeface="+mj-lt"/>
                <a:buAutoNum type="arabicPeriod"/>
              </a:pPr>
              <a:r>
                <a:rPr lang="en-IN" sz="3200" b="1" dirty="0">
                  <a:latin typeface="+mj-lt"/>
                  <a:cs typeface="Times New Roman" panose="02020603050405020304" pitchFamily="18" charset="0"/>
                </a:rPr>
                <a:t>Use Cases</a:t>
              </a:r>
              <a:endParaRPr lang="en-IN" sz="3200" dirty="0">
                <a:latin typeface="+mj-lt"/>
                <a:cs typeface="Times New Roman" panose="02020603050405020304" pitchFamily="18" charset="0"/>
              </a:endParaRPr>
            </a:p>
            <a:p>
              <a:pPr marL="2343150" lvl="4" indent="-514350">
                <a:buFont typeface="+mj-lt"/>
                <a:buAutoNum type="arabicPeriod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Web &amp; mobile apps</a:t>
              </a:r>
            </a:p>
            <a:p>
              <a:pPr marL="2343150" lvl="4" indent="-514350">
                <a:buFont typeface="+mj-lt"/>
                <a:buAutoNum type="arabicPeriod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Analytics &amp; data warehousing</a:t>
              </a:r>
            </a:p>
            <a:p>
              <a:pPr marL="2343150" lvl="4" indent="-514350">
                <a:buFont typeface="+mj-lt"/>
                <a:buAutoNum type="arabicPeriod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Financial systems</a:t>
              </a:r>
            </a:p>
            <a:p>
              <a:pPr marL="2343150" lvl="4" indent="-514350">
                <a:buFont typeface="+mj-lt"/>
                <a:buAutoNum type="arabicPeriod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Geospatial apps (</a:t>
              </a:r>
              <a:r>
                <a:rPr lang="en-IN" sz="3200" dirty="0" err="1">
                  <a:latin typeface="+mj-lt"/>
                  <a:cs typeface="Times New Roman" panose="02020603050405020304" pitchFamily="18" charset="0"/>
                </a:rPr>
                <a:t>PostGIS</a:t>
              </a: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)</a:t>
              </a:r>
            </a:p>
            <a:p>
              <a:pPr marL="2343150" lvl="4" indent="-514350">
                <a:buFont typeface="+mj-lt"/>
                <a:buAutoNum type="arabicPeriod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Microservices &amp; cloud-native setups</a:t>
              </a:r>
            </a:p>
            <a:p>
              <a:pPr marL="514350" indent="-514350">
                <a:buFont typeface="+mj-lt"/>
                <a:buAutoNum type="arabicPeriod"/>
              </a:pPr>
              <a:r>
                <a:rPr lang="en-IN" sz="3200" b="1" dirty="0">
                  <a:latin typeface="+mj-lt"/>
                  <a:cs typeface="Times New Roman" panose="02020603050405020304" pitchFamily="18" charset="0"/>
                </a:rPr>
                <a:t>Why Developers Prefer It</a:t>
              </a:r>
              <a:endParaRPr lang="en-IN" sz="3200" dirty="0">
                <a:latin typeface="+mj-lt"/>
                <a:cs typeface="Times New Roman" panose="02020603050405020304" pitchFamily="18" charset="0"/>
              </a:endParaRPr>
            </a:p>
            <a:p>
              <a:pPr marL="2286000" lvl="4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Highly extensible</a:t>
              </a:r>
            </a:p>
            <a:p>
              <a:pPr marL="2286000" lvl="4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Handles both relational &amp; JSON data</a:t>
              </a:r>
            </a:p>
            <a:p>
              <a:pPr marL="2286000" lvl="4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SQL power + NoSQL flexibility</a:t>
              </a:r>
            </a:p>
            <a:p>
              <a:pPr marL="2286000" lvl="4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latin typeface="+mj-lt"/>
                  <a:cs typeface="Times New Roman" panose="02020603050405020304" pitchFamily="18" charset="0"/>
                </a:rPr>
                <a:t>Secure, stable, cloud-ready</a:t>
              </a:r>
            </a:p>
            <a:p>
              <a:pPr marL="914400" lvl="1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latin typeface="+mj-lt"/>
                <a:ea typeface="Calibri"/>
                <a:cs typeface="Times New Roman" panose="02020603050405020304" pitchFamily="18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491916" y="550084"/>
            <a:ext cx="16024561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PostgreSQL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4</a:t>
            </a:fld>
            <a:endParaRPr lang="en-GB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2602348" y="2023643"/>
            <a:ext cx="14656952" cy="8111067"/>
            <a:chOff x="-430454" y="-3484505"/>
            <a:chExt cx="19542604" cy="1081475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430454" y="-3484505"/>
              <a:ext cx="19542604" cy="108147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b="1" dirty="0">
                  <a:latin typeface="+mj-lt"/>
                </a:rPr>
                <a:t>✅ </a:t>
              </a:r>
              <a:r>
                <a:rPr lang="en-US" sz="4000" b="1" dirty="0">
                  <a:latin typeface="+mj-lt"/>
                </a:rPr>
                <a:t>Steps to Create a Model</a:t>
              </a: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US" sz="3500" dirty="0">
                  <a:latin typeface="+mj-lt"/>
                </a:rPr>
                <a:t>Define a class with relevant properties</a:t>
              </a: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3500" dirty="0">
                  <a:latin typeface="+mj-lt"/>
                </a:rPr>
                <a:t>Use appropriate data types (e.g., int, string, DateTime)</a:t>
              </a: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3500" dirty="0">
                  <a:latin typeface="+mj-lt"/>
                </a:rPr>
                <a:t> Add constructors if needed for initialization</a:t>
              </a: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3500" dirty="0">
                  <a:latin typeface="+mj-lt"/>
                  <a:ea typeface="+mn-lt"/>
                  <a:cs typeface="+mn-lt"/>
                </a:rPr>
                <a:t>Apply data annotations for validation or metadata</a:t>
              </a:r>
            </a:p>
            <a:p>
              <a:pPr lvl="2" algn="just">
                <a:lnSpc>
                  <a:spcPct val="150000"/>
                </a:lnSpc>
              </a:pPr>
              <a:r>
                <a:rPr lang="en-IN" sz="3500" dirty="0">
                  <a:latin typeface="+mj-lt"/>
                  <a:ea typeface="+mn-lt"/>
                  <a:cs typeface="+mn-lt"/>
                </a:rPr>
                <a:t>Example :</a:t>
              </a:r>
            </a:p>
            <a:p>
              <a:pPr lvl="2" algn="just">
                <a:lnSpc>
                  <a:spcPct val="150000"/>
                </a:lnSpc>
              </a:pPr>
              <a:endParaRPr lang="en-IN" sz="35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5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500" dirty="0"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GB" sz="35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-1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914457" y="448547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Creating C# Models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5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7CCE63-98D1-CECE-9F1E-29AA02A7A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695" y="7287587"/>
            <a:ext cx="7700209" cy="284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02C8C1-1E0B-E06D-58D1-678792C0C9B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435A2E-F36B-CB1F-DF94-3919EF1205DF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1815524" y="2425778"/>
            <a:ext cx="14656952" cy="7963656"/>
            <a:chOff x="-430453" y="-2692421"/>
            <a:chExt cx="19542604" cy="1061820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430453" y="-2692421"/>
              <a:ext cx="19542604" cy="95008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2" algn="just">
                <a:lnSpc>
                  <a:spcPct val="150000"/>
                </a:lnSpc>
              </a:pPr>
              <a:r>
                <a:rPr lang="en-IN" sz="3200" dirty="0">
                  <a:latin typeface="+mj-lt"/>
                </a:rPr>
                <a:t>📁 </a:t>
              </a:r>
              <a:r>
                <a:rPr lang="en-IN" sz="4000" b="1" dirty="0">
                  <a:latin typeface="+mj-lt"/>
                </a:rPr>
                <a:t>Recommended Folder Structure</a:t>
              </a:r>
              <a:endParaRPr lang="en-IN" sz="4000" b="1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latin typeface="+mj-lt"/>
                <a:ea typeface="+mn-lt"/>
                <a:cs typeface="+mn-lt"/>
              </a:endParaRPr>
            </a:p>
            <a:p>
              <a:pPr marL="1428750" lvl="2" indent="-514350" algn="just">
                <a:lnSpc>
                  <a:spcPct val="150000"/>
                </a:lnSpc>
                <a:buFont typeface="+mj-lt"/>
                <a:buAutoNum type="arabicPeriod"/>
              </a:pPr>
              <a:endParaRPr lang="en-IN" sz="3200" dirty="0"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4000" b="1" dirty="0">
                <a:latin typeface="+mj-lt"/>
                <a:ea typeface="+mn-lt"/>
                <a:cs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sz="4000" b="1" dirty="0">
                  <a:latin typeface="+mj-lt"/>
                </a:rPr>
                <a:t>	📌 Separation of Concerns</a:t>
              </a:r>
            </a:p>
            <a:p>
              <a:pPr marL="2743200" lvl="5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+mj-lt"/>
                </a:rPr>
                <a:t>Models: Core domain entities</a:t>
              </a:r>
            </a:p>
            <a:p>
              <a:pPr marL="2743200" lvl="5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+mj-lt"/>
                </a:rPr>
                <a:t>DTOs: For API communication</a:t>
              </a:r>
            </a:p>
            <a:p>
              <a:pPr marL="2743200" lvl="5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+mj-lt"/>
                </a:rPr>
                <a:t>ViewModels: Tailored to UI needs (MVC pattern)</a:t>
              </a:r>
              <a:endParaRPr lang="en-IN" sz="32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932448" y="46331"/>
            <a:ext cx="1601861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Structuring Models in a C# Project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6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F10E13-2C8D-8973-F894-22D6A9B1B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445" y="3446730"/>
            <a:ext cx="8422105" cy="284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3E11-91D7-51BB-393F-8CDAE739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208DF8-33D0-A911-2D28-D70E5485ED0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088BBC-A15C-E4D7-B2EC-7C0FAD141D52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8993745-DDC5-CC72-B03D-2854EC25AD54}"/>
              </a:ext>
            </a:extLst>
          </p:cNvPr>
          <p:cNvGrpSpPr/>
          <p:nvPr/>
        </p:nvGrpSpPr>
        <p:grpSpPr>
          <a:xfrm>
            <a:off x="1477831" y="2023643"/>
            <a:ext cx="15781469" cy="8048998"/>
            <a:chOff x="-1929810" y="-3484505"/>
            <a:chExt cx="21041960" cy="1073199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7B441D-7DC7-F2A6-CF16-65CA67C9F758}"/>
                </a:ext>
              </a:extLst>
            </p:cNvPr>
            <p:cNvSpPr txBox="1"/>
            <p:nvPr/>
          </p:nvSpPr>
          <p:spPr>
            <a:xfrm>
              <a:off x="-1929810" y="-3484505"/>
              <a:ext cx="21041960" cy="107319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b="1" dirty="0"/>
                <a:t>🛠️ Design Tips</a:t>
              </a:r>
            </a:p>
            <a:p>
              <a:pPr marL="1485900" lvl="2" indent="-571500">
                <a:buFont typeface="+mj-lt"/>
                <a:buAutoNum type="romanLcPeriod"/>
              </a:pPr>
              <a:r>
                <a:rPr lang="en-US" sz="3200" dirty="0"/>
                <a:t>Keep models </a:t>
              </a:r>
              <a:r>
                <a:rPr lang="en-US" sz="3200" b="1" dirty="0"/>
                <a:t>simple and focused</a:t>
              </a:r>
              <a:endParaRPr lang="en-US" sz="3200" dirty="0"/>
            </a:p>
            <a:p>
              <a:pPr marL="1485900" lvl="2" indent="-571500">
                <a:buFont typeface="+mj-lt"/>
                <a:buAutoNum type="romanLcPeriod"/>
              </a:pPr>
              <a:r>
                <a:rPr lang="en-US" sz="3200" dirty="0"/>
                <a:t>Avoid putting </a:t>
              </a:r>
              <a:r>
                <a:rPr lang="en-US" sz="3200" b="1" dirty="0"/>
                <a:t>business logic</a:t>
              </a:r>
              <a:r>
                <a:rPr lang="en-US" sz="3200" dirty="0"/>
                <a:t> inside models</a:t>
              </a:r>
            </a:p>
            <a:p>
              <a:pPr marL="1485900" lvl="2" indent="-571500">
                <a:buFont typeface="+mj-lt"/>
                <a:buAutoNum type="romanLcPeriod"/>
              </a:pPr>
              <a:r>
                <a:rPr lang="en-US" sz="3200" dirty="0"/>
                <a:t>Use </a:t>
              </a:r>
              <a:r>
                <a:rPr lang="en-US" sz="3200" b="1" dirty="0"/>
                <a:t>inheritance or interfaces</a:t>
              </a:r>
              <a:r>
                <a:rPr lang="en-US" sz="3200" dirty="0"/>
                <a:t> only when justified</a:t>
              </a:r>
            </a:p>
            <a:p>
              <a:pPr marL="1485900" lvl="2" indent="-571500">
                <a:buFont typeface="+mj-lt"/>
                <a:buAutoNum type="romanLcPeriod"/>
              </a:pPr>
              <a:r>
                <a:rPr lang="en-US" sz="3200" dirty="0"/>
                <a:t>Consider </a:t>
              </a:r>
              <a:r>
                <a:rPr lang="en-US" sz="3200" b="1" dirty="0"/>
                <a:t>record types</a:t>
              </a:r>
              <a:r>
                <a:rPr lang="en-US" sz="3200" dirty="0"/>
                <a:t> for immutability (C# 9+)</a:t>
              </a:r>
            </a:p>
            <a:p>
              <a:endParaRPr lang="en-US" sz="3200" dirty="0"/>
            </a:p>
            <a:p>
              <a:r>
                <a:rPr lang="en-IN" sz="3200" dirty="0"/>
                <a:t>✅ </a:t>
              </a:r>
              <a:r>
                <a:rPr lang="en-IN" sz="3200" b="1" dirty="0"/>
                <a:t>Do's</a:t>
              </a:r>
            </a:p>
            <a:p>
              <a:pPr marL="1428750" lvl="2" indent="-514350">
                <a:buFont typeface="+mj-lt"/>
                <a:buAutoNum type="alphaLcPeriod"/>
              </a:pPr>
              <a:r>
                <a:rPr lang="en-IN" sz="3200" dirty="0"/>
                <a:t>Use validation attributes ([Required],[Range])</a:t>
              </a:r>
            </a:p>
            <a:p>
              <a:pPr marL="1428750" lvl="2" indent="-514350">
                <a:buFont typeface="+mj-lt"/>
                <a:buAutoNum type="alphaLcPeriod"/>
              </a:pPr>
              <a:r>
                <a:rPr lang="en-IN" sz="3200" dirty="0"/>
                <a:t>Keep model names intuitive and singular</a:t>
              </a:r>
            </a:p>
            <a:p>
              <a:pPr marL="1428750" lvl="2" indent="-514350">
                <a:buFont typeface="+mj-lt"/>
                <a:buAutoNum type="alphaLcPeriod"/>
              </a:pPr>
              <a:r>
                <a:rPr lang="en-IN" sz="3200" dirty="0"/>
                <a:t>Use separate models for read and write operations if needed</a:t>
              </a:r>
            </a:p>
            <a:p>
              <a:endParaRPr lang="en-IN" sz="3200" dirty="0"/>
            </a:p>
            <a:p>
              <a:r>
                <a:rPr lang="en-US" sz="3200" b="1" dirty="0"/>
                <a:t>❌ Don'ts</a:t>
              </a:r>
            </a:p>
            <a:p>
              <a:pPr marL="1485900" lvl="2" indent="-571500">
                <a:buFont typeface="+mj-lt"/>
                <a:buAutoNum type="romanUcPeriod"/>
              </a:pPr>
              <a:r>
                <a:rPr lang="en-US" sz="3200" dirty="0"/>
                <a:t>Don’t overload models with unrelated responsibilities</a:t>
              </a:r>
            </a:p>
            <a:p>
              <a:pPr marL="1485900" lvl="2" indent="-571500">
                <a:buFont typeface="+mj-lt"/>
                <a:buAutoNum type="romanUcPeriod"/>
              </a:pPr>
              <a:r>
                <a:rPr lang="en-US" sz="3200" dirty="0"/>
                <a:t>Don’t couple models tightly with UI or database schemas</a:t>
              </a:r>
            </a:p>
            <a:p>
              <a:endParaRPr lang="en-IN" sz="3200" dirty="0"/>
            </a:p>
            <a:p>
              <a:pPr lvl="2" algn="just">
                <a:lnSpc>
                  <a:spcPct val="150000"/>
                </a:lnSpc>
              </a:pPr>
              <a:endParaRPr lang="en-GB" sz="3200" dirty="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F1CAED-5D16-9199-0B16-CD7CD2A2A57D}"/>
                </a:ext>
              </a:extLst>
            </p:cNvPr>
            <p:cNvSpPr txBox="1"/>
            <p:nvPr/>
          </p:nvSpPr>
          <p:spPr>
            <a:xfrm>
              <a:off x="-1" y="-9525"/>
              <a:ext cx="15443232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D83F16-E3A3-E4AC-C172-3897C3756A3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7B3155-9CC7-7E95-EA14-5A726F8570E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368CFA-B0D8-314E-B6FB-1538CBA04A86}"/>
              </a:ext>
            </a:extLst>
          </p:cNvPr>
          <p:cNvSpPr txBox="1"/>
          <p:nvPr/>
        </p:nvSpPr>
        <p:spPr>
          <a:xfrm>
            <a:off x="1914457" y="448547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Best Practices for Model Design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46DB02-7BCC-B5B4-E2D3-40EA12F9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7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145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EFA93-C7C0-290A-B8CC-30EDD6C5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F952ED-FF07-D856-7D9C-3C3CA1F3338C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FA41F5-2EB7-5769-C0E0-5ED6B6ADCB3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63F986B-B9D7-2639-6F98-2E2E38CB01C2}"/>
              </a:ext>
            </a:extLst>
          </p:cNvPr>
          <p:cNvGrpSpPr/>
          <p:nvPr/>
        </p:nvGrpSpPr>
        <p:grpSpPr>
          <a:xfrm>
            <a:off x="1828800" y="2655289"/>
            <a:ext cx="15687677" cy="7638245"/>
            <a:chOff x="-1352646" y="-2177214"/>
            <a:chExt cx="19426653" cy="1018432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00B059D-4176-217A-FB63-9A2AE647E6BA}"/>
                </a:ext>
              </a:extLst>
            </p:cNvPr>
            <p:cNvSpPr txBox="1"/>
            <p:nvPr/>
          </p:nvSpPr>
          <p:spPr>
            <a:xfrm>
              <a:off x="-1352646" y="-2177214"/>
              <a:ext cx="19426653" cy="101843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IN" sz="3200" b="1" dirty="0"/>
                <a:t>✅ What Are DataAnnotations?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Attributes that add </a:t>
              </a:r>
              <a:r>
                <a:rPr lang="en-US" sz="3200" b="1" dirty="0"/>
                <a:t>validation rules</a:t>
              </a:r>
              <a:r>
                <a:rPr lang="en-US" sz="3200" dirty="0"/>
                <a:t> or metadata to model properties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Found in the System.ComponentModel.DataAnnotations namespace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Ensure </a:t>
              </a:r>
              <a:r>
                <a:rPr lang="en-US" sz="3200" b="1" dirty="0"/>
                <a:t>data integrity</a:t>
              </a:r>
              <a:r>
                <a:rPr lang="en-US" sz="3200" dirty="0"/>
                <a:t> before processing or persisting data</a:t>
              </a:r>
            </a:p>
            <a:p>
              <a:pPr algn="just">
                <a:lnSpc>
                  <a:spcPts val="3600"/>
                </a:lnSpc>
              </a:pPr>
              <a:endParaRPr lang="en-IN" sz="3200" b="1" dirty="0"/>
            </a:p>
            <a:p>
              <a:pPr algn="just">
                <a:lnSpc>
                  <a:spcPts val="3600"/>
                </a:lnSpc>
              </a:pPr>
              <a:r>
                <a:rPr lang="en-IN" sz="3200" dirty="0"/>
                <a:t>🧰 Common Validation Attributes:</a:t>
              </a:r>
              <a:endParaRPr lang="en-US" sz="3200" b="1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IN" sz="3200" b="1" dirty="0"/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200" b="1" dirty="0">
                <a:ea typeface="Calibri"/>
                <a:cs typeface="Calibri"/>
              </a:endParaRP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200" b="1" dirty="0">
                <a:ea typeface="Calibri"/>
                <a:cs typeface="Calibri"/>
              </a:endParaRP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200" b="1" dirty="0">
                <a:ea typeface="Calibri"/>
                <a:cs typeface="Calibri"/>
              </a:endParaRP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200" b="1" dirty="0">
                <a:ea typeface="Calibri"/>
                <a:cs typeface="Calibri"/>
              </a:endParaRP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b="1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4E6E84-98C5-DBD2-7B68-668EB2157A64}"/>
                </a:ext>
              </a:extLst>
            </p:cNvPr>
            <p:cNvSpPr txBox="1"/>
            <p:nvPr/>
          </p:nvSpPr>
          <p:spPr>
            <a:xfrm>
              <a:off x="0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9AD13DA-7A8E-BE84-9266-410D963419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9F666ED-E6CC-CBEA-AC9A-15194D97D44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31F41E-A525-2A45-5ED0-D6AD9902663F}"/>
              </a:ext>
            </a:extLst>
          </p:cNvPr>
          <p:cNvSpPr txBox="1"/>
          <p:nvPr/>
        </p:nvSpPr>
        <p:spPr>
          <a:xfrm>
            <a:off x="1034010" y="162788"/>
            <a:ext cx="17253989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Built-in Validation with DataAnnotations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5CA1941-B8D8-7446-3E13-652C097F375C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E08257F-B16F-6FA6-C66D-218A5FD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8</a:t>
            </a:fld>
            <a:endParaRPr lang="en-GB" sz="200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E9C41F-9975-7C43-EB2A-028A415B1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337908"/>
              </p:ext>
            </p:extLst>
          </p:nvPr>
        </p:nvGraphicFramePr>
        <p:xfrm>
          <a:off x="3209787" y="6479062"/>
          <a:ext cx="1266852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3901">
                  <a:extLst>
                    <a:ext uri="{9D8B030D-6E8A-4147-A177-3AD203B41FA5}">
                      <a16:colId xmlns:a16="http://schemas.microsoft.com/office/drawing/2014/main" val="3975296682"/>
                    </a:ext>
                  </a:extLst>
                </a:gridCol>
                <a:gridCol w="9034625">
                  <a:extLst>
                    <a:ext uri="{9D8B030D-6E8A-4147-A177-3AD203B41FA5}">
                      <a16:colId xmlns:a16="http://schemas.microsoft.com/office/drawing/2014/main" val="3039749741"/>
                    </a:ext>
                  </a:extLst>
                </a:gridCol>
              </a:tblGrid>
              <a:tr h="565989">
                <a:tc>
                  <a:txBody>
                    <a:bodyPr/>
                    <a:lstStyle/>
                    <a:p>
                      <a:r>
                        <a:rPr lang="en-IN" sz="3200" dirty="0"/>
                        <a:t>Attribute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91520"/>
                  </a:ext>
                </a:extLst>
              </a:tr>
              <a:tr h="565989">
                <a:tc>
                  <a:txBody>
                    <a:bodyPr/>
                    <a:lstStyle/>
                    <a:p>
                      <a:r>
                        <a:rPr lang="en-IN" sz="3200" b="1" dirty="0"/>
                        <a:t>[Required]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Ensures the field is not null/empty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808951"/>
                  </a:ext>
                </a:extLst>
              </a:tr>
              <a:tr h="565989">
                <a:tc>
                  <a:txBody>
                    <a:bodyPr/>
                    <a:lstStyle/>
                    <a:p>
                      <a:r>
                        <a:rPr lang="en-IN" sz="3200" b="1" dirty="0"/>
                        <a:t>[StringLength]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Limits string length (min/max)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936087"/>
                  </a:ext>
                </a:extLst>
              </a:tr>
              <a:tr h="565989">
                <a:tc>
                  <a:txBody>
                    <a:bodyPr/>
                    <a:lstStyle/>
                    <a:p>
                      <a:r>
                        <a:rPr lang="en-IN" sz="3200" b="1" dirty="0"/>
                        <a:t>[Range]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Validates numeric or date ranges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738411"/>
                  </a:ext>
                </a:extLst>
              </a:tr>
              <a:tr h="565989">
                <a:tc>
                  <a:txBody>
                    <a:bodyPr/>
                    <a:lstStyle/>
                    <a:p>
                      <a:r>
                        <a:rPr lang="en-IN" sz="3200" b="1" dirty="0"/>
                        <a:t>[EmailAddress]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Validates correct email format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449611"/>
                  </a:ext>
                </a:extLst>
              </a:tr>
              <a:tr h="565989">
                <a:tc>
                  <a:txBody>
                    <a:bodyPr/>
                    <a:lstStyle/>
                    <a:p>
                      <a:r>
                        <a:rPr lang="en-IN" sz="3200" b="1" dirty="0"/>
                        <a:t>[Compare]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Compares two fields (e.g., passwords)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446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127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D8361-9DC4-A6BB-92BD-4675F965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F7FC23-48D3-274A-2961-EF7C3A3CC837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DE5BD4A-84A4-8CA8-B5E4-ADD592284831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BD42B98-2BEC-8781-DA30-BE3A9C6CDB18}"/>
              </a:ext>
            </a:extLst>
          </p:cNvPr>
          <p:cNvGrpSpPr/>
          <p:nvPr/>
        </p:nvGrpSpPr>
        <p:grpSpPr>
          <a:xfrm>
            <a:off x="1195551" y="1837142"/>
            <a:ext cx="15687677" cy="8264442"/>
            <a:chOff x="-1352646" y="-2177214"/>
            <a:chExt cx="19426653" cy="1101925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85C7195-EC8B-61D5-D75A-CF1FDE23742E}"/>
                </a:ext>
              </a:extLst>
            </p:cNvPr>
            <p:cNvSpPr txBox="1"/>
            <p:nvPr/>
          </p:nvSpPr>
          <p:spPr>
            <a:xfrm>
              <a:off x="-1352646" y="-2177214"/>
              <a:ext cx="19426653" cy="110192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IN" sz="3200" b="1" dirty="0"/>
                <a:t>✅ 	Example Model with Annotations</a:t>
              </a:r>
            </a:p>
            <a:p>
              <a:pPr lvl="2" algn="just">
                <a:lnSpc>
                  <a:spcPct val="150000"/>
                </a:lnSpc>
              </a:pPr>
              <a:endParaRPr lang="en-IN" sz="3200" b="1" dirty="0"/>
            </a:p>
            <a:p>
              <a:pPr lvl="2" algn="just">
                <a:lnSpc>
                  <a:spcPct val="150000"/>
                </a:lnSpc>
              </a:pPr>
              <a:endParaRPr lang="en-IN" sz="3200" b="1" dirty="0">
                <a:ea typeface="Calibri"/>
                <a:cs typeface="Calibri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b="1" dirty="0">
                <a:ea typeface="Calibri"/>
                <a:cs typeface="Calibri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b="1" dirty="0">
                <a:ea typeface="Calibri"/>
                <a:cs typeface="Calibri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b="1" dirty="0">
                <a:ea typeface="Calibri"/>
                <a:cs typeface="Calibri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b="1" dirty="0">
                <a:ea typeface="Calibri"/>
                <a:cs typeface="Calibri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b="1" dirty="0">
                <a:ea typeface="Calibri"/>
                <a:cs typeface="Calibri"/>
              </a:endParaRPr>
            </a:p>
            <a:p>
              <a:r>
                <a:rPr lang="en-US" sz="3200" b="1" dirty="0"/>
                <a:t>🧩 Benefits: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Enforces validation at the </a:t>
              </a:r>
              <a:r>
                <a:rPr lang="en-US" sz="3200" b="1" dirty="0"/>
                <a:t>model level</a:t>
              </a:r>
              <a:endParaRPr lang="en-US" sz="3200" dirty="0"/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Reduces boilerplate validation code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Works seamlessly with </a:t>
              </a:r>
              <a:r>
                <a:rPr lang="en-US" sz="3200" b="1" dirty="0"/>
                <a:t>MVC model binding</a:t>
              </a:r>
              <a:r>
                <a:rPr lang="en-US" sz="3200" dirty="0"/>
                <a:t> and </a:t>
              </a:r>
              <a:r>
                <a:rPr lang="en-US" sz="3200" b="1" dirty="0"/>
                <a:t>Web API</a:t>
              </a:r>
              <a:endParaRPr lang="en-US" sz="320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ED56E7B-7AB6-0A34-F8A9-A7D69DB9C0DA}"/>
                </a:ext>
              </a:extLst>
            </p:cNvPr>
            <p:cNvSpPr txBox="1"/>
            <p:nvPr/>
          </p:nvSpPr>
          <p:spPr>
            <a:xfrm>
              <a:off x="0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DC25113-77B9-DC3B-B79F-72CA7738F05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6DB4F4-6B2C-9B07-BE3D-F9DD4654820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B1F4B0E-9F4A-5099-5B2D-9CBB30442A2E}"/>
              </a:ext>
            </a:extLst>
          </p:cNvPr>
          <p:cNvSpPr txBox="1"/>
          <p:nvPr/>
        </p:nvSpPr>
        <p:spPr>
          <a:xfrm>
            <a:off x="1034011" y="201236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Using DataAnnotations in Models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DBF70B5-75D7-373B-3E6B-0E80828DB1C1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F4994CD-F4B6-0F3E-A909-4750750E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9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733BA6-0419-4C28-54BC-6F8F8372B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962" y="2614450"/>
            <a:ext cx="9938084" cy="477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21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4B21C-103B-D09B-0C36-D9BEE37C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B40D5A-ACE0-349A-3464-74475C843E13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A8A932-1FAD-227C-A00B-4469EC03FECB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4E3313E-71D9-F5F7-A130-E8056F0DF651}"/>
              </a:ext>
            </a:extLst>
          </p:cNvPr>
          <p:cNvSpPr txBox="1"/>
          <p:nvPr/>
        </p:nvSpPr>
        <p:spPr>
          <a:xfrm>
            <a:off x="1916987" y="2871857"/>
            <a:ext cx="15687677" cy="6437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IN" sz="3200" dirty="0"/>
              <a:t>🖥️ </a:t>
            </a:r>
            <a:r>
              <a:rPr lang="en-IN" sz="3200" b="1" dirty="0"/>
              <a:t>Web Applications (ASP.NET MVC / Web API)</a:t>
            </a: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Validation runs </a:t>
            </a:r>
            <a:r>
              <a:rPr lang="en-US" sz="3200" b="1" dirty="0"/>
              <a:t>automatically</a:t>
            </a:r>
            <a:r>
              <a:rPr lang="en-US" sz="3200" dirty="0"/>
              <a:t> during model binding.</a:t>
            </a: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Use ModelState.IsValid to check if input data is valid.</a:t>
            </a:r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b="1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b="1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b="1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b="1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3000" b="1" dirty="0">
              <a:ea typeface="Calibri"/>
              <a:cs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1277B3E-9901-5B76-7675-9E723C7612C8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8CBFF86-3B62-8914-10AB-8CC97FD16DF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0954D1-BD1A-236B-917F-02E7D9D6E88A}"/>
              </a:ext>
            </a:extLst>
          </p:cNvPr>
          <p:cNvSpPr txBox="1"/>
          <p:nvPr/>
        </p:nvSpPr>
        <p:spPr>
          <a:xfrm>
            <a:off x="1034010" y="162788"/>
            <a:ext cx="17253989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Applying Validation In Different App Types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55E730B-6DB3-ED4A-30FA-1409FD601689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56D1CAD-856C-D582-5075-8930F0F0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10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8AC383-611A-FB94-927B-C010410EC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760" y="4981130"/>
            <a:ext cx="7194884" cy="447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44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2600-9FD3-B937-F501-ACACA49A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C23FA7-854F-C69D-7F97-194CE0ABE0C8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EE17274-B7A6-197C-6F67-A480B0469916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8990862-9CCC-9088-74D4-ACE39FE6CC96}"/>
              </a:ext>
            </a:extLst>
          </p:cNvPr>
          <p:cNvSpPr txBox="1"/>
          <p:nvPr/>
        </p:nvSpPr>
        <p:spPr>
          <a:xfrm>
            <a:off x="2105970" y="2420619"/>
            <a:ext cx="15687677" cy="8007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IN" sz="3200" dirty="0"/>
              <a:t>📦 </a:t>
            </a:r>
            <a:r>
              <a:rPr lang="en-IN" sz="3200" b="1" dirty="0"/>
              <a:t>Console Apps / Unit Tests</a:t>
            </a: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Use Validator.TryValidateObject for manual validation.</a:t>
            </a: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Requires reference to System.ComponentModel.DataAnnotations</a:t>
            </a:r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r>
              <a:rPr lang="en-US" sz="3200" dirty="0"/>
              <a:t>🧩 </a:t>
            </a:r>
            <a:r>
              <a:rPr lang="en-US" sz="3200" b="1" dirty="0"/>
              <a:t>When to Use What?</a:t>
            </a:r>
            <a:endParaRPr lang="en-IN" sz="3200" b="1" dirty="0"/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b="1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b="1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b="1" dirty="0"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3000" b="1" dirty="0">
              <a:ea typeface="Calibri"/>
              <a:cs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015A1E2-53F7-D4D9-5BE1-9F1EEB5786E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A2098B-E13F-946F-C29A-36EA7BDEEEB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81D3C0B-4D85-763D-BAE5-70A213F95186}"/>
              </a:ext>
            </a:extLst>
          </p:cNvPr>
          <p:cNvSpPr txBox="1"/>
          <p:nvPr/>
        </p:nvSpPr>
        <p:spPr>
          <a:xfrm>
            <a:off x="1034010" y="162788"/>
            <a:ext cx="17253989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Applying Validation In Different App Types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6BEE045-F524-F57F-DDD1-B5F6B897B19B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366F703-D15A-D5D3-6A25-3802913E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11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E53BE7-3030-0F2D-19F0-4F8F11527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566" y="4384803"/>
            <a:ext cx="10410867" cy="253915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2C522C-80A9-F8AF-7027-FF9290A12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947379"/>
              </p:ext>
            </p:extLst>
          </p:nvPr>
        </p:nvGraphicFramePr>
        <p:xfrm>
          <a:off x="3586635" y="7866381"/>
          <a:ext cx="12192000" cy="225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66846266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748444781"/>
                    </a:ext>
                  </a:extLst>
                </a:gridCol>
              </a:tblGrid>
              <a:tr h="566397">
                <a:tc>
                  <a:txBody>
                    <a:bodyPr/>
                    <a:lstStyle/>
                    <a:p>
                      <a:r>
                        <a:rPr lang="en-IN" dirty="0"/>
                        <a:t>Application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Validation 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580503"/>
                  </a:ext>
                </a:extLst>
              </a:tr>
              <a:tr h="558639">
                <a:tc>
                  <a:txBody>
                    <a:bodyPr/>
                    <a:lstStyle/>
                    <a:p>
                      <a:r>
                        <a:rPr lang="en-IN" dirty="0"/>
                        <a:t>Web App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ModelState.IsValid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532277"/>
                  </a:ext>
                </a:extLst>
              </a:tr>
              <a:tr h="566397">
                <a:tc>
                  <a:txBody>
                    <a:bodyPr/>
                    <a:lstStyle/>
                    <a:p>
                      <a:r>
                        <a:rPr lang="en-IN" dirty="0"/>
                        <a:t>Console App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Validator.TryValidateObject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312069"/>
                  </a:ext>
                </a:extLst>
              </a:tr>
              <a:tr h="566397">
                <a:tc>
                  <a:txBody>
                    <a:bodyPr/>
                    <a:lstStyle/>
                    <a:p>
                      <a:r>
                        <a:rPr lang="en-IN" dirty="0"/>
                        <a:t>Unit Tests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Validator.TryValidateObject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182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599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EA7A-F9C1-3D80-C6F6-27A1B65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3470B6-9D9E-6E9E-149D-478F500162DA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73B2A97-7C08-56D5-64E8-814B3ED13664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D628C7-EB07-C2EF-8CA6-A8A98C98C8A8}"/>
              </a:ext>
            </a:extLst>
          </p:cNvPr>
          <p:cNvSpPr txBox="1"/>
          <p:nvPr/>
        </p:nvSpPr>
        <p:spPr>
          <a:xfrm>
            <a:off x="1566313" y="2614450"/>
            <a:ext cx="15687677" cy="6924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IN" sz="3200" dirty="0"/>
              <a:t>✅ </a:t>
            </a:r>
            <a:r>
              <a:rPr lang="en-IN" sz="3200" b="1" dirty="0"/>
              <a:t>Sample Model:</a:t>
            </a:r>
          </a:p>
          <a:p>
            <a:pPr algn="just">
              <a:lnSpc>
                <a:spcPts val="3600"/>
              </a:lnSpc>
            </a:pPr>
            <a:endParaRPr lang="en-US" sz="3200" dirty="0"/>
          </a:p>
          <a:p>
            <a:pPr algn="just">
              <a:lnSpc>
                <a:spcPts val="3600"/>
              </a:lnSpc>
            </a:pPr>
            <a:endParaRPr lang="en-US" sz="3200" dirty="0"/>
          </a:p>
          <a:p>
            <a:pPr algn="just">
              <a:lnSpc>
                <a:spcPts val="3600"/>
              </a:lnSpc>
            </a:pPr>
            <a:endParaRPr lang="en-US" sz="3200" dirty="0"/>
          </a:p>
          <a:p>
            <a:pPr algn="just">
              <a:lnSpc>
                <a:spcPts val="3600"/>
              </a:lnSpc>
            </a:pPr>
            <a:endParaRPr lang="en-US" sz="3200" dirty="0"/>
          </a:p>
          <a:p>
            <a:pPr algn="just">
              <a:lnSpc>
                <a:spcPts val="3600"/>
              </a:lnSpc>
            </a:pPr>
            <a:r>
              <a:rPr lang="en-US" sz="3200" dirty="0"/>
              <a:t>.</a:t>
            </a:r>
          </a:p>
          <a:p>
            <a:pPr algn="just">
              <a:lnSpc>
                <a:spcPts val="3600"/>
              </a:lnSpc>
            </a:pPr>
            <a:endParaRPr lang="en-IN" sz="3200" dirty="0"/>
          </a:p>
          <a:p>
            <a:pPr algn="just">
              <a:lnSpc>
                <a:spcPts val="3600"/>
              </a:lnSpc>
            </a:pPr>
            <a:endParaRPr lang="en-IN" sz="3200" dirty="0"/>
          </a:p>
          <a:p>
            <a:pPr algn="just">
              <a:lnSpc>
                <a:spcPts val="3600"/>
              </a:lnSpc>
            </a:pPr>
            <a:endParaRPr lang="en-IN" sz="3200" dirty="0"/>
          </a:p>
          <a:p>
            <a:pPr algn="just">
              <a:lnSpc>
                <a:spcPts val="3600"/>
              </a:lnSpc>
            </a:pPr>
            <a:endParaRPr lang="en-IN" sz="3200" dirty="0"/>
          </a:p>
          <a:p>
            <a:pPr algn="just">
              <a:lnSpc>
                <a:spcPts val="3600"/>
              </a:lnSpc>
            </a:pPr>
            <a:r>
              <a:rPr lang="en-IN" sz="3200" dirty="0"/>
              <a:t>❌ </a:t>
            </a:r>
            <a:r>
              <a:rPr lang="en-IN" sz="3200" b="1" dirty="0"/>
              <a:t>Sample Output (Console):</a:t>
            </a:r>
            <a:endParaRPr lang="en-US" sz="3200" b="1" dirty="0">
              <a:ea typeface="Calibri"/>
              <a:cs typeface="Calibri"/>
            </a:endParaRPr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5B4D676-4842-F3DE-F2EC-016D024184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21D39FF-08F5-625D-FD13-1A66DF12BE4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BF274D8-B5B8-FF16-6B80-463D35FCE95B}"/>
              </a:ext>
            </a:extLst>
          </p:cNvPr>
          <p:cNvSpPr txBox="1"/>
          <p:nvPr/>
        </p:nvSpPr>
        <p:spPr>
          <a:xfrm>
            <a:off x="1034010" y="162788"/>
            <a:ext cx="17253989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Example Output from Manual Validation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04143BA-6F9B-B5DE-929F-F1B017B2095D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3F2A466-48BC-9186-59DE-3E813265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12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F23543-6A80-999C-1472-86FB8D95C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032" y="2907361"/>
            <a:ext cx="6833936" cy="390366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500F68B0-8CED-A022-643C-4BA9072C3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5343"/>
            <a:ext cx="233589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❌ Sample Output (Console):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swift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4B3955-9D2A-06A6-58B2-225A947BD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032" y="8018266"/>
            <a:ext cx="6833936" cy="163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83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626A-12BA-747A-C8DB-3AF04B6E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3BC89B-198E-95E7-CAB8-49D9950B4399}"/>
              </a:ext>
            </a:extLst>
          </p:cNvPr>
          <p:cNvSpPr/>
          <p:nvPr/>
        </p:nvSpPr>
        <p:spPr>
          <a:xfrm>
            <a:off x="-832918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856D57A-79A1-557B-10E9-6C76D7352A37}"/>
              </a:ext>
            </a:extLst>
          </p:cNvPr>
          <p:cNvSpPr/>
          <p:nvPr/>
        </p:nvSpPr>
        <p:spPr>
          <a:xfrm>
            <a:off x="-833271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BC1F9EA-ABAE-A6CC-DD7F-74AFBC992DF6}"/>
              </a:ext>
            </a:extLst>
          </p:cNvPr>
          <p:cNvGrpSpPr/>
          <p:nvPr/>
        </p:nvGrpSpPr>
        <p:grpSpPr>
          <a:xfrm>
            <a:off x="2440280" y="1805145"/>
            <a:ext cx="14491159" cy="8863965"/>
            <a:chOff x="-3070723" y="-3766800"/>
            <a:chExt cx="21833974" cy="1175879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11B476D-250C-9356-4E61-619F8DF47597}"/>
                </a:ext>
              </a:extLst>
            </p:cNvPr>
            <p:cNvSpPr txBox="1"/>
            <p:nvPr/>
          </p:nvSpPr>
          <p:spPr>
            <a:xfrm>
              <a:off x="-3070723" y="-3766800"/>
              <a:ext cx="21833974" cy="117587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IN" sz="3200" dirty="0"/>
                <a:t>🛠️ </a:t>
              </a:r>
              <a:r>
                <a:rPr lang="en-IN" sz="3200" b="1" dirty="0"/>
                <a:t>Why Custom Validation?</a:t>
              </a:r>
              <a:r>
                <a:rPr lang="en-GB" sz="3200" b="1" dirty="0">
                  <a:ea typeface="+mn-lt"/>
                  <a:cs typeface="+mn-lt"/>
                </a:rPr>
                <a:t> 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3200" dirty="0">
                  <a:ea typeface="+mn-lt"/>
                  <a:cs typeface="+mn-lt"/>
                </a:rPr>
                <a:t>Built-in attributes( [Required] , [Range] ,etc) are great for common scenarios.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But sometimes you need </a:t>
              </a:r>
              <a:r>
                <a:rPr lang="en-US" sz="3200" b="1" dirty="0"/>
                <a:t>custom rules</a:t>
              </a:r>
              <a:r>
                <a:rPr lang="en-US" sz="3200" dirty="0"/>
                <a:t>, like:</a:t>
              </a:r>
              <a:r>
                <a:rPr lang="en-GB" sz="3200" dirty="0">
                  <a:ea typeface="+mn-lt"/>
                  <a:cs typeface="+mn-lt"/>
                </a:rPr>
                <a:t> </a:t>
              </a:r>
            </a:p>
            <a:p>
              <a:pPr marL="2400300" lvl="4" indent="-571500" algn="just">
                <a:lnSpc>
                  <a:spcPct val="150000"/>
                </a:lnSpc>
                <a:buFont typeface="+mj-lt"/>
                <a:buAutoNum type="romanLcPeriod"/>
              </a:pPr>
              <a:r>
                <a:rPr lang="en-GB" sz="3200" dirty="0">
                  <a:ea typeface="+mn-lt"/>
                  <a:cs typeface="+mn-lt"/>
                </a:rPr>
                <a:t>Dates must be in the future</a:t>
              </a:r>
            </a:p>
            <a:p>
              <a:pPr marL="2400300" lvl="4" indent="-571500" algn="just">
                <a:lnSpc>
                  <a:spcPct val="150000"/>
                </a:lnSpc>
                <a:buFont typeface="+mj-lt"/>
                <a:buAutoNum type="romanLcPeriod"/>
              </a:pPr>
              <a:r>
                <a:rPr lang="en-GB" sz="3200" dirty="0">
                  <a:ea typeface="+mn-lt"/>
                  <a:cs typeface="+mn-lt"/>
                </a:rPr>
                <a:t>ID’s must match a specific format(e.g., prefix + digits)</a:t>
              </a:r>
            </a:p>
            <a:p>
              <a:pPr marL="2400300" lvl="4" indent="-571500" algn="just">
                <a:lnSpc>
                  <a:spcPts val="3600"/>
                </a:lnSpc>
                <a:buFont typeface="+mj-lt"/>
                <a:buAutoNum type="romanLcPeriod"/>
              </a:pPr>
              <a:endParaRPr lang="en-GB" sz="3200" dirty="0">
                <a:ea typeface="+mn-lt"/>
                <a:cs typeface="+mn-lt"/>
              </a:endParaRPr>
            </a:p>
            <a:p>
              <a:pPr algn="just">
                <a:lnSpc>
                  <a:spcPct val="150000"/>
                </a:lnSpc>
              </a:pPr>
              <a:r>
                <a:rPr lang="en-IN" sz="3200" dirty="0"/>
                <a:t>🛠️ </a:t>
              </a:r>
              <a:r>
                <a:rPr lang="en-IN" sz="3200" b="1" dirty="0"/>
                <a:t>Create a Custom Attribute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3200" dirty="0">
                  <a:ea typeface="+mn-lt"/>
                  <a:cs typeface="+mn-lt"/>
                </a:rPr>
                <a:t>Inherit from ValidationAttribute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3200" dirty="0">
                  <a:ea typeface="+mn-lt"/>
                  <a:cs typeface="+mn-lt"/>
                </a:rPr>
                <a:t>Override IsValid (object value) method</a:t>
              </a: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A389BB0-32A8-3A60-5E5E-8A96912EF262}"/>
                </a:ext>
              </a:extLst>
            </p:cNvPr>
            <p:cNvSpPr txBox="1"/>
            <p:nvPr/>
          </p:nvSpPr>
          <p:spPr>
            <a:xfrm>
              <a:off x="0" y="-9525"/>
              <a:ext cx="15443230" cy="616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B83700D-0BD2-3090-4526-1A3E4EAC98A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6C91306-3429-7E07-EBEF-1F988C9EFA3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B9693A-628F-8041-7BC9-5F1E902449D1}"/>
              </a:ext>
            </a:extLst>
          </p:cNvPr>
          <p:cNvSpPr txBox="1"/>
          <p:nvPr/>
        </p:nvSpPr>
        <p:spPr>
          <a:xfrm>
            <a:off x="1626161" y="258036"/>
            <a:ext cx="1627906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Custom Validation Logic in C#</a:t>
            </a:r>
            <a:endParaRPr lang="en-US" sz="9000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0FBD77A-4FC9-AF33-24F3-5E5B90BD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13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F2C430-4039-155C-2ABF-0EECCC305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315" y="7851297"/>
            <a:ext cx="11155405" cy="228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7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D8C19-128F-1E7A-033E-873AAD85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A8DF9D-6B16-6E85-3762-AAAA8BD69814}"/>
              </a:ext>
            </a:extLst>
          </p:cNvPr>
          <p:cNvSpPr/>
          <p:nvPr/>
        </p:nvSpPr>
        <p:spPr>
          <a:xfrm>
            <a:off x="-1714592" y="40924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F93CC97-39B1-72D0-A21E-F5A33CC0DAB0}"/>
              </a:ext>
            </a:extLst>
          </p:cNvPr>
          <p:cNvSpPr/>
          <p:nvPr/>
        </p:nvSpPr>
        <p:spPr>
          <a:xfrm>
            <a:off x="-171459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5A7A01F-A83D-7D62-F962-3FE5B265AA42}"/>
              </a:ext>
            </a:extLst>
          </p:cNvPr>
          <p:cNvGrpSpPr/>
          <p:nvPr/>
        </p:nvGrpSpPr>
        <p:grpSpPr>
          <a:xfrm>
            <a:off x="1419949" y="1620381"/>
            <a:ext cx="14491159" cy="8309967"/>
            <a:chOff x="-4448459" y="-3862565"/>
            <a:chExt cx="21833974" cy="1102386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98A694A-A821-7497-6133-E0101AD388C5}"/>
                </a:ext>
              </a:extLst>
            </p:cNvPr>
            <p:cNvSpPr txBox="1"/>
            <p:nvPr/>
          </p:nvSpPr>
          <p:spPr>
            <a:xfrm>
              <a:off x="-4448459" y="-3862565"/>
              <a:ext cx="21833974" cy="110238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US" sz="3200" dirty="0"/>
                <a:t>🧩 </a:t>
              </a:r>
              <a:r>
                <a:rPr lang="en-US" sz="3200" b="1" dirty="0"/>
                <a:t>Apply the Custom Attribute</a:t>
              </a: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algn="just">
                <a:lnSpc>
                  <a:spcPts val="3600"/>
                </a:lnSpc>
              </a:pPr>
              <a:r>
                <a:rPr lang="en-US" sz="3200" dirty="0"/>
                <a:t>🔍 Another Example: Validate ID Format</a:t>
              </a: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9DBE6C8-AC6B-D4F2-BC21-E05F7B384481}"/>
                </a:ext>
              </a:extLst>
            </p:cNvPr>
            <p:cNvSpPr txBox="1"/>
            <p:nvPr/>
          </p:nvSpPr>
          <p:spPr>
            <a:xfrm>
              <a:off x="0" y="-9525"/>
              <a:ext cx="15443230" cy="616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A51832C-47CF-6A82-EA4C-B6828A0B1B7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8E78A6D-C826-F69B-C8ED-45A5B5799C9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EF3821C-DC49-5901-7D9D-8F1CAA01815A}"/>
              </a:ext>
            </a:extLst>
          </p:cNvPr>
          <p:cNvSpPr txBox="1"/>
          <p:nvPr/>
        </p:nvSpPr>
        <p:spPr>
          <a:xfrm>
            <a:off x="436796" y="180645"/>
            <a:ext cx="17414408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Using Custom Validation in a Model</a:t>
            </a:r>
            <a:endParaRPr lang="en-US" sz="9000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8E7E3D-AB48-B786-01A7-E0C018B1B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14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0FC6C3-4238-73E7-AAE0-E2481E26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695" y="2310063"/>
            <a:ext cx="8470231" cy="22148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7CE7C1-36B6-8852-6D0A-E9736B755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189" y="5335425"/>
            <a:ext cx="8662737" cy="26335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3C38BC-7FA9-8453-30D9-4DBA28B65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632" y="8476160"/>
            <a:ext cx="8662736" cy="155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64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B3FF-F5B2-5031-B317-66917317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0B8932-8F36-9BDF-A04F-C739075ED9D4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966C631-31D3-A565-CC50-52DFBBE431ED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FD9F6E1-3513-D6EB-4EA8-78345A62C1BC}"/>
              </a:ext>
            </a:extLst>
          </p:cNvPr>
          <p:cNvSpPr txBox="1"/>
          <p:nvPr/>
        </p:nvSpPr>
        <p:spPr>
          <a:xfrm>
            <a:off x="968289" y="1446915"/>
            <a:ext cx="16291011" cy="8679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/>
              <a:t>🧱 </a:t>
            </a:r>
            <a:r>
              <a:rPr lang="en-US" sz="3200" b="1" dirty="0"/>
              <a:t>What Is Nested Validation?</a:t>
            </a:r>
            <a:endParaRPr lang="en-IN" sz="3200" b="1" dirty="0"/>
          </a:p>
          <a:p>
            <a:pPr algn="just">
              <a:lnSpc>
                <a:spcPct val="150000"/>
              </a:lnSpc>
            </a:pPr>
            <a:r>
              <a:rPr lang="en-US" sz="3200" dirty="0"/>
              <a:t>A model often contains </a:t>
            </a:r>
            <a:r>
              <a:rPr lang="en-US" sz="3200" b="1" dirty="0"/>
              <a:t>child objects</a:t>
            </a:r>
            <a:r>
              <a:rPr lang="en-US" sz="3200" dirty="0"/>
              <a:t> or </a:t>
            </a:r>
            <a:r>
              <a:rPr lang="en-US" sz="3200" b="1" dirty="0"/>
              <a:t>collections</a:t>
            </a:r>
            <a:r>
              <a:rPr lang="en-US" sz="3200" dirty="0"/>
              <a:t> (lists).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Validating these nested structures is common in real-world apps (e.g., Order with a list of Items).</a:t>
            </a:r>
          </a:p>
          <a:p>
            <a:pPr algn="just">
              <a:lnSpc>
                <a:spcPct val="150000"/>
              </a:lnSpc>
            </a:pPr>
            <a:endParaRPr lang="en-IN" sz="3200" b="1" dirty="0"/>
          </a:p>
          <a:p>
            <a:pPr algn="just">
              <a:lnSpc>
                <a:spcPct val="150000"/>
              </a:lnSpc>
            </a:pPr>
            <a:r>
              <a:rPr lang="en-IN" sz="3200" b="1" dirty="0"/>
              <a:t>🛠️ How It Works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/>
              <a:t>Use [ValidateObject] logic by :</a:t>
            </a: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Decorating nested properties with [ValidateComplexType] (ASP.NET Core 5+)</a:t>
            </a: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Ensuring nested classes also use DataAnnotations</a:t>
            </a: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  <a:p>
            <a:pPr algn="just">
              <a:lnSpc>
                <a:spcPts val="3600"/>
              </a:lnSpc>
            </a:pPr>
            <a:endParaRPr lang="en-IN" sz="3200" b="1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6940D71-87A2-E4DB-6052-10BEBCF225D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480E9B1-B129-C0FE-C993-49989FF5F35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536CE14-98FC-F858-F061-E60E6C696FCD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Nested Model Validation -Overview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93288B7-C861-C7A9-5D72-1F9901E4C4D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212900-0300-B95C-7A79-4D948F48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15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FEB7A5-3148-61FA-3C9F-29A354593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443" y="7339263"/>
            <a:ext cx="8927432" cy="278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06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8C679-110D-96EF-4ABE-D90DD16A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6EBCD4-831A-03AC-AFB5-332461581336}"/>
              </a:ext>
            </a:extLst>
          </p:cNvPr>
          <p:cNvSpPr/>
          <p:nvPr/>
        </p:nvSpPr>
        <p:spPr>
          <a:xfrm>
            <a:off x="-832918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6114384-9E97-02C6-1A22-4F359790C6F3}"/>
              </a:ext>
            </a:extLst>
          </p:cNvPr>
          <p:cNvSpPr/>
          <p:nvPr/>
        </p:nvSpPr>
        <p:spPr>
          <a:xfrm>
            <a:off x="-833271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36EA186-930E-723A-230C-2A2924753C83}"/>
              </a:ext>
            </a:extLst>
          </p:cNvPr>
          <p:cNvGrpSpPr/>
          <p:nvPr/>
        </p:nvGrpSpPr>
        <p:grpSpPr>
          <a:xfrm>
            <a:off x="1814199" y="2581024"/>
            <a:ext cx="14491159" cy="7571303"/>
            <a:chOff x="-4014045" y="-2737532"/>
            <a:chExt cx="21833974" cy="1004396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BFAD036-7C3E-BAC4-EDB0-A8BF91A0CB26}"/>
                </a:ext>
              </a:extLst>
            </p:cNvPr>
            <p:cNvSpPr txBox="1"/>
            <p:nvPr/>
          </p:nvSpPr>
          <p:spPr>
            <a:xfrm>
              <a:off x="-4014045" y="-2737532"/>
              <a:ext cx="21833974" cy="10043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3200" b="1" dirty="0"/>
                <a:t>🧩 Example: Order with a List of Items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algn="just">
                <a:lnSpc>
                  <a:spcPct val="150000"/>
                </a:lnSpc>
              </a:pPr>
              <a:endParaRPr lang="en-GB" sz="3200" dirty="0">
                <a:ea typeface="+mn-lt"/>
                <a:cs typeface="+mn-lt"/>
              </a:endParaRPr>
            </a:p>
            <a:p>
              <a:pPr algn="just">
                <a:lnSpc>
                  <a:spcPct val="150000"/>
                </a:lnSpc>
              </a:pPr>
              <a:endParaRPr lang="en-GB" sz="3200" dirty="0">
                <a:ea typeface="+mn-lt"/>
                <a:cs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sz="3200" b="1" dirty="0"/>
                <a:t>✅ Validation Behavior</a:t>
              </a: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In </a:t>
              </a:r>
              <a:r>
                <a:rPr lang="en-US" sz="3200" b="1" dirty="0"/>
                <a:t>ASP.NET Core</a:t>
              </a:r>
              <a:r>
                <a:rPr lang="en-US" sz="3200" dirty="0"/>
                <a:t>, model binding will recursively validate lists of objects.</a:t>
              </a: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Each item in the list must satisfy its own validation attributes.</a:t>
              </a:r>
            </a:p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6181C89-F465-E516-56BC-A197965903BB}"/>
                </a:ext>
              </a:extLst>
            </p:cNvPr>
            <p:cNvSpPr txBox="1"/>
            <p:nvPr/>
          </p:nvSpPr>
          <p:spPr>
            <a:xfrm>
              <a:off x="1" y="-9525"/>
              <a:ext cx="15443230" cy="616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0EEFDA7-7AA2-79FA-20B7-C29856F0E89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CA7FC01-D209-3274-1CFB-52EFBDB5240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5F9EF8B-6C47-A13A-37FC-F4322CBF082E}"/>
              </a:ext>
            </a:extLst>
          </p:cNvPr>
          <p:cNvSpPr txBox="1"/>
          <p:nvPr/>
        </p:nvSpPr>
        <p:spPr>
          <a:xfrm>
            <a:off x="890337" y="134673"/>
            <a:ext cx="17397663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Validating Collections (List of Models)</a:t>
            </a:r>
            <a:endParaRPr lang="en-US" sz="9000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A3C96F4-47F8-24BA-9691-687F786B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16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B342EA-68A8-B42C-8CBF-875F18735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814" y="3687889"/>
            <a:ext cx="9384632" cy="329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32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2193867"/>
            <a:ext cx="14535120" cy="2908441"/>
            <a:chOff x="-2918087" y="-3251127"/>
            <a:chExt cx="21900210" cy="3858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3251127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2262351" y="201236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17</a:t>
            </a:fld>
            <a:endParaRPr lang="en-GB" sz="200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F66D77-D03F-B5EC-0272-622428DBD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729734"/>
              </p:ext>
            </p:extLst>
          </p:nvPr>
        </p:nvGraphicFramePr>
        <p:xfrm>
          <a:off x="1756610" y="1470814"/>
          <a:ext cx="15502688" cy="72623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943601">
                  <a:extLst>
                    <a:ext uri="{9D8B030D-6E8A-4147-A177-3AD203B41FA5}">
                      <a16:colId xmlns:a16="http://schemas.microsoft.com/office/drawing/2014/main" val="1102449384"/>
                    </a:ext>
                  </a:extLst>
                </a:gridCol>
                <a:gridCol w="9559087">
                  <a:extLst>
                    <a:ext uri="{9D8B030D-6E8A-4147-A177-3AD203B41FA5}">
                      <a16:colId xmlns:a16="http://schemas.microsoft.com/office/drawing/2014/main" val="3346375892"/>
                    </a:ext>
                  </a:extLst>
                </a:gridCol>
              </a:tblGrid>
              <a:tr h="861518">
                <a:tc>
                  <a:txBody>
                    <a:bodyPr/>
                    <a:lstStyle/>
                    <a:p>
                      <a:r>
                        <a:rPr lang="en-IN" sz="3200" b="1" dirty="0"/>
                        <a:t>Concept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1" dirty="0"/>
                        <a:t>Real-World Use Case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98049"/>
                  </a:ext>
                </a:extLst>
              </a:tr>
              <a:tr h="861518">
                <a:tc>
                  <a:txBody>
                    <a:bodyPr/>
                    <a:lstStyle/>
                    <a:p>
                      <a:r>
                        <a:rPr lang="en-IN" sz="3200" b="1" dirty="0"/>
                        <a:t>Data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Represent a Customer, Order, or Product in an e-commerce, CRM, or inventory system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138286"/>
                  </a:ext>
                </a:extLst>
              </a:tr>
              <a:tr h="861518">
                <a:tc>
                  <a:txBody>
                    <a:bodyPr/>
                    <a:lstStyle/>
                    <a:p>
                      <a:r>
                        <a:rPr lang="en-IN" sz="3200" b="1" dirty="0"/>
                        <a:t>Creating &amp; Structuring Models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Organize DTOs and domain models in a banking or healthcare app for clean architecture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83591"/>
                  </a:ext>
                </a:extLst>
              </a:tr>
              <a:tr h="861518">
                <a:tc>
                  <a:txBody>
                    <a:bodyPr/>
                    <a:lstStyle/>
                    <a:p>
                      <a:r>
                        <a:rPr lang="en-IN" sz="3200" b="1" dirty="0"/>
                        <a:t>Built-in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Enforce input rules in user registration (e.g., required name, valid email) in web forms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23706"/>
                  </a:ext>
                </a:extLst>
              </a:tr>
              <a:tr h="861518">
                <a:tc>
                  <a:txBody>
                    <a:bodyPr/>
                    <a:lstStyle/>
                    <a:p>
                      <a:r>
                        <a:rPr lang="en-IN" sz="3200" b="1" dirty="0"/>
                        <a:t>Applying Validation in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Validate API input or test data in a payroll or billing system before processing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147020"/>
                  </a:ext>
                </a:extLst>
              </a:tr>
              <a:tr h="861518">
                <a:tc>
                  <a:txBody>
                    <a:bodyPr/>
                    <a:lstStyle/>
                    <a:p>
                      <a:r>
                        <a:rPr lang="en-IN" sz="3200" b="1" dirty="0"/>
                        <a:t>Custom Validation Logic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Ensure travel booking dates are in the future or validate custom ID formats in HR apps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119910"/>
                  </a:ext>
                </a:extLst>
              </a:tr>
              <a:tr h="861518">
                <a:tc>
                  <a:txBody>
                    <a:bodyPr/>
                    <a:lstStyle/>
                    <a:p>
                      <a:r>
                        <a:rPr lang="en-IN" sz="3200" b="1" dirty="0"/>
                        <a:t>Nested Model 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Validate nested data like an Invoice with a list of </a:t>
                      </a:r>
                      <a:r>
                        <a:rPr lang="en-US" sz="3200" dirty="0" err="1"/>
                        <a:t>LineItems</a:t>
                      </a:r>
                      <a:r>
                        <a:rPr lang="en-US" sz="3200" dirty="0"/>
                        <a:t> in accounting software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670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1378" y="451496"/>
            <a:ext cx="16483263" cy="10046528"/>
            <a:chOff x="-490225" y="-5751"/>
            <a:chExt cx="14163549" cy="13395365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490225" y="688706"/>
              <a:ext cx="14163549" cy="127009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/>
              <a:r>
                <a:rPr lang="en-US" sz="4000" dirty="0">
                  <a:latin typeface="+mj-lt"/>
                </a:rPr>
                <a:t>🔧 </a:t>
              </a:r>
              <a:r>
                <a:rPr lang="en-US" sz="4000" b="1" dirty="0">
                  <a:latin typeface="+mj-lt"/>
                </a:rPr>
                <a:t>Advanced Assignment 1: Multi-Meter Bulk Upload Validation</a:t>
              </a:r>
              <a:endParaRPr lang="en-US" sz="40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323850" lvl="1"/>
              <a:r>
                <a:rPr lang="en-US" sz="3200" b="1" dirty="0">
                  <a:latin typeface="+mj-lt"/>
                </a:rPr>
                <a:t>Scenario:</a:t>
              </a:r>
              <a:r>
                <a:rPr lang="en-US" sz="3200" dirty="0">
                  <a:latin typeface="+mj-lt"/>
                </a:rPr>
                <a:t> A utility company uploads bulk smart meter registrations via a file or API.</a:t>
              </a:r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323850" lvl="1"/>
              <a:r>
                <a:rPr lang="en-US" sz="3500" b="1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Requirements :</a:t>
              </a:r>
            </a:p>
            <a:p>
              <a:pPr marL="781050" lvl="1" indent="-457200">
                <a:buFont typeface="Wingdings" panose="05000000000000000000" pitchFamily="2" charset="2"/>
                <a:buChar char="Ø"/>
              </a:pP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Create a BulkMeterUploadRequest model :</a:t>
              </a:r>
            </a:p>
            <a:p>
              <a:pPr marL="1695450" lvl="3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UploadedBy (string ,[Required] )</a:t>
              </a:r>
            </a:p>
            <a:p>
              <a:pPr marL="1695450" lvl="3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UploadDate ( DateTime, [Required] ,</a:t>
              </a:r>
              <a:r>
                <a:rPr lang="en-US" sz="3200" dirty="0">
                  <a:latin typeface="+mj-lt"/>
                </a:rPr>
                <a:t> must be within the last 24 hours)</a:t>
              </a:r>
            </a:p>
            <a:p>
              <a:pPr marL="1695450" lvl="3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Meters (List of SmartMeter)</a:t>
              </a:r>
            </a:p>
            <a:p>
              <a:pPr marL="781050" lvl="1" indent="-457200">
                <a:buFont typeface="Wingdings" panose="05000000000000000000" pitchFamily="2" charset="2"/>
                <a:buChar char="Ø"/>
              </a:pP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Define SmartMeter with :</a:t>
              </a:r>
            </a:p>
            <a:p>
              <a:pPr marL="1809750" lvl="3" indent="-571500">
                <a:buFont typeface="+mj-lt"/>
                <a:buAutoNum type="romanLcPeriod"/>
              </a:pP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SerialNumber ([Required] ,must be unique within the list)</a:t>
              </a:r>
            </a:p>
            <a:p>
              <a:pPr marL="1809750" lvl="3" indent="-571500">
                <a:buFont typeface="+mj-lt"/>
                <a:buAutoNum type="romanLcPeriod"/>
              </a:pP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FirmwareVersion ([]Required)</a:t>
              </a:r>
            </a:p>
            <a:p>
              <a:pPr marL="1809750" lvl="3" indent="-571500">
                <a:buFont typeface="+mj-lt"/>
                <a:buAutoNum type="romanLcPeriod"/>
              </a:pP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Location (nested object, with validation)</a:t>
              </a:r>
            </a:p>
            <a:p>
              <a:pPr marL="323850" lvl="1"/>
              <a:r>
                <a:rPr lang="en-US" sz="3200" b="1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Tasks :</a:t>
              </a: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	</a:t>
              </a:r>
            </a:p>
            <a:p>
              <a:pPr marL="1238250" lvl="2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Enforce uniqueness of SerialNumber within the list (cross-item Validation)</a:t>
              </a:r>
            </a:p>
            <a:p>
              <a:pPr marL="1238250" lvl="2" indent="-45720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+mj-lt"/>
                </a:rPr>
                <a:t>Write code to:</a:t>
              </a:r>
            </a:p>
            <a:p>
              <a:pPr marL="1943100" lvl="3" indent="-571500">
                <a:buFont typeface="+mj-lt"/>
                <a:buAutoNum type="romanLcPeriod"/>
              </a:pPr>
              <a:r>
                <a:rPr lang="en-US" sz="3200" dirty="0">
                  <a:latin typeface="+mj-lt"/>
                </a:rPr>
                <a:t>Validate the request</a:t>
              </a:r>
            </a:p>
            <a:p>
              <a:pPr marL="1943100" lvl="3" indent="-571500">
                <a:buFont typeface="+mj-lt"/>
                <a:buAutoNum type="romanLcPeriod"/>
              </a:pPr>
              <a:r>
                <a:rPr lang="en-US" sz="3200" dirty="0">
                  <a:latin typeface="+mj-lt"/>
                </a:rPr>
                <a:t>Validate each smart meter</a:t>
              </a:r>
            </a:p>
            <a:p>
              <a:pPr marL="1943100" lvl="3" indent="-571500">
                <a:buFont typeface="+mj-lt"/>
                <a:buAutoNum type="romanLcPeriod"/>
              </a:pPr>
              <a:r>
                <a:rPr lang="en-US" sz="3200" dirty="0">
                  <a:latin typeface="+mj-lt"/>
                </a:rPr>
                <a:t>Aggregate and display </a:t>
              </a:r>
              <a:r>
                <a:rPr lang="en-US" sz="3200" b="1" dirty="0">
                  <a:latin typeface="+mj-lt"/>
                </a:rPr>
                <a:t>all errors</a:t>
              </a:r>
              <a:r>
                <a:rPr lang="en-US" sz="3200" dirty="0">
                  <a:latin typeface="+mj-lt"/>
                </a:rPr>
                <a:t> per meter, with index</a:t>
              </a:r>
            </a:p>
            <a:p>
              <a:pPr marL="323850" lvl="1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838200" lvl="1" indent="-514350">
                <a:buAutoNum type="arabicPeriod"/>
              </a:pPr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18</a:t>
            </a:fld>
            <a:endParaRPr lang="en-GB"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AC9B4-2093-DFC3-8F08-7FF79B0B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66AE003-BF0D-EEA9-8B60-1C7A9337BAEE}"/>
              </a:ext>
            </a:extLst>
          </p:cNvPr>
          <p:cNvGrpSpPr/>
          <p:nvPr/>
        </p:nvGrpSpPr>
        <p:grpSpPr>
          <a:xfrm>
            <a:off x="332434" y="536569"/>
            <a:ext cx="17955566" cy="9895659"/>
            <a:chOff x="-265908" y="-6948"/>
            <a:chExt cx="14877094" cy="1319420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06EC3E2-6A67-D667-2DB8-ADD78704E030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C0EE07-8646-A4F0-5E86-46F49CA8A36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123AEC1-CADE-8A87-653C-5533EC9F15D4}"/>
                </a:ext>
              </a:extLst>
            </p:cNvPr>
            <p:cNvSpPr txBox="1"/>
            <p:nvPr/>
          </p:nvSpPr>
          <p:spPr>
            <a:xfrm>
              <a:off x="-265908" y="-6948"/>
              <a:ext cx="14877094" cy="131942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4000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2: Complex Conditional Validation Based on Meter Type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Scenario:</a:t>
              </a:r>
              <a:r>
                <a:rPr lang="en-US" altLang="en-US" sz="3200" dirty="0">
                  <a:latin typeface="+mj-lt"/>
                </a:rPr>
                <a:t> Some meter fields are only required for certain meter types.</a:t>
              </a:r>
              <a:endParaRPr lang="en-US" altLang="en-US" sz="32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Requirements: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Create a SmartMeterDetail model with:</a:t>
              </a: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MeterId ([Required])</a:t>
              </a: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MeterType ("Residential", "Commercial", "Industrial")</a:t>
              </a: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MaxLoadCapacityKW (Required </a:t>
              </a:r>
              <a:r>
                <a:rPr lang="en-US" altLang="en-US" sz="3200" b="1" dirty="0">
                  <a:latin typeface="+mj-lt"/>
                </a:rPr>
                <a:t>only</a:t>
              </a:r>
              <a:r>
                <a:rPr lang="en-US" altLang="en-US" sz="3200" dirty="0">
                  <a:latin typeface="+mj-lt"/>
                </a:rPr>
                <a:t> for Commercial and Industrial meters)</a:t>
              </a: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CustomerContactEmail (Required </a:t>
              </a:r>
              <a:r>
                <a:rPr lang="en-US" altLang="en-US" sz="3200" b="1" dirty="0">
                  <a:latin typeface="+mj-lt"/>
                </a:rPr>
                <a:t>only</a:t>
              </a:r>
              <a:r>
                <a:rPr lang="en-US" altLang="en-US" sz="3200" dirty="0">
                  <a:latin typeface="+mj-lt"/>
                </a:rPr>
                <a:t> for Residential)</a:t>
              </a:r>
              <a:endParaRPr lang="en-US" altLang="en-US" sz="32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Tasks: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Implement a </a:t>
              </a:r>
              <a:r>
                <a:rPr lang="en-US" altLang="en-US" sz="3200" b="1" dirty="0">
                  <a:latin typeface="+mj-lt"/>
                </a:rPr>
                <a:t>custom validation attribute or class-level IValidatableObject</a:t>
              </a:r>
              <a:r>
                <a:rPr lang="en-US" altLang="en-US" sz="3200" dirty="0">
                  <a:latin typeface="+mj-lt"/>
                </a:rPr>
                <a:t> to:</a:t>
              </a: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Conditionally require fields based on MeterType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Test multiple combinations and log results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221CF7-6B74-AB63-27BD-2B1C8527E730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13E909D-516E-78DA-C7D0-7B4082CF865E}"/>
              </a:ext>
            </a:extLst>
          </p:cNvPr>
          <p:cNvSpPr txBox="1"/>
          <p:nvPr/>
        </p:nvSpPr>
        <p:spPr>
          <a:xfrm>
            <a:off x="8335841" y="-40512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F419C84-DCA4-BD2B-27D2-9FF7F01B8CB0}"/>
              </a:ext>
            </a:extLst>
          </p:cNvPr>
          <p:cNvGrpSpPr>
            <a:grpSpLocks noChangeAspect="1"/>
          </p:cNvGrpSpPr>
          <p:nvPr/>
        </p:nvGrpSpPr>
        <p:grpSpPr>
          <a:xfrm>
            <a:off x="14090216" y="5185202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FB1E988-D406-7EAB-CEC4-CE6C5E03163B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76A7ECD-43AC-16B4-AE20-BC8A2A369157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B49FD0A-4ABC-23AD-57AF-EE76B695AB2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A6E5507-92D0-22A4-6BF4-C131D04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9987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8876-10CC-A9E3-57F2-29BF3C45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7DEA085-71EE-1614-E459-8F6E2CCC6EFA}"/>
              </a:ext>
            </a:extLst>
          </p:cNvPr>
          <p:cNvGrpSpPr/>
          <p:nvPr/>
        </p:nvGrpSpPr>
        <p:grpSpPr>
          <a:xfrm>
            <a:off x="332434" y="536569"/>
            <a:ext cx="17955566" cy="9707144"/>
            <a:chOff x="-265908" y="-6948"/>
            <a:chExt cx="14877094" cy="1294285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046013-9CEA-A12A-300B-72D4C9C03F3A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A7E58FC-E9F6-F3B1-2096-6BA5F7F5BE3C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2E927E5-E3B6-7822-E082-27B8FF7CF341}"/>
                </a:ext>
              </a:extLst>
            </p:cNvPr>
            <p:cNvSpPr txBox="1"/>
            <p:nvPr/>
          </p:nvSpPr>
          <p:spPr>
            <a:xfrm>
              <a:off x="-265908" y="-6948"/>
              <a:ext cx="14877094" cy="8831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AA3A785-002A-A178-8EC6-E0E97A60EF39}"/>
                </a:ext>
              </a:extLst>
            </p:cNvPr>
            <p:cNvSpPr txBox="1"/>
            <p:nvPr/>
          </p:nvSpPr>
          <p:spPr>
            <a:xfrm>
              <a:off x="-265908" y="762493"/>
              <a:ext cx="14601656" cy="121734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3: Nested Collections with Child Validation and Summary Errors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Scenario:</a:t>
              </a:r>
              <a:r>
                <a:rPr lang="en-US" altLang="en-US" sz="3200" dirty="0">
                  <a:latin typeface="+mj-lt"/>
                </a:rPr>
                <a:t> A smart meter maintenance report contains multiple FaultRecord entries.</a:t>
              </a:r>
              <a:endParaRPr lang="en-US" altLang="en-US" sz="3200" b="1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Requirements: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Create a MaintenanceReport model: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ReportId ([Required])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SubmittedBy ([Required])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Faults — List of FaultRecord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Define FaultRecord with: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FaultCode ([Required], limited to predefined list: ["E01", "E02", "E03"])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DetectedAt (Cannot be a future date)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SeverityLevel ([Range(1,5)])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Tasks: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Validate each fault record and: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Print out all errors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If more than 3 critical faults (SeverityLevel 5), return a high-priority flag</a:t>
              </a:r>
            </a:p>
            <a:p>
              <a:pPr>
                <a:lnSpc>
                  <a:spcPts val="4200"/>
                </a:lnSpc>
              </a:pPr>
              <a:endParaRPr lang="en-GB" sz="3200" b="1" dirty="0">
                <a:solidFill>
                  <a:srgbClr val="33123B"/>
                </a:solidFill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C1248BAB-F673-54C5-E53D-D0F2C70F4523}"/>
              </a:ext>
            </a:extLst>
          </p:cNvPr>
          <p:cNvSpPr txBox="1"/>
          <p:nvPr/>
        </p:nvSpPr>
        <p:spPr>
          <a:xfrm>
            <a:off x="8335841" y="31677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5B39AB1-CD6E-F7BD-D651-0CC067830724}"/>
              </a:ext>
            </a:extLst>
          </p:cNvPr>
          <p:cNvGrpSpPr>
            <a:grpSpLocks noChangeAspect="1"/>
          </p:cNvGrpSpPr>
          <p:nvPr/>
        </p:nvGrpSpPr>
        <p:grpSpPr>
          <a:xfrm>
            <a:off x="14090216" y="5185202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F6385F1-B6B9-903B-8881-BF186158BF29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611A423-2C76-516D-7EE0-4318DDC1A4C8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68770DB-28C3-569E-8A05-9DA5A001F712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F087B7C-A32B-5042-F287-5C719D17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20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573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3F53-0DCB-0126-DCBB-20A031DA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BAE32C1-75BA-C154-AEC7-A6B3450BEBD5}"/>
              </a:ext>
            </a:extLst>
          </p:cNvPr>
          <p:cNvGrpSpPr/>
          <p:nvPr/>
        </p:nvGrpSpPr>
        <p:grpSpPr>
          <a:xfrm>
            <a:off x="71379" y="451496"/>
            <a:ext cx="16483262" cy="9725199"/>
            <a:chOff x="-490224" y="-5751"/>
            <a:chExt cx="14163548" cy="1098145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458A49-04E6-2EFA-6170-0E0748F7563F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AD3601-B23E-FE7F-02F2-1C7FD56CE085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2D2978-C351-583F-5107-7C1722540F1C}"/>
                </a:ext>
              </a:extLst>
            </p:cNvPr>
            <p:cNvSpPr txBox="1"/>
            <p:nvPr/>
          </p:nvSpPr>
          <p:spPr>
            <a:xfrm>
              <a:off x="-490224" y="688706"/>
              <a:ext cx="13089057" cy="102869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4: Configurable Validation Rules via Metadata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latin typeface="+mj-lt"/>
              </a:endParaRP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Scenario:</a:t>
              </a:r>
              <a:r>
                <a:rPr lang="en-US" altLang="en-US" sz="3200" dirty="0">
                  <a:latin typeface="+mj-lt"/>
                </a:rPr>
                <a:t> Validation rules should be adjustable via a config or metadata class (simulated).</a:t>
              </a:r>
              <a:endParaRPr lang="en-US" altLang="en-US" sz="3200" b="1" dirty="0">
                <a:latin typeface="+mj-lt"/>
              </a:endParaRP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Requirements: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Create a MeterConfig model representing metadata: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MinKWhThreshold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MaxKWhThreshold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Create a MeterReading model with: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ReadingId, MeterId, KWhUsed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200" b="1" dirty="0">
                <a:latin typeface="+mj-lt"/>
              </a:endParaRP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b="1" dirty="0">
                  <a:latin typeface="+mj-lt"/>
                </a:rPr>
                <a:t>Tasks: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Implement a </a:t>
              </a:r>
              <a:r>
                <a:rPr lang="en-US" altLang="en-US" sz="3200" b="1" dirty="0">
                  <a:latin typeface="+mj-lt"/>
                </a:rPr>
                <a:t>custom validator that accepts metadata/config</a:t>
              </a:r>
              <a:r>
                <a:rPr lang="en-US" altLang="en-US" sz="3200" dirty="0">
                  <a:latin typeface="+mj-lt"/>
                </a:rPr>
                <a:t> and validates: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KWhUsed is within the allowed range (from config)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Simulate using MeterConfig as input for validation.</a:t>
              </a:r>
            </a:p>
            <a:p>
              <a:pPr lvl="2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Test cases where the rule values change (e.g. threshold from 0–1000 to 10–800).</a:t>
              </a:r>
            </a:p>
            <a:p>
              <a:pPr marL="323850" lvl="1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  <a:p>
              <a:pPr marL="323850" lvl="1"/>
              <a:endParaRPr lang="en-US" sz="32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9A1F7AB-DA9F-FEEE-E9A0-57DDF06342D5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574C42D-54B6-C16E-8E5A-6266CDFA9171}"/>
              </a:ext>
            </a:extLst>
          </p:cNvPr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901DBE1-CEDF-6C9D-7D29-AB258013125D}"/>
              </a:ext>
            </a:extLst>
          </p:cNvPr>
          <p:cNvGrpSpPr>
            <a:grpSpLocks noChangeAspect="1"/>
          </p:cNvGrpSpPr>
          <p:nvPr/>
        </p:nvGrpSpPr>
        <p:grpSpPr>
          <a:xfrm>
            <a:off x="14504093" y="5621602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8A7C113-24A9-B921-12B7-0707E62AA906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EFC7D70-A520-E917-A6C2-2DCE4962F371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2C1E5B1-40C7-741D-41BB-0FF2D1854B72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AC3C7AC-F3F7-777C-8A22-30629B05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21</a:t>
            </a:fld>
            <a:endParaRPr lang="en-GB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424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 dirty="0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 dirty="0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22</a:t>
            </a:fld>
            <a:endParaRPr lang="en-GB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02335" y="486595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Data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19151" y="486595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Validation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9151" y="59232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Nested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68757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2335" y="582254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Data Annotations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23</a:t>
            </a:fld>
            <a:endParaRPr lang="en-GB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1548652"/>
            <a:ext cx="1664208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https://learn.microsoft.com/en-us/dotnet/api/system.componentmodel.dataannotations?view=net-8.0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000" dirty="0">
                <a:ea typeface="Calibri"/>
                <a:cs typeface="Calibri"/>
                <a:hlinkClick r:id="" action="ppaction://noaction"/>
              </a:rPr>
              <a:t>https://learn.microsoft.com/en-us/aspnet/core/mvc/models/validation?view=aspnetcore-8.0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24</a:t>
            </a:fld>
            <a:endParaRPr lang="en-GB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25</a:t>
            </a:fld>
            <a:endParaRPr lang="en-GB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1372</Words>
  <Application>Microsoft Office PowerPoint</Application>
  <PresentationFormat>Custom</PresentationFormat>
  <Paragraphs>343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Calibri</vt:lpstr>
      <vt:lpstr>Assistant Regular Bold</vt:lpstr>
      <vt:lpstr>Arial</vt:lpstr>
      <vt:lpstr>Wingdings</vt:lpstr>
      <vt:lpstr>HK Modular</vt:lpstr>
      <vt:lpstr>Arial Unicode MS</vt:lpstr>
      <vt:lpstr>Heebo Black</vt:lpstr>
      <vt:lpstr>Assistant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Sierra Learning</cp:lastModifiedBy>
  <cp:revision>41</cp:revision>
  <dcterms:created xsi:type="dcterms:W3CDTF">2006-08-16T00:00:00Z</dcterms:created>
  <dcterms:modified xsi:type="dcterms:W3CDTF">2025-09-01T04:48:55Z</dcterms:modified>
  <dc:identifier>DAGpXxrSFgM</dc:identifier>
</cp:coreProperties>
</file>