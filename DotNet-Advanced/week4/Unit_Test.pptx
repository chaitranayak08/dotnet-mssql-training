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8" r:id="rId4"/>
    <p:sldId id="317" r:id="rId5"/>
    <p:sldId id="318" r:id="rId6"/>
    <p:sldId id="290" r:id="rId7"/>
    <p:sldId id="292" r:id="rId8"/>
    <p:sldId id="276" r:id="rId9"/>
    <p:sldId id="277" r:id="rId10"/>
    <p:sldId id="319" r:id="rId11"/>
    <p:sldId id="275" r:id="rId12"/>
    <p:sldId id="291" r:id="rId13"/>
    <p:sldId id="293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33" d="100"/>
          <a:sy n="33" d="100"/>
        </p:scale>
        <p:origin x="19" y="6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latin typeface="+mj-lt"/>
                  <a:ea typeface="+mn-lt"/>
                  <a:cs typeface="+mn-lt"/>
                  <a:sym typeface="Heebo Black"/>
                </a:rPr>
                <a:t>Unit Testing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39701" y="1266477"/>
            <a:ext cx="16548188" cy="9502601"/>
            <a:chOff x="-2686690" y="-4494060"/>
            <a:chExt cx="20492257" cy="12670135"/>
          </a:xfrm>
        </p:grpSpPr>
        <p:sp>
          <p:nvSpPr>
            <p:cNvPr id="5" name="TextBox 5"/>
            <p:cNvSpPr txBox="1"/>
            <p:nvPr/>
          </p:nvSpPr>
          <p:spPr>
            <a:xfrm>
              <a:off x="-2686690" y="-4494060"/>
              <a:ext cx="20492257" cy="126701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028700" lvl="1" indent="-57150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5500" b="1" dirty="0">
                  <a:solidFill>
                    <a:schemeClr val="accent6">
                      <a:lumMod val="75000"/>
                    </a:schemeClr>
                  </a:solidFill>
                  <a:latin typeface="+mj-lt"/>
                  <a:ea typeface="+mn-lt"/>
                  <a:cs typeface="+mn-lt"/>
                </a:rPr>
                <a:t>What is Unit Testing?</a:t>
              </a:r>
              <a:endParaRPr lang="en-US" sz="5500" b="1" dirty="0">
                <a:latin typeface="+mj-lt"/>
                <a:ea typeface="+mn-lt"/>
                <a:cs typeface="+mn-lt"/>
              </a:endParaRP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Unit Testing is the process of testing </a:t>
              </a:r>
              <a:r>
                <a:rPr lang="en-US" altLang="en-US" sz="5500" b="1" dirty="0"/>
                <a:t>individual units/components</a:t>
              </a:r>
              <a:r>
                <a:rPr lang="en-US" altLang="en-US" sz="5500" dirty="0"/>
                <a:t> of code.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A “unit” usually refers to a </a:t>
              </a:r>
              <a:r>
                <a:rPr lang="en-US" altLang="en-US" sz="5500" b="1" dirty="0"/>
                <a:t>function</a:t>
              </a:r>
              <a:r>
                <a:rPr lang="en-US" altLang="en-US" sz="5500" dirty="0"/>
                <a:t>, </a:t>
              </a:r>
              <a:r>
                <a:rPr lang="en-US" altLang="en-US" sz="5500" b="1" dirty="0"/>
                <a:t>method</a:t>
              </a:r>
              <a:r>
                <a:rPr lang="en-US" altLang="en-US" sz="5500" dirty="0"/>
                <a:t>, or </a:t>
              </a:r>
              <a:r>
                <a:rPr lang="en-US" altLang="en-US" sz="5500" b="1" dirty="0"/>
                <a:t>class</a:t>
              </a:r>
              <a:r>
                <a:rPr lang="en-US" altLang="en-US" sz="5500" dirty="0"/>
                <a:t>.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Ensures each piece of code behaves </a:t>
              </a:r>
              <a:r>
                <a:rPr lang="en-US" altLang="en-US" sz="5500" b="1" dirty="0"/>
                <a:t>as expected</a:t>
              </a:r>
              <a:r>
                <a:rPr lang="en-US" altLang="en-US" sz="5500" dirty="0"/>
                <a:t>.</a:t>
              </a:r>
            </a:p>
            <a:p>
              <a:pPr marL="1485900" lvl="2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Tests are usually </a:t>
              </a:r>
              <a:r>
                <a:rPr lang="en-US" altLang="en-US" sz="5500" b="1" dirty="0"/>
                <a:t>automated</a:t>
              </a:r>
              <a:r>
                <a:rPr lang="en-US" altLang="en-US" sz="5500" dirty="0"/>
                <a:t>, </a:t>
              </a:r>
              <a:r>
                <a:rPr lang="en-US" altLang="en-US" sz="5500" b="1" dirty="0"/>
                <a:t>repeatable</a:t>
              </a:r>
              <a:r>
                <a:rPr lang="en-US" altLang="en-US" sz="5500" dirty="0"/>
                <a:t>, and </a:t>
              </a:r>
              <a:r>
                <a:rPr lang="en-US" altLang="en-US" sz="5500" b="1" dirty="0"/>
                <a:t>fast</a:t>
              </a:r>
              <a:r>
                <a:rPr lang="en-US" altLang="en-US" sz="5500" dirty="0"/>
                <a:t>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400920" y="221560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Unit Testing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3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07BFA-72E5-26C4-A976-117A845B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6264-75A5-C4D9-6611-F4E04A2B4416}"/>
              </a:ext>
            </a:extLst>
          </p:cNvPr>
          <p:cNvSpPr txBox="1"/>
          <p:nvPr/>
        </p:nvSpPr>
        <p:spPr>
          <a:xfrm>
            <a:off x="15448547" y="8951494"/>
            <a:ext cx="1010653" cy="649706"/>
          </a:xfrm>
          <a:prstGeom prst="rect">
            <a:avLst/>
          </a:prstGeom>
          <a:solidFill>
            <a:srgbClr val="DDE6E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BDC0A-5896-DD6B-FD46-913B5C5E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685799"/>
            <a:ext cx="17369589" cy="922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FE55A-6A74-25EB-34CC-7710B10E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 descr="Unit Testing in ASP .NET Core 3.1 | Wake Up And Code!">
            <a:extLst>
              <a:ext uri="{FF2B5EF4-FFF2-40B4-BE49-F238E27FC236}">
                <a16:creationId xmlns:a16="http://schemas.microsoft.com/office/drawing/2014/main" id="{852B6E5A-B6E4-19E1-9B75-8091301EA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4500"/>
            <a:ext cx="18287999" cy="825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96DA0185-0C96-FB0C-C8EB-E94670F443DA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Unit Testing in .Net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927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F332-729A-ACF4-60AB-AFE9D68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79862-9887-46DB-31A3-560084163F8D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8A6522-B362-568A-8206-71B10B28ED4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82A940-42FA-1D13-573A-712683F25E3F}"/>
              </a:ext>
            </a:extLst>
          </p:cNvPr>
          <p:cNvGrpSpPr/>
          <p:nvPr/>
        </p:nvGrpSpPr>
        <p:grpSpPr>
          <a:xfrm>
            <a:off x="1360608" y="1363078"/>
            <a:ext cx="16109708" cy="8771632"/>
            <a:chOff x="-2041631" y="-4365258"/>
            <a:chExt cx="19949270" cy="116955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AAB0A5-E9BF-0473-A0DC-7F639E42DD17}"/>
                </a:ext>
              </a:extLst>
            </p:cNvPr>
            <p:cNvSpPr txBox="1"/>
            <p:nvPr/>
          </p:nvSpPr>
          <p:spPr>
            <a:xfrm>
              <a:off x="-2041631" y="-4365258"/>
              <a:ext cx="19949270" cy="116955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Validate correctness of individual units.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Catch defects </a:t>
              </a:r>
              <a:r>
                <a:rPr lang="en-US" altLang="en-US" sz="6000" b="1" dirty="0"/>
                <a:t>early</a:t>
              </a:r>
              <a:r>
                <a:rPr lang="en-US" altLang="en-US" sz="6000" dirty="0"/>
                <a:t> in the development cycle.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Prevent bugs from spreading to other modules.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Build confidence that the code works </a:t>
              </a:r>
              <a:r>
                <a:rPr lang="en-US" altLang="en-US" sz="6000" b="1" dirty="0"/>
                <a:t>as intended</a:t>
              </a:r>
              <a:r>
                <a:rPr lang="en-US" altLang="en-US" sz="6000" dirty="0"/>
                <a:t>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E5CAE2-BC53-0B9A-90BC-7BF1476FD61F}"/>
                </a:ext>
              </a:extLst>
            </p:cNvPr>
            <p:cNvSpPr txBox="1"/>
            <p:nvPr/>
          </p:nvSpPr>
          <p:spPr>
            <a:xfrm>
              <a:off x="0" y="-9524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CB846C-9A71-2ECA-1025-61F3DC1C7A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ADAF42-87EB-2B1E-A460-3E2EA113F1A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C49FF7-2D43-D882-1DE8-8CA8D4C15152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Purpose of Unit Testing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8A67F4-F85C-64E2-B2EE-FA56246C81F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0F73F07-3384-2C3D-7DF9-40900911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4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6F9-75B8-AD64-9ECD-353BE30B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6C2582-60F8-0D59-6694-5E90FBAD864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447D6D-45D9-16A5-652A-9F3F94620A4D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AD73123-4691-C9FE-086B-993944F4BE35}"/>
              </a:ext>
            </a:extLst>
          </p:cNvPr>
          <p:cNvGrpSpPr/>
          <p:nvPr/>
        </p:nvGrpSpPr>
        <p:grpSpPr>
          <a:xfrm>
            <a:off x="986589" y="3146438"/>
            <a:ext cx="16603579" cy="6805709"/>
            <a:chOff x="-2216900" y="-1225201"/>
            <a:chExt cx="22138107" cy="1098935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E8D430-D661-9232-3433-7D9D1D361DE0}"/>
                </a:ext>
              </a:extLst>
            </p:cNvPr>
            <p:cNvSpPr txBox="1"/>
            <p:nvPr/>
          </p:nvSpPr>
          <p:spPr>
            <a:xfrm>
              <a:off x="-2216900" y="-1225201"/>
              <a:ext cx="22138107" cy="109893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Helps maintain </a:t>
              </a:r>
              <a:r>
                <a:rPr lang="en-US" altLang="en-US" sz="5000" b="1" dirty="0"/>
                <a:t>clean</a:t>
              </a:r>
              <a:r>
                <a:rPr lang="en-US" altLang="en-US" sz="5000" dirty="0"/>
                <a:t>, </a:t>
              </a:r>
              <a:r>
                <a:rPr lang="en-US" altLang="en-US" sz="5000" b="1" dirty="0"/>
                <a:t>modular</a:t>
              </a:r>
              <a:r>
                <a:rPr lang="en-US" altLang="en-US" sz="5000" dirty="0"/>
                <a:t>, and </a:t>
              </a:r>
              <a:r>
                <a:rPr lang="en-US" altLang="en-US" sz="5000" b="1" dirty="0"/>
                <a:t>testable</a:t>
              </a:r>
              <a:r>
                <a:rPr lang="en-US" altLang="en-US" sz="5000" dirty="0"/>
                <a:t> code.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Supports safe </a:t>
              </a:r>
              <a:r>
                <a:rPr lang="en-US" altLang="en-US" sz="5000" b="1" dirty="0"/>
                <a:t>refactoring</a:t>
              </a:r>
              <a:r>
                <a:rPr lang="en-US" altLang="en-US" sz="5000" dirty="0"/>
                <a:t> (modifying code without breaking functionality).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Ensures </a:t>
              </a:r>
              <a:r>
                <a:rPr lang="en-US" altLang="en-US" sz="5000" b="1" dirty="0"/>
                <a:t>predictable, stable</a:t>
              </a:r>
              <a:r>
                <a:rPr lang="en-US" altLang="en-US" sz="5000" dirty="0"/>
                <a:t> application behavior.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Integrates well with tools like </a:t>
              </a:r>
              <a:r>
                <a:rPr lang="en-US" altLang="en-US" sz="5000" b="1" dirty="0"/>
                <a:t>Test Explorer</a:t>
              </a:r>
              <a:r>
                <a:rPr lang="en-US" altLang="en-US" sz="5000" dirty="0"/>
                <a:t>, </a:t>
              </a:r>
              <a:r>
                <a:rPr lang="en-US" altLang="en-US" sz="5000" b="1" dirty="0"/>
                <a:t>CI/CD</a:t>
              </a:r>
              <a:r>
                <a:rPr lang="en-US" altLang="en-US" sz="5000" dirty="0"/>
                <a:t>, </a:t>
              </a:r>
              <a:r>
                <a:rPr lang="en-US" altLang="en-US" sz="5000" b="1" dirty="0"/>
                <a:t>Azure DevOps</a:t>
              </a:r>
              <a:r>
                <a:rPr lang="en-US" altLang="en-US" sz="5000" dirty="0"/>
                <a:t>, and </a:t>
              </a:r>
              <a:r>
                <a:rPr lang="en-US" altLang="en-US" sz="5000" b="1" dirty="0"/>
                <a:t>GitHub Actions</a:t>
              </a:r>
              <a:r>
                <a:rPr lang="en-US" altLang="en-US" sz="5000" dirty="0"/>
                <a:t>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98C48D-A36C-F3A4-D0A1-0B935EB8F101}"/>
                </a:ext>
              </a:extLst>
            </p:cNvPr>
            <p:cNvSpPr txBox="1"/>
            <p:nvPr/>
          </p:nvSpPr>
          <p:spPr>
            <a:xfrm>
              <a:off x="0" y="-9526"/>
              <a:ext cx="15443231" cy="750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C3080C1-FD97-469A-7835-AF63404B8B2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94161C-3012-3A80-74BF-B6797312A72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46525D-5E26-11C9-9D29-B5AE75CAE18A}"/>
              </a:ext>
            </a:extLst>
          </p:cNvPr>
          <p:cNvSpPr txBox="1"/>
          <p:nvPr/>
        </p:nvSpPr>
        <p:spPr>
          <a:xfrm>
            <a:off x="842210" y="323493"/>
            <a:ext cx="1660357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Why Unit Testing is Important in .NET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A5E8F38-E6F6-7F25-B10D-A85F3134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7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9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613277" y="2614450"/>
            <a:ext cx="14656952" cy="7774984"/>
            <a:chOff x="-700116" y="-2440858"/>
            <a:chExt cx="19542604" cy="1036664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700116" y="-2440858"/>
              <a:ext cx="19542604" cy="87622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b="1" dirty="0">
                  <a:latin typeface="+mj-lt"/>
                </a:rPr>
                <a:t>xUnit</a:t>
              </a:r>
              <a:r>
                <a:rPr lang="en-US" altLang="en-US" sz="4000" dirty="0">
                  <a:latin typeface="+mj-lt"/>
                </a:rPr>
                <a:t> → Most preferred and modern testing framework</a:t>
              </a:r>
            </a:p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b="1" dirty="0">
                  <a:latin typeface="+mj-lt"/>
                </a:rPr>
                <a:t>NUnit</a:t>
              </a:r>
              <a:r>
                <a:rPr lang="en-US" altLang="en-US" sz="4000" dirty="0">
                  <a:latin typeface="+mj-lt"/>
                </a:rPr>
                <a:t> → Flexible, widely used</a:t>
              </a:r>
            </a:p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b="1" dirty="0">
                  <a:latin typeface="+mj-lt"/>
                </a:rPr>
                <a:t>MSTest</a:t>
              </a:r>
              <a:r>
                <a:rPr lang="en-US" altLang="en-US" sz="4000" dirty="0">
                  <a:latin typeface="+mj-lt"/>
                </a:rPr>
                <a:t> → Official Microsoft testing framework</a:t>
              </a:r>
            </a:p>
            <a:p>
              <a:pPr marL="571500" lvl="0" indent="-5715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All these integrate seamlessly with </a:t>
              </a:r>
              <a:r>
                <a:rPr lang="en-US" altLang="en-US" sz="4000" b="1" dirty="0">
                  <a:latin typeface="+mj-lt"/>
                </a:rPr>
                <a:t>Visual Studio/VS Code</a:t>
              </a:r>
              <a:r>
                <a:rPr lang="en-US" altLang="en-US" sz="4000" dirty="0"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/>
              <a:t>Unit Testing Frameworks in .NET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  <p:pic>
        <p:nvPicPr>
          <p:cNvPr id="6147" name="Picture 3" descr="xUnit vs NUnit vs MSTest: A Detailed Comparison - TatvaSoft Blog">
            <a:extLst>
              <a:ext uri="{FF2B5EF4-FFF2-40B4-BE49-F238E27FC236}">
                <a16:creationId xmlns:a16="http://schemas.microsoft.com/office/drawing/2014/main" id="{E847BFD1-4E51-AABA-DCA5-C03088C0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485" y="6296636"/>
            <a:ext cx="13527029" cy="383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3"/>
            <a:ext cx="15781469" cy="6805709"/>
            <a:chOff x="-1929810" y="-3484505"/>
            <a:chExt cx="21041960" cy="907427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90742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Create a </a:t>
              </a:r>
              <a:r>
                <a:rPr lang="en-US" altLang="en-US" sz="5000" b="1" dirty="0"/>
                <a:t>separate test project</a:t>
              </a:r>
              <a:r>
                <a:rPr lang="en-US" altLang="en-US" sz="5000" dirty="0"/>
                <a:t> in the solution.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Write test methods that call actual functions from the main project.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Use </a:t>
              </a:r>
              <a:r>
                <a:rPr lang="en-US" altLang="en-US" sz="5000" b="1" dirty="0"/>
                <a:t>assertions</a:t>
              </a:r>
              <a:r>
                <a:rPr lang="en-US" altLang="en-US" sz="5000" dirty="0"/>
                <a:t> to compare expected vs actual results.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dirty="0"/>
                <a:t>Run tests locally or automatically through </a:t>
              </a:r>
              <a:r>
                <a:rPr lang="en-US" altLang="en-US" sz="5000" b="1" dirty="0"/>
                <a:t>CI/CD pipelines</a:t>
              </a:r>
              <a:r>
                <a:rPr lang="en-US" altLang="en-US" sz="5000" dirty="0"/>
                <a:t>.</a:t>
              </a:r>
            </a:p>
            <a:p>
              <a:pPr marL="1600200" lvl="2" indent="-6858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50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How Unit Testing Works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9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9CAFF8-75F3-95B7-17E8-07DE7F84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4F19C-55D6-2A6D-AB34-9AC2EA1A1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45" y="0"/>
            <a:ext cx="130595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8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127959" y="2261029"/>
            <a:ext cx="16705847" cy="6805709"/>
            <a:chOff x="-2396306" y="-3167990"/>
            <a:chExt cx="22274464" cy="907427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2396306" y="-3167990"/>
              <a:ext cx="22274464" cy="90742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Early detection of bugs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Better code quality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Faster debugging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Reduced cost of fixing errors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Encourages writing clean, maintainable architecture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000" dirty="0"/>
                <a:t>Makes future updates easier and safer.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1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Benefits of Unit Testing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11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139D-249C-9171-9CDB-BD5CDA0E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6DC434-1095-592C-1CFE-B7567CED6BF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2044EF-831A-FDB7-005C-AEA43CEBDF1A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296A83-D9CA-3298-A45B-491149602AEC}"/>
              </a:ext>
            </a:extLst>
          </p:cNvPr>
          <p:cNvGrpSpPr/>
          <p:nvPr/>
        </p:nvGrpSpPr>
        <p:grpSpPr>
          <a:xfrm>
            <a:off x="817684" y="2614450"/>
            <a:ext cx="17253133" cy="7694414"/>
            <a:chOff x="-2713955" y="-2696762"/>
            <a:chExt cx="21365217" cy="1025921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3AD09A-633A-D64F-341E-AF0A453010D1}"/>
                </a:ext>
              </a:extLst>
            </p:cNvPr>
            <p:cNvSpPr txBox="1"/>
            <p:nvPr/>
          </p:nvSpPr>
          <p:spPr>
            <a:xfrm>
              <a:off x="-2713955" y="-2696762"/>
              <a:ext cx="21365217" cy="102592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r>
                <a:rPr lang="en-US" sz="4000" b="1" dirty="0">
                  <a:solidFill>
                    <a:srgbClr val="FF0000"/>
                  </a:solidFill>
                  <a:latin typeface="+mj-lt"/>
                </a:rPr>
                <a:t>  </a:t>
              </a:r>
              <a:r>
                <a:rPr lang="en-IN" sz="4000" dirty="0">
                  <a:solidFill>
                    <a:srgbClr val="FF0000"/>
                  </a:solidFill>
                </a:rPr>
                <a:t>🗝️ </a:t>
              </a:r>
              <a:r>
                <a:rPr lang="en-US" sz="4000" b="1" dirty="0">
                  <a:solidFill>
                    <a:srgbClr val="FF0000"/>
                  </a:solidFill>
                  <a:latin typeface="+mj-lt"/>
                </a:rPr>
                <a:t>Key Examples of Unit Testing usage are :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Validating business logic (e.g., bill calculations)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Correct data transformations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Edge cases (null values, invalid inputs)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Ensuring exceptions are thrown correctly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Verifying performance-critical functions</a:t>
              </a:r>
            </a:p>
            <a:p>
              <a:endParaRPr 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CBBCDE-116A-DBCD-9AB8-5194800160B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5EBF85D-514F-60F7-4E0A-8B87C7C2965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600208-35D9-4AA5-130B-BF2ED408780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17F7E4-E682-2594-B592-905034B9C922}"/>
              </a:ext>
            </a:extLst>
          </p:cNvPr>
          <p:cNvSpPr txBox="1"/>
          <p:nvPr/>
        </p:nvSpPr>
        <p:spPr>
          <a:xfrm>
            <a:off x="1571624" y="317617"/>
            <a:ext cx="15687676" cy="254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/>
              <a:t>Real Examples of What Unit Tests Can Check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E478E87-0041-BBE2-D5E0-4A5D0C91B31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916841-88F5-7DD0-9DD2-D77F7057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12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16027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C1A5-8068-A6C2-BA44-9A72CEF7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3707A5-1E0C-E7E0-F5F5-4EE86529EF7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0729E6-E5C8-0E16-8E3A-32B885BBBAA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D81315D-4D92-A304-E727-AA7317E841BD}"/>
              </a:ext>
            </a:extLst>
          </p:cNvPr>
          <p:cNvGrpSpPr/>
          <p:nvPr/>
        </p:nvGrpSpPr>
        <p:grpSpPr>
          <a:xfrm>
            <a:off x="1477831" y="2318161"/>
            <a:ext cx="15781469" cy="7486280"/>
            <a:chOff x="-1929810" y="-3484505"/>
            <a:chExt cx="21041960" cy="998170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B10663C-4898-A6F3-8978-878688CC401B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99817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Acts as a </a:t>
              </a:r>
              <a:r>
                <a:rPr lang="en-US" altLang="en-US" sz="5500" b="1" dirty="0"/>
                <a:t>safety net</a:t>
              </a:r>
              <a:r>
                <a:rPr lang="en-US" altLang="en-US" sz="5500" dirty="0"/>
                <a:t> during big project changes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Ensures teams can work in parallel confidently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Helps maintain quality across large codebases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Essential for </a:t>
              </a:r>
              <a:r>
                <a:rPr lang="en-US" altLang="en-US" sz="5500" b="1" dirty="0"/>
                <a:t>DevOps</a:t>
              </a:r>
              <a:r>
                <a:rPr lang="en-US" altLang="en-US" sz="5500" dirty="0"/>
                <a:t>, </a:t>
              </a:r>
              <a:r>
                <a:rPr lang="en-US" altLang="en-US" sz="5500" b="1" dirty="0"/>
                <a:t>Agile</a:t>
              </a:r>
              <a:r>
                <a:rPr lang="en-US" altLang="en-US" sz="5500" dirty="0"/>
                <a:t>, and </a:t>
              </a:r>
              <a:r>
                <a:rPr lang="en-US" altLang="en-US" sz="5500" b="1" dirty="0"/>
                <a:t>Microservices</a:t>
              </a:r>
              <a:endParaRPr lang="en-US" altLang="en-US" sz="5500" dirty="0"/>
            </a:p>
            <a:p>
              <a:pPr marL="1600200" lvl="2" indent="-6858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5500" dirty="0">
                <a:ea typeface="+mn-lt"/>
                <a:cs typeface="+mn-lt"/>
              </a:endParaRPr>
            </a:p>
            <a:p>
              <a:pPr marL="1600200" lvl="2" indent="-6858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5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E825B1-D1B3-CA2A-D6DB-5680B49021E5}"/>
                </a:ext>
              </a:extLst>
            </p:cNvPr>
            <p:cNvSpPr txBox="1"/>
            <p:nvPr/>
          </p:nvSpPr>
          <p:spPr>
            <a:xfrm>
              <a:off x="-1" y="-9525"/>
              <a:ext cx="15443232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D09ED-D6D4-56C9-7D9F-944E271FB06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B66731-5960-FE73-38C6-D50A8F065A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76DFF8-894D-3BB5-0D05-CB4C3D08D1D4}"/>
              </a:ext>
            </a:extLst>
          </p:cNvPr>
          <p:cNvSpPr txBox="1"/>
          <p:nvPr/>
        </p:nvSpPr>
        <p:spPr>
          <a:xfrm>
            <a:off x="550985" y="256577"/>
            <a:ext cx="171860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/>
              <a:t>Unit Testing in Enterprise Projects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C6B4948-A207-00A5-CCE5-3E7DE719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3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Session-5</Template>
  <TotalTime>17911</TotalTime>
  <Words>367</Words>
  <Application>Microsoft Office PowerPoint</Application>
  <PresentationFormat>Custom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Learning</dc:creator>
  <cp:lastModifiedBy>Sierra Learning</cp:lastModifiedBy>
  <cp:revision>10</cp:revision>
  <dcterms:created xsi:type="dcterms:W3CDTF">2025-11-05T04:09:15Z</dcterms:created>
  <dcterms:modified xsi:type="dcterms:W3CDTF">2025-11-17T14:40:39Z</dcterms:modified>
  <dc:identifier>DAGpXxrSFgM</dc:identifier>
</cp:coreProperties>
</file>