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sldIdLst>
    <p:sldId id="316" r:id="rId2"/>
    <p:sldId id="256" r:id="rId3"/>
    <p:sldId id="258" r:id="rId4"/>
    <p:sldId id="317" r:id="rId5"/>
    <p:sldId id="320" r:id="rId6"/>
    <p:sldId id="318" r:id="rId7"/>
    <p:sldId id="290" r:id="rId8"/>
    <p:sldId id="276" r:id="rId9"/>
    <p:sldId id="321" r:id="rId10"/>
    <p:sldId id="292" r:id="rId11"/>
    <p:sldId id="277" r:id="rId12"/>
    <p:sldId id="275" r:id="rId13"/>
    <p:sldId id="291" r:id="rId14"/>
    <p:sldId id="319" r:id="rId15"/>
    <p:sldId id="293" r:id="rId16"/>
    <p:sldId id="322" r:id="rId17"/>
    <p:sldId id="323" r:id="rId18"/>
    <p:sldId id="324" r:id="rId19"/>
    <p:sldId id="325" r:id="rId2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6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38" autoAdjust="0"/>
    <p:restoredTop sz="94660"/>
  </p:normalViewPr>
  <p:slideViewPr>
    <p:cSldViewPr snapToGrid="0">
      <p:cViewPr varScale="1">
        <p:scale>
          <a:sx n="30" d="100"/>
          <a:sy n="30" d="100"/>
        </p:scale>
        <p:origin x="62" y="7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3D346C-65C5-47AF-91D7-91A16702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3" name="Google Shape;88;p1">
            <a:extLst>
              <a:ext uri="{FF2B5EF4-FFF2-40B4-BE49-F238E27FC236}">
                <a16:creationId xmlns:a16="http://schemas.microsoft.com/office/drawing/2014/main" id="{532B16B3-6609-F3A9-8935-1E7E45582B33}"/>
              </a:ext>
            </a:extLst>
          </p:cNvPr>
          <p:cNvGrpSpPr/>
          <p:nvPr/>
        </p:nvGrpSpPr>
        <p:grpSpPr>
          <a:xfrm>
            <a:off x="6775593" y="-328312"/>
            <a:ext cx="11512407" cy="10615312"/>
            <a:chOff x="6375082" y="-144661"/>
            <a:chExt cx="11512407" cy="10615312"/>
          </a:xfrm>
        </p:grpSpPr>
        <p:sp>
          <p:nvSpPr>
            <p:cNvPr id="4" name="Google Shape;89;p1">
              <a:extLst>
                <a:ext uri="{FF2B5EF4-FFF2-40B4-BE49-F238E27FC236}">
                  <a16:creationId xmlns:a16="http://schemas.microsoft.com/office/drawing/2014/main" id="{14F6515C-3699-E1EB-00DB-EF19B900D29D}"/>
                </a:ext>
              </a:extLst>
            </p:cNvPr>
            <p:cNvSpPr/>
            <p:nvPr/>
          </p:nvSpPr>
          <p:spPr>
            <a:xfrm>
              <a:off x="6375082" y="1638300"/>
              <a:ext cx="3726767" cy="6356958"/>
            </a:xfrm>
            <a:custGeom>
              <a:avLst/>
              <a:gdLst/>
              <a:ahLst/>
              <a:cxnLst/>
              <a:rect l="l" t="t" r="r" b="b"/>
              <a:pathLst>
                <a:path w="3726767" h="6356958" extrusionOk="0">
                  <a:moveTo>
                    <a:pt x="0" y="0"/>
                  </a:moveTo>
                  <a:lnTo>
                    <a:pt x="3726766" y="0"/>
                  </a:lnTo>
                  <a:lnTo>
                    <a:pt x="3726766" y="6356958"/>
                  </a:lnTo>
                  <a:lnTo>
                    <a:pt x="0" y="63569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oogle Shape;90;p1">
              <a:extLst>
                <a:ext uri="{FF2B5EF4-FFF2-40B4-BE49-F238E27FC236}">
                  <a16:creationId xmlns:a16="http://schemas.microsoft.com/office/drawing/2014/main" id="{A62AA662-476C-E6FB-6E75-8B8F22650C09}"/>
                </a:ext>
              </a:extLst>
            </p:cNvPr>
            <p:cNvGrpSpPr/>
            <p:nvPr/>
          </p:nvGrpSpPr>
          <p:grpSpPr>
            <a:xfrm>
              <a:off x="17569989" y="-144661"/>
              <a:ext cx="317500" cy="10615312"/>
              <a:chOff x="0" y="-38100"/>
              <a:chExt cx="83621" cy="2795802"/>
            </a:xfrm>
          </p:grpSpPr>
          <p:sp>
            <p:nvSpPr>
              <p:cNvPr id="9" name="Google Shape;91;p1">
                <a:extLst>
                  <a:ext uri="{FF2B5EF4-FFF2-40B4-BE49-F238E27FC236}">
                    <a16:creationId xmlns:a16="http://schemas.microsoft.com/office/drawing/2014/main" id="{0EF42A53-F2C5-8EB0-548E-336AE864B302}"/>
                  </a:ext>
                </a:extLst>
              </p:cNvPr>
              <p:cNvSpPr/>
              <p:nvPr/>
            </p:nvSpPr>
            <p:spPr>
              <a:xfrm>
                <a:off x="0" y="0"/>
                <a:ext cx="83621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83621" h="2757702" extrusionOk="0">
                    <a:moveTo>
                      <a:pt x="0" y="0"/>
                    </a:moveTo>
                    <a:lnTo>
                      <a:pt x="83621" y="0"/>
                    </a:lnTo>
                    <a:lnTo>
                      <a:pt x="83621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92;p1">
                <a:extLst>
                  <a:ext uri="{FF2B5EF4-FFF2-40B4-BE49-F238E27FC236}">
                    <a16:creationId xmlns:a16="http://schemas.microsoft.com/office/drawing/2014/main" id="{099A907C-897C-F2BC-E14D-F698EB5736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3621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93;p1">
              <a:extLst>
                <a:ext uri="{FF2B5EF4-FFF2-40B4-BE49-F238E27FC236}">
                  <a16:creationId xmlns:a16="http://schemas.microsoft.com/office/drawing/2014/main" id="{034B7140-8881-3F8C-8481-B3F14C27C36F}"/>
                </a:ext>
              </a:extLst>
            </p:cNvPr>
            <p:cNvGrpSpPr/>
            <p:nvPr/>
          </p:nvGrpSpPr>
          <p:grpSpPr>
            <a:xfrm>
              <a:off x="16107228" y="-144661"/>
              <a:ext cx="1247470" cy="10615312"/>
              <a:chOff x="0" y="-38100"/>
              <a:chExt cx="328552" cy="2795802"/>
            </a:xfrm>
          </p:grpSpPr>
          <p:sp>
            <p:nvSpPr>
              <p:cNvPr id="7" name="Google Shape;94;p1">
                <a:extLst>
                  <a:ext uri="{FF2B5EF4-FFF2-40B4-BE49-F238E27FC236}">
                    <a16:creationId xmlns:a16="http://schemas.microsoft.com/office/drawing/2014/main" id="{642BB787-A66D-E596-8102-0BAF757D14D4}"/>
                  </a:ext>
                </a:extLst>
              </p:cNvPr>
              <p:cNvSpPr/>
              <p:nvPr/>
            </p:nvSpPr>
            <p:spPr>
              <a:xfrm>
                <a:off x="0" y="0"/>
                <a:ext cx="328552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328552" h="2757702" extrusionOk="0">
                    <a:moveTo>
                      <a:pt x="0" y="0"/>
                    </a:moveTo>
                    <a:lnTo>
                      <a:pt x="328552" y="0"/>
                    </a:lnTo>
                    <a:lnTo>
                      <a:pt x="328552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95;p1">
                <a:extLst>
                  <a:ext uri="{FF2B5EF4-FFF2-40B4-BE49-F238E27FC236}">
                    <a16:creationId xmlns:a16="http://schemas.microsoft.com/office/drawing/2014/main" id="{1E6B82F4-8166-8FE6-137C-48C384277E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28552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549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14575" y="3668501"/>
            <a:ext cx="13820413" cy="3496605"/>
            <a:chOff x="-1827648" y="-311515"/>
            <a:chExt cx="18427217" cy="4662141"/>
          </a:xfrm>
        </p:grpSpPr>
        <p:sp>
          <p:nvSpPr>
            <p:cNvPr id="3" name="TextBox 3"/>
            <p:cNvSpPr txBox="1"/>
            <p:nvPr/>
          </p:nvSpPr>
          <p:spPr>
            <a:xfrm>
              <a:off x="-1827648" y="-311515"/>
              <a:ext cx="18427217" cy="22287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GB" sz="9600" spc="279" dirty="0">
                  <a:latin typeface="+mj-lt"/>
                  <a:ea typeface="+mn-lt"/>
                  <a:cs typeface="+mn-lt"/>
                  <a:sym typeface="Heebo Black"/>
                </a:rPr>
                <a:t>Single Sign-On(SSO)</a:t>
              </a:r>
              <a:endParaRPr lang="en-US" dirty="0">
                <a:latin typeface="+mj-lt"/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latin typeface="+mj-lt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208994" y="8302454"/>
            <a:ext cx="422394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 dirty="0">
                <a:latin typeface="+mj-lt"/>
                <a:ea typeface="Agrandir Bold"/>
                <a:cs typeface="Agrandir Bold"/>
                <a:sym typeface="Agrandir Bold"/>
              </a:rPr>
              <a:t>By : Mr. Shivam Supekar</a:t>
            </a:r>
            <a:endParaRPr lang="en-US" sz="3200" b="1" dirty="0">
              <a:latin typeface="+mj-lt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5048" y="954760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  <a:latin typeface="+mj-lt"/>
              </a:rPr>
              <a:pPr/>
              <a:t>2</a:t>
            </a:fld>
            <a:endParaRPr lang="en-GB" sz="2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317BE6-C01E-CF59-618A-67FA9503F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8" b="18525"/>
          <a:stretch>
            <a:fillRect/>
          </a:stretch>
        </p:blipFill>
        <p:spPr>
          <a:xfrm>
            <a:off x="5174037" y="1233772"/>
            <a:ext cx="7507705" cy="2434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839701" y="1726799"/>
            <a:ext cx="16548188" cy="8233023"/>
            <a:chOff x="-2686690" y="-3880297"/>
            <a:chExt cx="20492257" cy="10977363"/>
          </a:xfrm>
        </p:grpSpPr>
        <p:sp>
          <p:nvSpPr>
            <p:cNvPr id="5" name="TextBox 5"/>
            <p:cNvSpPr txBox="1"/>
            <p:nvPr/>
          </p:nvSpPr>
          <p:spPr>
            <a:xfrm>
              <a:off x="-2686690" y="-3880297"/>
              <a:ext cx="20492257" cy="109773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028700" lvl="1" indent="-571500" algn="just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en-US" sz="5500" b="1" dirty="0">
                  <a:solidFill>
                    <a:schemeClr val="accent6">
                      <a:lumMod val="75000"/>
                    </a:schemeClr>
                  </a:solidFill>
                  <a:latin typeface="+mj-lt"/>
                  <a:ea typeface="+mn-lt"/>
                  <a:cs typeface="+mn-lt"/>
                </a:rPr>
                <a:t>What is Single Sign-On?</a:t>
              </a:r>
              <a:endParaRPr lang="en-US" sz="5500" b="1" dirty="0">
                <a:latin typeface="+mj-lt"/>
                <a:ea typeface="+mn-lt"/>
                <a:cs typeface="+mn-lt"/>
              </a:endParaRP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SSO (Single Sign-On) allows users to log in </a:t>
              </a:r>
              <a:r>
                <a:rPr lang="en-US" altLang="en-US" sz="5500" b="1" dirty="0"/>
                <a:t>once</a:t>
              </a:r>
              <a:r>
                <a:rPr lang="en-US" altLang="en-US" sz="5500" dirty="0"/>
                <a:t> and access </a:t>
              </a:r>
              <a:r>
                <a:rPr lang="en-US" altLang="en-US" sz="5500" b="1" dirty="0"/>
                <a:t>multiple applications</a:t>
              </a:r>
              <a:r>
                <a:rPr lang="en-US" altLang="en-US" sz="5500" dirty="0"/>
                <a:t> without re-authenticating.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Centralized authentication system.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Improves user experience and security.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Reduces password fatigue.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latin typeface="+mj-l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5443231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400920" y="221560"/>
            <a:ext cx="1568767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SSO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38AB3A-734E-28AD-106B-E6DC74EB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3</a:t>
            </a:fld>
            <a:endParaRPr lang="en-GB"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507BFA-72E5-26C4-A976-117A845B9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A76264-75A5-C4D9-6611-F4E04A2B4416}"/>
              </a:ext>
            </a:extLst>
          </p:cNvPr>
          <p:cNvSpPr txBox="1"/>
          <p:nvPr/>
        </p:nvSpPr>
        <p:spPr>
          <a:xfrm>
            <a:off x="15448547" y="8951494"/>
            <a:ext cx="1010653" cy="649706"/>
          </a:xfrm>
          <a:prstGeom prst="rect">
            <a:avLst/>
          </a:prstGeom>
          <a:solidFill>
            <a:srgbClr val="DDE6E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F59F02-5EAD-706C-648B-83B56F31F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26" y="433138"/>
            <a:ext cx="17349537" cy="952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560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DEAFB8-E598-8066-74FA-41697CCC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4886A2-ABB4-1BA1-9A87-9AD81E356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84" y="385012"/>
            <a:ext cx="16723895" cy="938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17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0FE55A-6A74-25EB-34CC-7710B10E6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96DA0185-0C96-FB0C-C8EB-E94670F443DA}"/>
              </a:ext>
            </a:extLst>
          </p:cNvPr>
          <p:cNvSpPr txBox="1"/>
          <p:nvPr/>
        </p:nvSpPr>
        <p:spPr>
          <a:xfrm>
            <a:off x="1571624" y="317617"/>
            <a:ext cx="15687676" cy="1277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IN" sz="9600" b="1" dirty="0"/>
              <a:t>Why SSO is Important?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01EA45-D710-5230-996C-79FF90CA2337}"/>
              </a:ext>
            </a:extLst>
          </p:cNvPr>
          <p:cNvSpPr txBox="1"/>
          <p:nvPr/>
        </p:nvSpPr>
        <p:spPr>
          <a:xfrm>
            <a:off x="842211" y="1876926"/>
            <a:ext cx="16747957" cy="7286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lvl="0" indent="-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500" dirty="0"/>
              <a:t>Seamless login across multiple systems</a:t>
            </a:r>
          </a:p>
          <a:p>
            <a:pPr marL="685800" lvl="0" indent="-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500" dirty="0"/>
              <a:t>Stronger security (centralized identity control)</a:t>
            </a:r>
          </a:p>
          <a:p>
            <a:pPr marL="685800" lvl="0" indent="-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500" dirty="0"/>
              <a:t>Less password reuse</a:t>
            </a:r>
          </a:p>
          <a:p>
            <a:pPr marL="685800" lvl="0" indent="-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500" dirty="0"/>
              <a:t>IT support cost (fewer password reset requests)</a:t>
            </a:r>
          </a:p>
          <a:p>
            <a:pPr marL="685800" lvl="0" indent="-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500" dirty="0"/>
              <a:t>Better compliance &amp; auditing</a:t>
            </a:r>
          </a:p>
          <a:p>
            <a:endParaRPr lang="en-IN" sz="5500" dirty="0"/>
          </a:p>
        </p:txBody>
      </p:sp>
    </p:spTree>
    <p:extLst>
      <p:ext uri="{BB962C8B-B14F-4D97-AF65-F5344CB8AC3E}">
        <p14:creationId xmlns:p14="http://schemas.microsoft.com/office/powerpoint/2010/main" val="1949276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0F332-729A-ACF4-60AB-AFE9D686E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179862-9887-46DB-31A3-560084163F8D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98A6522-B362-568A-8206-71B10B28ED49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F82A940-42FA-1D13-573A-712683F25E3F}"/>
              </a:ext>
            </a:extLst>
          </p:cNvPr>
          <p:cNvGrpSpPr/>
          <p:nvPr/>
        </p:nvGrpSpPr>
        <p:grpSpPr>
          <a:xfrm>
            <a:off x="1360608" y="1935250"/>
            <a:ext cx="16109708" cy="7486280"/>
            <a:chOff x="-2041631" y="-3602362"/>
            <a:chExt cx="19949270" cy="998170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5AAB0A5-E9BF-0473-A0DC-7F639E42DD17}"/>
                </a:ext>
              </a:extLst>
            </p:cNvPr>
            <p:cNvSpPr txBox="1"/>
            <p:nvPr/>
          </p:nvSpPr>
          <p:spPr>
            <a:xfrm>
              <a:off x="-2041631" y="-3602362"/>
              <a:ext cx="19949270" cy="99817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742950" lvl="0" indent="-7429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 sz="5500" dirty="0"/>
                <a:t>User tries to access a protected application</a:t>
              </a:r>
            </a:p>
            <a:p>
              <a:pPr marL="742950" lvl="0" indent="-7429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 sz="5500" dirty="0"/>
                <a:t>App redirects to </a:t>
              </a:r>
              <a:r>
                <a:rPr lang="en-US" altLang="en-US" sz="5500" b="1" dirty="0"/>
                <a:t>Identity Provider (IdP)</a:t>
              </a:r>
              <a:endParaRPr lang="en-US" altLang="en-US" sz="5500" dirty="0"/>
            </a:p>
            <a:p>
              <a:pPr marL="742950" lvl="0" indent="-7429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 sz="5500" dirty="0"/>
                <a:t>User authenticates with IdP</a:t>
              </a:r>
            </a:p>
            <a:p>
              <a:pPr marL="742950" lvl="0" indent="-7429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 sz="5500" dirty="0"/>
                <a:t>IdP generates a </a:t>
              </a:r>
              <a:r>
                <a:rPr lang="en-US" altLang="en-US" sz="5500" b="1" dirty="0"/>
                <a:t>token</a:t>
              </a:r>
              <a:r>
                <a:rPr lang="en-US" altLang="en-US" sz="5500" dirty="0"/>
                <a:t> (JWT, SAML, ID Token)</a:t>
              </a:r>
            </a:p>
            <a:p>
              <a:pPr marL="742950" lvl="0" indent="-7429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 sz="5500" dirty="0"/>
                <a:t>Token is sent back to the application</a:t>
              </a:r>
            </a:p>
            <a:p>
              <a:pPr marL="742950" lvl="0" indent="-7429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 sz="5500" dirty="0"/>
                <a:t>Application verifies token → gives access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5E5CAE2-BC53-0B9A-90BC-7BF1476FD61F}"/>
                </a:ext>
              </a:extLst>
            </p:cNvPr>
            <p:cNvSpPr txBox="1"/>
            <p:nvPr/>
          </p:nvSpPr>
          <p:spPr>
            <a:xfrm>
              <a:off x="0" y="-9524"/>
              <a:ext cx="15443231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7CB846C-9A71-2ECA-1025-61F3DC1C7AA3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6ADAF42-87EB-2B1E-A460-3E2EA113F1AB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3C49FF7-2D43-D882-1DE8-8CA8D4C15152}"/>
              </a:ext>
            </a:extLst>
          </p:cNvPr>
          <p:cNvSpPr txBox="1"/>
          <p:nvPr/>
        </p:nvSpPr>
        <p:spPr>
          <a:xfrm>
            <a:off x="1571624" y="317617"/>
            <a:ext cx="1568767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How SSO works (High-Level)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D8A67F4-F85C-64E2-B2EE-FA56246C81F5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0F73F07-3384-2C3D-7DF9-40900911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7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446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D3722-B6F5-25D1-F6B1-D389394F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02C8C1-1E0B-E06D-58D1-678792C0C9BC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4435A2E-F36B-CB1F-DF94-3919EF1205DF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708C79A-F57D-8072-FA54-AC20DB8F31EA}"/>
              </a:ext>
            </a:extLst>
          </p:cNvPr>
          <p:cNvGrpSpPr/>
          <p:nvPr/>
        </p:nvGrpSpPr>
        <p:grpSpPr>
          <a:xfrm>
            <a:off x="1273055" y="2856228"/>
            <a:ext cx="15986244" cy="7533206"/>
            <a:chOff x="-1142244" y="-2118487"/>
            <a:chExt cx="19845954" cy="1004427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90E1FE2-CB8F-BB33-CD1A-08344740DFB6}"/>
                </a:ext>
              </a:extLst>
            </p:cNvPr>
            <p:cNvSpPr txBox="1"/>
            <p:nvPr/>
          </p:nvSpPr>
          <p:spPr>
            <a:xfrm>
              <a:off x="-1142244" y="-2118487"/>
              <a:ext cx="19542604" cy="99933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000" b="1" dirty="0"/>
                <a:t>OAuth 2.0</a:t>
              </a:r>
              <a:r>
                <a:rPr lang="en-US" altLang="en-US" sz="5000" dirty="0"/>
                <a:t> – Authorization framework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000" b="1" dirty="0"/>
                <a:t>OpenID Connect (OIDC)</a:t>
              </a:r>
              <a:r>
                <a:rPr lang="en-US" altLang="en-US" sz="5000" dirty="0"/>
                <a:t> – Identity layer on top of OAuth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000" b="1" dirty="0"/>
                <a:t>SAML 2.0</a:t>
              </a:r>
              <a:r>
                <a:rPr lang="en-US" altLang="en-US" sz="5000" dirty="0"/>
                <a:t> – XML-based enterprise SSO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000" b="1" dirty="0"/>
                <a:t>JWT Token</a:t>
              </a:r>
              <a:r>
                <a:rPr lang="en-US" altLang="en-US" sz="5000" dirty="0"/>
                <a:t> – Token format used widely in .NET apps</a:t>
              </a: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3200" dirty="0">
                <a:latin typeface="+mj-lt"/>
              </a:endParaRP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3200" dirty="0">
                <a:latin typeface="+mj-lt"/>
              </a:endParaRPr>
            </a:p>
            <a:p>
              <a:pPr marL="457200" lvl="0" indent="-4572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3200" dirty="0">
                <a:latin typeface="+mj-lt"/>
              </a:endParaRPr>
            </a:p>
            <a:p>
              <a:pPr lvl="2" algn="just">
                <a:lnSpc>
                  <a:spcPct val="150000"/>
                </a:lnSpc>
              </a:pPr>
              <a:endParaRPr lang="en-IN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  <a:p>
              <a:pPr lvl="2" algn="just">
                <a:lnSpc>
                  <a:spcPct val="150000"/>
                </a:lnSpc>
              </a:pPr>
              <a:endParaRPr lang="en-IN" sz="3200" dirty="0">
                <a:solidFill>
                  <a:schemeClr val="bg1"/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0CEC1-D0A5-43EA-4DF9-68CF0F763ACB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4D9D643-AF5E-E5C6-1ED7-B09891D1568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865A7A-F242-25DC-102E-DE83F5392C93}"/>
              </a:ext>
            </a:extLst>
          </p:cNvPr>
          <p:cNvSpPr/>
          <p:nvPr/>
        </p:nvSpPr>
        <p:spPr>
          <a:xfrm>
            <a:off x="17417915" y="531316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F9A1B4-6165-C413-E6F6-4635CEDB7E87}"/>
              </a:ext>
            </a:extLst>
          </p:cNvPr>
          <p:cNvSpPr txBox="1"/>
          <p:nvPr/>
        </p:nvSpPr>
        <p:spPr>
          <a:xfrm>
            <a:off x="1134695" y="519347"/>
            <a:ext cx="1601861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9600" b="1" dirty="0"/>
              <a:t>Common Protocols Used in SSO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00E04CF-1204-0996-9016-3ADAB124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8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680091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F41859-625E-ED72-4B27-50DF07883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1266" name="Picture 2" descr="SSO Protocol Security: Critical Vulnerabilities in SAML, OAuth, OIDC &amp; JWT  (2025)">
            <a:extLst>
              <a:ext uri="{FF2B5EF4-FFF2-40B4-BE49-F238E27FC236}">
                <a16:creationId xmlns:a16="http://schemas.microsoft.com/office/drawing/2014/main" id="{95A790CC-6EED-0C17-709B-2A3E0C1458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74"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51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966F9-75B8-AD64-9ECD-353BE30B2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6C2582-60F8-0D59-6694-5E90FBAD864C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A447D6D-45D9-16A5-652A-9F3F94620A4D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AD73123-4691-C9FE-086B-993944F4BE35}"/>
              </a:ext>
            </a:extLst>
          </p:cNvPr>
          <p:cNvGrpSpPr/>
          <p:nvPr/>
        </p:nvGrpSpPr>
        <p:grpSpPr>
          <a:xfrm>
            <a:off x="1160021" y="1690351"/>
            <a:ext cx="16603579" cy="8596649"/>
            <a:chOff x="-1834501" y="-9504196"/>
            <a:chExt cx="22138107" cy="1388123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9E8D430-D661-9232-3433-7D9D1D361DE0}"/>
                </a:ext>
              </a:extLst>
            </p:cNvPr>
            <p:cNvSpPr txBox="1"/>
            <p:nvPr/>
          </p:nvSpPr>
          <p:spPr>
            <a:xfrm>
              <a:off x="-1834501" y="-9504196"/>
              <a:ext cx="22138107" cy="138812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400" dirty="0"/>
                <a:t>Azure Active Directory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400" dirty="0"/>
                <a:t>Google Identity Platform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400" dirty="0"/>
                <a:t>Facebook Login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400" dirty="0"/>
                <a:t>GitHub Login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400" dirty="0"/>
                <a:t>Auth0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400" dirty="0"/>
                <a:t>Okta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400" dirty="0" err="1"/>
                <a:t>IdentityServer</a:t>
              </a:r>
              <a:r>
                <a:rPr lang="en-US" altLang="en-US" sz="5400" dirty="0"/>
                <a:t> (Open-source .NET based)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798C48D-A36C-F3A4-D0A1-0B935EB8F101}"/>
                </a:ext>
              </a:extLst>
            </p:cNvPr>
            <p:cNvSpPr txBox="1"/>
            <p:nvPr/>
          </p:nvSpPr>
          <p:spPr>
            <a:xfrm>
              <a:off x="0" y="-9526"/>
              <a:ext cx="15443231" cy="750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C3080C1-FD97-469A-7835-AF63404B8B2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294161C-3012-3A80-74BF-B6797312A72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146525D-5E26-11C9-9D29-B5AE75CAE18A}"/>
              </a:ext>
            </a:extLst>
          </p:cNvPr>
          <p:cNvSpPr txBox="1"/>
          <p:nvPr/>
        </p:nvSpPr>
        <p:spPr>
          <a:xfrm>
            <a:off x="842210" y="323493"/>
            <a:ext cx="1660357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9600" b="1" dirty="0"/>
              <a:t>Identity Provider Examples</a:t>
            </a:r>
            <a:endParaRPr lang="en-US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3396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3E11-91D7-51BB-393F-8CDAE739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A208DF8-33D0-A911-2D28-D70E5485ED04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6088BBC-A15C-E4D7-B2EC-7C0FAD141D52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8993745-DDC5-CC72-B03D-2854EC25AD54}"/>
              </a:ext>
            </a:extLst>
          </p:cNvPr>
          <p:cNvGrpSpPr/>
          <p:nvPr/>
        </p:nvGrpSpPr>
        <p:grpSpPr>
          <a:xfrm>
            <a:off x="1477831" y="2023643"/>
            <a:ext cx="15781469" cy="7486280"/>
            <a:chOff x="-1929810" y="-3484505"/>
            <a:chExt cx="21041960" cy="998170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87B441D-7DC7-F2A6-CF16-65CA67C9F758}"/>
                </a:ext>
              </a:extLst>
            </p:cNvPr>
            <p:cNvSpPr txBox="1"/>
            <p:nvPr/>
          </p:nvSpPr>
          <p:spPr>
            <a:xfrm>
              <a:off x="-1929810" y="-3484505"/>
              <a:ext cx="21041960" cy="99817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5500" dirty="0"/>
                <a:t>.NET supports SSO through:</a:t>
              </a:r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5500" b="1" dirty="0"/>
                <a:t>Microsoft Identity Platform</a:t>
              </a:r>
              <a:endParaRPr lang="en-IN" sz="5500" dirty="0"/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5500" b="1" dirty="0"/>
                <a:t>OpenID Connect Middleware</a:t>
              </a:r>
              <a:endParaRPr lang="en-IN" sz="5500" dirty="0"/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5500" b="1" dirty="0"/>
                <a:t>Azure AD Authentication</a:t>
              </a:r>
              <a:endParaRPr lang="en-IN" sz="5500" dirty="0"/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5500" b="1" dirty="0"/>
                <a:t>External Login Providers</a:t>
              </a:r>
              <a:endParaRPr lang="en-IN" sz="5500" dirty="0"/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5500" b="1" dirty="0"/>
                <a:t>IdentityServer / Duende</a:t>
              </a:r>
              <a:endParaRPr lang="en-IN" sz="5500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CF1CAED-5D16-9199-0B16-CD7CD2A2A57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5D83F16-E3A3-E4AC-C172-3897C3756A3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97B3155-9CC7-7E95-EA14-5A726F8570E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368CFA-B0D8-314E-B6FB-1538CBA04A86}"/>
              </a:ext>
            </a:extLst>
          </p:cNvPr>
          <p:cNvSpPr txBox="1"/>
          <p:nvPr/>
        </p:nvSpPr>
        <p:spPr>
          <a:xfrm>
            <a:off x="1914457" y="448547"/>
            <a:ext cx="15132853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9600" b="1" dirty="0"/>
              <a:t>SSO in .NET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D46DB02-7BCC-B5B4-E2D3-40EA12F9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11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315145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6BBC-AF90-500E-C77D-A6C0E221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87BE63-EA7F-FBE4-55AF-B7AA4EC8BEE3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C1C182-11D9-7918-235F-A5FC67EDC05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6E41DB0-645C-3418-C82B-CDA12E42FFFE}"/>
              </a:ext>
            </a:extLst>
          </p:cNvPr>
          <p:cNvGrpSpPr/>
          <p:nvPr/>
        </p:nvGrpSpPr>
        <p:grpSpPr>
          <a:xfrm>
            <a:off x="1127959" y="2261029"/>
            <a:ext cx="16705847" cy="6216702"/>
            <a:chOff x="-2396306" y="-3167990"/>
            <a:chExt cx="22274464" cy="828893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7E9DEE-4E73-2FED-9AB6-E8FC4B11D8AD}"/>
                </a:ext>
              </a:extLst>
            </p:cNvPr>
            <p:cNvSpPr txBox="1"/>
            <p:nvPr/>
          </p:nvSpPr>
          <p:spPr>
            <a:xfrm>
              <a:off x="-2396306" y="-3167990"/>
              <a:ext cx="22274464" cy="82889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.NET App (Client) → Uses </a:t>
              </a:r>
              <a:r>
                <a:rPr lang="en-US" altLang="en-US" sz="5500" b="1" dirty="0"/>
                <a:t>OpenID Connect</a:t>
              </a:r>
              <a:endParaRPr lang="en-US" altLang="en-US" sz="5500" dirty="0"/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Identity Provider → Azure AD / </a:t>
              </a:r>
              <a:r>
                <a:rPr lang="en-US" altLang="en-US" sz="5500" dirty="0" err="1"/>
                <a:t>IdentityServer</a:t>
              </a:r>
              <a:endParaRPr lang="en-US" altLang="en-US" sz="5500" dirty="0"/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Token Validation → .NET Middleware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Access Token → Access protected APIs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Refresh Token → Silent reauthentication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D258AD-64A0-BDAC-16E0-FB8021C5291D}"/>
                </a:ext>
              </a:extLst>
            </p:cNvPr>
            <p:cNvSpPr txBox="1"/>
            <p:nvPr/>
          </p:nvSpPr>
          <p:spPr>
            <a:xfrm>
              <a:off x="-1" y="-9525"/>
              <a:ext cx="15443230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099C091-E739-FFDA-7819-185F7F35E29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CD762A-A552-1B4D-D466-6ABF6A40459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BF6FCB-1B82-2758-1A6E-D4A02EC55439}"/>
              </a:ext>
            </a:extLst>
          </p:cNvPr>
          <p:cNvSpPr txBox="1"/>
          <p:nvPr/>
        </p:nvSpPr>
        <p:spPr>
          <a:xfrm>
            <a:off x="1195551" y="450534"/>
            <a:ext cx="15919351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nl-NL" sz="9600" b="1" dirty="0"/>
              <a:t>SSO Architecture in .NET Apps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2C6E55-23D9-406D-BC3D-A2931A20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12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255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1139D-249C-9171-9CDB-BD5CDA0E1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C6DC434-1095-592C-1CFE-B7567CED6BF7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B2044EF-831A-FDB7-005C-AEA43CEBDF1A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3296A83-D9CA-3298-A45B-491149602AEC}"/>
              </a:ext>
            </a:extLst>
          </p:cNvPr>
          <p:cNvGrpSpPr/>
          <p:nvPr/>
        </p:nvGrpSpPr>
        <p:grpSpPr>
          <a:xfrm>
            <a:off x="618192" y="1466343"/>
            <a:ext cx="17253133" cy="8755858"/>
            <a:chOff x="-2960994" y="-4227571"/>
            <a:chExt cx="21365217" cy="1167447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53AD09A-633A-D64F-341E-AF0A453010D1}"/>
                </a:ext>
              </a:extLst>
            </p:cNvPr>
            <p:cNvSpPr txBox="1"/>
            <p:nvPr/>
          </p:nvSpPr>
          <p:spPr>
            <a:xfrm>
              <a:off x="-2960994" y="-4227571"/>
              <a:ext cx="21365217" cy="116744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14400" lvl="0" indent="-9144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 sz="5500" dirty="0"/>
                <a:t>Configure </a:t>
              </a:r>
              <a:r>
                <a:rPr lang="en-US" altLang="en-US" sz="5500" b="1" dirty="0"/>
                <a:t>Authentication Schemes</a:t>
              </a:r>
              <a:endParaRPr lang="en-US" altLang="en-US" sz="5500" dirty="0"/>
            </a:p>
            <a:p>
              <a:pPr marL="914400" lvl="0" indent="-9144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 sz="5500" dirty="0"/>
                <a:t>Register </a:t>
              </a:r>
              <a:r>
                <a:rPr lang="en-US" altLang="en-US" sz="5500" b="1" dirty="0"/>
                <a:t>OpenID Connect Options</a:t>
              </a:r>
              <a:endParaRPr lang="en-US" altLang="en-US" sz="5500" dirty="0"/>
            </a:p>
            <a:p>
              <a:pPr marL="914400" lvl="0" indent="-9144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 sz="5500" dirty="0"/>
                <a:t>Redirect user to login page</a:t>
              </a:r>
            </a:p>
            <a:p>
              <a:pPr marL="914400" lvl="0" indent="-9144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 sz="5500" dirty="0"/>
                <a:t>Receive token (id_token + access_token)</a:t>
              </a:r>
            </a:p>
            <a:p>
              <a:pPr marL="914400" lvl="0" indent="-9144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 sz="5500" dirty="0"/>
                <a:t>Validate the token</a:t>
              </a:r>
            </a:p>
            <a:p>
              <a:pPr marL="914400" lvl="0" indent="-9144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 sz="5500" dirty="0"/>
                <a:t>Store user claims</a:t>
              </a:r>
            </a:p>
            <a:p>
              <a:pPr marL="914400" lvl="0" indent="-9144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 sz="5500" dirty="0"/>
                <a:t>Allow access based on roles/claims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DCBBCDE-116A-DBCD-9AB8-5194800160B3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5EBF85D-514F-60F7-4E0A-8B87C7C29659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3600208-35D9-4AA5-130B-BF2ED408780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F17F7E4-E682-2594-B592-905034B9C922}"/>
              </a:ext>
            </a:extLst>
          </p:cNvPr>
          <p:cNvSpPr txBox="1"/>
          <p:nvPr/>
        </p:nvSpPr>
        <p:spPr>
          <a:xfrm>
            <a:off x="1571624" y="317617"/>
            <a:ext cx="15687676" cy="1277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IN" sz="9600" b="1" dirty="0"/>
              <a:t>SSO Flow in .NET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E478E87-0041-BBE2-D5E0-4A5D0C91B315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8916841-88F5-7DD0-9DD2-D77F7057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13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160272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9CAFF8-75F3-95B7-17E8-07DE7F84C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2BD38-313D-65CD-8B16-0F9316B0C6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987" b="17698"/>
          <a:stretch>
            <a:fillRect/>
          </a:stretch>
        </p:blipFill>
        <p:spPr>
          <a:xfrm>
            <a:off x="0" y="1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587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3C1A5-8068-A6C2-BA44-9A72CEF7D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83707A5-1E0C-E7E0-F5F5-4EE86529EF78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C0729E6-E5C8-0E16-8E3A-32B885BBBAA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CE825B1-D1B3-CA2A-D6DB-5680B49021E5}"/>
              </a:ext>
            </a:extLst>
          </p:cNvPr>
          <p:cNvSpPr txBox="1"/>
          <p:nvPr/>
        </p:nvSpPr>
        <p:spPr>
          <a:xfrm>
            <a:off x="2925188" y="4924397"/>
            <a:ext cx="11582423" cy="464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endParaRPr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18D09ED-D6D4-56C9-7D9F-944E271FB06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3B66731-5960-FE73-38C6-D50A8F065A9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176DFF8-894D-3BB5-0D05-CB4C3D08D1D4}"/>
              </a:ext>
            </a:extLst>
          </p:cNvPr>
          <p:cNvSpPr txBox="1"/>
          <p:nvPr/>
        </p:nvSpPr>
        <p:spPr>
          <a:xfrm>
            <a:off x="550985" y="256577"/>
            <a:ext cx="1718602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9600" b="1" dirty="0"/>
              <a:t>Code Snippet-Add SSO in .NET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C6B4948-A207-00A5-CCE5-3E7DE719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15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2013A1-CF59-D8FB-9958-28E3078BF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969" y="1733905"/>
            <a:ext cx="15849600" cy="840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5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E798E-4873-251A-AA95-FE6D8BDEE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D0FC5AD-4B98-8811-3A77-6D330FD9D5EF}"/>
              </a:ext>
            </a:extLst>
          </p:cNvPr>
          <p:cNvSpPr/>
          <p:nvPr/>
        </p:nvSpPr>
        <p:spPr>
          <a:xfrm>
            <a:off x="-471990" y="98343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CD71F60-4890-CE38-3669-397CBEE64E83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8DD2CE3-2522-4B7B-4916-277A96421C93}"/>
              </a:ext>
            </a:extLst>
          </p:cNvPr>
          <p:cNvGrpSpPr/>
          <p:nvPr/>
        </p:nvGrpSpPr>
        <p:grpSpPr>
          <a:xfrm>
            <a:off x="618192" y="2227075"/>
            <a:ext cx="17253133" cy="6216702"/>
            <a:chOff x="-2960994" y="-3213262"/>
            <a:chExt cx="21365217" cy="828893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81601BD-EA2D-FC0B-827A-28A47B632B5A}"/>
                </a:ext>
              </a:extLst>
            </p:cNvPr>
            <p:cNvSpPr txBox="1"/>
            <p:nvPr/>
          </p:nvSpPr>
          <p:spPr>
            <a:xfrm>
              <a:off x="-2960994" y="-3213262"/>
              <a:ext cx="21365217" cy="82889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Claims-based authorization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Roles fetched from Identity Provider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Role stored in ID Token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.NET uses [Authorize(Roles="Admin")]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Centralized permission management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20D3E22-5BCA-0851-9D7A-A6A595FAE05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32F959B-5B71-33E4-30FB-D32C0A209E2D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9DFD389-CDD2-5564-F085-6098F87EC5B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95B1D1F-097F-6DB8-520A-13E8F498B91E}"/>
              </a:ext>
            </a:extLst>
          </p:cNvPr>
          <p:cNvSpPr txBox="1"/>
          <p:nvPr/>
        </p:nvSpPr>
        <p:spPr>
          <a:xfrm>
            <a:off x="1571624" y="317617"/>
            <a:ext cx="15687676" cy="1277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IN" sz="9600" b="1" dirty="0"/>
              <a:t>Role-Based Access with SSO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2C6C80E-730A-2EC1-4FB0-6C72F92B6DFF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D3FCE69-1270-489A-E874-D0A2C0AED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16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863081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41B1-6484-A445-BC75-324B4C6AF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9010505-DEB6-AA65-8A76-B9FCA9FDECFD}"/>
              </a:ext>
            </a:extLst>
          </p:cNvPr>
          <p:cNvSpPr/>
          <p:nvPr/>
        </p:nvSpPr>
        <p:spPr>
          <a:xfrm>
            <a:off x="-471990" y="98343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D0F14D8-E647-3CEE-C354-A9FCAE393A4E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6FE33A7-3CBA-C39C-D7CD-F8C8CDBA6698}"/>
              </a:ext>
            </a:extLst>
          </p:cNvPr>
          <p:cNvGrpSpPr/>
          <p:nvPr/>
        </p:nvGrpSpPr>
        <p:grpSpPr>
          <a:xfrm>
            <a:off x="817684" y="2864404"/>
            <a:ext cx="17253133" cy="6216702"/>
            <a:chOff x="-2960994" y="-3213262"/>
            <a:chExt cx="21365217" cy="828893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7DA3DA1-B873-1776-C7CD-A5CA7C8819A6}"/>
                </a:ext>
              </a:extLst>
            </p:cNvPr>
            <p:cNvSpPr txBox="1"/>
            <p:nvPr/>
          </p:nvSpPr>
          <p:spPr>
            <a:xfrm>
              <a:off x="-2960994" y="-3213262"/>
              <a:ext cx="21365217" cy="82889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Simplified user management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Centralized security policy enforcement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Easy integration with cloud IdPs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Scalability for enterprise apps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Better user experience across web + mobile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C0C0D31-DB2F-F875-726E-91F5D89BFFC6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D06B4E1-D203-1068-1563-6BA7893E4EA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32A2C2A-E474-DA76-7A06-F9E605F74B5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947A690-45A4-C81D-2427-AC5F2EB66D40}"/>
              </a:ext>
            </a:extLst>
          </p:cNvPr>
          <p:cNvSpPr txBox="1"/>
          <p:nvPr/>
        </p:nvSpPr>
        <p:spPr>
          <a:xfrm>
            <a:off x="1571624" y="317617"/>
            <a:ext cx="15687676" cy="2546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600" b="1" dirty="0"/>
              <a:t>Benefits of Implementing SSO in .NET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A57E909-8F78-8653-7E5D-C64ECF9F43FE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4270960-07A8-34EF-1582-B122AE79A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17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548832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EE0B8-A5B4-8A1C-80E3-6D0580C7E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6EB979-3761-0668-AA8D-CC9DBBB7DE1D}"/>
              </a:ext>
            </a:extLst>
          </p:cNvPr>
          <p:cNvSpPr/>
          <p:nvPr/>
        </p:nvSpPr>
        <p:spPr>
          <a:xfrm>
            <a:off x="-471990" y="98343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C286FBC-C72E-4029-4EB0-19DD6BBBF9FB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9EC97EC-800E-4B34-3F26-C515D9F44B0E}"/>
              </a:ext>
            </a:extLst>
          </p:cNvPr>
          <p:cNvGrpSpPr/>
          <p:nvPr/>
        </p:nvGrpSpPr>
        <p:grpSpPr>
          <a:xfrm>
            <a:off x="757726" y="2035149"/>
            <a:ext cx="17253133" cy="6216702"/>
            <a:chOff x="-3035242" y="-4318935"/>
            <a:chExt cx="21365217" cy="828893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006961D-F3B4-B9D6-34C9-65D41224BB80}"/>
                </a:ext>
              </a:extLst>
            </p:cNvPr>
            <p:cNvSpPr txBox="1"/>
            <p:nvPr/>
          </p:nvSpPr>
          <p:spPr>
            <a:xfrm>
              <a:off x="-3035242" y="-4318935"/>
              <a:ext cx="21365217" cy="82889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5500" dirty="0"/>
                <a:t>Requires token handling correctly</a:t>
              </a:r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5500" dirty="0"/>
                <a:t>Need correct clock synchronization</a:t>
              </a:r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5500" dirty="0"/>
                <a:t>Role/claims mapping issues</a:t>
              </a:r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5500" dirty="0"/>
                <a:t>Logout complexity (single logout)</a:t>
              </a:r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5500" dirty="0"/>
                <a:t>Security considerations (token expiration)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116CBDA-57CF-0315-02D7-9BB4949320CE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54070C5-7901-0030-737F-558B0EF7902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1BDCC54-5C49-A66F-B699-BF91B7B9796A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302EEAF-8CAB-BCB5-C782-8D2B00173ABB}"/>
              </a:ext>
            </a:extLst>
          </p:cNvPr>
          <p:cNvSpPr txBox="1"/>
          <p:nvPr/>
        </p:nvSpPr>
        <p:spPr>
          <a:xfrm>
            <a:off x="1571624" y="317617"/>
            <a:ext cx="15687676" cy="1277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600" b="1" dirty="0"/>
              <a:t>Challenges in SSO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F51E099-EF8C-28A6-0607-99CEA668C9B6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7177A87-0A7B-01E7-C7F8-C167D05F0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18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610579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DBA46-33BE-AE04-D051-BA676C940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2ED10B-489C-ABDE-2E8C-038CD69D16F6}"/>
              </a:ext>
            </a:extLst>
          </p:cNvPr>
          <p:cNvSpPr/>
          <p:nvPr/>
        </p:nvSpPr>
        <p:spPr>
          <a:xfrm>
            <a:off x="-471990" y="98343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4735EEC-939A-8F4F-1A78-119E13F9409B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F91683D-3A4B-2A20-A13D-67BEE11D5B7A}"/>
              </a:ext>
            </a:extLst>
          </p:cNvPr>
          <p:cNvGrpSpPr/>
          <p:nvPr/>
        </p:nvGrpSpPr>
        <p:grpSpPr>
          <a:xfrm>
            <a:off x="757726" y="1449678"/>
            <a:ext cx="17253133" cy="8755858"/>
            <a:chOff x="-3035242" y="-5099563"/>
            <a:chExt cx="21365217" cy="1167447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346B02B-991E-5AC4-9317-D0E7C83EEA2D}"/>
                </a:ext>
              </a:extLst>
            </p:cNvPr>
            <p:cNvSpPr txBox="1"/>
            <p:nvPr/>
          </p:nvSpPr>
          <p:spPr>
            <a:xfrm>
              <a:off x="-3035242" y="-5099563"/>
              <a:ext cx="21365217" cy="116744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5500" dirty="0"/>
                <a:t>Use </a:t>
              </a:r>
              <a:r>
                <a:rPr lang="en-IN" sz="5500" b="1" dirty="0"/>
                <a:t>HTTPS only</a:t>
              </a:r>
              <a:endParaRPr lang="en-IN" sz="5500" dirty="0"/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5500" dirty="0"/>
                <a:t>Store tokens securely</a:t>
              </a:r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5500" dirty="0"/>
                <a:t>Validate tokens using middleware</a:t>
              </a:r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5500" dirty="0"/>
                <a:t>Use short-lived access tokens</a:t>
              </a:r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5500" dirty="0"/>
                <a:t>Implement refresh token rotation</a:t>
              </a:r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5500" dirty="0"/>
                <a:t>Enable MFA at IdP level</a:t>
              </a:r>
            </a:p>
            <a:p>
              <a:pPr marL="685800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5500" dirty="0"/>
                <a:t>Monitor login audits and logs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305BF1D-13A8-1F0D-62BF-79EF01E2F19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1C1EF45-BDAA-9F67-5F26-811A61BB4632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50C79EC-83A2-33CB-8B09-4C1595FD67F1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E92BDF5-8168-B9E9-036E-B71F81138F86}"/>
              </a:ext>
            </a:extLst>
          </p:cNvPr>
          <p:cNvSpPr txBox="1"/>
          <p:nvPr/>
        </p:nvSpPr>
        <p:spPr>
          <a:xfrm>
            <a:off x="1571624" y="317617"/>
            <a:ext cx="15687676" cy="1277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600" b="1" dirty="0"/>
              <a:t>Best Practices 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736F5CB-FB25-CBAF-54EF-7FEC202D6019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FF03023-F5CC-9E84-14E0-064B1CE4D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19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192742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Unit_testing</Template>
  <TotalTime>1134</TotalTime>
  <Words>440</Words>
  <Application>Microsoft Office PowerPoint</Application>
  <PresentationFormat>Custom</PresentationFormat>
  <Paragraphs>113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Calibri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Sierra Learning</dc:creator>
  <cp:lastModifiedBy>Sierra Learning</cp:lastModifiedBy>
  <cp:revision>15</cp:revision>
  <dcterms:created xsi:type="dcterms:W3CDTF">2025-11-05T04:09:15Z</dcterms:created>
  <dcterms:modified xsi:type="dcterms:W3CDTF">2025-11-18T09:34:53Z</dcterms:modified>
  <dc:identifier>DAGpXxrSFgM</dc:identifier>
</cp:coreProperties>
</file>