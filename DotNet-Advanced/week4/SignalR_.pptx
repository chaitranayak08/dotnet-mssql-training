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sldIdLst>
    <p:sldId id="316" r:id="rId2"/>
    <p:sldId id="256" r:id="rId3"/>
    <p:sldId id="258" r:id="rId4"/>
    <p:sldId id="326" r:id="rId5"/>
    <p:sldId id="318" r:id="rId6"/>
    <p:sldId id="290" r:id="rId7"/>
    <p:sldId id="327" r:id="rId8"/>
    <p:sldId id="276" r:id="rId9"/>
    <p:sldId id="292" r:id="rId10"/>
    <p:sldId id="328" r:id="rId11"/>
    <p:sldId id="277" r:id="rId12"/>
    <p:sldId id="275" r:id="rId13"/>
    <p:sldId id="291" r:id="rId14"/>
    <p:sldId id="329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32" d="100"/>
          <a:sy n="32" d="100"/>
        </p:scale>
        <p:origin x="67" y="7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8434" y="4497579"/>
            <a:ext cx="13820413" cy="2667527"/>
            <a:chOff x="-1849169" y="793923"/>
            <a:chExt cx="18427217" cy="3556703"/>
          </a:xfrm>
        </p:grpSpPr>
        <p:sp>
          <p:nvSpPr>
            <p:cNvPr id="3" name="TextBox 3"/>
            <p:cNvSpPr txBox="1"/>
            <p:nvPr/>
          </p:nvSpPr>
          <p:spPr>
            <a:xfrm>
              <a:off x="-1849169" y="793923"/>
              <a:ext cx="18427217" cy="22287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GB" sz="9600" b="1" spc="279" dirty="0">
                  <a:latin typeface="+mj-lt"/>
                  <a:ea typeface="+mn-lt"/>
                  <a:cs typeface="+mn-lt"/>
                  <a:sym typeface="Heebo Black"/>
                </a:rPr>
                <a:t>SignalR</a:t>
              </a:r>
              <a:endParaRPr lang="en-US" b="1" dirty="0">
                <a:latin typeface="+mj-lt"/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+mj-lt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08994" y="8302454"/>
            <a:ext cx="422394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+mj-lt"/>
                <a:ea typeface="Agrandir Bold"/>
                <a:cs typeface="Agrandir Bold"/>
                <a:sym typeface="Agrandir Bold"/>
              </a:rPr>
              <a:t>By : Mr. Shivam Supekar</a:t>
            </a:r>
            <a:endParaRPr lang="en-US" sz="3200" b="1" dirty="0">
              <a:latin typeface="+mj-lt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048" y="954760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  <a:latin typeface="+mj-lt"/>
              </a:rPr>
              <a:pPr/>
              <a:t>2</a:t>
            </a:fld>
            <a:endParaRPr lang="en-GB" sz="2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17BE6-C01E-CF59-618A-67FA9503F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5174037" y="1233772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39701" y="1726799"/>
            <a:ext cx="16548188" cy="8233023"/>
            <a:chOff x="-2686690" y="-3880297"/>
            <a:chExt cx="20492257" cy="10977364"/>
          </a:xfrm>
        </p:grpSpPr>
        <p:sp>
          <p:nvSpPr>
            <p:cNvPr id="5" name="TextBox 5"/>
            <p:cNvSpPr txBox="1"/>
            <p:nvPr/>
          </p:nvSpPr>
          <p:spPr>
            <a:xfrm>
              <a:off x="-2686690" y="-3880297"/>
              <a:ext cx="20492257" cy="109773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028700" lvl="1" indent="-571500" algn="just">
                <a:lnSpc>
                  <a:spcPct val="150000"/>
                </a:lnSpc>
                <a:buFont typeface="Wingdings" panose="05000000000000000000" pitchFamily="2" charset="2"/>
                <a:buChar char="v"/>
              </a:pPr>
              <a:r>
                <a:rPr lang="en-US" sz="5500" b="1" dirty="0">
                  <a:solidFill>
                    <a:schemeClr val="accent6">
                      <a:lumMod val="75000"/>
                    </a:schemeClr>
                  </a:solidFill>
                  <a:latin typeface="+mj-lt"/>
                  <a:ea typeface="+mn-lt"/>
                  <a:cs typeface="+mn-lt"/>
                </a:rPr>
                <a:t>What is SignalR ?</a:t>
              </a:r>
              <a:endParaRPr lang="en-US" sz="5500" b="1" dirty="0">
                <a:latin typeface="+mj-lt"/>
                <a:ea typeface="+mn-lt"/>
                <a:cs typeface="+mn-lt"/>
              </a:endParaRP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SignalR is a real-time communication library in ASP.NET.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Enables instant updates between server and client.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Uses WebSockets, Server-Sent Events, or Long Polling automatically.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Ideal for live, interactive applications.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4000" dirty="0">
                <a:latin typeface="+mj-lt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400920" y="221560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SignalR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3</a:t>
            </a:fld>
            <a:endParaRPr lang="en-GB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C641-CA1B-A0B4-2493-40F091FF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8E581F-2C7E-7AA8-AE6F-DB12920C416B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5952BE-EC54-4FAA-5B31-D2C42F51B918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8E68E8C-415D-3B8B-E132-CAC51E68A962}"/>
              </a:ext>
            </a:extLst>
          </p:cNvPr>
          <p:cNvGrpSpPr/>
          <p:nvPr/>
        </p:nvGrpSpPr>
        <p:grpSpPr>
          <a:xfrm>
            <a:off x="839701" y="1726799"/>
            <a:ext cx="16548188" cy="8166851"/>
            <a:chOff x="-2686690" y="-3880297"/>
            <a:chExt cx="20492257" cy="10889136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29028D4-E067-908B-DE28-E3DB294934F5}"/>
                </a:ext>
              </a:extLst>
            </p:cNvPr>
            <p:cNvSpPr txBox="1"/>
            <p:nvPr/>
          </p:nvSpPr>
          <p:spPr>
            <a:xfrm>
              <a:off x="-2686690" y="-3880297"/>
              <a:ext cx="20492257" cy="108891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Automatically manages </a:t>
              </a:r>
              <a:r>
                <a:rPr lang="en-US" altLang="en-US" sz="6000" b="1" dirty="0"/>
                <a:t>real-time connections</a:t>
              </a:r>
              <a:endParaRPr lang="en-US" altLang="en-US" sz="6000" dirty="0"/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Supports </a:t>
              </a:r>
              <a:r>
                <a:rPr lang="en-US" altLang="en-US" sz="6000" b="1" dirty="0"/>
                <a:t>broadcasting</a:t>
              </a:r>
              <a:r>
                <a:rPr lang="en-US" altLang="en-US" sz="6000" dirty="0"/>
                <a:t> messages to multiple clients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Handles </a:t>
              </a:r>
              <a:r>
                <a:rPr lang="en-US" altLang="en-US" sz="6000" b="1" dirty="0"/>
                <a:t>connection fallbacks</a:t>
              </a:r>
              <a:endParaRPr lang="en-US" altLang="en-US" sz="6000" dirty="0"/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Scales easily with cloud services (Azure SignalR)</a:t>
              </a:r>
            </a:p>
            <a:p>
              <a:pPr marL="857250" lvl="0" indent="-85725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6000" dirty="0"/>
                <a:t>Reduces manual handling of WebSocket logic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A43233A-4ABE-1328-EEBA-37B5C5223546}"/>
                </a:ext>
              </a:extLst>
            </p:cNvPr>
            <p:cNvSpPr txBox="1"/>
            <p:nvPr/>
          </p:nvSpPr>
          <p:spPr>
            <a:xfrm>
              <a:off x="0" y="-9525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B1E3121-856B-A973-734C-DD1082715B0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5358D7D-9EEC-6953-538B-D52E43F1C5C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86EEA7D-D941-7395-2315-231588C351AD}"/>
              </a:ext>
            </a:extLst>
          </p:cNvPr>
          <p:cNvSpPr txBox="1"/>
          <p:nvPr/>
        </p:nvSpPr>
        <p:spPr>
          <a:xfrm>
            <a:off x="1400920" y="221560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Why SignalR?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6493FC-B21F-BA32-63FB-7FACED071C9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F8D368E-5815-5CA6-D108-09B2C7E7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4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9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0FE55A-6A74-25EB-34CC-7710B10E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6DA0185-0C96-FB0C-C8EB-E94670F443DA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IN" sz="9600" b="1" dirty="0"/>
              <a:t>Where SignalR is Used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1EA45-D710-5230-996C-79FF90CA2337}"/>
              </a:ext>
            </a:extLst>
          </p:cNvPr>
          <p:cNvSpPr txBox="1"/>
          <p:nvPr/>
        </p:nvSpPr>
        <p:spPr>
          <a:xfrm>
            <a:off x="842211" y="1876926"/>
            <a:ext cx="16747957" cy="8052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Chat applications</a:t>
            </a:r>
          </a:p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Live dashboards</a:t>
            </a:r>
          </a:p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Notifications &amp; alerts</a:t>
            </a:r>
          </a:p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Multiplayer games</a:t>
            </a:r>
          </a:p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Collaborative tools (Google Docs style)</a:t>
            </a:r>
          </a:p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Stock price or live score updates</a:t>
            </a:r>
          </a:p>
          <a:p>
            <a:pPr marL="857250" lvl="0" indent="-8572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5000" dirty="0"/>
              <a:t>IoT live monitoring</a:t>
            </a:r>
          </a:p>
        </p:txBody>
      </p:sp>
    </p:spTree>
    <p:extLst>
      <p:ext uri="{BB962C8B-B14F-4D97-AF65-F5344CB8AC3E}">
        <p14:creationId xmlns:p14="http://schemas.microsoft.com/office/powerpoint/2010/main" val="194927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F332-729A-ACF4-60AB-AFE9D686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5179862-9887-46DB-31A3-560084163F8D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8A6522-B362-568A-8206-71B10B28ED49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82A940-42FA-1D13-573A-712683F25E3F}"/>
              </a:ext>
            </a:extLst>
          </p:cNvPr>
          <p:cNvGrpSpPr/>
          <p:nvPr/>
        </p:nvGrpSpPr>
        <p:grpSpPr>
          <a:xfrm>
            <a:off x="1360608" y="1935250"/>
            <a:ext cx="16109708" cy="6216702"/>
            <a:chOff x="-2041631" y="-3602362"/>
            <a:chExt cx="19949270" cy="828893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AAB0A5-E9BF-0473-A0DC-7F639E42DD17}"/>
                </a:ext>
              </a:extLst>
            </p:cNvPr>
            <p:cNvSpPr txBox="1"/>
            <p:nvPr/>
          </p:nvSpPr>
          <p:spPr>
            <a:xfrm>
              <a:off x="-2041631" y="-3602362"/>
              <a:ext cx="19949270" cy="82889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Client connects to a </a:t>
              </a:r>
              <a:r>
                <a:rPr lang="en-US" altLang="en-US" sz="5500" b="1" dirty="0"/>
                <a:t>Hub</a:t>
              </a:r>
              <a:endParaRPr lang="en-US" altLang="en-US" sz="5500" dirty="0"/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The Hub manages all connected clients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Server pushes messages to clients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Clients send messages to server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Connection stays open for live updates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E5CAE2-BC53-0B9A-90BC-7BF1476FD61F}"/>
                </a:ext>
              </a:extLst>
            </p:cNvPr>
            <p:cNvSpPr txBox="1"/>
            <p:nvPr/>
          </p:nvSpPr>
          <p:spPr>
            <a:xfrm>
              <a:off x="0" y="-9524"/>
              <a:ext cx="15443231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7CB846C-9A71-2ECA-1025-61F3DC1C7AA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ADAF42-87EB-2B1E-A460-3E2EA113F1A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C49FF7-2D43-D882-1DE8-8CA8D4C15152}"/>
              </a:ext>
            </a:extLst>
          </p:cNvPr>
          <p:cNvSpPr txBox="1"/>
          <p:nvPr/>
        </p:nvSpPr>
        <p:spPr>
          <a:xfrm>
            <a:off x="1571624" y="317617"/>
            <a:ext cx="15687676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  <a:sym typeface="Heebo Black"/>
              </a:rPr>
              <a:t>How SignalR works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D8A67F4-F85C-64E2-B2EE-FA56246C81F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0F73F07-3384-2C3D-7DF9-40900911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6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44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1E9035-0CE8-9032-BDE3-44C45C4B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7412" name="Picture 4" descr="Advanced SignalR Techniques in .NET: Scalability, Performance and Custom  Protocols - NashTech Blog">
            <a:extLst>
              <a:ext uri="{FF2B5EF4-FFF2-40B4-BE49-F238E27FC236}">
                <a16:creationId xmlns:a16="http://schemas.microsoft.com/office/drawing/2014/main" id="{D756A367-EF26-CE36-E049-661D37EEC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8288000" cy="1028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26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3722-B6F5-25D1-F6B1-D389394F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02C8C1-1E0B-E06D-58D1-678792C0C9B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435A2E-F36B-CB1F-DF94-3919EF1205DF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708C79A-F57D-8072-FA54-AC20DB8F31EA}"/>
              </a:ext>
            </a:extLst>
          </p:cNvPr>
          <p:cNvGrpSpPr/>
          <p:nvPr/>
        </p:nvGrpSpPr>
        <p:grpSpPr>
          <a:xfrm>
            <a:off x="1496064" y="2201950"/>
            <a:ext cx="15986244" cy="7533206"/>
            <a:chOff x="-1142244" y="-2118487"/>
            <a:chExt cx="19845954" cy="1004427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90E1FE2-CB8F-BB33-CD1A-08344740DFB6}"/>
                </a:ext>
              </a:extLst>
            </p:cNvPr>
            <p:cNvSpPr txBox="1"/>
            <p:nvPr/>
          </p:nvSpPr>
          <p:spPr>
            <a:xfrm>
              <a:off x="-1142244" y="-2118487"/>
              <a:ext cx="19542605" cy="998170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b="1" dirty="0"/>
                <a:t>Hub</a:t>
              </a:r>
              <a:r>
                <a:rPr lang="en-US" altLang="en-US" sz="5500" dirty="0"/>
                <a:t> → Central messaging component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b="1" dirty="0"/>
                <a:t>Client</a:t>
              </a:r>
              <a:r>
                <a:rPr lang="en-US" altLang="en-US" sz="5500" dirty="0"/>
                <a:t> → Web, mobile, desktop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b="1" dirty="0"/>
                <a:t>Connection</a:t>
              </a:r>
              <a:r>
                <a:rPr lang="en-US" altLang="en-US" sz="5500" dirty="0"/>
                <a:t> → Persistent communication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b="1" dirty="0"/>
                <a:t>Transport Protocols</a:t>
              </a:r>
              <a:r>
                <a:rPr lang="en-US" altLang="en-US" sz="5500" dirty="0"/>
                <a:t> → WebSockets, SSE, Long Polling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b="1" dirty="0"/>
                <a:t>Backplane</a:t>
              </a:r>
              <a:r>
                <a:rPr lang="en-US" altLang="en-US" sz="5500" dirty="0"/>
                <a:t> → Scaling across servers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0CEC1-D0A5-43EA-4DF9-68CF0F763ACB}"/>
                </a:ext>
              </a:extLst>
            </p:cNvPr>
            <p:cNvSpPr txBox="1"/>
            <p:nvPr/>
          </p:nvSpPr>
          <p:spPr>
            <a:xfrm>
              <a:off x="125985" y="-593641"/>
              <a:ext cx="18577725" cy="85194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lang="en-IN" dirty="0"/>
            </a:p>
            <a:p>
              <a:pPr algn="l">
                <a:lnSpc>
                  <a:spcPts val="4200"/>
                </a:lnSpc>
              </a:pPr>
              <a:endParaRPr dirty="0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D9D643-AF5E-E5C6-1ED7-B09891D1568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865A7A-F242-25DC-102E-DE83F5392C93}"/>
              </a:ext>
            </a:extLst>
          </p:cNvPr>
          <p:cNvSpPr/>
          <p:nvPr/>
        </p:nvSpPr>
        <p:spPr>
          <a:xfrm>
            <a:off x="17417915" y="531316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F9A1B4-6165-C413-E6F6-4635CEDB7E87}"/>
              </a:ext>
            </a:extLst>
          </p:cNvPr>
          <p:cNvSpPr txBox="1"/>
          <p:nvPr/>
        </p:nvSpPr>
        <p:spPr>
          <a:xfrm>
            <a:off x="1134695" y="519347"/>
            <a:ext cx="1601861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dirty="0"/>
              <a:t>Key Components of SignalR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00E04CF-1204-0996-9016-3ADAB12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8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680091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66F9-75B8-AD64-9ECD-353BE30B2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6C2582-60F8-0D59-6694-5E90FBAD864C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447D6D-45D9-16A5-652A-9F3F94620A4D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AD73123-4691-C9FE-086B-993944F4BE35}"/>
              </a:ext>
            </a:extLst>
          </p:cNvPr>
          <p:cNvGrpSpPr/>
          <p:nvPr/>
        </p:nvGrpSpPr>
        <p:grpSpPr>
          <a:xfrm>
            <a:off x="1160021" y="1690351"/>
            <a:ext cx="16603579" cy="6344920"/>
            <a:chOff x="-1834501" y="-9504196"/>
            <a:chExt cx="22138107" cy="1024530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E8D430-D661-9232-3433-7D9D1D361DE0}"/>
                </a:ext>
              </a:extLst>
            </p:cNvPr>
            <p:cNvSpPr txBox="1"/>
            <p:nvPr/>
          </p:nvSpPr>
          <p:spPr>
            <a:xfrm>
              <a:off x="-1834501" y="-9504196"/>
              <a:ext cx="22138107" cy="18047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54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98C48D-A36C-F3A4-D0A1-0B935EB8F101}"/>
                </a:ext>
              </a:extLst>
            </p:cNvPr>
            <p:cNvSpPr txBox="1"/>
            <p:nvPr/>
          </p:nvSpPr>
          <p:spPr>
            <a:xfrm>
              <a:off x="0" y="-9526"/>
              <a:ext cx="15443231" cy="750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C3080C1-FD97-469A-7835-AF63404B8B2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94161C-3012-3A80-74BF-B6797312A72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46525D-5E26-11C9-9D29-B5AE75CAE18A}"/>
              </a:ext>
            </a:extLst>
          </p:cNvPr>
          <p:cNvSpPr txBox="1"/>
          <p:nvPr/>
        </p:nvSpPr>
        <p:spPr>
          <a:xfrm>
            <a:off x="842210" y="323493"/>
            <a:ext cx="1660357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9600" b="1" dirty="0"/>
              <a:t>Creating a Hub</a:t>
            </a:r>
            <a:endParaRPr lang="en-US" b="1" dirty="0">
              <a:ea typeface="+mn-lt"/>
              <a:cs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84DCC4-3E94-D3E6-09E8-3E81BD8B5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67" y="1800822"/>
            <a:ext cx="10355483" cy="84861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DEA3D7-6494-0D9D-EEA6-95F55E129FF8}"/>
              </a:ext>
            </a:extLst>
          </p:cNvPr>
          <p:cNvSpPr txBox="1"/>
          <p:nvPr/>
        </p:nvSpPr>
        <p:spPr>
          <a:xfrm>
            <a:off x="10590284" y="2278126"/>
            <a:ext cx="7435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Configuring SignalR in Program.cs</a:t>
            </a:r>
            <a:endParaRPr lang="en-IN" sz="4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D96B14-1444-171B-D570-AB48AE036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4684" y="3396429"/>
            <a:ext cx="6911116" cy="440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96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359C-EE7A-1E51-AB50-6EE76B38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0BBE10-8F0D-7654-2C4E-6B921861544B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27994C5-E6F1-420D-3775-BD7ED058CBE9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F0694C4-16DA-6CD4-553B-B0824F257946}"/>
              </a:ext>
            </a:extLst>
          </p:cNvPr>
          <p:cNvGrpSpPr/>
          <p:nvPr/>
        </p:nvGrpSpPr>
        <p:grpSpPr>
          <a:xfrm>
            <a:off x="1160021" y="1690351"/>
            <a:ext cx="16603579" cy="6344920"/>
            <a:chOff x="-1834501" y="-9504196"/>
            <a:chExt cx="22138107" cy="1024530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23D55E5-A2B6-9895-CFCB-A6F7B1BCE648}"/>
                </a:ext>
              </a:extLst>
            </p:cNvPr>
            <p:cNvSpPr txBox="1"/>
            <p:nvPr/>
          </p:nvSpPr>
          <p:spPr>
            <a:xfrm>
              <a:off x="-1834501" y="-9504196"/>
              <a:ext cx="22138107" cy="18047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en-US" altLang="en-US" sz="54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3FFC679-2ECD-2F40-67DF-DCBB1CDCD411}"/>
                </a:ext>
              </a:extLst>
            </p:cNvPr>
            <p:cNvSpPr txBox="1"/>
            <p:nvPr/>
          </p:nvSpPr>
          <p:spPr>
            <a:xfrm>
              <a:off x="0" y="-9526"/>
              <a:ext cx="15443231" cy="750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DE44124-2958-9846-D9F5-163547CF750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8FC736F-DD1D-8FC0-5246-64F1A27AD73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8CC25-4C12-4925-C226-1BE8CED39BF7}"/>
              </a:ext>
            </a:extLst>
          </p:cNvPr>
          <p:cNvSpPr txBox="1"/>
          <p:nvPr/>
        </p:nvSpPr>
        <p:spPr>
          <a:xfrm>
            <a:off x="873758" y="600813"/>
            <a:ext cx="6713621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4400" b="1" dirty="0"/>
              <a:t>Client-Side Connection(JS)</a:t>
            </a:r>
            <a:endParaRPr lang="en-US" sz="4400" b="1" dirty="0">
              <a:ea typeface="+mn-lt"/>
              <a:cs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5EBFD2-DDBC-E4F6-BEDA-90A16DFC2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345" y="1886812"/>
            <a:ext cx="8595655" cy="44909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C41B06-D912-360F-01EA-B49EE8AE41E8}"/>
              </a:ext>
            </a:extLst>
          </p:cNvPr>
          <p:cNvSpPr txBox="1"/>
          <p:nvPr/>
        </p:nvSpPr>
        <p:spPr>
          <a:xfrm>
            <a:off x="10700623" y="568038"/>
            <a:ext cx="71111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Receiving Messages on Client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3016AC-6D09-9A78-15AD-E4E32574A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5676" y="1886811"/>
            <a:ext cx="8320745" cy="4490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74DD37-1361-0B71-0832-DC619C87F6E3}"/>
              </a:ext>
            </a:extLst>
          </p:cNvPr>
          <p:cNvSpPr txBox="1"/>
          <p:nvPr/>
        </p:nvSpPr>
        <p:spPr>
          <a:xfrm>
            <a:off x="6037460" y="6853257"/>
            <a:ext cx="74160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Sending a Message from Client</a:t>
            </a:r>
            <a:endParaRPr lang="en-IN" sz="4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D95209-25B7-C632-D339-00C13F5C1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8821" y="7975570"/>
            <a:ext cx="12013282" cy="180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07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13E11-91D7-51BB-393F-8CDAE739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08DF8-33D0-A911-2D28-D70E5485ED04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088BBC-A15C-E4D7-B2EC-7C0FAD141D52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8993745-DDC5-CC72-B03D-2854EC25AD54}"/>
              </a:ext>
            </a:extLst>
          </p:cNvPr>
          <p:cNvGrpSpPr/>
          <p:nvPr/>
        </p:nvGrpSpPr>
        <p:grpSpPr>
          <a:xfrm>
            <a:off x="1477831" y="2023643"/>
            <a:ext cx="15781469" cy="7486280"/>
            <a:chOff x="-1929810" y="-3484505"/>
            <a:chExt cx="21041960" cy="998170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87B441D-7DC7-F2A6-CF16-65CA67C9F758}"/>
                </a:ext>
              </a:extLst>
            </p:cNvPr>
            <p:cNvSpPr txBox="1"/>
            <p:nvPr/>
          </p:nvSpPr>
          <p:spPr>
            <a:xfrm>
              <a:off x="-1929810" y="-3484505"/>
              <a:ext cx="21041960" cy="99817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Real-time messaging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Group messaging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Authentication &amp; authorization support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Strongly typed Hubs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Automatic reconnection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Scalable with Redis / Azure SignalR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CF1CAED-5D16-9199-0B16-CD7CD2A2A57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5D83F16-E3A3-E4AC-C172-3897C3756A3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97B3155-9CC7-7E95-EA14-5A726F8570E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368CFA-B0D8-314E-B6FB-1538CBA04A86}"/>
              </a:ext>
            </a:extLst>
          </p:cNvPr>
          <p:cNvSpPr txBox="1"/>
          <p:nvPr/>
        </p:nvSpPr>
        <p:spPr>
          <a:xfrm>
            <a:off x="1914457" y="448547"/>
            <a:ext cx="1513285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9600" b="1" dirty="0"/>
              <a:t>SignalR Features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D46DB02-7BCC-B5B4-E2D3-40EA12F9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11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1514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BBC-AF90-500E-C77D-A6C0E221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87BE63-EA7F-FBE4-55AF-B7AA4EC8BEE3}"/>
              </a:ext>
            </a:extLst>
          </p:cNvPr>
          <p:cNvSpPr/>
          <p:nvPr/>
        </p:nvSpPr>
        <p:spPr>
          <a:xfrm>
            <a:off x="-981601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C1C182-11D9-7918-235F-A5FC67EDC05A}"/>
              </a:ext>
            </a:extLst>
          </p:cNvPr>
          <p:cNvSpPr/>
          <p:nvPr/>
        </p:nvSpPr>
        <p:spPr>
          <a:xfrm>
            <a:off x="-963368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6E41DB0-645C-3418-C82B-CDA12E42FFFE}"/>
              </a:ext>
            </a:extLst>
          </p:cNvPr>
          <p:cNvGrpSpPr/>
          <p:nvPr/>
        </p:nvGrpSpPr>
        <p:grpSpPr>
          <a:xfrm>
            <a:off x="1127959" y="2261029"/>
            <a:ext cx="16705847" cy="6216702"/>
            <a:chOff x="-2396306" y="-3167990"/>
            <a:chExt cx="22274464" cy="828893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87E9DEE-4E73-2FED-9AB6-E8FC4B11D8AD}"/>
                </a:ext>
              </a:extLst>
            </p:cNvPr>
            <p:cNvSpPr txBox="1"/>
            <p:nvPr/>
          </p:nvSpPr>
          <p:spPr>
            <a:xfrm>
              <a:off x="-2396306" y="-3167990"/>
              <a:ext cx="22274464" cy="828893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5500" dirty="0"/>
                <a:t>SignalR enables:</a:t>
              </a:r>
            </a:p>
            <a:p>
              <a:pPr marL="2228850" lvl="3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Live chat</a:t>
              </a:r>
            </a:p>
            <a:p>
              <a:pPr marL="2228850" lvl="3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User join/leave notifications</a:t>
              </a:r>
            </a:p>
            <a:p>
              <a:pPr marL="2228850" lvl="3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Typing indicators</a:t>
              </a:r>
            </a:p>
            <a:p>
              <a:pPr marL="2228850" lvl="3" indent="-8572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5500" dirty="0"/>
                <a:t>Private messages via groups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D258AD-64A0-BDAC-16E0-FB8021C5291D}"/>
                </a:ext>
              </a:extLst>
            </p:cNvPr>
            <p:cNvSpPr txBox="1"/>
            <p:nvPr/>
          </p:nvSpPr>
          <p:spPr>
            <a:xfrm>
              <a:off x="-1" y="-9525"/>
              <a:ext cx="15443230" cy="619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99C091-E739-FFDA-7819-185F7F35E29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CD762A-A552-1B4D-D466-6ABF6A40459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BF6FCB-1B82-2758-1A6E-D4A02EC55439}"/>
              </a:ext>
            </a:extLst>
          </p:cNvPr>
          <p:cNvSpPr txBox="1"/>
          <p:nvPr/>
        </p:nvSpPr>
        <p:spPr>
          <a:xfrm>
            <a:off x="994817" y="304172"/>
            <a:ext cx="1629836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nl-NL" sz="9600" b="1" dirty="0"/>
              <a:t>Real World Example – Chat App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B2C6E55-23D9-406D-BC3D-A2931A20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>
                <a:solidFill>
                  <a:schemeClr val="tx1"/>
                </a:solidFill>
              </a:rPr>
              <a:pPr/>
              <a:t>12</a:t>
            </a:fld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55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1139D-249C-9171-9CDB-BD5CDA0E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6DC434-1095-592C-1CFE-B7567CED6BF7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2044EF-831A-FDB7-005C-AEA43CEBDF1A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296A83-D9CA-3298-A45B-491149602AEC}"/>
              </a:ext>
            </a:extLst>
          </p:cNvPr>
          <p:cNvGrpSpPr/>
          <p:nvPr/>
        </p:nvGrpSpPr>
        <p:grpSpPr>
          <a:xfrm>
            <a:off x="817684" y="1843223"/>
            <a:ext cx="17253133" cy="6216702"/>
            <a:chOff x="-2960994" y="-4227571"/>
            <a:chExt cx="21365217" cy="8288934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3AD09A-633A-D64F-341E-AF0A453010D1}"/>
                </a:ext>
              </a:extLst>
            </p:cNvPr>
            <p:cNvSpPr txBox="1"/>
            <p:nvPr/>
          </p:nvSpPr>
          <p:spPr>
            <a:xfrm>
              <a:off x="-2960994" y="-4227571"/>
              <a:ext cx="21365217" cy="82889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Very easy to implement compared to raw WebSockets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Handles all reconnection &amp; fallback logic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Built-in scalability options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Works with JavaScript, .NET, Java, React, Angular</a:t>
              </a:r>
            </a:p>
            <a:p>
              <a:pPr marL="685800" lvl="0" indent="-6858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5500" dirty="0"/>
                <a:t>Cloud-friendly and production ready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DCBBCDE-116A-DBCD-9AB8-5194800160B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5EBF85D-514F-60F7-4E0A-8B87C7C2965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3600208-35D9-4AA5-130B-BF2ED408780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17F7E4-E682-2594-B592-905034B9C922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600" b="1" dirty="0">
                <a:ea typeface="+mn-lt"/>
                <a:cs typeface="+mn-lt"/>
              </a:rPr>
              <a:t>B</a:t>
            </a:r>
            <a:r>
              <a:rPr lang="en-IN" sz="9600" b="1" dirty="0">
                <a:ea typeface="+mn-lt"/>
                <a:cs typeface="+mn-lt"/>
              </a:rPr>
              <a:t>enefits of SignalR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E478E87-0041-BBE2-D5E0-4A5D0C91B31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8916841-88F5-7DD0-9DD2-D77F7057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13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160272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83C8-0353-248A-D816-A70A417CE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AFBB31-7C3E-B187-049F-27E871AA939B}"/>
              </a:ext>
            </a:extLst>
          </p:cNvPr>
          <p:cNvSpPr/>
          <p:nvPr/>
        </p:nvSpPr>
        <p:spPr>
          <a:xfrm>
            <a:off x="-1491143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59C69EF-B13E-15C2-7AD7-5ADB9A73C101}"/>
              </a:ext>
            </a:extLst>
          </p:cNvPr>
          <p:cNvSpPr/>
          <p:nvPr/>
        </p:nvSpPr>
        <p:spPr>
          <a:xfrm>
            <a:off x="-142542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CDF00F8-C86C-CBEF-4E74-B9D4CAE94DE2}"/>
              </a:ext>
            </a:extLst>
          </p:cNvPr>
          <p:cNvGrpSpPr/>
          <p:nvPr/>
        </p:nvGrpSpPr>
        <p:grpSpPr>
          <a:xfrm>
            <a:off x="817684" y="1843223"/>
            <a:ext cx="17253133" cy="7995650"/>
            <a:chOff x="-2960994" y="-4227571"/>
            <a:chExt cx="21365217" cy="1066086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AD0A599-FB01-F41E-ACA5-F10D38940FE0}"/>
                </a:ext>
              </a:extLst>
            </p:cNvPr>
            <p:cNvSpPr txBox="1"/>
            <p:nvPr/>
          </p:nvSpPr>
          <p:spPr>
            <a:xfrm>
              <a:off x="-2960994" y="-4227571"/>
              <a:ext cx="21365217" cy="106608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3500" b="1" dirty="0"/>
                <a:t>Blazor Server uses SignalR internally</a:t>
              </a:r>
            </a:p>
            <a:p>
              <a:pPr marL="1600200" lvl="2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In Blazor Server, </a:t>
              </a:r>
              <a:r>
                <a:rPr lang="en-US" sz="3500" i="1" dirty="0"/>
                <a:t>every UI interaction</a:t>
              </a:r>
              <a:r>
                <a:rPr lang="en-US" sz="3500" dirty="0"/>
                <a:t> (click, input, button press) already uses a </a:t>
              </a:r>
              <a:r>
                <a:rPr lang="en-US" sz="3500" b="1" dirty="0"/>
                <a:t>SignalR connection</a:t>
              </a:r>
              <a:r>
                <a:rPr lang="en-US" sz="3500" dirty="0"/>
                <a:t>.</a:t>
              </a:r>
            </a:p>
            <a:p>
              <a:pPr marL="1600200" lvl="2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A SignalR connection is automatically created between browser ↔ server.</a:t>
              </a:r>
            </a:p>
            <a:p>
              <a:pPr marL="1600200" lvl="2" indent="-685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No need to configure manually.</a:t>
              </a:r>
            </a:p>
            <a:p>
              <a:pPr>
                <a:lnSpc>
                  <a:spcPct val="150000"/>
                </a:lnSpc>
              </a:pPr>
              <a:r>
                <a:rPr lang="en-US" sz="3500" b="1" dirty="0"/>
                <a:t>What this means: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UI updates happen in real-time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Changes to component state sync automatically</a:t>
              </a:r>
            </a:p>
            <a:p>
              <a:pPr marL="1371600" lvl="2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500" dirty="0"/>
                <a:t>The connection is persistent</a:t>
              </a:r>
            </a:p>
            <a:p>
              <a:pPr>
                <a:lnSpc>
                  <a:spcPct val="150000"/>
                </a:lnSpc>
              </a:pPr>
              <a:r>
                <a:rPr lang="en-US" sz="3500" b="1" dirty="0"/>
                <a:t>You don’t write SignalR code for this. Blazor Server does it internally.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A18E66-11A9-13BB-9429-207ACAD66E7F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67961B4-AB4C-9E75-2756-1A7B5BAACAB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7006EEC-E25D-F3F4-73F5-E1E50D4902E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B9C17DD-901A-12FC-564D-8BC01FC878F3}"/>
              </a:ext>
            </a:extLst>
          </p:cNvPr>
          <p:cNvSpPr txBox="1"/>
          <p:nvPr/>
        </p:nvSpPr>
        <p:spPr>
          <a:xfrm>
            <a:off x="1571624" y="317617"/>
            <a:ext cx="15687676" cy="1277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600" b="1" dirty="0">
                <a:ea typeface="+mn-lt"/>
                <a:cs typeface="+mn-lt"/>
              </a:rPr>
              <a:t>Note</a:t>
            </a:r>
            <a:endParaRPr lang="en-US" b="1" dirty="0">
              <a:ea typeface="+mn-lt"/>
              <a:cs typeface="+mn-lt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0D03CE3-E53D-097B-DC38-85FDBA5F883B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D0B9460-92A8-BCF8-6088-621B085B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dirty="0" smtClean="0"/>
              <a:pPr/>
              <a:t>14</a:t>
            </a:fld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103363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SSO</Template>
  <TotalTime>480</TotalTime>
  <Words>365</Words>
  <Application>Microsoft Office PowerPoint</Application>
  <PresentationFormat>Custom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Learning</dc:creator>
  <cp:lastModifiedBy>Sierra Learning</cp:lastModifiedBy>
  <cp:revision>9</cp:revision>
  <dcterms:created xsi:type="dcterms:W3CDTF">2025-11-05T04:09:15Z</dcterms:created>
  <dcterms:modified xsi:type="dcterms:W3CDTF">2025-11-18T17:39:41Z</dcterms:modified>
  <dc:identifier>DAGpXxrSFgM</dc:identifier>
</cp:coreProperties>
</file>